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 Sur nos clusters ROKS multi-AZ, on a deux mécanismes pour garantir que les pods d'une appli ne s'empilent pas au même endroit. Beaucoup de gens les confondent — la slide montre quand utiliser l'un, l'autre, ou les deux. »
LE POINT CLÉ (bandeau du haut)
« La vraie différence n'est pas "souple / pas souple", c'est binaire vs quantitatif. L'anti-affinité dit OUI ou NON : interdit de mettre deux pods dans la même zone. TopologySpread dit COMBIEN : au plus N pods d'écart entre les zones, via maxSkew. C'est LE point à retenir. »
CARTE GAUCHE — ANTI-AFFINITY
« Basée sur des labels, règle stricte (required) ou préférée (preferred). Le piège, en rouge : avec required, si je n'ai pas assez de domaines — par exemple 5 replicas pour 3 zones — Kubernetes refuse de placer les 2 pods en trop, ils restent en Pending. En plus, required coûte cher au scheduler sur les gros clusters. Donc anti-affinité = bon pour de l'isolation STRICTE : séparation sécu, contraintes de licence. »
CARTE DROITE — TOPOLOGYSPREAD
« Là, je ne bloque pas, je répartis. maxSkew=1 = au plus 1 pod d'écart entre zones. Avec DoNotSchedule c'est dur, ScheduleAnyway c'est best-effort — et surtout ça dégrade proprement, ça ne reste pas coincé en Pending. Bonus : je peux empiler plusieurs contraintes en parallèle, une sur la zone ET une sur le nœud. C'est ce qui en fait le choix par défaut pour la HA et l'équilibrage de charge entre AZ. »
CONCLUSION (bandeau du bas)
« En prod, ce n'est pas un choix exclusif. Le pattern qu'on retient : TopologySpread DoNotSchedule maxSkew=1 sur la zone pour l'équilibre entre AZ, PLUS podAntiAffinity preferred sur le hostname pour éviter deux pods sur le même nœud — le "preferred" évite tout risque de blocage. C'est la combinaison robuste. »
SI ON ME POSE LA QUESTION
- « Pourquoi pas juste l'anti-affinité ? » → Risque de Pending + ça ne contrôle pas l'équilibre fin, seulement la collision.
- « maxSkew=1 c'est trop strict ? » → On peut monter à 2 si le nombre de replicas n'est pas divisible par le nombre de zones, pour éviter du Pending au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1E7A3C"/>
          </a:solidFill>
          <a:ln/>
        </p:spPr>
      </p:sp>
      <p:sp>
        <p:nvSpPr>
          <p:cNvPr id="3" name="Text 1"/>
          <p:cNvSpPr/>
          <p:nvPr/>
        </p:nvSpPr>
        <p:spPr>
          <a:xfrm>
            <a:off x="457200" y="384048"/>
            <a:ext cx="502920" cy="5029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4" name="Text 2"/>
          <p:cNvSpPr/>
          <p:nvPr/>
        </p:nvSpPr>
        <p:spPr>
          <a:xfrm>
            <a:off x="1097280" y="384048"/>
            <a:ext cx="10515600" cy="274320"/>
          </a:xfrm>
          <a:prstGeom prst="rect">
            <a:avLst/>
          </a:prstGeom>
          <a:noFill/>
          <a:ln/>
        </p:spPr>
        <p:txBody>
          <a:bodyPr wrap="square" lIns="0" tIns="0" rIns="0" bIns="0" rtlCol="0" anchor="ctr"/>
          <a:lstStyle/>
          <a:p>
            <a:pPr indent="0" marL="0">
              <a:buNone/>
            </a:pPr>
            <a:r>
              <a:rPr lang="en-US" sz="1200" b="1" spc="200" kern="0" dirty="0">
                <a:solidFill>
                  <a:srgbClr val="1E7A3C"/>
                </a:solidFill>
                <a:latin typeface="Calibri" pitchFamily="34" charset="0"/>
                <a:ea typeface="Calibri" pitchFamily="34" charset="-122"/>
                <a:cs typeface="Calibri" pitchFamily="34" charset="-120"/>
              </a:rPr>
              <a:t>EXIGENCE 1 · TOPOLOGIE DE DÉPLOIEMENT</a:t>
            </a:r>
            <a:endParaRPr lang="en-US" sz="1200" dirty="0"/>
          </a:p>
        </p:txBody>
      </p:sp>
      <p:sp>
        <p:nvSpPr>
          <p:cNvPr id="5" name="Text 3"/>
          <p:cNvSpPr/>
          <p:nvPr/>
        </p:nvSpPr>
        <p:spPr>
          <a:xfrm>
            <a:off x="1097280" y="640080"/>
            <a:ext cx="10607040" cy="548640"/>
          </a:xfrm>
          <a:prstGeom prst="rect">
            <a:avLst/>
          </a:prstGeom>
          <a:noFill/>
          <a:ln/>
        </p:spPr>
        <p:txBody>
          <a:bodyPr wrap="square" lIns="0" tIns="0" rIns="0" bIns="0"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Répartir les Pods : Anti-Affinity vs TopologySpreadConstraints</a:t>
            </a:r>
            <a:endParaRPr lang="en-US" sz="3000" dirty="0"/>
          </a:p>
        </p:txBody>
      </p:sp>
      <p:sp>
        <p:nvSpPr>
          <p:cNvPr id="6" name="Shape 4"/>
          <p:cNvSpPr/>
          <p:nvPr/>
        </p:nvSpPr>
        <p:spPr>
          <a:xfrm>
            <a:off x="457200" y="1371600"/>
            <a:ext cx="11247120" cy="566928"/>
          </a:xfrm>
          <a:prstGeom prst="roundRect">
            <a:avLst>
              <a:gd name="adj" fmla="val 12903"/>
            </a:avLst>
          </a:prstGeom>
          <a:solidFill>
            <a:srgbClr val="EEF5EF"/>
          </a:solidFill>
          <a:ln/>
          <a:effectLst>
            <a:outerShdw sx="100000" sy="100000" kx="0" ky="0" algn="bl" rotWithShape="0" blurRad="88900" dist="25400" dir="5400000">
              <a:srgbClr val="000000">
                <a:alpha val="12000"/>
              </a:srgbClr>
            </a:outerShdw>
          </a:effectLst>
        </p:spPr>
      </p:sp>
      <p:sp>
        <p:nvSpPr>
          <p:cNvPr id="7" name="Text 5"/>
          <p:cNvSpPr/>
          <p:nvPr/>
        </p:nvSpPr>
        <p:spPr>
          <a:xfrm>
            <a:off x="731520" y="1371600"/>
            <a:ext cx="10789920" cy="566928"/>
          </a:xfrm>
          <a:prstGeom prst="rect">
            <a:avLst/>
          </a:prstGeom>
          <a:noFill/>
          <a:ln/>
        </p:spPr>
        <p:txBody>
          <a:bodyPr wrap="square" lIns="0" tIns="0" rIns="0" bIns="0" rtlCol="0" anchor="ctr"/>
          <a:lstStyle/>
          <a:p>
            <a:pPr indent="0" marL="0">
              <a:buNone/>
            </a:pPr>
            <a:r>
              <a:rPr lang="en-US" sz="1200" b="1" spc="100" kern="0" dirty="0">
                <a:solidFill>
                  <a:srgbClr val="1E7A3C"/>
                </a:solidFill>
                <a:latin typeface="Calibri" pitchFamily="34" charset="0"/>
                <a:ea typeface="Calibri" pitchFamily="34" charset="-122"/>
                <a:cs typeface="Calibri" pitchFamily="34" charset="-120"/>
              </a:rPr>
              <a:t>LE CŒUR DE LA COMPARAISON   </a:t>
            </a:r>
            <a:pPr indent="0" marL="0">
              <a:buNone/>
            </a:pPr>
            <a:r>
              <a:rPr lang="en-US" sz="1300" dirty="0">
                <a:solidFill>
                  <a:srgbClr val="2C2C2C"/>
                </a:solidFill>
                <a:latin typeface="Calibri" pitchFamily="34" charset="0"/>
                <a:ea typeface="Calibri" pitchFamily="34" charset="-122"/>
                <a:cs typeface="Calibri" pitchFamily="34" charset="-120"/>
              </a:rPr>
              <a:t>Anti-affinity = logique </a:t>
            </a:r>
            <a:pPr indent="0" marL="0">
              <a:buNone/>
            </a:pPr>
            <a:r>
              <a:rPr lang="en-US" sz="1300" b="1" dirty="0">
                <a:solidFill>
                  <a:srgbClr val="B23A2E"/>
                </a:solidFill>
                <a:latin typeface="Calibri" pitchFamily="34" charset="0"/>
                <a:ea typeface="Calibri" pitchFamily="34" charset="-122"/>
                <a:cs typeface="Calibri" pitchFamily="34" charset="-120"/>
              </a:rPr>
              <a:t>binaire</a:t>
            </a:r>
            <a:pPr indent="0" marL="0">
              <a:buNone/>
            </a:pPr>
            <a:r>
              <a:rPr lang="en-US" sz="1300" dirty="0">
                <a:solidFill>
                  <a:srgbClr val="2C2C2C"/>
                </a:solidFill>
                <a:latin typeface="Calibri" pitchFamily="34" charset="0"/>
                <a:ea typeface="Calibri" pitchFamily="34" charset="-122"/>
                <a:cs typeface="Calibri" pitchFamily="34" charset="-120"/>
              </a:rPr>
              <a:t> (« interdit / autorisé »)    →    TopologySpread = logique </a:t>
            </a:r>
            <a:pPr indent="0" marL="0">
              <a:buNone/>
            </a:pPr>
            <a:r>
              <a:rPr lang="en-US" sz="1300" b="1" dirty="0">
                <a:solidFill>
                  <a:srgbClr val="1E7A3C"/>
                </a:solidFill>
                <a:latin typeface="Calibri" pitchFamily="34" charset="0"/>
                <a:ea typeface="Calibri" pitchFamily="34" charset="-122"/>
                <a:cs typeface="Calibri" pitchFamily="34" charset="-120"/>
              </a:rPr>
              <a:t>quantitative</a:t>
            </a:r>
            <a:pPr indent="0" marL="0">
              <a:buNone/>
            </a:pPr>
            <a:r>
              <a:rPr lang="en-US" sz="1300" dirty="0">
                <a:solidFill>
                  <a:srgbClr val="2C2C2C"/>
                </a:solidFill>
                <a:latin typeface="Calibri" pitchFamily="34" charset="0"/>
                <a:ea typeface="Calibri" pitchFamily="34" charset="-122"/>
                <a:cs typeface="Calibri" pitchFamily="34" charset="-120"/>
              </a:rPr>
              <a:t> (« combien de pods par domaine »)</a:t>
            </a:r>
            <a:endParaRPr lang="en-US" sz="1200" dirty="0"/>
          </a:p>
        </p:txBody>
      </p:sp>
      <p:sp>
        <p:nvSpPr>
          <p:cNvPr id="8" name="Shape 6"/>
          <p:cNvSpPr/>
          <p:nvPr/>
        </p:nvSpPr>
        <p:spPr>
          <a:xfrm>
            <a:off x="457200" y="2148840"/>
            <a:ext cx="5440680" cy="2743200"/>
          </a:xfrm>
          <a:prstGeom prst="roundRect">
            <a:avLst>
              <a:gd name="adj" fmla="val 3333"/>
            </a:avLst>
          </a:prstGeom>
          <a:solidFill>
            <a:srgbClr val="FFFFFF"/>
          </a:solidFill>
          <a:ln w="12700">
            <a:solidFill>
              <a:srgbClr val="DCDCDC"/>
            </a:solidFill>
            <a:prstDash val="solid"/>
          </a:ln>
          <a:effectLst>
            <a:outerShdw sx="100000" sy="100000" kx="0" ky="0" algn="bl" rotWithShape="0" blurRad="88900" dist="25400" dir="5400000">
              <a:srgbClr val="000000">
                <a:alpha val="12000"/>
              </a:srgbClr>
            </a:outerShdw>
          </a:effectLst>
        </p:spPr>
      </p:sp>
      <p:sp>
        <p:nvSpPr>
          <p:cNvPr id="9" name="Shape 7"/>
          <p:cNvSpPr/>
          <p:nvPr/>
        </p:nvSpPr>
        <p:spPr>
          <a:xfrm>
            <a:off x="457200" y="2148840"/>
            <a:ext cx="5440680" cy="566928"/>
          </a:xfrm>
          <a:prstGeom prst="roundRect">
            <a:avLst>
              <a:gd name="adj" fmla="val 16129"/>
            </a:avLst>
          </a:prstGeom>
          <a:solidFill>
            <a:srgbClr val="165B33"/>
          </a:solidFill>
          <a:ln/>
        </p:spPr>
      </p:sp>
      <p:sp>
        <p:nvSpPr>
          <p:cNvPr id="10" name="Shape 8"/>
          <p:cNvSpPr/>
          <p:nvPr/>
        </p:nvSpPr>
        <p:spPr>
          <a:xfrm>
            <a:off x="457200" y="2432304"/>
            <a:ext cx="5440680" cy="283464"/>
          </a:xfrm>
          <a:prstGeom prst="rect">
            <a:avLst/>
          </a:prstGeom>
          <a:solidFill>
            <a:srgbClr val="165B33"/>
          </a:solidFill>
          <a:ln/>
        </p:spPr>
      </p:sp>
      <p:sp>
        <p:nvSpPr>
          <p:cNvPr id="11" name="Text 9"/>
          <p:cNvSpPr/>
          <p:nvPr/>
        </p:nvSpPr>
        <p:spPr>
          <a:xfrm>
            <a:off x="685800" y="2148840"/>
            <a:ext cx="498348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Pod Anti-Affinity</a:t>
            </a:r>
            <a:endParaRPr lang="en-US" sz="1800" dirty="0"/>
          </a:p>
        </p:txBody>
      </p:sp>
      <p:sp>
        <p:nvSpPr>
          <p:cNvPr id="12" name="Text 10"/>
          <p:cNvSpPr/>
          <p:nvPr/>
        </p:nvSpPr>
        <p:spPr>
          <a:xfrm>
            <a:off x="731520" y="2862072"/>
            <a:ext cx="4892040" cy="1874520"/>
          </a:xfrm>
          <a:prstGeom prst="rect">
            <a:avLst/>
          </a:prstGeom>
          <a:noFill/>
          <a:ln/>
        </p:spPr>
        <p:txBody>
          <a:bodyPr wrap="square" lIns="0" tIns="0" rIns="0" bIns="0" rtlCol="0" anchor="t"/>
          <a:lstStyle/>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Logique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qualitative / binaire (interdit ou autorisé)</a:t>
            </a:r>
            <a:endParaRPr lang="en-US" sz="1250" dirty="0"/>
          </a:p>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Granularité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 pas 2 pods dans le même domaine »</a:t>
            </a:r>
            <a:endParaRPr lang="en-US" sz="1250" dirty="0"/>
          </a:p>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Multi-niveau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1 clé à la fois, peu pratique</a:t>
            </a:r>
            <a:endParaRPr lang="en-US" sz="1250" dirty="0"/>
          </a:p>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Dur / souple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required / preferred</a:t>
            </a:r>
            <a:endParaRPr lang="en-US" sz="1250" dirty="0"/>
          </a:p>
          <a:p>
            <a:pPr indent="0" marL="0">
              <a:lnSpc>
                <a:spcPct val="118000"/>
              </a:lnSpc>
              <a:buNone/>
            </a:pPr>
            <a:r>
              <a:rPr lang="en-US" sz="1250" b="1" dirty="0">
                <a:solidFill>
                  <a:srgbClr val="B23A2E"/>
                </a:solidFill>
                <a:latin typeface="Calibri" pitchFamily="34" charset="0"/>
                <a:ea typeface="Calibri" pitchFamily="34" charset="-122"/>
                <a:cs typeface="Calibri" pitchFamily="34" charset="-120"/>
              </a:rPr>
              <a:t>⚠ Risque : </a:t>
            </a:r>
            <a:pPr indent="0" marL="0">
              <a:lnSpc>
                <a:spcPct val="118000"/>
              </a:lnSpc>
              <a:buNone/>
            </a:pPr>
            <a:r>
              <a:rPr lang="en-US" sz="1250" dirty="0">
                <a:solidFill>
                  <a:srgbClr val="B23A2E"/>
                </a:solidFill>
                <a:latin typeface="Calibri" pitchFamily="34" charset="0"/>
                <a:ea typeface="Calibri" pitchFamily="34" charset="-122"/>
                <a:cs typeface="Calibri" pitchFamily="34" charset="-120"/>
              </a:rPr>
              <a:t>required peut BLOQUER le scheduling (Pending)</a:t>
            </a:r>
            <a:endParaRPr lang="en-US" sz="1250" dirty="0"/>
          </a:p>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Coût scheduler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élevé (O(N²)) sur gros clusters</a:t>
            </a:r>
            <a:endParaRPr lang="en-US" sz="1250" dirty="0"/>
          </a:p>
          <a:p>
            <a:pPr indent="0" marL="0">
              <a:lnSpc>
                <a:spcPct val="118000"/>
              </a:lnSpc>
              <a:buNone/>
            </a:pPr>
            <a:r>
              <a:rPr lang="en-US" sz="1250" b="1" dirty="0">
                <a:solidFill>
                  <a:srgbClr val="165B33"/>
                </a:solidFill>
                <a:latin typeface="Calibri" pitchFamily="34" charset="0"/>
                <a:ea typeface="Calibri" pitchFamily="34" charset="-122"/>
                <a:cs typeface="Calibri" pitchFamily="34" charset="-120"/>
              </a:rPr>
              <a:t>Objectif : </a:t>
            </a:r>
            <a:pPr indent="0" marL="0">
              <a:lnSpc>
                <a:spcPct val="118000"/>
              </a:lnSpc>
              <a:buNone/>
            </a:pPr>
            <a:r>
              <a:rPr lang="en-US" sz="1250" dirty="0">
                <a:solidFill>
                  <a:srgbClr val="165B33"/>
                </a:solidFill>
                <a:latin typeface="Calibri" pitchFamily="34" charset="0"/>
                <a:ea typeface="Calibri" pitchFamily="34" charset="-122"/>
                <a:cs typeface="Calibri" pitchFamily="34" charset="-120"/>
              </a:rPr>
              <a:t>isolation stricte (sécu, licences)</a:t>
            </a:r>
            <a:endParaRPr lang="en-US" sz="1250" dirty="0"/>
          </a:p>
        </p:txBody>
      </p:sp>
      <p:sp>
        <p:nvSpPr>
          <p:cNvPr id="13" name="Shape 11"/>
          <p:cNvSpPr/>
          <p:nvPr/>
        </p:nvSpPr>
        <p:spPr>
          <a:xfrm>
            <a:off x="6263640" y="2148840"/>
            <a:ext cx="5440680" cy="2743200"/>
          </a:xfrm>
          <a:prstGeom prst="roundRect">
            <a:avLst>
              <a:gd name="adj" fmla="val 3333"/>
            </a:avLst>
          </a:prstGeom>
          <a:solidFill>
            <a:srgbClr val="FFFFFF"/>
          </a:solidFill>
          <a:ln w="12700">
            <a:solidFill>
              <a:srgbClr val="DCDCDC"/>
            </a:solidFill>
            <a:prstDash val="solid"/>
          </a:ln>
          <a:effectLst>
            <a:outerShdw sx="100000" sy="100000" kx="0" ky="0" algn="bl" rotWithShape="0" blurRad="88900" dist="25400" dir="5400000">
              <a:srgbClr val="000000">
                <a:alpha val="12000"/>
              </a:srgbClr>
            </a:outerShdw>
          </a:effectLst>
        </p:spPr>
      </p:sp>
      <p:sp>
        <p:nvSpPr>
          <p:cNvPr id="14" name="Shape 12"/>
          <p:cNvSpPr/>
          <p:nvPr/>
        </p:nvSpPr>
        <p:spPr>
          <a:xfrm>
            <a:off x="6263640" y="2148840"/>
            <a:ext cx="5440680" cy="566928"/>
          </a:xfrm>
          <a:prstGeom prst="roundRect">
            <a:avLst>
              <a:gd name="adj" fmla="val 16129"/>
            </a:avLst>
          </a:prstGeom>
          <a:solidFill>
            <a:srgbClr val="1E7A3C"/>
          </a:solidFill>
          <a:ln/>
        </p:spPr>
      </p:sp>
      <p:sp>
        <p:nvSpPr>
          <p:cNvPr id="15" name="Shape 13"/>
          <p:cNvSpPr/>
          <p:nvPr/>
        </p:nvSpPr>
        <p:spPr>
          <a:xfrm>
            <a:off x="6263640" y="2432304"/>
            <a:ext cx="5440680" cy="283464"/>
          </a:xfrm>
          <a:prstGeom prst="rect">
            <a:avLst/>
          </a:prstGeom>
          <a:solidFill>
            <a:srgbClr val="1E7A3C"/>
          </a:solidFill>
          <a:ln/>
        </p:spPr>
      </p:sp>
      <p:sp>
        <p:nvSpPr>
          <p:cNvPr id="16" name="Text 14"/>
          <p:cNvSpPr/>
          <p:nvPr/>
        </p:nvSpPr>
        <p:spPr>
          <a:xfrm>
            <a:off x="6492240" y="2148840"/>
            <a:ext cx="4983480" cy="56692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TopologySpreadConstraints</a:t>
            </a:r>
            <a:endParaRPr lang="en-US" sz="1800" dirty="0"/>
          </a:p>
        </p:txBody>
      </p:sp>
      <p:sp>
        <p:nvSpPr>
          <p:cNvPr id="17" name="Text 15"/>
          <p:cNvSpPr/>
          <p:nvPr/>
        </p:nvSpPr>
        <p:spPr>
          <a:xfrm>
            <a:off x="6537960" y="2862072"/>
            <a:ext cx="4892040" cy="1874520"/>
          </a:xfrm>
          <a:prstGeom prst="rect">
            <a:avLst/>
          </a:prstGeom>
          <a:noFill/>
          <a:ln/>
        </p:spPr>
        <p:txBody>
          <a:bodyPr wrap="square" lIns="0" tIns="0" rIns="0" bIns="0" rtlCol="0" anchor="t"/>
          <a:lstStyle/>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Logique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quantitative (maxSkew = écart toléré)</a:t>
            </a:r>
            <a:endParaRPr lang="en-US" sz="1250" dirty="0"/>
          </a:p>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Granularité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 au plus N pods d'écart par domaine »</a:t>
            </a:r>
            <a:endParaRPr lang="en-US" sz="1250" dirty="0"/>
          </a:p>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Multi-niveau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plusieurs contraintes (zone + nœud) en //</a:t>
            </a:r>
            <a:endParaRPr lang="en-US" sz="1250" dirty="0"/>
          </a:p>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Dur / souple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DoNotSchedule / ScheduleAnyway</a:t>
            </a:r>
            <a:endParaRPr lang="en-US" sz="1250" dirty="0"/>
          </a:p>
          <a:p>
            <a:pPr indent="0" marL="0">
              <a:lnSpc>
                <a:spcPct val="118000"/>
              </a:lnSpc>
              <a:buNone/>
            </a:pPr>
            <a:r>
              <a:rPr lang="en-US" sz="1250" b="1" dirty="0">
                <a:solidFill>
                  <a:srgbClr val="1E7A3C"/>
                </a:solidFill>
                <a:latin typeface="Calibri" pitchFamily="34" charset="0"/>
                <a:ea typeface="Calibri" pitchFamily="34" charset="-122"/>
                <a:cs typeface="Calibri" pitchFamily="34" charset="-120"/>
              </a:rPr>
              <a:t>✓ Comportement : </a:t>
            </a:r>
            <a:pPr indent="0" marL="0">
              <a:lnSpc>
                <a:spcPct val="118000"/>
              </a:lnSpc>
              <a:buNone/>
            </a:pPr>
            <a:r>
              <a:rPr lang="en-US" sz="1250" dirty="0">
                <a:solidFill>
                  <a:srgbClr val="1E7A3C"/>
                </a:solidFill>
                <a:latin typeface="Calibri" pitchFamily="34" charset="0"/>
                <a:ea typeface="Calibri" pitchFamily="34" charset="-122"/>
                <a:cs typeface="Calibri" pitchFamily="34" charset="-120"/>
              </a:rPr>
              <a:t>dégrade proprement (whenUnsatisfiable)</a:t>
            </a:r>
            <a:endParaRPr lang="en-US" sz="1250" dirty="0"/>
          </a:p>
          <a:p>
            <a:pPr indent="0" marL="0">
              <a:lnSpc>
                <a:spcPct val="118000"/>
              </a:lnSpc>
              <a:buNone/>
            </a:pPr>
            <a:r>
              <a:rPr lang="en-US" sz="1250" b="1" dirty="0">
                <a:solidFill>
                  <a:srgbClr val="2C2C2C"/>
                </a:solidFill>
                <a:latin typeface="Calibri" pitchFamily="34" charset="0"/>
                <a:ea typeface="Calibri" pitchFamily="34" charset="-122"/>
                <a:cs typeface="Calibri" pitchFamily="34" charset="-120"/>
              </a:rPr>
              <a:t>Coût scheduler : </a:t>
            </a:r>
            <a:pPr indent="0" marL="0">
              <a:lnSpc>
                <a:spcPct val="118000"/>
              </a:lnSpc>
              <a:buNone/>
            </a:pPr>
            <a:r>
              <a:rPr lang="en-US" sz="1250" dirty="0">
                <a:solidFill>
                  <a:srgbClr val="2C2C2C"/>
                </a:solidFill>
                <a:latin typeface="Calibri" pitchFamily="34" charset="0"/>
                <a:ea typeface="Calibri" pitchFamily="34" charset="-122"/>
                <a:cs typeface="Calibri" pitchFamily="34" charset="-120"/>
              </a:rPr>
              <a:t>optimisé, scale mieux</a:t>
            </a:r>
            <a:endParaRPr lang="en-US" sz="1250" dirty="0"/>
          </a:p>
          <a:p>
            <a:pPr indent="0" marL="0">
              <a:lnSpc>
                <a:spcPct val="118000"/>
              </a:lnSpc>
              <a:buNone/>
            </a:pPr>
            <a:r>
              <a:rPr lang="en-US" sz="1250" b="1" dirty="0">
                <a:solidFill>
                  <a:srgbClr val="165B33"/>
                </a:solidFill>
                <a:latin typeface="Calibri" pitchFamily="34" charset="0"/>
                <a:ea typeface="Calibri" pitchFamily="34" charset="-122"/>
                <a:cs typeface="Calibri" pitchFamily="34" charset="-120"/>
              </a:rPr>
              <a:t>Objectif : </a:t>
            </a:r>
            <a:pPr indent="0" marL="0">
              <a:lnSpc>
                <a:spcPct val="118000"/>
              </a:lnSpc>
              <a:buNone/>
            </a:pPr>
            <a:r>
              <a:rPr lang="en-US" sz="1250" dirty="0">
                <a:solidFill>
                  <a:srgbClr val="165B33"/>
                </a:solidFill>
                <a:latin typeface="Calibri" pitchFamily="34" charset="0"/>
                <a:ea typeface="Calibri" pitchFamily="34" charset="-122"/>
                <a:cs typeface="Calibri" pitchFamily="34" charset="-120"/>
              </a:rPr>
              <a:t>haute dispo + équilibrage de charge entre AZ</a:t>
            </a:r>
            <a:endParaRPr lang="en-US" sz="1250" dirty="0"/>
          </a:p>
        </p:txBody>
      </p:sp>
      <p:sp>
        <p:nvSpPr>
          <p:cNvPr id="18" name="Shape 16"/>
          <p:cNvSpPr/>
          <p:nvPr/>
        </p:nvSpPr>
        <p:spPr>
          <a:xfrm>
            <a:off x="457200" y="5074920"/>
            <a:ext cx="11247120" cy="1280160"/>
          </a:xfrm>
          <a:prstGeom prst="roundRect">
            <a:avLst>
              <a:gd name="adj" fmla="val 7143"/>
            </a:avLst>
          </a:prstGeom>
          <a:solidFill>
            <a:srgbClr val="165B33"/>
          </a:solidFill>
          <a:ln/>
          <a:effectLst>
            <a:outerShdw sx="100000" sy="100000" kx="0" ky="0" algn="bl" rotWithShape="0" blurRad="88900" dist="25400" dir="5400000">
              <a:srgbClr val="000000">
                <a:alpha val="12000"/>
              </a:srgbClr>
            </a:outerShdw>
          </a:effectLst>
        </p:spPr>
      </p:sp>
      <p:sp>
        <p:nvSpPr>
          <p:cNvPr id="19" name="Text 17"/>
          <p:cNvSpPr/>
          <p:nvPr/>
        </p:nvSpPr>
        <p:spPr>
          <a:xfrm>
            <a:off x="777240" y="5212080"/>
            <a:ext cx="10607040" cy="320040"/>
          </a:xfrm>
          <a:prstGeom prst="rect">
            <a:avLst/>
          </a:prstGeom>
          <a:noFill/>
          <a:ln/>
        </p:spPr>
        <p:txBody>
          <a:bodyPr wrap="square" lIns="0" tIns="0" rIns="0" bIns="0" rtlCol="0" anchor="ctr"/>
          <a:lstStyle/>
          <a:p>
            <a:pPr indent="0" marL="0">
              <a:buNone/>
            </a:pPr>
            <a:r>
              <a:rPr lang="en-US" sz="1300" b="1" spc="100" kern="0" dirty="0">
                <a:solidFill>
                  <a:srgbClr val="C99A2E"/>
                </a:solidFill>
                <a:latin typeface="Calibri" pitchFamily="34" charset="0"/>
                <a:ea typeface="Calibri" pitchFamily="34" charset="-122"/>
                <a:cs typeface="Calibri" pitchFamily="34" charset="-120"/>
              </a:rPr>
              <a:t>💡  PATTERN RECOMMANDÉ SUR ROKS MULTI-AZ</a:t>
            </a:r>
            <a:endParaRPr lang="en-US" sz="1300" dirty="0"/>
          </a:p>
        </p:txBody>
      </p:sp>
      <p:sp>
        <p:nvSpPr>
          <p:cNvPr id="20" name="Text 18"/>
          <p:cNvSpPr/>
          <p:nvPr/>
        </p:nvSpPr>
        <p:spPr>
          <a:xfrm>
            <a:off x="777240" y="5532120"/>
            <a:ext cx="10607040" cy="731520"/>
          </a:xfrm>
          <a:prstGeom prst="rect">
            <a:avLst/>
          </a:prstGeom>
          <a:noFill/>
          <a:ln/>
        </p:spPr>
        <p:txBody>
          <a:bodyPr wrap="square" lIns="0" tIns="0" rIns="0" bIns="0" rtlCol="0" anchor="ctr"/>
          <a:lstStyle/>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Pas l'un OU l'autre — on combine : </a:t>
            </a:r>
            <a:pPr indent="0" marL="0">
              <a:lnSpc>
                <a:spcPct val="110000"/>
              </a:lnSpc>
              <a:buNone/>
            </a:pPr>
            <a:r>
              <a:rPr lang="en-US" sz="1450" b="1" dirty="0">
                <a:solidFill>
                  <a:srgbClr val="FFFFFF"/>
                </a:solidFill>
                <a:latin typeface="Calibri" pitchFamily="34" charset="0"/>
                <a:ea typeface="Calibri" pitchFamily="34" charset="-122"/>
                <a:cs typeface="Calibri" pitchFamily="34" charset="-120"/>
              </a:rPr>
              <a:t>TopologySpread (DoNotSchedule, maxSkew=1) sur la zone</a:t>
            </a:r>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 pour l'équilibre   +   </a:t>
            </a:r>
            <a:pPr indent="0" marL="0">
              <a:lnSpc>
                <a:spcPct val="110000"/>
              </a:lnSpc>
              <a:buNone/>
            </a:pPr>
            <a:r>
              <a:rPr lang="en-US" sz="1450" b="1" dirty="0">
                <a:solidFill>
                  <a:srgbClr val="FFFFFF"/>
                </a:solidFill>
                <a:latin typeface="Calibri" pitchFamily="34" charset="0"/>
                <a:ea typeface="Calibri" pitchFamily="34" charset="-122"/>
                <a:cs typeface="Calibri" pitchFamily="34" charset="-120"/>
              </a:rPr>
              <a:t>podAntiAffinity (preferred) sur le hostname</a:t>
            </a:r>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 pour éviter l'empilement sur un nœud, sans risquer le blocage.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Répartition des Pods – ROKS multi-AZ</dc:title>
  <dc:subject>PptxGenJS Presentation</dc:subject>
  <dc:creator>Ema – SAMS Consulting</dc:creator>
  <cp:lastModifiedBy>Ema – SAMS Consulting</cp:lastModifiedBy>
  <cp:revision>1</cp:revision>
  <dcterms:created xsi:type="dcterms:W3CDTF">2026-06-17T07:55:10Z</dcterms:created>
  <dcterms:modified xsi:type="dcterms:W3CDTF">2026-06-17T07:55:10Z</dcterms:modified>
</cp:coreProperties>
</file>