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 min)
• Welcome the two Italian colleagues and thank them for coming.
• Briefly introduce yourself (role, team, time at Cardif).
• State the goal of the session: give them a complete and shared view of the Cardif technical foundation before they start their job.
• Set the frame: 2 hours, questions welcome at any time, no need to memorize the slides — the goal is to fix the main concepts.
• Insist on the confidential nature of the content (for BNP Paribas Cardif internal use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(2 min)
• Quickly walk through the 4 parts to give the main thread: context → dMZR (platform) → Marketplace (consumption) → TOE (organization).
• Explain that the dMZR part is the most technical and that it is needed to understand the Marketplace part.
• Announce that a 2-hour timing proposal is at the end of the deck — we can adapt the pace based on questions.
• Ask if they already have priority topics in mind (adjust focus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(3 min)
• Explain that their functional attachment to the team means they will consume and operate on the foundation.
• Note that they come from ITOPS/APS — so they are already familiar with production environments, but not necessarily with the BNP/Cardif context.
• Stress the 3 pillars (Platform, Consumption, Organization): this is what they should remember above all.
• Remind them they are not expected to master everything by the end of the session — the goal is to know who to ask for what (the idea of contacts).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SECTION 1 (1 min)
• Announce: we start with the platform — it supports everything else.
• Key point to hammer from the start: there are TWO infrastructures in production, not one. The dMZR (legacy, IKS) and the dMZR aS Code (new generation, ROKS).
• Cardif projects are progressively migrating from the first to the second — neither is being decommissioned yet.
• Both are operated by BP2I: they will be a recurring contact point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REGION, TWO INFRASTRUCTURES (5 min)
• Key slide: take your time. If the distinction between dMZR and dMZR aS Code is not clear, the rest will not make sense.
LEFT — dMZR (legacy):
• Runtime IKS (IBM Kubernetes Service), classic VSI.
• Managed services: Kafka, Databases, COS — provisioned in the classic way.
• Unit = the ecosystem (business scope, quotas, rights).
• Provisioning: Marketplace portal and REST API (Swagger). Insist on 'Swagger' — if the colleagues come from environments that use similar tools, this is an easy anchor.
RIGHT — dMZR aS Code (new generation):
• Runtime ROKS (managed OpenShift), VSI aS Code.
• Services: Kafka aS Code, Databases aS Code — the 'aS Code' pattern is systematic.
• Unit = the realm (versioned logical grouping).
• Provisioning: Terraform (for IaC) + Marketplace (still present).
KEY MESSAGE: both are IN PRODUCTION. The dMZR aS Code is the migration target — new projects go directly there, older ones are migrated step by step.
Leave 1-2 min for questions — this is often where the colleagues react.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LAYERS (4 min)
• The top intro is the key message: the SAME IBM Cloud blocks are used on both sides, but declined in 'aS Code' form on the dMZR aS Code.
COMPUTE: IKS + VSI on the dMZR, ROKS + VSI aS Code on the dMZR aS Code. Same functional role, different runtime (upstream K8s vs OpenShift).
DATA: Kafka, PostgreSQL/MongoDB/Redis, COS — strictly the same. Only the provisioning mode and the 'aS Code' naming change.
NETWORK: VPC + Transit Gateway + DirectLink — shared network layer, split by ecosystem (dMZR) or realm (dMZR aS Code).
SECURITY: IAM, Key Protect (BYOK/KYOK), Activity Tracker — shared BNP security layer too.
• Wrap up: the infrastructure is operated by BP2I. Our colleagues will be on the 'consumers' and 'producers' side (clarify depending on their exact role).
• Prepare the transition to the next slide: 'Now, let's zoom in on how we provision on the dMZR aS Code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dMZR aS CODE — TERRAFORM PROVISIONING (6 min)
• Most technical slide of the infra section — take your time.
LEAD: insist on three points:
  1) dMZR aS Code is indeed IN PRODUCTION, not a project.
  2) BP2I operates the infrastructure AND has built the Terraform orchestrator.
  3) Resources (VSI, LB, ROKS, Kafka, Databases…) are provisioned aS Code — not 'just some items': EVERYTHING goes through the orchestrator.
WORKFLOW (5 steps):
  • GIT: Terraform modules are versioned in GitLab. Every change = a Merge Request reviewed by peers.
  • PLAN: 'terraform plan' is run automatically in the pipeline, with policy checks (compliance, tagging, segmentation).
  • REVIEW: the MR must be approved — human + policies OK — before trigger.
  • BP2I ORCHESTRATOR (step highlighted in gold — central piece): this is the in-house orchestrator that handles the 'apply', talks to IBM Cloud providers, maintains remote state, detects drift. Its role: make the underlying cloud AGNOSTIC. Project teams do not write IBM-specific code.
  • RESOURCES: the concrete outcome — a VSI, a LB, a ROKS cluster, a Kafka, a Database — all provisioned aS Code.
BOTTOM STRIP (4 principles):
  • Standardization: everything goes through the same validated modules.
  • Idempotence: replay = same result, no silent drift.
  • Remote state: Terraform state is centralized, not on a local machine.
  • Drift detection: the orchestrator continuously compares declared and actual state.
CLOSING MESSAGE: 'no more manual ticketing, no more hand-made API calls — everything is code, versioned,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SECTION 2 (1 min)
• We have seen 'how we build' — now 'how we consume'.
• Announce the section plan: Marketplace definition and actors, IBM ecosystems, order lifecycle, rights and governance.
• Mention that this is the part where they will need answers most immediately — from day one, they will need to understand how to order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&amp; ACTORS (3 min)
• Define it simply: it is the BNP Paribas internal portal where some teams produce IT offers and other teams order them.
TWO USES:
  • Daily use: what comes often — access, environments, tools. Recurring orders.
  • Application building: when you launch a new business app, you assemble the blocks (runtime, databases, network, security, observability) from the Marketplace.
THREE ACTORS — insist as this is the shared vocabulary:
  • Producers: teams that publish and maintain an offer (e.g. the team that operates Kafka publishes 'Kafka aS Code').
  • Consumers: teams that order (e.g. an application team that needs a Kafka topic).
  • Employee groups: allow several people to order on behalf of the same team.
• Note that the Marketplace is used ON BOTH SIDES (dMZR and dMZR aS Code) — it is not a technology reserved for the legacy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CLOUD ECOSYSTEMS (4 min)
• Central concept to get across: an ecosystem = a scope (business/entity) with its own rules, quotas and costs.
THREE DIMENSIONS:
  • Scope: an ecosystem is defined by a business line, an entity or a compliance zone. Give a concrete example if possible (e.g. 'Cardif Production' ecosystem).
  • Quotas &amp; costs: every order is billed to the requesting ecosystem. This is an important FinOps lever — budget control happens at this level.
  • Access rights: attachment to an ecosystem defines what a consumer can see, order, approve.
KEY TAKEAWAY (bottom callout, MAIN MESSAGE):
  • First line: no attachment = no order. That is the initial filter.
  • Second line: both provisioning modes (Swagger on dMZR, Terraform on dMZR aS Code) rely on ecosystems, with the realm concept emerging on the target side.
• If the colleagues ask 'which ecosystem will I be attached to?' — refer them to the follow-up after the session or to their direct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LIFECYCLE (4 min)
• Walk through the 5 steps one by one — this is the path they will have to follow themselves.
STEP 1 — Attachment: mandatory prerequisite. If this is not done, the catalog is empty.
STEP 2 — Selection: the consumer picks an offer from the visible catalog (filtered by rights).
STEP 3 — Approval: digital workflow. Depending on the offer, it involves the ecosystem owner, security, FinOps. No paper form to print.
STEP 4 — Execution: the producer's automated pipeline runs. On the dMZR side, it is the legacy chain (Swagger, scripts). On the dMZR aS Code side, it is the BP2I Terraform orchestrator.
STEP 5 — Rights &amp; billing: RBAC/IAM provisioned automatically, cost billed to the ecosystem. The consumer just has to use the resource.
KEY MESSAGE: the workflow is orchestrated end to end. No back-and-forth with manual tickets.
• Good moment to take questions: they often ask 'how long does it take?' — the answer varies by offer (from minutes to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RIGHTS &amp; GOVERNANCE (3 min)
• Two axes to distinguish: who can order vs. who can publish. This is a key distinction.
CONSUMPTION RIGHTS (left): this affects most people. For them, it will probably be the entry point. The 3 dimensions: attachment, role in the group (simple member vs. approver), quotas.
PUBLICATION RIGHTS (right): much more restricted. Only validated product teams can publish an offer. Obligation to ensure quality, compliance, support. Full lifecycle ownership.
THE 4 KEY ROLES (bottom strip) — vocabulary to master:
  • Consumer: orders.
  • Approver: validates orders within an ecosystem.
  • Ecosystem owner: sets the rules, arbitrates.
  • Producer: publishes offers.
• Beyond the roles, insist that each role has responsibilities. Being an ecosystem owner is not just a title — there are duties (rights review, FinOps,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TO SECTION 3 (1 min)
• They have seen the platform and the consumption model. Now the organization.
• TOE = Technology Office Expertise. That is us — the team welcoming them.
• This section will give them: our mission, our focus areas, how we connect with Marketplace and dMZR.
• Tell them explicitly that this is where they will find out who to contact day to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TOE GLOBAL MISSION (3 min)
• Three missions to present in order — they answer one question: « why does the TOE exist? ».
01 — DRIVE THE TRANSFORMATION: the TOE is the engine behind the PAAS V4 / FS Cloud shift. We are the ones industrializing Kubernetes for the whole CARD entity (Production Cardif).
02 — PROVIDE A COMMON FOUNDATION: standards, toolchains, automation. The idea = do not let every application team reinvent the wheel. Quality, reliability, maintainability across the 450+ microservices.
03 — EMPOWER THE TEAMS: the human side. Tech-buddies (pairing), training, onboarding kits. Goal = team autonomy despite turnover and multiple projects.
KEY MESSAGE: the TOE is neither a run-only team, nor a pure expertise team. It is a transverse team combining build (tooling), run (N2/N3 support) and enablement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AREAS (4 min)
• Walk through the table row by row — this is our day-to-day catalog of activities.
SUPPORT &amp; OPERATIONS: N2/N3, SLA tracking, dashboards via Bastion Server, alert automation. The most visible part for application teams.
DEVELOPMENT &amp; TOOLING: creation and maintenance of internal tools. Mention Adret and Iclés if they will interact with them. Ansible scripts, CI/CD pipelines, TOE assets (VMs, clusters).
CD &amp; TOOLCHAIN: delivery chains standardization. Help teams comply with ODM standards. This is the bridge between TOE and application teams.
ENABLEMENT &amp; KNOWLEDGE: onboarding, tutorials, knowledge base, tech-buddy assignment. Important for them: they will probably be paired with a tech-buddy from day one.
CONTINUOUS IMPROVEMENT / AUDITS: scripts audits, vulnerability fixes, performance optimization, practices review. The transverse 'quality' layer.
• Clarify: they are not expected to work on all areas — their exact responsibilities depend on their functional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TOE · MARKETPLACE · dMZR INTERACTIONS (3 min)
• Summary slide — show the triangle and explain the 3 arrows.
TOE → MARKETPLACE (publishes offers): we publish reusable building blocks (CI/CD toolchains, app templates, onboarding kits) that are consumed by application teams.
TOE → dMZR (operates on): we work daily on the platform — N2/N3 support, monitoring, fixes, accompaniment of the application teams that deploy there.
MARKETPLACE → dMZR (deploys via): every Marketplace order turns into resources on the dMZR (or dMZR aS Code). This is the downstream chain they saw in section 2.
KEY MESSAGE: the TOE is at the same time CONSUMER (for our own needs), PRODUCER (of tooled blocks) and OPERATOR (on the platform). This triple role is our added value — natural contact point between application teams and the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2H SESSION OUTLINE (2 min)
• Slide to present quickly — it is a proposed agenda if we replay the session with a wider audience.
• Adjust the pace based on questions: if the dMZR part triggers many exchanges, reduce the Marketplace block and vice versa.
• Emphasize the Q&amp;A block at the end: this is where we catch blocking points and set the next touch points (tech-buddy, knowledge base, shared backlog).
• At the end of the presentation, offer them:
  - A named tech-buddy
  - Access to the knowledge base
  - A follow-up sync at D+15 to see what still needs clarification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AND Q&amp;A (free, 15-20 min)
• Thank the colleagues for their attention and welcome them to the team.
• Open wide the floor to questions — this is the moment when they dare to ask what they did not interrupt during the presentation.
PROMPTS IF THE ROOM IS SILENT:
  • « Have you worked with OpenShift / IKS / Terraform on the Italian side? » — gauge their familiarity.
  • « Which part feels the most unclear for your start? » — prioritize follow-up deep-dives.
  • « What are your first expected topics as soon as next week? » — align on expectations.
TO WRAP UP:
  • Share the accesses with them (knowledge base, Marketplace portal, GitLab).
  • Set the tech-buddy name and a 1:1 slot in the week.
  • Propose a follow-up sync at D+15.
  • Share the deck with them in PDF and PowerPoint so they can revisit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548640" y="41148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
        <p:nvSpPr>
          <p:cNvPr id="3" name="Shape 1"/>
          <p:cNvSpPr/>
          <p:nvPr/>
        </p:nvSpPr>
        <p:spPr>
          <a:xfrm>
            <a:off x="548640" y="777240"/>
            <a:ext cx="457200" cy="36576"/>
          </a:xfrm>
          <a:prstGeom prst="rect">
            <a:avLst/>
          </a:prstGeom>
          <a:solidFill>
            <a:srgbClr val="D4A840"/>
          </a:solidFill>
          <a:ln w="12700">
            <a:solidFill>
              <a:srgbClr val="D4A840"/>
            </a:solidFill>
            <a:prstDash val="solid"/>
          </a:ln>
        </p:spPr>
      </p:sp>
      <p:sp>
        <p:nvSpPr>
          <p:cNvPr id="4" name="Text 2"/>
          <p:cNvSpPr/>
          <p:nvPr/>
        </p:nvSpPr>
        <p:spPr>
          <a:xfrm>
            <a:off x="548640" y="2194560"/>
            <a:ext cx="9144000" cy="320040"/>
          </a:xfrm>
          <a:prstGeom prst="rect">
            <a:avLst/>
          </a:prstGeom>
          <a:noFill/>
          <a:ln/>
        </p:spPr>
        <p:txBody>
          <a:bodyPr wrap="square" lIns="0" tIns="0" rIns="0" bIns="0" rtlCol="0" anchor="ctr"/>
          <a:lstStyle/>
          <a:p>
            <a:pPr indent="0" marL="0">
              <a:buNone/>
            </a:pPr>
            <a:r>
              <a:rPr lang="en-US" sz="1300" b="1" spc="600" kern="0" dirty="0">
                <a:solidFill>
                  <a:srgbClr val="D4A840"/>
                </a:solidFill>
                <a:latin typeface="Calibri" pitchFamily="34" charset="0"/>
                <a:ea typeface="Calibri" pitchFamily="34" charset="-122"/>
                <a:cs typeface="Calibri" pitchFamily="34" charset="-120"/>
              </a:rPr>
              <a:t>ONBOARDING SESSION · 2 HOURS</a:t>
            </a:r>
            <a:endParaRPr lang="en-US" sz="1300" dirty="0"/>
          </a:p>
        </p:txBody>
      </p:sp>
      <p:sp>
        <p:nvSpPr>
          <p:cNvPr id="5" name="Text 3"/>
          <p:cNvSpPr/>
          <p:nvPr/>
        </p:nvSpPr>
        <p:spPr>
          <a:xfrm>
            <a:off x="548640" y="260604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dMZR · IT Marketplace · TOE</a:t>
            </a:r>
            <a:endParaRPr lang="en-US" sz="5400" dirty="0"/>
          </a:p>
        </p:txBody>
      </p:sp>
      <p:sp>
        <p:nvSpPr>
          <p:cNvPr id="6" name="Text 4"/>
          <p:cNvSpPr/>
          <p:nvPr/>
        </p:nvSpPr>
        <p:spPr>
          <a:xfrm>
            <a:off x="548640" y="3794760"/>
            <a:ext cx="10515600" cy="548640"/>
          </a:xfrm>
          <a:prstGeom prst="rect">
            <a:avLst/>
          </a:prstGeom>
          <a:noFill/>
          <a:ln/>
        </p:spPr>
        <p:txBody>
          <a:bodyPr wrap="square" lIns="0" tIns="0" rIns="0" bIns="0" rtlCol="0" anchor="ctr"/>
          <a:lstStyle/>
          <a:p>
            <a:pPr indent="0" marL="0">
              <a:buNone/>
            </a:pPr>
            <a:r>
              <a:rPr lang="en-US" sz="2200" i="1" dirty="0">
                <a:solidFill>
                  <a:srgbClr val="C9D6CF"/>
                </a:solidFill>
                <a:latin typeface="Georgia" pitchFamily="34" charset="0"/>
                <a:ea typeface="Georgia" pitchFamily="34" charset="-122"/>
                <a:cs typeface="Georgia" pitchFamily="34" charset="-120"/>
              </a:rPr>
              <a:t>Technical and organizational overview for ITOPS / APS teams</a:t>
            </a:r>
            <a:endParaRPr lang="en-US" sz="2200" dirty="0"/>
          </a:p>
        </p:txBody>
      </p:sp>
      <p:sp>
        <p:nvSpPr>
          <p:cNvPr id="7" name="Text 5"/>
          <p:cNvSpPr/>
          <p:nvPr/>
        </p:nvSpPr>
        <p:spPr>
          <a:xfrm>
            <a:off x="548640" y="4434840"/>
            <a:ext cx="10515600" cy="365760"/>
          </a:xfrm>
          <a:prstGeom prst="rect">
            <a:avLst/>
          </a:prstGeom>
          <a:noFill/>
          <a:ln/>
        </p:spPr>
        <p:txBody>
          <a:bodyPr wrap="square" lIns="0" tIns="0" rIns="0" bIns="0" rtlCol="0" anchor="ctr"/>
          <a:lstStyle/>
          <a:p>
            <a:pPr indent="0" marL="0">
              <a:buNone/>
            </a:pPr>
            <a:r>
              <a:rPr lang="en-US" sz="1400" dirty="0">
                <a:solidFill>
                  <a:srgbClr val="A7BAB0"/>
                </a:solidFill>
                <a:latin typeface="Calibri" pitchFamily="34" charset="0"/>
                <a:ea typeface="Calibri" pitchFamily="34" charset="-122"/>
                <a:cs typeface="Calibri" pitchFamily="34" charset="-120"/>
              </a:rPr>
              <a:t>IBM Cloud ecosystem · Marketplace &amp; Rights · Technology Office Expertise</a:t>
            </a:r>
            <a:endParaRPr lang="en-US" sz="1400" dirty="0"/>
          </a:p>
        </p:txBody>
      </p:sp>
      <p:sp>
        <p:nvSpPr>
          <p:cNvPr id="8" name="Text 6"/>
          <p:cNvSpPr/>
          <p:nvPr/>
        </p:nvSpPr>
        <p:spPr>
          <a:xfrm>
            <a:off x="548640" y="6172200"/>
            <a:ext cx="5486400" cy="274320"/>
          </a:xfrm>
          <a:prstGeom prst="rect">
            <a:avLst/>
          </a:prstGeom>
          <a:noFill/>
          <a:ln/>
        </p:spPr>
        <p:txBody>
          <a:bodyPr wrap="square" lIns="0" tIns="0" rIns="0" bIns="0" rtlCol="0" anchor="ctr"/>
          <a:lstStyle/>
          <a:p>
            <a:pPr indent="0" marL="0">
              <a:buNone/>
            </a:pPr>
            <a:r>
              <a:rPr lang="en-US" sz="1100" b="1" spc="400" kern="0" dirty="0">
                <a:solidFill>
                  <a:srgbClr val="FFFFFF"/>
                </a:solidFill>
                <a:latin typeface="Calibri" pitchFamily="34" charset="0"/>
                <a:ea typeface="Calibri" pitchFamily="34" charset="-122"/>
                <a:cs typeface="Calibri" pitchFamily="34" charset="-120"/>
              </a:rPr>
              <a:t>CARD — Production Cardif</a:t>
            </a:r>
            <a:endParaRPr lang="en-US" sz="1100" dirty="0"/>
          </a:p>
        </p:txBody>
      </p:sp>
      <p:sp>
        <p:nvSpPr>
          <p:cNvPr id="9" name="Text 7"/>
          <p:cNvSpPr/>
          <p:nvPr/>
        </p:nvSpPr>
        <p:spPr>
          <a:xfrm>
            <a:off x="6126480" y="6172200"/>
            <a:ext cx="5486400" cy="274320"/>
          </a:xfrm>
          <a:prstGeom prst="rect">
            <a:avLst/>
          </a:prstGeom>
          <a:noFill/>
          <a:ln/>
        </p:spPr>
        <p:txBody>
          <a:bodyPr wrap="square" lIns="0" tIns="0" rIns="0" bIns="0" rtlCol="0" anchor="ctr"/>
          <a:lstStyle/>
          <a:p>
            <a:pPr algn="r" indent="0" marL="0">
              <a:buNone/>
            </a:pPr>
            <a:r>
              <a:rPr lang="en-US" sz="1000" i="1" dirty="0">
                <a:solidFill>
                  <a:srgbClr val="8FA69C"/>
                </a:solidFill>
                <a:latin typeface="Calibri" pitchFamily="34" charset="0"/>
                <a:ea typeface="Calibri" pitchFamily="34" charset="-122"/>
                <a:cs typeface="Calibri" pitchFamily="34" charset="-120"/>
              </a:rPr>
              <a:t>Confidential · Internal use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822960"/>
            <a:ext cx="10058400" cy="822960"/>
          </a:xfrm>
          <a:prstGeom prst="rect">
            <a:avLst/>
          </a:prstGeom>
          <a:noFill/>
          <a:ln/>
        </p:spPr>
        <p:txBody>
          <a:bodyPr wrap="square" lIns="0" tIns="0" rIns="0" bIns="0" rtlCol="0" anchor="ctr"/>
          <a:lstStyle/>
          <a:p>
            <a:pPr indent="0" marL="0">
              <a:buNone/>
            </a:pPr>
            <a:r>
              <a:rPr lang="en-US" sz="3600" b="1" dirty="0">
                <a:solidFill>
                  <a:srgbClr val="1A2E28"/>
                </a:solidFill>
                <a:latin typeface="Georgia" pitchFamily="34" charset="0"/>
                <a:ea typeface="Georgia" pitchFamily="34" charset="-122"/>
                <a:cs typeface="Georgia" pitchFamily="34" charset="-120"/>
              </a:rPr>
              <a:t>Session outline</a:t>
            </a:r>
            <a:endParaRPr lang="en-US" sz="3600" dirty="0"/>
          </a:p>
        </p:txBody>
      </p:sp>
      <p:sp>
        <p:nvSpPr>
          <p:cNvPr id="4" name="Shape 2"/>
          <p:cNvSpPr/>
          <p:nvPr/>
        </p:nvSpPr>
        <p:spPr>
          <a:xfrm>
            <a:off x="640080" y="2148840"/>
            <a:ext cx="5486400" cy="1920240"/>
          </a:xfrm>
          <a:prstGeom prst="rect">
            <a:avLst/>
          </a:prstGeom>
          <a:solidFill>
            <a:srgbClr val="F8F9FA"/>
          </a:solidFill>
          <a:ln w="6350">
            <a:solidFill>
              <a:srgbClr val="E2E8F0"/>
            </a:solidFill>
            <a:prstDash val="solid"/>
          </a:ln>
        </p:spPr>
      </p:sp>
      <p:sp>
        <p:nvSpPr>
          <p:cNvPr id="5" name="Text 3"/>
          <p:cNvSpPr/>
          <p:nvPr/>
        </p:nvSpPr>
        <p:spPr>
          <a:xfrm>
            <a:off x="960120" y="237744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01</a:t>
            </a:r>
            <a:endParaRPr lang="en-US" sz="6600" dirty="0"/>
          </a:p>
        </p:txBody>
      </p:sp>
      <p:sp>
        <p:nvSpPr>
          <p:cNvPr id="6" name="Text 4"/>
          <p:cNvSpPr/>
          <p:nvPr/>
        </p:nvSpPr>
        <p:spPr>
          <a:xfrm>
            <a:off x="2651760" y="251460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Context</a:t>
            </a:r>
            <a:endParaRPr lang="en-US" sz="2400" dirty="0"/>
          </a:p>
        </p:txBody>
      </p:sp>
      <p:sp>
        <p:nvSpPr>
          <p:cNvPr id="7" name="Text 5"/>
          <p:cNvSpPr/>
          <p:nvPr/>
        </p:nvSpPr>
        <p:spPr>
          <a:xfrm>
            <a:off x="2651760" y="310896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Welcome, goals, scope of the session</a:t>
            </a:r>
            <a:endParaRPr lang="en-US" sz="1300" dirty="0"/>
          </a:p>
        </p:txBody>
      </p:sp>
      <p:sp>
        <p:nvSpPr>
          <p:cNvPr id="8" name="Shape 6"/>
          <p:cNvSpPr/>
          <p:nvPr/>
        </p:nvSpPr>
        <p:spPr>
          <a:xfrm>
            <a:off x="6355080" y="2148840"/>
            <a:ext cx="5486400" cy="1920240"/>
          </a:xfrm>
          <a:prstGeom prst="rect">
            <a:avLst/>
          </a:prstGeom>
          <a:solidFill>
            <a:srgbClr val="F8F9FA"/>
          </a:solidFill>
          <a:ln w="6350">
            <a:solidFill>
              <a:srgbClr val="E2E8F0"/>
            </a:solidFill>
            <a:prstDash val="solid"/>
          </a:ln>
        </p:spPr>
      </p:sp>
      <p:sp>
        <p:nvSpPr>
          <p:cNvPr id="9" name="Text 7"/>
          <p:cNvSpPr/>
          <p:nvPr/>
        </p:nvSpPr>
        <p:spPr>
          <a:xfrm>
            <a:off x="6675120" y="237744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02</a:t>
            </a:r>
            <a:endParaRPr lang="en-US" sz="6600" dirty="0"/>
          </a:p>
        </p:txBody>
      </p:sp>
      <p:sp>
        <p:nvSpPr>
          <p:cNvPr id="10" name="Text 8"/>
          <p:cNvSpPr/>
          <p:nvPr/>
        </p:nvSpPr>
        <p:spPr>
          <a:xfrm>
            <a:off x="8366760" y="251460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dMZR</a:t>
            </a:r>
            <a:endParaRPr lang="en-US" sz="2400" dirty="0"/>
          </a:p>
        </p:txBody>
      </p:sp>
      <p:sp>
        <p:nvSpPr>
          <p:cNvPr id="11" name="Text 9"/>
          <p:cNvSpPr/>
          <p:nvPr/>
        </p:nvSpPr>
        <p:spPr>
          <a:xfrm>
            <a:off x="8366760" y="310896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dMZR (IKS, Marketplace) · dMZR aS Code (ROKS, Terraform)</a:t>
            </a:r>
            <a:endParaRPr lang="en-US" sz="1300" dirty="0"/>
          </a:p>
        </p:txBody>
      </p:sp>
      <p:sp>
        <p:nvSpPr>
          <p:cNvPr id="12" name="Shape 10"/>
          <p:cNvSpPr/>
          <p:nvPr/>
        </p:nvSpPr>
        <p:spPr>
          <a:xfrm>
            <a:off x="640080" y="4343400"/>
            <a:ext cx="5486400" cy="1920240"/>
          </a:xfrm>
          <a:prstGeom prst="rect">
            <a:avLst/>
          </a:prstGeom>
          <a:solidFill>
            <a:srgbClr val="F8F9FA"/>
          </a:solidFill>
          <a:ln w="6350">
            <a:solidFill>
              <a:srgbClr val="E2E8F0"/>
            </a:solidFill>
            <a:prstDash val="solid"/>
          </a:ln>
        </p:spPr>
      </p:sp>
      <p:sp>
        <p:nvSpPr>
          <p:cNvPr id="13" name="Text 11"/>
          <p:cNvSpPr/>
          <p:nvPr/>
        </p:nvSpPr>
        <p:spPr>
          <a:xfrm>
            <a:off x="960120" y="457200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03</a:t>
            </a:r>
            <a:endParaRPr lang="en-US" sz="6600" dirty="0"/>
          </a:p>
        </p:txBody>
      </p:sp>
      <p:sp>
        <p:nvSpPr>
          <p:cNvPr id="14" name="Text 12"/>
          <p:cNvSpPr/>
          <p:nvPr/>
        </p:nvSpPr>
        <p:spPr>
          <a:xfrm>
            <a:off x="2651760" y="470916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IT Marketplace</a:t>
            </a:r>
            <a:endParaRPr lang="en-US" sz="2400" dirty="0"/>
          </a:p>
        </p:txBody>
      </p:sp>
      <p:sp>
        <p:nvSpPr>
          <p:cNvPr id="15" name="Text 13"/>
          <p:cNvSpPr/>
          <p:nvPr/>
        </p:nvSpPr>
        <p:spPr>
          <a:xfrm>
            <a:off x="2651760" y="530352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IBM ecosystems, orders, rights, governance</a:t>
            </a:r>
            <a:endParaRPr lang="en-US" sz="1300" dirty="0"/>
          </a:p>
        </p:txBody>
      </p:sp>
      <p:sp>
        <p:nvSpPr>
          <p:cNvPr id="16" name="Shape 14"/>
          <p:cNvSpPr/>
          <p:nvPr/>
        </p:nvSpPr>
        <p:spPr>
          <a:xfrm>
            <a:off x="6355080" y="4343400"/>
            <a:ext cx="5486400" cy="1920240"/>
          </a:xfrm>
          <a:prstGeom prst="rect">
            <a:avLst/>
          </a:prstGeom>
          <a:solidFill>
            <a:srgbClr val="F8F9FA"/>
          </a:solidFill>
          <a:ln w="6350">
            <a:solidFill>
              <a:srgbClr val="E2E8F0"/>
            </a:solidFill>
            <a:prstDash val="solid"/>
          </a:ln>
        </p:spPr>
      </p:sp>
      <p:sp>
        <p:nvSpPr>
          <p:cNvPr id="17" name="Text 15"/>
          <p:cNvSpPr/>
          <p:nvPr/>
        </p:nvSpPr>
        <p:spPr>
          <a:xfrm>
            <a:off x="6675120" y="4572000"/>
            <a:ext cx="1645920" cy="1280160"/>
          </a:xfrm>
          <a:prstGeom prst="rect">
            <a:avLst/>
          </a:prstGeom>
          <a:noFill/>
          <a:ln/>
        </p:spPr>
        <p:txBody>
          <a:bodyPr wrap="square" lIns="0" tIns="0" rIns="0" bIns="0" rtlCol="0" anchor="ctr"/>
          <a:lstStyle/>
          <a:p>
            <a:pPr indent="0" marL="0">
              <a:buNone/>
            </a:pPr>
            <a:r>
              <a:rPr lang="en-US" sz="6600" b="1" dirty="0">
                <a:solidFill>
                  <a:srgbClr val="00915A"/>
                </a:solidFill>
                <a:latin typeface="Georgia" pitchFamily="34" charset="0"/>
                <a:ea typeface="Georgia" pitchFamily="34" charset="-122"/>
                <a:cs typeface="Georgia" pitchFamily="34" charset="-120"/>
              </a:rPr>
              <a:t>04</a:t>
            </a:r>
            <a:endParaRPr lang="en-US" sz="6600" dirty="0"/>
          </a:p>
        </p:txBody>
      </p:sp>
      <p:sp>
        <p:nvSpPr>
          <p:cNvPr id="18" name="Text 16"/>
          <p:cNvSpPr/>
          <p:nvPr/>
        </p:nvSpPr>
        <p:spPr>
          <a:xfrm>
            <a:off x="8366760" y="4709160"/>
            <a:ext cx="3291840" cy="640080"/>
          </a:xfrm>
          <a:prstGeom prst="rect">
            <a:avLst/>
          </a:prstGeom>
          <a:noFill/>
          <a:ln/>
        </p:spPr>
        <p:txBody>
          <a:bodyPr wrap="square" lIns="0" tIns="0" rIns="0" bIns="0" rtlCol="0" anchor="ctr"/>
          <a:lstStyle/>
          <a:p>
            <a:pPr indent="0" marL="0">
              <a:buNone/>
            </a:pPr>
            <a:r>
              <a:rPr lang="en-US" sz="2400" b="1" dirty="0">
                <a:solidFill>
                  <a:srgbClr val="1A2E28"/>
                </a:solidFill>
                <a:latin typeface="Georgia" pitchFamily="34" charset="0"/>
                <a:ea typeface="Georgia" pitchFamily="34" charset="-122"/>
                <a:cs typeface="Georgia" pitchFamily="34" charset="-120"/>
              </a:rPr>
              <a:t>TOE</a:t>
            </a:r>
            <a:endParaRPr lang="en-US" sz="2400" dirty="0"/>
          </a:p>
        </p:txBody>
      </p:sp>
      <p:sp>
        <p:nvSpPr>
          <p:cNvPr id="19" name="Text 17"/>
          <p:cNvSpPr/>
          <p:nvPr/>
        </p:nvSpPr>
        <p:spPr>
          <a:xfrm>
            <a:off x="8366760" y="5303520"/>
            <a:ext cx="3291840" cy="822960"/>
          </a:xfrm>
          <a:prstGeom prst="rect">
            <a:avLst/>
          </a:prstGeom>
          <a:noFill/>
          <a:ln/>
        </p:spPr>
        <p:txBody>
          <a:bodyPr wrap="square" lIns="0" tIns="0" rIns="0" bIns="0" rtlCol="0" anchor="ctr"/>
          <a:lstStyle/>
          <a:p>
            <a:pPr indent="0" marL="0">
              <a:buNone/>
            </a:pPr>
            <a:r>
              <a:rPr lang="en-US" sz="1300" dirty="0">
                <a:solidFill>
                  <a:srgbClr val="6B7B78"/>
                </a:solidFill>
                <a:latin typeface="Calibri" pitchFamily="34" charset="0"/>
                <a:ea typeface="Calibri" pitchFamily="34" charset="-122"/>
                <a:cs typeface="Calibri" pitchFamily="34" charset="-120"/>
              </a:rPr>
              <a:t>Mission, focus areas, interactions</a:t>
            </a:r>
            <a:endParaRPr lang="en-US" sz="1300" dirty="0"/>
          </a:p>
        </p:txBody>
      </p:sp>
      <p:sp>
        <p:nvSpPr>
          <p:cNvPr id="20" name="Text 18"/>
          <p:cNvSpPr/>
          <p:nvPr/>
        </p:nvSpPr>
        <p:spPr>
          <a:xfrm>
            <a:off x="11094415" y="6400800"/>
            <a:ext cx="548640" cy="274320"/>
          </a:xfrm>
          <a:prstGeom prst="rect">
            <a:avLst/>
          </a:prstGeom>
          <a:noFill/>
          <a:ln/>
        </p:spPr>
        <p:txBody>
          <a:bodyPr wrap="square" lIns="0" tIns="0" rIns="0" bIns="0" rtlCol="0" anchor="ctr"/>
          <a:lstStyle/>
          <a:p>
            <a:pPr algn="r" indent="0" marL="0">
              <a:buNone/>
            </a:pPr>
            <a:r>
              <a:rPr lang="en-US" sz="1000" dirty="0">
                <a:solidFill>
                  <a:srgbClr val="6B7B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CONTEXT</a:t>
            </a:r>
            <a:endParaRPr lang="en-US" sz="1100" dirty="0"/>
          </a:p>
        </p:txBody>
      </p:sp>
      <p:sp>
        <p:nvSpPr>
          <p:cNvPr id="3" name="Text 1"/>
          <p:cNvSpPr/>
          <p:nvPr/>
        </p:nvSpPr>
        <p:spPr>
          <a:xfrm>
            <a:off x="640080" y="822960"/>
            <a:ext cx="10058400" cy="822960"/>
          </a:xfrm>
          <a:prstGeom prst="rect">
            <a:avLst/>
          </a:prstGeom>
          <a:noFill/>
          <a:ln/>
        </p:spPr>
        <p:txBody>
          <a:bodyPr wrap="square" lIns="0" tIns="0" rIns="0" bIns="0" rtlCol="0" anchor="ctr"/>
          <a:lstStyle/>
          <a:p>
            <a:pPr indent="0" marL="0">
              <a:buNone/>
            </a:pPr>
            <a:r>
              <a:rPr lang="en-US" sz="3400" b="1" dirty="0">
                <a:solidFill>
                  <a:srgbClr val="1A2E28"/>
                </a:solidFill>
                <a:latin typeface="Georgia" pitchFamily="34" charset="0"/>
                <a:ea typeface="Georgia" pitchFamily="34" charset="-122"/>
                <a:cs typeface="Georgia" pitchFamily="34" charset="-120"/>
              </a:rPr>
              <a:t>Why this session?</a:t>
            </a:r>
            <a:endParaRPr lang="en-US" sz="3400" dirty="0"/>
          </a:p>
        </p:txBody>
      </p:sp>
      <p:sp>
        <p:nvSpPr>
          <p:cNvPr id="4" name="Text 2"/>
          <p:cNvSpPr/>
          <p:nvPr/>
        </p:nvSpPr>
        <p:spPr>
          <a:xfrm>
            <a:off x="640080" y="1920240"/>
            <a:ext cx="5303520" cy="1463040"/>
          </a:xfrm>
          <a:prstGeom prst="rect">
            <a:avLst/>
          </a:prstGeom>
          <a:noFill/>
          <a:ln/>
        </p:spPr>
        <p:txBody>
          <a:bodyPr wrap="square" lIns="0" tIns="0" rIns="0" bIns="0" rtlCol="0" anchor="ctr"/>
          <a:lstStyle/>
          <a:p>
            <a:pPr indent="0" marL="0">
              <a:lnSpc>
                <a:spcPct val="130000"/>
              </a:lnSpc>
              <a:buNone/>
            </a:pPr>
            <a:r>
              <a:rPr lang="en-US" sz="1700" i="1" dirty="0">
                <a:solidFill>
                  <a:srgbClr val="2C2C2C"/>
                </a:solidFill>
                <a:latin typeface="Georgia" pitchFamily="34" charset="0"/>
                <a:ea typeface="Georgia" pitchFamily="34" charset="-122"/>
                <a:cs typeface="Georgia" pitchFamily="34" charset="-120"/>
              </a:rPr>
              <a:t>Welcome of two ITOPS / APS colleagues from Italy, functionally attached to the team. Goal: give them a complete view of the BNP Paribas Cardif foundation and its ecosystem.</a:t>
            </a:r>
            <a:endParaRPr lang="en-US" sz="1700" dirty="0"/>
          </a:p>
        </p:txBody>
      </p:sp>
      <p:sp>
        <p:nvSpPr>
          <p:cNvPr id="5" name="Text 3"/>
          <p:cNvSpPr/>
          <p:nvPr/>
        </p:nvSpPr>
        <p:spPr>
          <a:xfrm>
            <a:off x="640080" y="3474720"/>
            <a:ext cx="5303520" cy="1645920"/>
          </a:xfrm>
          <a:prstGeom prst="rect">
            <a:avLst/>
          </a:prstGeom>
          <a:noFill/>
          <a:ln/>
        </p:spPr>
        <p:txBody>
          <a:bodyPr wrap="square" lIns="0" tIns="0" rIns="0" bIns="0" rtlCol="0" anchor="ctr"/>
          <a:lstStyle/>
          <a:p>
            <a:pPr indent="0" marL="0">
              <a:lnSpc>
                <a:spcPct val="135000"/>
              </a:lnSpc>
              <a:buNone/>
            </a:pPr>
            <a:r>
              <a:rPr lang="en-US" sz="1400" dirty="0">
                <a:solidFill>
                  <a:srgbClr val="6B7B78"/>
                </a:solidFill>
                <a:latin typeface="Calibri" pitchFamily="34" charset="0"/>
                <a:ea typeface="Calibri" pitchFamily="34" charset="-122"/>
                <a:cs typeface="Calibri" pitchFamily="34" charset="-120"/>
              </a:rPr>
              <a:t>The session covers the target platform (dMZR), the ordering flow through the Marketplace and IBM Cloud ecosystems, and the role and service offering of the Technology Office Expertise.</a:t>
            </a:r>
            <a:endParaRPr lang="en-US" sz="1400" dirty="0"/>
          </a:p>
        </p:txBody>
      </p:sp>
      <p:sp>
        <p:nvSpPr>
          <p:cNvPr id="6" name="Shape 4"/>
          <p:cNvSpPr/>
          <p:nvPr/>
        </p:nvSpPr>
        <p:spPr>
          <a:xfrm>
            <a:off x="6675120" y="1920240"/>
            <a:ext cx="4846320" cy="1371600"/>
          </a:xfrm>
          <a:prstGeom prst="rect">
            <a:avLst/>
          </a:prstGeom>
          <a:solidFill>
            <a:srgbClr val="FFFFFF"/>
          </a:solidFill>
          <a:ln w="9525">
            <a:solidFill>
              <a:srgbClr val="E2E8F0"/>
            </a:solidFill>
            <a:prstDash val="solid"/>
          </a:ln>
        </p:spPr>
      </p:sp>
      <p:sp>
        <p:nvSpPr>
          <p:cNvPr id="7" name="Shape 5"/>
          <p:cNvSpPr/>
          <p:nvPr/>
        </p:nvSpPr>
        <p:spPr>
          <a:xfrm>
            <a:off x="6949440" y="2286000"/>
            <a:ext cx="685800" cy="685800"/>
          </a:xfrm>
          <a:prstGeom prst="ellipse">
            <a:avLst/>
          </a:prstGeom>
          <a:solidFill>
            <a:srgbClr val="00915A"/>
          </a:solidFill>
          <a:ln w="12700">
            <a:solidFill>
              <a:srgbClr val="00915A"/>
            </a:solidFill>
            <a:prstDash val="solid"/>
          </a:ln>
        </p:spPr>
      </p:sp>
      <p:sp>
        <p:nvSpPr>
          <p:cNvPr id="8" name="Shape 6"/>
          <p:cNvSpPr/>
          <p:nvPr/>
        </p:nvSpPr>
        <p:spPr>
          <a:xfrm>
            <a:off x="6675120" y="3520440"/>
            <a:ext cx="4846320" cy="1371600"/>
          </a:xfrm>
          <a:prstGeom prst="rect">
            <a:avLst/>
          </a:prstGeom>
          <a:solidFill>
            <a:srgbClr val="FFFFFF"/>
          </a:solidFill>
          <a:ln w="9525">
            <a:solidFill>
              <a:srgbClr val="E2E8F0"/>
            </a:solidFill>
            <a:prstDash val="solid"/>
          </a:ln>
        </p:spPr>
      </p:sp>
      <p:sp>
        <p:nvSpPr>
          <p:cNvPr id="9" name="Shape 7"/>
          <p:cNvSpPr/>
          <p:nvPr/>
        </p:nvSpPr>
        <p:spPr>
          <a:xfrm>
            <a:off x="6949440" y="3886200"/>
            <a:ext cx="685800" cy="685800"/>
          </a:xfrm>
          <a:prstGeom prst="ellipse">
            <a:avLst/>
          </a:prstGeom>
          <a:solidFill>
            <a:srgbClr val="00915A"/>
          </a:solidFill>
          <a:ln w="12700">
            <a:solidFill>
              <a:srgbClr val="00915A"/>
            </a:solidFill>
            <a:prstDash val="solid"/>
          </a:ln>
        </p:spPr>
      </p:sp>
      <p:sp>
        <p:nvSpPr>
          <p:cNvPr id="10" name="Shape 8"/>
          <p:cNvSpPr/>
          <p:nvPr/>
        </p:nvSpPr>
        <p:spPr>
          <a:xfrm>
            <a:off x="6675120" y="5120640"/>
            <a:ext cx="4846320" cy="1371600"/>
          </a:xfrm>
          <a:prstGeom prst="rect">
            <a:avLst/>
          </a:prstGeom>
          <a:solidFill>
            <a:srgbClr val="FFFFFF"/>
          </a:solidFill>
          <a:ln w="9525">
            <a:solidFill>
              <a:srgbClr val="E2E8F0"/>
            </a:solidFill>
            <a:prstDash val="solid"/>
          </a:ln>
        </p:spPr>
      </p:sp>
      <p:sp>
        <p:nvSpPr>
          <p:cNvPr id="11" name="Shape 9"/>
          <p:cNvSpPr/>
          <p:nvPr/>
        </p:nvSpPr>
        <p:spPr>
          <a:xfrm>
            <a:off x="6949440" y="5486400"/>
            <a:ext cx="685800" cy="685800"/>
          </a:xfrm>
          <a:prstGeom prst="ellipse">
            <a:avLst/>
          </a:prstGeom>
          <a:solidFill>
            <a:srgbClr val="00915A"/>
          </a:solidFill>
          <a:ln w="12700">
            <a:solidFill>
              <a:srgbClr val="00915A"/>
            </a:solidFill>
            <a:prstDash val="solid"/>
          </a:ln>
        </p:spPr>
      </p:sp>
      <p:pic>
        <p:nvPicPr>
          <p:cNvPr id="12" name="Image 0" descr="preencoded.png">    </p:cNvPr>
          <p:cNvPicPr>
            <a:picLocks noChangeAspect="1"/>
          </p:cNvPicPr>
          <p:nvPr/>
        </p:nvPicPr>
        <p:blipFill>
          <a:blip r:embed="rId1"/>
          <a:stretch>
            <a:fillRect/>
          </a:stretch>
        </p:blipFill>
        <p:spPr>
          <a:xfrm>
            <a:off x="7086600" y="2423160"/>
            <a:ext cx="411480" cy="411480"/>
          </a:xfrm>
          <a:prstGeom prst="rect">
            <a:avLst/>
          </a:prstGeom>
        </p:spPr>
      </p:pic>
      <p:sp>
        <p:nvSpPr>
          <p:cNvPr id="13" name="Text 10"/>
          <p:cNvSpPr/>
          <p:nvPr/>
        </p:nvSpPr>
        <p:spPr>
          <a:xfrm>
            <a:off x="7909560" y="21945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Platform</a:t>
            </a:r>
            <a:endParaRPr lang="en-US" sz="1800" dirty="0"/>
          </a:p>
        </p:txBody>
      </p:sp>
      <p:sp>
        <p:nvSpPr>
          <p:cNvPr id="14" name="Text 11"/>
          <p:cNvSpPr/>
          <p:nvPr/>
        </p:nvSpPr>
        <p:spPr>
          <a:xfrm>
            <a:off x="7909560" y="26334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Understand the dMZR and the IBM Cloud ecosystem</a:t>
            </a:r>
            <a:endParaRPr lang="en-US" sz="1200" dirty="0"/>
          </a:p>
        </p:txBody>
      </p:sp>
      <p:pic>
        <p:nvPicPr>
          <p:cNvPr id="15" name="Image 1" descr="preencoded.png">    </p:cNvPr>
          <p:cNvPicPr>
            <a:picLocks noChangeAspect="1"/>
          </p:cNvPicPr>
          <p:nvPr/>
        </p:nvPicPr>
        <p:blipFill>
          <a:blip r:embed="rId2"/>
          <a:stretch>
            <a:fillRect/>
          </a:stretch>
        </p:blipFill>
        <p:spPr>
          <a:xfrm>
            <a:off x="7086600" y="4023360"/>
            <a:ext cx="411480" cy="411480"/>
          </a:xfrm>
          <a:prstGeom prst="rect">
            <a:avLst/>
          </a:prstGeom>
        </p:spPr>
      </p:pic>
      <p:sp>
        <p:nvSpPr>
          <p:cNvPr id="16" name="Text 12"/>
          <p:cNvSpPr/>
          <p:nvPr/>
        </p:nvSpPr>
        <p:spPr>
          <a:xfrm>
            <a:off x="7909560" y="37947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Consumption</a:t>
            </a:r>
            <a:endParaRPr lang="en-US" sz="1800" dirty="0"/>
          </a:p>
        </p:txBody>
      </p:sp>
      <p:sp>
        <p:nvSpPr>
          <p:cNvPr id="17" name="Text 13"/>
          <p:cNvSpPr/>
          <p:nvPr/>
        </p:nvSpPr>
        <p:spPr>
          <a:xfrm>
            <a:off x="7909560" y="42336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Master the Marketplace ordering flow</a:t>
            </a:r>
            <a:endParaRPr lang="en-US" sz="1200" dirty="0"/>
          </a:p>
        </p:txBody>
      </p:sp>
      <p:pic>
        <p:nvPicPr>
          <p:cNvPr id="18" name="Image 2" descr="preencoded.png">    </p:cNvPr>
          <p:cNvPicPr>
            <a:picLocks noChangeAspect="1"/>
          </p:cNvPicPr>
          <p:nvPr/>
        </p:nvPicPr>
        <p:blipFill>
          <a:blip r:embed="rId3"/>
          <a:stretch>
            <a:fillRect/>
          </a:stretch>
        </p:blipFill>
        <p:spPr>
          <a:xfrm>
            <a:off x="7086600" y="5623560"/>
            <a:ext cx="411480" cy="411480"/>
          </a:xfrm>
          <a:prstGeom prst="rect">
            <a:avLst/>
          </a:prstGeom>
        </p:spPr>
      </p:pic>
      <p:sp>
        <p:nvSpPr>
          <p:cNvPr id="19" name="Text 14"/>
          <p:cNvSpPr/>
          <p:nvPr/>
        </p:nvSpPr>
        <p:spPr>
          <a:xfrm>
            <a:off x="7909560" y="5394960"/>
            <a:ext cx="3474720" cy="41148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Organization</a:t>
            </a:r>
            <a:endParaRPr lang="en-US" sz="1800" dirty="0"/>
          </a:p>
        </p:txBody>
      </p:sp>
      <p:sp>
        <p:nvSpPr>
          <p:cNvPr id="20" name="Text 15"/>
          <p:cNvSpPr/>
          <p:nvPr/>
        </p:nvSpPr>
        <p:spPr>
          <a:xfrm>
            <a:off x="7909560" y="5833872"/>
            <a:ext cx="3474720" cy="5486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Identify TOE contacts and support points</a:t>
            </a:r>
            <a:endParaRPr lang="en-US" sz="1200" dirty="0"/>
          </a:p>
        </p:txBody>
      </p:sp>
      <p:sp>
        <p:nvSpPr>
          <p:cNvPr id="21" name="Text 16"/>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2" name="Text 17"/>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03 · Context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1</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01</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dMZR</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Two infrastructures: dMZR (IKS) and dMZR aS Code (ROKS)</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One IBM Cloud region, two infrastructures</a:t>
            </a:r>
            <a:endParaRPr lang="en-US" sz="3200" dirty="0"/>
          </a:p>
        </p:txBody>
      </p:sp>
      <p:sp>
        <p:nvSpPr>
          <p:cNvPr id="4" name="Text 2"/>
          <p:cNvSpPr/>
          <p:nvPr/>
        </p:nvSpPr>
        <p:spPr>
          <a:xfrm>
            <a:off x="640080" y="1828800"/>
            <a:ext cx="10972800" cy="822960"/>
          </a:xfrm>
          <a:prstGeom prst="rect">
            <a:avLst/>
          </a:prstGeom>
          <a:noFill/>
          <a:ln/>
        </p:spPr>
        <p:txBody>
          <a:bodyPr wrap="square" lIns="0" tIns="0" rIns="0" bIns="0" rtlCol="0" anchor="ctr"/>
          <a:lstStyle/>
          <a:p>
            <a:pPr indent="0" marL="0">
              <a:lnSpc>
                <a:spcPct val="130000"/>
              </a:lnSpc>
              <a:buNone/>
            </a:pPr>
            <a:r>
              <a:rPr lang="en-US" sz="1500" i="1" dirty="0">
                <a:solidFill>
                  <a:srgbClr val="2C2C2C"/>
                </a:solidFill>
                <a:latin typeface="Georgia" pitchFamily="34" charset="0"/>
                <a:ea typeface="Georgia" pitchFamily="34" charset="-122"/>
                <a:cs typeface="Georgia" pitchFamily="34" charset="-120"/>
              </a:rPr>
              <a:t>The IBM Cloud region dedicated to BNP Paribas hosts two distinct infrastructures, both in production and operated by BP2I. Projects hosted on the dMZR are progressively migrating to the dMZR aS Code.</a:t>
            </a:r>
            <a:endParaRPr lang="en-US" sz="1500" dirty="0"/>
          </a:p>
        </p:txBody>
      </p:sp>
      <p:sp>
        <p:nvSpPr>
          <p:cNvPr id="5" name="Shape 3"/>
          <p:cNvSpPr/>
          <p:nvPr/>
        </p:nvSpPr>
        <p:spPr>
          <a:xfrm>
            <a:off x="640080" y="2743200"/>
            <a:ext cx="544068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6" name="Shape 4"/>
          <p:cNvSpPr/>
          <p:nvPr/>
        </p:nvSpPr>
        <p:spPr>
          <a:xfrm>
            <a:off x="640080" y="2743200"/>
            <a:ext cx="5440680" cy="109728"/>
          </a:xfrm>
          <a:prstGeom prst="rect">
            <a:avLst/>
          </a:prstGeom>
          <a:solidFill>
            <a:srgbClr val="00915A"/>
          </a:solidFill>
          <a:ln w="12700">
            <a:solidFill>
              <a:srgbClr val="00915A"/>
            </a:solidFill>
            <a:prstDash val="solid"/>
          </a:ln>
        </p:spPr>
      </p:sp>
      <p:sp>
        <p:nvSpPr>
          <p:cNvPr id="7" name="Shape 5"/>
          <p:cNvSpPr/>
          <p:nvPr/>
        </p:nvSpPr>
        <p:spPr>
          <a:xfrm>
            <a:off x="914400" y="3063240"/>
            <a:ext cx="2468880" cy="320040"/>
          </a:xfrm>
          <a:prstGeom prst="rect">
            <a:avLst/>
          </a:prstGeom>
          <a:solidFill>
            <a:srgbClr val="00915A"/>
          </a:solidFill>
          <a:ln w="12700">
            <a:solidFill>
              <a:srgbClr val="00915A"/>
            </a:solidFill>
            <a:prstDash val="solid"/>
          </a:ln>
        </p:spPr>
      </p:sp>
      <p:sp>
        <p:nvSpPr>
          <p:cNvPr id="8" name="Text 6"/>
          <p:cNvSpPr/>
          <p:nvPr/>
        </p:nvSpPr>
        <p:spPr>
          <a:xfrm>
            <a:off x="914400" y="3063240"/>
            <a:ext cx="2468880" cy="320040"/>
          </a:xfrm>
          <a:prstGeom prst="rect">
            <a:avLst/>
          </a:prstGeom>
          <a:noFill/>
          <a:ln/>
        </p:spPr>
        <p:txBody>
          <a:bodyPr wrap="square" lIns="0" tIns="0" rIns="0" bIns="0" rtlCol="0" anchor="ctr"/>
          <a:lstStyle/>
          <a:p>
            <a:pPr algn="ctr" indent="0" marL="0">
              <a:buNone/>
            </a:pPr>
            <a:r>
              <a:rPr lang="en-US" sz="1000" b="1" spc="300" kern="0" dirty="0">
                <a:solidFill>
                  <a:srgbClr val="FFFFFF"/>
                </a:solidFill>
                <a:latin typeface="Calibri" pitchFamily="34" charset="0"/>
                <a:ea typeface="Calibri" pitchFamily="34" charset="-122"/>
                <a:cs typeface="Calibri" pitchFamily="34" charset="-120"/>
              </a:rPr>
              <a:t>IN PRODUCTION</a:t>
            </a:r>
            <a:endParaRPr lang="en-US" sz="1000" dirty="0"/>
          </a:p>
        </p:txBody>
      </p:sp>
      <p:sp>
        <p:nvSpPr>
          <p:cNvPr id="9" name="Text 7"/>
          <p:cNvSpPr/>
          <p:nvPr/>
        </p:nvSpPr>
        <p:spPr>
          <a:xfrm>
            <a:off x="914400" y="3520440"/>
            <a:ext cx="4892040" cy="548640"/>
          </a:xfrm>
          <a:prstGeom prst="rect">
            <a:avLst/>
          </a:prstGeom>
          <a:noFill/>
          <a:ln/>
        </p:spPr>
        <p:txBody>
          <a:bodyPr wrap="square" lIns="0" tIns="0" rIns="0" bIns="0" rtlCol="0" anchor="ctr"/>
          <a:lstStyle/>
          <a:p>
            <a:pPr indent="0" marL="0">
              <a:buNone/>
            </a:pPr>
            <a:r>
              <a:rPr lang="en-US" sz="3000" b="1" dirty="0">
                <a:solidFill>
                  <a:srgbClr val="1A2E28"/>
                </a:solidFill>
                <a:latin typeface="Georgia" pitchFamily="34" charset="0"/>
                <a:ea typeface="Georgia" pitchFamily="34" charset="-122"/>
                <a:cs typeface="Georgia" pitchFamily="34" charset="-120"/>
              </a:rPr>
              <a:t>dMZR</a:t>
            </a:r>
            <a:endParaRPr lang="en-US" sz="3000" dirty="0"/>
          </a:p>
        </p:txBody>
      </p:sp>
      <p:sp>
        <p:nvSpPr>
          <p:cNvPr id="10" name="Text 8"/>
          <p:cNvSpPr/>
          <p:nvPr/>
        </p:nvSpPr>
        <p:spPr>
          <a:xfrm>
            <a:off x="914400" y="4096512"/>
            <a:ext cx="4892040" cy="320040"/>
          </a:xfrm>
          <a:prstGeom prst="rect">
            <a:avLst/>
          </a:prstGeom>
          <a:noFill/>
          <a:ln/>
        </p:spPr>
        <p:txBody>
          <a:bodyPr wrap="square" lIns="0" tIns="0" rIns="0" bIns="0" rtlCol="0" anchor="ctr"/>
          <a:lstStyle/>
          <a:p>
            <a:pPr indent="0" marL="0">
              <a:buNone/>
            </a:pPr>
            <a:r>
              <a:rPr lang="en-US" sz="1300" i="1" dirty="0">
                <a:solidFill>
                  <a:srgbClr val="6B7B78"/>
                </a:solidFill>
                <a:latin typeface="Calibri" pitchFamily="34" charset="0"/>
                <a:ea typeface="Calibri" pitchFamily="34" charset="-122"/>
                <a:cs typeface="Calibri" pitchFamily="34" charset="-120"/>
              </a:rPr>
              <a:t>Legacy infrastructure · migration in progress</a:t>
            </a:r>
            <a:endParaRPr lang="en-US" sz="1300" dirty="0"/>
          </a:p>
        </p:txBody>
      </p:sp>
      <p:sp>
        <p:nvSpPr>
          <p:cNvPr id="11" name="Text 9"/>
          <p:cNvSpPr/>
          <p:nvPr/>
        </p:nvSpPr>
        <p:spPr>
          <a:xfrm>
            <a:off x="914400" y="4526280"/>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COMPUTE</a:t>
            </a:r>
            <a:endParaRPr lang="en-US" sz="900" dirty="0"/>
          </a:p>
        </p:txBody>
      </p:sp>
      <p:sp>
        <p:nvSpPr>
          <p:cNvPr id="12" name="Text 10"/>
          <p:cNvSpPr/>
          <p:nvPr/>
        </p:nvSpPr>
        <p:spPr>
          <a:xfrm>
            <a:off x="2377440" y="4526280"/>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IKS · VSI</a:t>
            </a:r>
            <a:endParaRPr lang="en-US" sz="1100" dirty="0"/>
          </a:p>
        </p:txBody>
      </p:sp>
      <p:sp>
        <p:nvSpPr>
          <p:cNvPr id="13" name="Shape 11"/>
          <p:cNvSpPr/>
          <p:nvPr/>
        </p:nvSpPr>
        <p:spPr>
          <a:xfrm>
            <a:off x="914400" y="4837176"/>
            <a:ext cx="4892040" cy="0"/>
          </a:xfrm>
          <a:prstGeom prst="line">
            <a:avLst/>
          </a:prstGeom>
          <a:noFill/>
          <a:ln w="5080">
            <a:solidFill>
              <a:srgbClr val="E2E8F0"/>
            </a:solidFill>
            <a:prstDash val="solid"/>
          </a:ln>
        </p:spPr>
      </p:sp>
      <p:sp>
        <p:nvSpPr>
          <p:cNvPr id="14" name="Text 12"/>
          <p:cNvSpPr/>
          <p:nvPr/>
        </p:nvSpPr>
        <p:spPr>
          <a:xfrm>
            <a:off x="914400" y="4837176"/>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SERVICES</a:t>
            </a:r>
            <a:endParaRPr lang="en-US" sz="900" dirty="0"/>
          </a:p>
        </p:txBody>
      </p:sp>
      <p:sp>
        <p:nvSpPr>
          <p:cNvPr id="15" name="Text 13"/>
          <p:cNvSpPr/>
          <p:nvPr/>
        </p:nvSpPr>
        <p:spPr>
          <a:xfrm>
            <a:off x="2377440" y="4837176"/>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Kafka · Databases · COS</a:t>
            </a:r>
            <a:endParaRPr lang="en-US" sz="1100" dirty="0"/>
          </a:p>
        </p:txBody>
      </p:sp>
      <p:sp>
        <p:nvSpPr>
          <p:cNvPr id="16" name="Shape 14"/>
          <p:cNvSpPr/>
          <p:nvPr/>
        </p:nvSpPr>
        <p:spPr>
          <a:xfrm>
            <a:off x="914400" y="5148072"/>
            <a:ext cx="4892040" cy="0"/>
          </a:xfrm>
          <a:prstGeom prst="line">
            <a:avLst/>
          </a:prstGeom>
          <a:noFill/>
          <a:ln w="5080">
            <a:solidFill>
              <a:srgbClr val="E2E8F0"/>
            </a:solidFill>
            <a:prstDash val="solid"/>
          </a:ln>
        </p:spPr>
      </p:sp>
      <p:sp>
        <p:nvSpPr>
          <p:cNvPr id="17" name="Text 15"/>
          <p:cNvSpPr/>
          <p:nvPr/>
        </p:nvSpPr>
        <p:spPr>
          <a:xfrm>
            <a:off x="914400" y="5148072"/>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UNIT</a:t>
            </a:r>
            <a:endParaRPr lang="en-US" sz="900" dirty="0"/>
          </a:p>
        </p:txBody>
      </p:sp>
      <p:sp>
        <p:nvSpPr>
          <p:cNvPr id="18" name="Text 16"/>
          <p:cNvSpPr/>
          <p:nvPr/>
        </p:nvSpPr>
        <p:spPr>
          <a:xfrm>
            <a:off x="2377440" y="5148072"/>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Ecosystem</a:t>
            </a:r>
            <a:endParaRPr lang="en-US" sz="1100" dirty="0"/>
          </a:p>
        </p:txBody>
      </p:sp>
      <p:sp>
        <p:nvSpPr>
          <p:cNvPr id="19" name="Shape 17"/>
          <p:cNvSpPr/>
          <p:nvPr/>
        </p:nvSpPr>
        <p:spPr>
          <a:xfrm>
            <a:off x="914400" y="5458968"/>
            <a:ext cx="4892040" cy="0"/>
          </a:xfrm>
          <a:prstGeom prst="line">
            <a:avLst/>
          </a:prstGeom>
          <a:noFill/>
          <a:ln w="5080">
            <a:solidFill>
              <a:srgbClr val="E2E8F0"/>
            </a:solidFill>
            <a:prstDash val="solid"/>
          </a:ln>
        </p:spPr>
      </p:sp>
      <p:sp>
        <p:nvSpPr>
          <p:cNvPr id="20" name="Text 18"/>
          <p:cNvSpPr/>
          <p:nvPr/>
        </p:nvSpPr>
        <p:spPr>
          <a:xfrm>
            <a:off x="914400" y="5458968"/>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PROVISIONING</a:t>
            </a:r>
            <a:endParaRPr lang="en-US" sz="900" dirty="0"/>
          </a:p>
        </p:txBody>
      </p:sp>
      <p:sp>
        <p:nvSpPr>
          <p:cNvPr id="21" name="Text 19"/>
          <p:cNvSpPr/>
          <p:nvPr/>
        </p:nvSpPr>
        <p:spPr>
          <a:xfrm>
            <a:off x="2377440" y="5458968"/>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Marketplace · REST API (Swagger)</a:t>
            </a:r>
            <a:endParaRPr lang="en-US" sz="1100" dirty="0"/>
          </a:p>
        </p:txBody>
      </p:sp>
      <p:sp>
        <p:nvSpPr>
          <p:cNvPr id="22" name="Shape 20"/>
          <p:cNvSpPr/>
          <p:nvPr/>
        </p:nvSpPr>
        <p:spPr>
          <a:xfrm>
            <a:off x="914400" y="5769864"/>
            <a:ext cx="4892040" cy="0"/>
          </a:xfrm>
          <a:prstGeom prst="line">
            <a:avLst/>
          </a:prstGeom>
          <a:noFill/>
          <a:ln w="5080">
            <a:solidFill>
              <a:srgbClr val="E2E8F0"/>
            </a:solidFill>
            <a:prstDash val="solid"/>
          </a:ln>
        </p:spPr>
      </p:sp>
      <p:sp>
        <p:nvSpPr>
          <p:cNvPr id="23" name="Text 21"/>
          <p:cNvSpPr/>
          <p:nvPr/>
        </p:nvSpPr>
        <p:spPr>
          <a:xfrm>
            <a:off x="914400" y="5769864"/>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STATUS</a:t>
            </a:r>
            <a:endParaRPr lang="en-US" sz="900" dirty="0"/>
          </a:p>
        </p:txBody>
      </p:sp>
      <p:sp>
        <p:nvSpPr>
          <p:cNvPr id="24" name="Text 22"/>
          <p:cNvSpPr/>
          <p:nvPr/>
        </p:nvSpPr>
        <p:spPr>
          <a:xfrm>
            <a:off x="2377440" y="5769864"/>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In production · projects migrating</a:t>
            </a:r>
            <a:endParaRPr lang="en-US" sz="1100" dirty="0"/>
          </a:p>
        </p:txBody>
      </p:sp>
      <p:sp>
        <p:nvSpPr>
          <p:cNvPr id="25" name="Shape 23"/>
          <p:cNvSpPr/>
          <p:nvPr/>
        </p:nvSpPr>
        <p:spPr>
          <a:xfrm>
            <a:off x="6309360" y="2743200"/>
            <a:ext cx="5440680" cy="338328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26" name="Shape 24"/>
          <p:cNvSpPr/>
          <p:nvPr/>
        </p:nvSpPr>
        <p:spPr>
          <a:xfrm>
            <a:off x="6309360" y="2743200"/>
            <a:ext cx="5440680" cy="109728"/>
          </a:xfrm>
          <a:prstGeom prst="rect">
            <a:avLst/>
          </a:prstGeom>
          <a:solidFill>
            <a:srgbClr val="D4A840"/>
          </a:solidFill>
          <a:ln w="12700">
            <a:solidFill>
              <a:srgbClr val="D4A840"/>
            </a:solidFill>
            <a:prstDash val="solid"/>
          </a:ln>
        </p:spPr>
      </p:sp>
      <p:sp>
        <p:nvSpPr>
          <p:cNvPr id="27" name="Shape 25"/>
          <p:cNvSpPr/>
          <p:nvPr/>
        </p:nvSpPr>
        <p:spPr>
          <a:xfrm>
            <a:off x="6583680" y="3063240"/>
            <a:ext cx="3931920" cy="320040"/>
          </a:xfrm>
          <a:prstGeom prst="rect">
            <a:avLst/>
          </a:prstGeom>
          <a:solidFill>
            <a:srgbClr val="D4A840"/>
          </a:solidFill>
          <a:ln w="12700">
            <a:solidFill>
              <a:srgbClr val="D4A840"/>
            </a:solidFill>
            <a:prstDash val="solid"/>
          </a:ln>
        </p:spPr>
      </p:sp>
      <p:sp>
        <p:nvSpPr>
          <p:cNvPr id="28" name="Text 26"/>
          <p:cNvSpPr/>
          <p:nvPr/>
        </p:nvSpPr>
        <p:spPr>
          <a:xfrm>
            <a:off x="6583680" y="3063240"/>
            <a:ext cx="3931920" cy="320040"/>
          </a:xfrm>
          <a:prstGeom prst="rect">
            <a:avLst/>
          </a:prstGeom>
          <a:noFill/>
          <a:ln/>
        </p:spPr>
        <p:txBody>
          <a:bodyPr wrap="square" lIns="0" tIns="0" rIns="0" bIns="0" rtlCol="0" anchor="ctr"/>
          <a:lstStyle/>
          <a:p>
            <a:pPr algn="ctr" indent="0" marL="0">
              <a:buNone/>
            </a:pPr>
            <a:r>
              <a:rPr lang="en-US" sz="900" b="1" spc="300" kern="0" dirty="0">
                <a:solidFill>
                  <a:srgbClr val="003A2B"/>
                </a:solidFill>
                <a:latin typeface="Calibri" pitchFamily="34" charset="0"/>
                <a:ea typeface="Calibri" pitchFamily="34" charset="-122"/>
                <a:cs typeface="Calibri" pitchFamily="34" charset="-120"/>
              </a:rPr>
              <a:t>IN PRODUCTION · MIGRATION TARGET</a:t>
            </a:r>
            <a:endParaRPr lang="en-US" sz="900" dirty="0"/>
          </a:p>
        </p:txBody>
      </p:sp>
      <p:sp>
        <p:nvSpPr>
          <p:cNvPr id="29" name="Text 27"/>
          <p:cNvSpPr/>
          <p:nvPr/>
        </p:nvSpPr>
        <p:spPr>
          <a:xfrm>
            <a:off x="6583680" y="3520440"/>
            <a:ext cx="4892040" cy="548640"/>
          </a:xfrm>
          <a:prstGeom prst="rect">
            <a:avLst/>
          </a:prstGeom>
          <a:noFill/>
          <a:ln/>
        </p:spPr>
        <p:txBody>
          <a:bodyPr wrap="square" lIns="0" tIns="0" rIns="0" bIns="0" rtlCol="0" anchor="ctr"/>
          <a:lstStyle/>
          <a:p>
            <a:pPr indent="0" marL="0">
              <a:buNone/>
            </a:pPr>
            <a:r>
              <a:rPr lang="en-US" sz="3000" b="1" dirty="0">
                <a:solidFill>
                  <a:srgbClr val="1A2E28"/>
                </a:solidFill>
                <a:latin typeface="Georgia" pitchFamily="34" charset="0"/>
                <a:ea typeface="Georgia" pitchFamily="34" charset="-122"/>
                <a:cs typeface="Georgia" pitchFamily="34" charset="-120"/>
              </a:rPr>
              <a:t>dMZR aS Code</a:t>
            </a:r>
            <a:endParaRPr lang="en-US" sz="3000" dirty="0"/>
          </a:p>
        </p:txBody>
      </p:sp>
      <p:sp>
        <p:nvSpPr>
          <p:cNvPr id="30" name="Text 28"/>
          <p:cNvSpPr/>
          <p:nvPr/>
        </p:nvSpPr>
        <p:spPr>
          <a:xfrm>
            <a:off x="6583680" y="4096512"/>
            <a:ext cx="4892040" cy="320040"/>
          </a:xfrm>
          <a:prstGeom prst="rect">
            <a:avLst/>
          </a:prstGeom>
          <a:noFill/>
          <a:ln/>
        </p:spPr>
        <p:txBody>
          <a:bodyPr wrap="square" lIns="0" tIns="0" rIns="0" bIns="0" rtlCol="0" anchor="ctr"/>
          <a:lstStyle/>
          <a:p>
            <a:pPr indent="0" marL="0">
              <a:buNone/>
            </a:pPr>
            <a:r>
              <a:rPr lang="en-US" sz="1300" i="1" dirty="0">
                <a:solidFill>
                  <a:srgbClr val="6B7B78"/>
                </a:solidFill>
                <a:latin typeface="Calibri" pitchFamily="34" charset="0"/>
                <a:ea typeface="Calibri" pitchFamily="34" charset="-122"/>
                <a:cs typeface="Calibri" pitchFamily="34" charset="-120"/>
              </a:rPr>
              <a:t>New generation · receives migrations</a:t>
            </a:r>
            <a:endParaRPr lang="en-US" sz="1300" dirty="0"/>
          </a:p>
        </p:txBody>
      </p:sp>
      <p:sp>
        <p:nvSpPr>
          <p:cNvPr id="31" name="Text 29"/>
          <p:cNvSpPr/>
          <p:nvPr/>
        </p:nvSpPr>
        <p:spPr>
          <a:xfrm>
            <a:off x="6583680" y="4526280"/>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COMPUTE</a:t>
            </a:r>
            <a:endParaRPr lang="en-US" sz="900" dirty="0"/>
          </a:p>
        </p:txBody>
      </p:sp>
      <p:sp>
        <p:nvSpPr>
          <p:cNvPr id="32" name="Text 30"/>
          <p:cNvSpPr/>
          <p:nvPr/>
        </p:nvSpPr>
        <p:spPr>
          <a:xfrm>
            <a:off x="8046720" y="4526280"/>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ROKS · VSI aS Code</a:t>
            </a:r>
            <a:endParaRPr lang="en-US" sz="1100" dirty="0"/>
          </a:p>
        </p:txBody>
      </p:sp>
      <p:sp>
        <p:nvSpPr>
          <p:cNvPr id="33" name="Shape 31"/>
          <p:cNvSpPr/>
          <p:nvPr/>
        </p:nvSpPr>
        <p:spPr>
          <a:xfrm>
            <a:off x="6583680" y="4837176"/>
            <a:ext cx="4892040" cy="0"/>
          </a:xfrm>
          <a:prstGeom prst="line">
            <a:avLst/>
          </a:prstGeom>
          <a:noFill/>
          <a:ln w="5080">
            <a:solidFill>
              <a:srgbClr val="E2E8F0"/>
            </a:solidFill>
            <a:prstDash val="solid"/>
          </a:ln>
        </p:spPr>
      </p:sp>
      <p:sp>
        <p:nvSpPr>
          <p:cNvPr id="34" name="Text 32"/>
          <p:cNvSpPr/>
          <p:nvPr/>
        </p:nvSpPr>
        <p:spPr>
          <a:xfrm>
            <a:off x="6583680" y="4837176"/>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SERVICES</a:t>
            </a:r>
            <a:endParaRPr lang="en-US" sz="900" dirty="0"/>
          </a:p>
        </p:txBody>
      </p:sp>
      <p:sp>
        <p:nvSpPr>
          <p:cNvPr id="35" name="Text 33"/>
          <p:cNvSpPr/>
          <p:nvPr/>
        </p:nvSpPr>
        <p:spPr>
          <a:xfrm>
            <a:off x="8046720" y="4837176"/>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Kafka aS Code · Databases aS Code</a:t>
            </a:r>
            <a:endParaRPr lang="en-US" sz="1100" dirty="0"/>
          </a:p>
        </p:txBody>
      </p:sp>
      <p:sp>
        <p:nvSpPr>
          <p:cNvPr id="36" name="Shape 34"/>
          <p:cNvSpPr/>
          <p:nvPr/>
        </p:nvSpPr>
        <p:spPr>
          <a:xfrm>
            <a:off x="6583680" y="5148072"/>
            <a:ext cx="4892040" cy="0"/>
          </a:xfrm>
          <a:prstGeom prst="line">
            <a:avLst/>
          </a:prstGeom>
          <a:noFill/>
          <a:ln w="5080">
            <a:solidFill>
              <a:srgbClr val="E2E8F0"/>
            </a:solidFill>
            <a:prstDash val="solid"/>
          </a:ln>
        </p:spPr>
      </p:sp>
      <p:sp>
        <p:nvSpPr>
          <p:cNvPr id="37" name="Text 35"/>
          <p:cNvSpPr/>
          <p:nvPr/>
        </p:nvSpPr>
        <p:spPr>
          <a:xfrm>
            <a:off x="6583680" y="5148072"/>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UNIT</a:t>
            </a:r>
            <a:endParaRPr lang="en-US" sz="900" dirty="0"/>
          </a:p>
        </p:txBody>
      </p:sp>
      <p:sp>
        <p:nvSpPr>
          <p:cNvPr id="38" name="Text 36"/>
          <p:cNvSpPr/>
          <p:nvPr/>
        </p:nvSpPr>
        <p:spPr>
          <a:xfrm>
            <a:off x="8046720" y="5148072"/>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Realm</a:t>
            </a:r>
            <a:endParaRPr lang="en-US" sz="1100" dirty="0"/>
          </a:p>
        </p:txBody>
      </p:sp>
      <p:sp>
        <p:nvSpPr>
          <p:cNvPr id="39" name="Shape 37"/>
          <p:cNvSpPr/>
          <p:nvPr/>
        </p:nvSpPr>
        <p:spPr>
          <a:xfrm>
            <a:off x="6583680" y="5458968"/>
            <a:ext cx="4892040" cy="0"/>
          </a:xfrm>
          <a:prstGeom prst="line">
            <a:avLst/>
          </a:prstGeom>
          <a:noFill/>
          <a:ln w="5080">
            <a:solidFill>
              <a:srgbClr val="E2E8F0"/>
            </a:solidFill>
            <a:prstDash val="solid"/>
          </a:ln>
        </p:spPr>
      </p:sp>
      <p:sp>
        <p:nvSpPr>
          <p:cNvPr id="40" name="Text 38"/>
          <p:cNvSpPr/>
          <p:nvPr/>
        </p:nvSpPr>
        <p:spPr>
          <a:xfrm>
            <a:off x="6583680" y="5458968"/>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PROVISIONING</a:t>
            </a:r>
            <a:endParaRPr lang="en-US" sz="900" dirty="0"/>
          </a:p>
        </p:txBody>
      </p:sp>
      <p:sp>
        <p:nvSpPr>
          <p:cNvPr id="41" name="Text 39"/>
          <p:cNvSpPr/>
          <p:nvPr/>
        </p:nvSpPr>
        <p:spPr>
          <a:xfrm>
            <a:off x="8046720" y="5458968"/>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Terraform · Marketplace</a:t>
            </a:r>
            <a:endParaRPr lang="en-US" sz="1100" dirty="0"/>
          </a:p>
        </p:txBody>
      </p:sp>
      <p:sp>
        <p:nvSpPr>
          <p:cNvPr id="42" name="Shape 40"/>
          <p:cNvSpPr/>
          <p:nvPr/>
        </p:nvSpPr>
        <p:spPr>
          <a:xfrm>
            <a:off x="6583680" y="5769864"/>
            <a:ext cx="4892040" cy="0"/>
          </a:xfrm>
          <a:prstGeom prst="line">
            <a:avLst/>
          </a:prstGeom>
          <a:noFill/>
          <a:ln w="5080">
            <a:solidFill>
              <a:srgbClr val="E2E8F0"/>
            </a:solidFill>
            <a:prstDash val="solid"/>
          </a:ln>
        </p:spPr>
      </p:sp>
      <p:sp>
        <p:nvSpPr>
          <p:cNvPr id="43" name="Text 41"/>
          <p:cNvSpPr/>
          <p:nvPr/>
        </p:nvSpPr>
        <p:spPr>
          <a:xfrm>
            <a:off x="6583680" y="5769864"/>
            <a:ext cx="1371600" cy="310896"/>
          </a:xfrm>
          <a:prstGeom prst="rect">
            <a:avLst/>
          </a:prstGeom>
          <a:noFill/>
          <a:ln/>
        </p:spPr>
        <p:txBody>
          <a:bodyPr wrap="square" lIns="0" tIns="0" rIns="0" bIns="0" rtlCol="0" anchor="ctr"/>
          <a:lstStyle/>
          <a:p>
            <a:pPr indent="0" marL="0">
              <a:buNone/>
            </a:pPr>
            <a:r>
              <a:rPr lang="en-US" sz="900" b="1" spc="400" kern="0" dirty="0">
                <a:solidFill>
                  <a:srgbClr val="00915A"/>
                </a:solidFill>
                <a:latin typeface="Calibri" pitchFamily="34" charset="0"/>
                <a:ea typeface="Calibri" pitchFamily="34" charset="-122"/>
                <a:cs typeface="Calibri" pitchFamily="34" charset="-120"/>
              </a:rPr>
              <a:t>STATUS</a:t>
            </a:r>
            <a:endParaRPr lang="en-US" sz="900" dirty="0"/>
          </a:p>
        </p:txBody>
      </p:sp>
      <p:sp>
        <p:nvSpPr>
          <p:cNvPr id="44" name="Text 42"/>
          <p:cNvSpPr/>
          <p:nvPr/>
        </p:nvSpPr>
        <p:spPr>
          <a:xfrm>
            <a:off x="8046720" y="5769864"/>
            <a:ext cx="3429000" cy="310896"/>
          </a:xfrm>
          <a:prstGeom prst="rect">
            <a:avLst/>
          </a:prstGeom>
          <a:noFill/>
          <a:ln/>
        </p:spPr>
        <p:txBody>
          <a:bodyPr wrap="square" lIns="0" tIns="0" rIns="0" bIns="0" rtlCol="0" anchor="ctr"/>
          <a:lstStyle/>
          <a:p>
            <a:pPr indent="0" marL="0">
              <a:buNone/>
            </a:pPr>
            <a:r>
              <a:rPr lang="en-US" sz="1100" dirty="0">
                <a:solidFill>
                  <a:srgbClr val="2C2C2C"/>
                </a:solidFill>
                <a:latin typeface="Calibri" pitchFamily="34" charset="0"/>
                <a:ea typeface="Calibri" pitchFamily="34" charset="-122"/>
                <a:cs typeface="Calibri" pitchFamily="34" charset="-120"/>
              </a:rPr>
              <a:t>In production · hosts new projects</a:t>
            </a:r>
            <a:endParaRPr lang="en-US" sz="1100" dirty="0"/>
          </a:p>
        </p:txBody>
      </p:sp>
      <p:sp>
        <p:nvSpPr>
          <p:cNvPr id="45" name="Text 43"/>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46" name="Text 44"/>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05 · dMZR</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Foundation layers</a:t>
            </a:r>
            <a:endParaRPr lang="en-US" sz="3200" dirty="0"/>
          </a:p>
        </p:txBody>
      </p:sp>
      <p:sp>
        <p:nvSpPr>
          <p:cNvPr id="4" name="Text 2"/>
          <p:cNvSpPr/>
          <p:nvPr/>
        </p:nvSpPr>
        <p:spPr>
          <a:xfrm>
            <a:off x="640080" y="1783080"/>
            <a:ext cx="10972800" cy="457200"/>
          </a:xfrm>
          <a:prstGeom prst="rect">
            <a:avLst/>
          </a:prstGeom>
          <a:noFill/>
          <a:ln/>
        </p:spPr>
        <p:txBody>
          <a:bodyPr wrap="square" lIns="0" tIns="0" rIns="0" bIns="0" rtlCol="0" anchor="ctr"/>
          <a:lstStyle/>
          <a:p>
            <a:pPr indent="0" marL="0">
              <a:lnSpc>
                <a:spcPct val="130000"/>
              </a:lnSpc>
              <a:buNone/>
            </a:pPr>
            <a:r>
              <a:rPr lang="en-US" sz="1300" i="1" dirty="0">
                <a:solidFill>
                  <a:srgbClr val="2C2C2C"/>
                </a:solidFill>
                <a:latin typeface="Georgia" pitchFamily="34" charset="0"/>
                <a:ea typeface="Georgia" pitchFamily="34" charset="-122"/>
                <a:cs typeface="Georgia" pitchFamily="34" charset="-120"/>
              </a:rPr>
              <a:t>Both infrastructures share the same IBM Cloud managed building blocks. On the dMZR aS Code, all of them are declined in an 'aS Code' version (VSI aS Code, Kafka aS Code, etc.).</a:t>
            </a:r>
            <a:endParaRPr lang="en-US" sz="1300" dirty="0"/>
          </a:p>
        </p:txBody>
      </p:sp>
      <p:sp>
        <p:nvSpPr>
          <p:cNvPr id="5" name="Shape 3"/>
          <p:cNvSpPr/>
          <p:nvPr/>
        </p:nvSpPr>
        <p:spPr>
          <a:xfrm>
            <a:off x="640080" y="2423160"/>
            <a:ext cx="10972800" cy="777240"/>
          </a:xfrm>
          <a:prstGeom prst="rect">
            <a:avLst/>
          </a:prstGeom>
          <a:solidFill>
            <a:srgbClr val="F8F9FA"/>
          </a:solidFill>
          <a:ln w="6350">
            <a:solidFill>
              <a:srgbClr val="E2E8F0"/>
            </a:solidFill>
            <a:prstDash val="solid"/>
          </a:ln>
        </p:spPr>
      </p:sp>
      <p:sp>
        <p:nvSpPr>
          <p:cNvPr id="6" name="Shape 4"/>
          <p:cNvSpPr/>
          <p:nvPr/>
        </p:nvSpPr>
        <p:spPr>
          <a:xfrm>
            <a:off x="640080" y="2423160"/>
            <a:ext cx="73152" cy="777240"/>
          </a:xfrm>
          <a:prstGeom prst="rect">
            <a:avLst/>
          </a:prstGeom>
          <a:solidFill>
            <a:srgbClr val="00915A"/>
          </a:solidFill>
          <a:ln w="12700">
            <a:solidFill>
              <a:srgbClr val="00915A"/>
            </a:solidFill>
            <a:prstDash val="solid"/>
          </a:ln>
        </p:spPr>
      </p:sp>
      <p:sp>
        <p:nvSpPr>
          <p:cNvPr id="7" name="Text 5"/>
          <p:cNvSpPr/>
          <p:nvPr/>
        </p:nvSpPr>
        <p:spPr>
          <a:xfrm>
            <a:off x="914400" y="2532888"/>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COMPUTE</a:t>
            </a:r>
            <a:endParaRPr lang="en-US" sz="1000" dirty="0"/>
          </a:p>
        </p:txBody>
      </p:sp>
      <p:sp>
        <p:nvSpPr>
          <p:cNvPr id="8" name="Text 6"/>
          <p:cNvSpPr/>
          <p:nvPr/>
        </p:nvSpPr>
        <p:spPr>
          <a:xfrm>
            <a:off x="914400" y="2761488"/>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Kubernetes + VSI</a:t>
            </a:r>
            <a:endParaRPr lang="en-US" sz="1600" dirty="0"/>
          </a:p>
        </p:txBody>
      </p:sp>
      <p:sp>
        <p:nvSpPr>
          <p:cNvPr id="9" name="Text 7"/>
          <p:cNvSpPr/>
          <p:nvPr/>
        </p:nvSpPr>
        <p:spPr>
          <a:xfrm>
            <a:off x="6217920" y="2587752"/>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IKS + VSI on the dMZR · ROKS + VSI aS Code on the dMZR aS Code. 450+ Cardif microservices, GitOps (Argo CD), DevSecOps standards.</a:t>
            </a:r>
            <a:endParaRPr lang="en-US" sz="1100" dirty="0"/>
          </a:p>
        </p:txBody>
      </p:sp>
      <p:sp>
        <p:nvSpPr>
          <p:cNvPr id="10" name="Shape 8"/>
          <p:cNvSpPr/>
          <p:nvPr/>
        </p:nvSpPr>
        <p:spPr>
          <a:xfrm>
            <a:off x="640080" y="3310128"/>
            <a:ext cx="10972800" cy="777240"/>
          </a:xfrm>
          <a:prstGeom prst="rect">
            <a:avLst/>
          </a:prstGeom>
          <a:solidFill>
            <a:srgbClr val="F8F9FA"/>
          </a:solidFill>
          <a:ln w="6350">
            <a:solidFill>
              <a:srgbClr val="E2E8F0"/>
            </a:solidFill>
            <a:prstDash val="solid"/>
          </a:ln>
        </p:spPr>
      </p:sp>
      <p:sp>
        <p:nvSpPr>
          <p:cNvPr id="11" name="Shape 9"/>
          <p:cNvSpPr/>
          <p:nvPr/>
        </p:nvSpPr>
        <p:spPr>
          <a:xfrm>
            <a:off x="640080" y="3310128"/>
            <a:ext cx="73152" cy="777240"/>
          </a:xfrm>
          <a:prstGeom prst="rect">
            <a:avLst/>
          </a:prstGeom>
          <a:solidFill>
            <a:srgbClr val="00915A"/>
          </a:solidFill>
          <a:ln w="12700">
            <a:solidFill>
              <a:srgbClr val="00915A"/>
            </a:solidFill>
            <a:prstDash val="solid"/>
          </a:ln>
        </p:spPr>
      </p:sp>
      <p:sp>
        <p:nvSpPr>
          <p:cNvPr id="12" name="Text 10"/>
          <p:cNvSpPr/>
          <p:nvPr/>
        </p:nvSpPr>
        <p:spPr>
          <a:xfrm>
            <a:off x="914400" y="3419856"/>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DATA</a:t>
            </a:r>
            <a:endParaRPr lang="en-US" sz="1000" dirty="0"/>
          </a:p>
        </p:txBody>
      </p:sp>
      <p:sp>
        <p:nvSpPr>
          <p:cNvPr id="13" name="Text 11"/>
          <p:cNvSpPr/>
          <p:nvPr/>
        </p:nvSpPr>
        <p:spPr>
          <a:xfrm>
            <a:off x="914400" y="3648456"/>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Managed services</a:t>
            </a:r>
            <a:endParaRPr lang="en-US" sz="1600" dirty="0"/>
          </a:p>
        </p:txBody>
      </p:sp>
      <p:sp>
        <p:nvSpPr>
          <p:cNvPr id="14" name="Text 12"/>
          <p:cNvSpPr/>
          <p:nvPr/>
        </p:nvSpPr>
        <p:spPr>
          <a:xfrm>
            <a:off x="6217920" y="3474720"/>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Event Streams (Kafka) · Databases for PostgreSQL, MongoDB, Redis · Cloud Object Storage. Declined as Kafka aS Code and Databases aS Code on the dMZR aS Code.</a:t>
            </a:r>
            <a:endParaRPr lang="en-US" sz="1100" dirty="0"/>
          </a:p>
        </p:txBody>
      </p:sp>
      <p:sp>
        <p:nvSpPr>
          <p:cNvPr id="15" name="Shape 13"/>
          <p:cNvSpPr/>
          <p:nvPr/>
        </p:nvSpPr>
        <p:spPr>
          <a:xfrm>
            <a:off x="640080" y="4197096"/>
            <a:ext cx="10972800" cy="777240"/>
          </a:xfrm>
          <a:prstGeom prst="rect">
            <a:avLst/>
          </a:prstGeom>
          <a:solidFill>
            <a:srgbClr val="F8F9FA"/>
          </a:solidFill>
          <a:ln w="6350">
            <a:solidFill>
              <a:srgbClr val="E2E8F0"/>
            </a:solidFill>
            <a:prstDash val="solid"/>
          </a:ln>
        </p:spPr>
      </p:sp>
      <p:sp>
        <p:nvSpPr>
          <p:cNvPr id="16" name="Shape 14"/>
          <p:cNvSpPr/>
          <p:nvPr/>
        </p:nvSpPr>
        <p:spPr>
          <a:xfrm>
            <a:off x="640080" y="4197096"/>
            <a:ext cx="73152" cy="777240"/>
          </a:xfrm>
          <a:prstGeom prst="rect">
            <a:avLst/>
          </a:prstGeom>
          <a:solidFill>
            <a:srgbClr val="00915A"/>
          </a:solidFill>
          <a:ln w="12700">
            <a:solidFill>
              <a:srgbClr val="00915A"/>
            </a:solidFill>
            <a:prstDash val="solid"/>
          </a:ln>
        </p:spPr>
      </p:sp>
      <p:sp>
        <p:nvSpPr>
          <p:cNvPr id="17" name="Text 15"/>
          <p:cNvSpPr/>
          <p:nvPr/>
        </p:nvSpPr>
        <p:spPr>
          <a:xfrm>
            <a:off x="914400" y="4306824"/>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NETWORK</a:t>
            </a:r>
            <a:endParaRPr lang="en-US" sz="1000" dirty="0"/>
          </a:p>
        </p:txBody>
      </p:sp>
      <p:sp>
        <p:nvSpPr>
          <p:cNvPr id="18" name="Text 16"/>
          <p:cNvSpPr/>
          <p:nvPr/>
        </p:nvSpPr>
        <p:spPr>
          <a:xfrm>
            <a:off x="914400" y="4535424"/>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VPC · Transit Gateway · DirectLink</a:t>
            </a:r>
            <a:endParaRPr lang="en-US" sz="1600" dirty="0"/>
          </a:p>
        </p:txBody>
      </p:sp>
      <p:sp>
        <p:nvSpPr>
          <p:cNvPr id="19" name="Text 17"/>
          <p:cNvSpPr/>
          <p:nvPr/>
        </p:nvSpPr>
        <p:spPr>
          <a:xfrm>
            <a:off x="6217920" y="4361688"/>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Segmentation by ecosystem / realm, intra-region interconnection, private routing to on-premise.</a:t>
            </a:r>
            <a:endParaRPr lang="en-US" sz="1100" dirty="0"/>
          </a:p>
        </p:txBody>
      </p:sp>
      <p:sp>
        <p:nvSpPr>
          <p:cNvPr id="20" name="Shape 18"/>
          <p:cNvSpPr/>
          <p:nvPr/>
        </p:nvSpPr>
        <p:spPr>
          <a:xfrm>
            <a:off x="640080" y="5084064"/>
            <a:ext cx="10972800" cy="777240"/>
          </a:xfrm>
          <a:prstGeom prst="rect">
            <a:avLst/>
          </a:prstGeom>
          <a:solidFill>
            <a:srgbClr val="F8F9FA"/>
          </a:solidFill>
          <a:ln w="6350">
            <a:solidFill>
              <a:srgbClr val="E2E8F0"/>
            </a:solidFill>
            <a:prstDash val="solid"/>
          </a:ln>
        </p:spPr>
      </p:sp>
      <p:sp>
        <p:nvSpPr>
          <p:cNvPr id="21" name="Shape 19"/>
          <p:cNvSpPr/>
          <p:nvPr/>
        </p:nvSpPr>
        <p:spPr>
          <a:xfrm>
            <a:off x="640080" y="5084064"/>
            <a:ext cx="73152" cy="777240"/>
          </a:xfrm>
          <a:prstGeom prst="rect">
            <a:avLst/>
          </a:prstGeom>
          <a:solidFill>
            <a:srgbClr val="00915A"/>
          </a:solidFill>
          <a:ln w="12700">
            <a:solidFill>
              <a:srgbClr val="00915A"/>
            </a:solidFill>
            <a:prstDash val="solid"/>
          </a:ln>
        </p:spPr>
      </p:sp>
      <p:sp>
        <p:nvSpPr>
          <p:cNvPr id="22" name="Text 20"/>
          <p:cNvSpPr/>
          <p:nvPr/>
        </p:nvSpPr>
        <p:spPr>
          <a:xfrm>
            <a:off x="914400" y="5193792"/>
            <a:ext cx="1463040" cy="228600"/>
          </a:xfrm>
          <a:prstGeom prst="rect">
            <a:avLst/>
          </a:prstGeom>
          <a:noFill/>
          <a:ln/>
        </p:spPr>
        <p:txBody>
          <a:bodyPr wrap="square" lIns="0" tIns="0" rIns="0" bIns="0" rtlCol="0" anchor="ctr"/>
          <a:lstStyle/>
          <a:p>
            <a:pPr indent="0" marL="0">
              <a:buNone/>
            </a:pPr>
            <a:r>
              <a:rPr lang="en-US" sz="1000" b="1" spc="400" kern="0" dirty="0">
                <a:solidFill>
                  <a:srgbClr val="00915A"/>
                </a:solidFill>
                <a:latin typeface="Calibri" pitchFamily="34" charset="0"/>
                <a:ea typeface="Calibri" pitchFamily="34" charset="-122"/>
                <a:cs typeface="Calibri" pitchFamily="34" charset="-120"/>
              </a:rPr>
              <a:t>SECURITY</a:t>
            </a:r>
            <a:endParaRPr lang="en-US" sz="1000" dirty="0"/>
          </a:p>
        </p:txBody>
      </p:sp>
      <p:sp>
        <p:nvSpPr>
          <p:cNvPr id="23" name="Text 21"/>
          <p:cNvSpPr/>
          <p:nvPr/>
        </p:nvSpPr>
        <p:spPr>
          <a:xfrm>
            <a:off x="914400" y="5422392"/>
            <a:ext cx="5029200" cy="438912"/>
          </a:xfrm>
          <a:prstGeom prst="rect">
            <a:avLst/>
          </a:prstGeom>
          <a:noFill/>
          <a:ln/>
        </p:spPr>
        <p:txBody>
          <a:bodyPr wrap="square" lIns="0" tIns="0" rIns="0" bIns="0" rtlCol="0" anchor="ctr"/>
          <a:lstStyle/>
          <a:p>
            <a:pPr indent="0" marL="0">
              <a:buNone/>
            </a:pPr>
            <a:r>
              <a:rPr lang="en-US" sz="1600" b="1" dirty="0">
                <a:solidFill>
                  <a:srgbClr val="1A2E28"/>
                </a:solidFill>
                <a:latin typeface="Georgia" pitchFamily="34" charset="0"/>
                <a:ea typeface="Georgia" pitchFamily="34" charset="-122"/>
                <a:cs typeface="Georgia" pitchFamily="34" charset="-120"/>
              </a:rPr>
              <a:t>IAM · Key Protect · Activity Tracker</a:t>
            </a:r>
            <a:endParaRPr lang="en-US" sz="1600" dirty="0"/>
          </a:p>
        </p:txBody>
      </p:sp>
      <p:sp>
        <p:nvSpPr>
          <p:cNvPr id="24" name="Text 22"/>
          <p:cNvSpPr/>
          <p:nvPr/>
        </p:nvSpPr>
        <p:spPr>
          <a:xfrm>
            <a:off x="6217920" y="5248656"/>
            <a:ext cx="5212080" cy="594360"/>
          </a:xfrm>
          <a:prstGeom prst="rect">
            <a:avLst/>
          </a:prstGeom>
          <a:noFill/>
          <a:ln/>
        </p:spPr>
        <p:txBody>
          <a:bodyPr wrap="square" lIns="0" tIns="0" rIns="0" bIns="0" rtlCol="0" anchor="ctr"/>
          <a:lstStyle/>
          <a:p>
            <a:pPr indent="0" marL="0">
              <a:lnSpc>
                <a:spcPct val="125000"/>
              </a:lnSpc>
              <a:buNone/>
            </a:pPr>
            <a:r>
              <a:rPr lang="en-US" sz="1100" dirty="0">
                <a:solidFill>
                  <a:srgbClr val="2C2C2C"/>
                </a:solidFill>
                <a:latin typeface="Calibri" pitchFamily="34" charset="0"/>
                <a:ea typeface="Calibri" pitchFamily="34" charset="-122"/>
                <a:cs typeface="Calibri" pitchFamily="34" charset="-120"/>
              </a:rPr>
              <a:t>Centralized access controls, key management (BYOK/KYOK), full traceability.</a:t>
            </a:r>
            <a:endParaRPr lang="en-US" sz="1100" dirty="0"/>
          </a:p>
        </p:txBody>
      </p:sp>
      <p:sp>
        <p:nvSpPr>
          <p:cNvPr id="25" name="Text 23"/>
          <p:cNvSpPr/>
          <p:nvPr/>
        </p:nvSpPr>
        <p:spPr>
          <a:xfrm>
            <a:off x="640080" y="5989320"/>
            <a:ext cx="10972800" cy="320040"/>
          </a:xfrm>
          <a:prstGeom prst="rect">
            <a:avLst/>
          </a:prstGeom>
          <a:noFill/>
          <a:ln/>
        </p:spPr>
        <p:txBody>
          <a:bodyPr wrap="square" lIns="0" tIns="0" rIns="0" bIns="0" rtlCol="0" anchor="ctr"/>
          <a:lstStyle/>
          <a:p>
            <a:pPr indent="0" marL="0">
              <a:buNone/>
            </a:pPr>
            <a:r>
              <a:rPr lang="en-US" sz="1200" i="1" dirty="0">
                <a:solidFill>
                  <a:srgbClr val="6B7B78"/>
                </a:solidFill>
                <a:latin typeface="Georgia" pitchFamily="34" charset="0"/>
                <a:ea typeface="Georgia" pitchFamily="34" charset="-122"/>
                <a:cs typeface="Georgia" pitchFamily="34" charset="-120"/>
              </a:rPr>
              <a:t>The infrastructure is operated by BP2I for Marketplace producers and Cardif application teams.</a:t>
            </a:r>
            <a:endParaRPr lang="en-US" sz="1200" dirty="0"/>
          </a:p>
        </p:txBody>
      </p:sp>
      <p:sp>
        <p:nvSpPr>
          <p:cNvPr id="26" name="Text 24"/>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7" name="Text 25"/>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06 · dMZR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01 · dMZR</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dMZR aS Code — Provisioning via Terraform</a:t>
            </a:r>
            <a:endParaRPr lang="en-US" sz="3200" dirty="0"/>
          </a:p>
        </p:txBody>
      </p:sp>
      <p:sp>
        <p:nvSpPr>
          <p:cNvPr id="4" name="Shape 2"/>
          <p:cNvSpPr/>
          <p:nvPr/>
        </p:nvSpPr>
        <p:spPr>
          <a:xfrm>
            <a:off x="9326880" y="502920"/>
            <a:ext cx="2286000" cy="365760"/>
          </a:xfrm>
          <a:prstGeom prst="rect">
            <a:avLst/>
          </a:prstGeom>
          <a:solidFill>
            <a:srgbClr val="D4A840"/>
          </a:solidFill>
          <a:ln w="12700">
            <a:solidFill>
              <a:srgbClr val="D4A840"/>
            </a:solidFill>
            <a:prstDash val="solid"/>
          </a:ln>
        </p:spPr>
      </p:sp>
      <p:sp>
        <p:nvSpPr>
          <p:cNvPr id="5" name="Text 3"/>
          <p:cNvSpPr/>
          <p:nvPr/>
        </p:nvSpPr>
        <p:spPr>
          <a:xfrm>
            <a:off x="9326880" y="502920"/>
            <a:ext cx="2286000" cy="365760"/>
          </a:xfrm>
          <a:prstGeom prst="rect">
            <a:avLst/>
          </a:prstGeom>
          <a:noFill/>
          <a:ln/>
        </p:spPr>
        <p:txBody>
          <a:bodyPr wrap="square" lIns="0" tIns="0" rIns="0" bIns="0" rtlCol="0" anchor="ctr"/>
          <a:lstStyle/>
          <a:p>
            <a:pPr algn="ctr" indent="0" marL="0">
              <a:buNone/>
            </a:pPr>
            <a:r>
              <a:rPr lang="en-US" sz="1000" b="1" spc="500" kern="0" dirty="0">
                <a:solidFill>
                  <a:srgbClr val="003A2B"/>
                </a:solidFill>
                <a:latin typeface="Calibri" pitchFamily="34" charset="0"/>
                <a:ea typeface="Calibri" pitchFamily="34" charset="-122"/>
                <a:cs typeface="Calibri" pitchFamily="34" charset="-120"/>
              </a:rPr>
              <a:t>MIGRATION TARGET</a:t>
            </a:r>
            <a:endParaRPr lang="en-US" sz="1000" dirty="0"/>
          </a:p>
        </p:txBody>
      </p:sp>
      <p:sp>
        <p:nvSpPr>
          <p:cNvPr id="6" name="Text 4"/>
          <p:cNvSpPr/>
          <p:nvPr/>
        </p:nvSpPr>
        <p:spPr>
          <a:xfrm>
            <a:off x="640080" y="1828800"/>
            <a:ext cx="10972800" cy="1143000"/>
          </a:xfrm>
          <a:prstGeom prst="rect">
            <a:avLst/>
          </a:prstGeom>
          <a:noFill/>
          <a:ln/>
        </p:spPr>
        <p:txBody>
          <a:bodyPr wrap="square" lIns="0" tIns="0" rIns="0" bIns="0" rtlCol="0" anchor="ctr"/>
          <a:lstStyle/>
          <a:p>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dMZR aS Code</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is the new-generation infrastructure, in production, based on </a:t>
            </a:r>
            <a:pPr indent="0" marL="0">
              <a:lnSpc>
                <a:spcPct val="135000"/>
              </a:lnSpc>
              <a:buNone/>
            </a:pPr>
            <a:r>
              <a:rPr lang="en-US" sz="1300" b="1" i="1" dirty="0">
                <a:solidFill>
                  <a:srgbClr val="1A2E28"/>
                </a:solidFill>
                <a:latin typeface="Georgia" pitchFamily="34" charset="0"/>
                <a:ea typeface="Georgia" pitchFamily="34" charset="-122"/>
                <a:cs typeface="Georgia" pitchFamily="34" charset="-120"/>
              </a:rPr>
              <a:t>ROKS</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and operated by BP2I. Resources — </a:t>
            </a:r>
            <a:pPr indent="0" marL="0">
              <a:lnSpc>
                <a:spcPct val="135000"/>
              </a:lnSpc>
              <a:buNone/>
            </a:pPr>
            <a:r>
              <a:rPr lang="en-US" sz="1300" b="1" i="1" dirty="0">
                <a:solidFill>
                  <a:srgbClr val="1A2E28"/>
                </a:solidFill>
                <a:latin typeface="Georgia" pitchFamily="34" charset="0"/>
                <a:ea typeface="Georgia" pitchFamily="34" charset="-122"/>
                <a:cs typeface="Georgia" pitchFamily="34" charset="-120"/>
              </a:rPr>
              <a:t>VSI, LB, ROKS clusters, Kafka, Databases…</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 are provisioned </a:t>
            </a:r>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aS Code</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through a </a:t>
            </a:r>
            <a:pPr indent="0" marL="0">
              <a:lnSpc>
                <a:spcPct val="135000"/>
              </a:lnSpc>
              <a:buNone/>
            </a:pPr>
            <a:r>
              <a:rPr lang="en-US" sz="1300" b="1" i="1" dirty="0">
                <a:solidFill>
                  <a:srgbClr val="00653F"/>
                </a:solidFill>
                <a:latin typeface="Georgia" pitchFamily="34" charset="0"/>
                <a:ea typeface="Georgia" pitchFamily="34" charset="-122"/>
                <a:cs typeface="Georgia" pitchFamily="34" charset="-120"/>
              </a:rPr>
              <a:t>Terraform orchestrator built by BP2I</a:t>
            </a:r>
            <a:pPr indent="0" marL="0">
              <a:lnSpc>
                <a:spcPct val="135000"/>
              </a:lnSpc>
              <a:buNone/>
            </a:pPr>
            <a:r>
              <a:rPr lang="en-US" sz="1300" i="1" dirty="0">
                <a:solidFill>
                  <a:srgbClr val="2C2C2C"/>
                </a:solidFill>
                <a:latin typeface="Georgia" pitchFamily="34" charset="0"/>
                <a:ea typeface="Georgia" pitchFamily="34" charset="-122"/>
                <a:cs typeface="Georgia" pitchFamily="34" charset="-120"/>
              </a:rPr>
              <a:t>, a central piece that makes project teams agnostic to the underlying cloud.</a:t>
            </a:r>
            <a:endParaRPr lang="en-US" sz="1300" dirty="0"/>
          </a:p>
        </p:txBody>
      </p:sp>
      <p:sp>
        <p:nvSpPr>
          <p:cNvPr id="7" name="Shape 5"/>
          <p:cNvSpPr/>
          <p:nvPr/>
        </p:nvSpPr>
        <p:spPr>
          <a:xfrm>
            <a:off x="640080" y="3017520"/>
            <a:ext cx="2148840" cy="2194560"/>
          </a:xfrm>
          <a:prstGeom prst="rect">
            <a:avLst/>
          </a:prstGeom>
          <a:solidFill>
            <a:srgbClr val="F8F9FA"/>
          </a:solidFill>
          <a:ln w="6350">
            <a:solidFill>
              <a:srgbClr val="E2E8F0"/>
            </a:solidFill>
            <a:prstDash val="solid"/>
          </a:ln>
        </p:spPr>
      </p:sp>
      <p:sp>
        <p:nvSpPr>
          <p:cNvPr id="8" name="Shape 6"/>
          <p:cNvSpPr/>
          <p:nvPr/>
        </p:nvSpPr>
        <p:spPr>
          <a:xfrm>
            <a:off x="640080" y="3017520"/>
            <a:ext cx="2148840" cy="54864"/>
          </a:xfrm>
          <a:prstGeom prst="rect">
            <a:avLst/>
          </a:prstGeom>
          <a:solidFill>
            <a:srgbClr val="00915A"/>
          </a:solidFill>
          <a:ln w="12700">
            <a:solidFill>
              <a:srgbClr val="00915A"/>
            </a:solidFill>
            <a:prstDash val="solid"/>
          </a:ln>
        </p:spPr>
      </p:sp>
      <p:sp>
        <p:nvSpPr>
          <p:cNvPr id="9" name="Shape 7"/>
          <p:cNvSpPr/>
          <p:nvPr/>
        </p:nvSpPr>
        <p:spPr>
          <a:xfrm>
            <a:off x="1348740" y="3273552"/>
            <a:ext cx="731520" cy="731520"/>
          </a:xfrm>
          <a:prstGeom prst="ellipse">
            <a:avLst/>
          </a:prstGeom>
          <a:solidFill>
            <a:srgbClr val="00915A"/>
          </a:solidFill>
          <a:ln w="12700">
            <a:solidFill>
              <a:srgbClr val="00915A"/>
            </a:solidFill>
            <a:prstDash val="solid"/>
          </a:ln>
        </p:spPr>
      </p:sp>
      <p:pic>
        <p:nvPicPr>
          <p:cNvPr id="10" name="Image 0" descr="preencoded.png">    </p:cNvPr>
          <p:cNvPicPr>
            <a:picLocks noChangeAspect="1"/>
          </p:cNvPicPr>
          <p:nvPr/>
        </p:nvPicPr>
        <p:blipFill>
          <a:blip r:embed="rId1"/>
          <a:stretch>
            <a:fillRect/>
          </a:stretch>
        </p:blipFill>
        <p:spPr>
          <a:xfrm>
            <a:off x="1513332" y="3429000"/>
            <a:ext cx="411480" cy="411480"/>
          </a:xfrm>
          <a:prstGeom prst="rect">
            <a:avLst/>
          </a:prstGeom>
        </p:spPr>
      </p:pic>
      <p:sp>
        <p:nvSpPr>
          <p:cNvPr id="11" name="Text 8"/>
          <p:cNvSpPr/>
          <p:nvPr/>
        </p:nvSpPr>
        <p:spPr>
          <a:xfrm>
            <a:off x="822960"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GIT</a:t>
            </a:r>
            <a:endParaRPr lang="en-US" sz="1000" dirty="0"/>
          </a:p>
        </p:txBody>
      </p:sp>
      <p:sp>
        <p:nvSpPr>
          <p:cNvPr id="12" name="Text 9"/>
          <p:cNvSpPr/>
          <p:nvPr/>
        </p:nvSpPr>
        <p:spPr>
          <a:xfrm>
            <a:off x="777240"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Versioned modules</a:t>
            </a:r>
            <a:endParaRPr lang="en-US" sz="1400" dirty="0"/>
          </a:p>
        </p:txBody>
      </p:sp>
      <p:sp>
        <p:nvSpPr>
          <p:cNvPr id="13" name="Text 10"/>
          <p:cNvSpPr/>
          <p:nvPr/>
        </p:nvSpPr>
        <p:spPr>
          <a:xfrm>
            <a:off x="777240"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GitLab repo, reviewed via MR</a:t>
            </a:r>
            <a:endParaRPr lang="en-US" sz="1000" dirty="0"/>
          </a:p>
        </p:txBody>
      </p:sp>
      <p:sp>
        <p:nvSpPr>
          <p:cNvPr id="14" name="Text 11"/>
          <p:cNvSpPr/>
          <p:nvPr/>
        </p:nvSpPr>
        <p:spPr>
          <a:xfrm>
            <a:off x="2798064"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15" name="Shape 12"/>
          <p:cNvSpPr/>
          <p:nvPr/>
        </p:nvSpPr>
        <p:spPr>
          <a:xfrm>
            <a:off x="2944368" y="3017520"/>
            <a:ext cx="2148840" cy="2194560"/>
          </a:xfrm>
          <a:prstGeom prst="rect">
            <a:avLst/>
          </a:prstGeom>
          <a:solidFill>
            <a:srgbClr val="F8F9FA"/>
          </a:solidFill>
          <a:ln w="6350">
            <a:solidFill>
              <a:srgbClr val="E2E8F0"/>
            </a:solidFill>
            <a:prstDash val="solid"/>
          </a:ln>
        </p:spPr>
      </p:sp>
      <p:sp>
        <p:nvSpPr>
          <p:cNvPr id="16" name="Shape 13"/>
          <p:cNvSpPr/>
          <p:nvPr/>
        </p:nvSpPr>
        <p:spPr>
          <a:xfrm>
            <a:off x="2944368" y="3017520"/>
            <a:ext cx="2148840" cy="54864"/>
          </a:xfrm>
          <a:prstGeom prst="rect">
            <a:avLst/>
          </a:prstGeom>
          <a:solidFill>
            <a:srgbClr val="00915A"/>
          </a:solidFill>
          <a:ln w="12700">
            <a:solidFill>
              <a:srgbClr val="00915A"/>
            </a:solidFill>
            <a:prstDash val="solid"/>
          </a:ln>
        </p:spPr>
      </p:sp>
      <p:sp>
        <p:nvSpPr>
          <p:cNvPr id="17" name="Shape 14"/>
          <p:cNvSpPr/>
          <p:nvPr/>
        </p:nvSpPr>
        <p:spPr>
          <a:xfrm>
            <a:off x="3653028" y="3273552"/>
            <a:ext cx="731520" cy="731520"/>
          </a:xfrm>
          <a:prstGeom prst="ellipse">
            <a:avLst/>
          </a:prstGeom>
          <a:solidFill>
            <a:srgbClr val="00915A"/>
          </a:solidFill>
          <a:ln w="12700">
            <a:solidFill>
              <a:srgbClr val="00915A"/>
            </a:solidFill>
            <a:prstDash val="solid"/>
          </a:ln>
        </p:spPr>
      </p:sp>
      <p:pic>
        <p:nvPicPr>
          <p:cNvPr id="18" name="Image 1" descr="preencoded.png">    </p:cNvPr>
          <p:cNvPicPr>
            <a:picLocks noChangeAspect="1"/>
          </p:cNvPicPr>
          <p:nvPr/>
        </p:nvPicPr>
        <p:blipFill>
          <a:blip r:embed="rId2"/>
          <a:stretch>
            <a:fillRect/>
          </a:stretch>
        </p:blipFill>
        <p:spPr>
          <a:xfrm>
            <a:off x="3817620" y="3429000"/>
            <a:ext cx="411480" cy="411480"/>
          </a:xfrm>
          <a:prstGeom prst="rect">
            <a:avLst/>
          </a:prstGeom>
        </p:spPr>
      </p:pic>
      <p:sp>
        <p:nvSpPr>
          <p:cNvPr id="19" name="Text 15"/>
          <p:cNvSpPr/>
          <p:nvPr/>
        </p:nvSpPr>
        <p:spPr>
          <a:xfrm>
            <a:off x="3127248"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PLAN</a:t>
            </a:r>
            <a:endParaRPr lang="en-US" sz="1000" dirty="0"/>
          </a:p>
        </p:txBody>
      </p:sp>
      <p:sp>
        <p:nvSpPr>
          <p:cNvPr id="20" name="Text 16"/>
          <p:cNvSpPr/>
          <p:nvPr/>
        </p:nvSpPr>
        <p:spPr>
          <a:xfrm>
            <a:off x="3081528"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terraform plan</a:t>
            </a:r>
            <a:endParaRPr lang="en-US" sz="1400" dirty="0"/>
          </a:p>
        </p:txBody>
      </p:sp>
      <p:sp>
        <p:nvSpPr>
          <p:cNvPr id="21" name="Text 17"/>
          <p:cNvSpPr/>
          <p:nvPr/>
        </p:nvSpPr>
        <p:spPr>
          <a:xfrm>
            <a:off x="3081528"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Plan generation, policy checks</a:t>
            </a:r>
            <a:endParaRPr lang="en-US" sz="1000" dirty="0"/>
          </a:p>
        </p:txBody>
      </p:sp>
      <p:sp>
        <p:nvSpPr>
          <p:cNvPr id="22" name="Text 18"/>
          <p:cNvSpPr/>
          <p:nvPr/>
        </p:nvSpPr>
        <p:spPr>
          <a:xfrm>
            <a:off x="5102352"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23" name="Shape 19"/>
          <p:cNvSpPr/>
          <p:nvPr/>
        </p:nvSpPr>
        <p:spPr>
          <a:xfrm>
            <a:off x="5248656" y="3017520"/>
            <a:ext cx="2148840" cy="2194560"/>
          </a:xfrm>
          <a:prstGeom prst="rect">
            <a:avLst/>
          </a:prstGeom>
          <a:solidFill>
            <a:srgbClr val="F8F9FA"/>
          </a:solidFill>
          <a:ln w="6350">
            <a:solidFill>
              <a:srgbClr val="E2E8F0"/>
            </a:solidFill>
            <a:prstDash val="solid"/>
          </a:ln>
        </p:spPr>
      </p:sp>
      <p:sp>
        <p:nvSpPr>
          <p:cNvPr id="24" name="Shape 20"/>
          <p:cNvSpPr/>
          <p:nvPr/>
        </p:nvSpPr>
        <p:spPr>
          <a:xfrm>
            <a:off x="5248656" y="3017520"/>
            <a:ext cx="2148840" cy="54864"/>
          </a:xfrm>
          <a:prstGeom prst="rect">
            <a:avLst/>
          </a:prstGeom>
          <a:solidFill>
            <a:srgbClr val="00915A"/>
          </a:solidFill>
          <a:ln w="12700">
            <a:solidFill>
              <a:srgbClr val="00915A"/>
            </a:solidFill>
            <a:prstDash val="solid"/>
          </a:ln>
        </p:spPr>
      </p:sp>
      <p:sp>
        <p:nvSpPr>
          <p:cNvPr id="25" name="Shape 21"/>
          <p:cNvSpPr/>
          <p:nvPr/>
        </p:nvSpPr>
        <p:spPr>
          <a:xfrm>
            <a:off x="5957316" y="3273552"/>
            <a:ext cx="731520" cy="731520"/>
          </a:xfrm>
          <a:prstGeom prst="ellipse">
            <a:avLst/>
          </a:prstGeom>
          <a:solidFill>
            <a:srgbClr val="00915A"/>
          </a:solidFill>
          <a:ln w="12700">
            <a:solidFill>
              <a:srgbClr val="00915A"/>
            </a:solidFill>
            <a:prstDash val="solid"/>
          </a:ln>
        </p:spPr>
      </p:sp>
      <p:pic>
        <p:nvPicPr>
          <p:cNvPr id="26" name="Image 2" descr="preencoded.png">    </p:cNvPr>
          <p:cNvPicPr>
            <a:picLocks noChangeAspect="1"/>
          </p:cNvPicPr>
          <p:nvPr/>
        </p:nvPicPr>
        <p:blipFill>
          <a:blip r:embed="rId3"/>
          <a:stretch>
            <a:fillRect/>
          </a:stretch>
        </p:blipFill>
        <p:spPr>
          <a:xfrm>
            <a:off x="6121908" y="3429000"/>
            <a:ext cx="411480" cy="411480"/>
          </a:xfrm>
          <a:prstGeom prst="rect">
            <a:avLst/>
          </a:prstGeom>
        </p:spPr>
      </p:pic>
      <p:sp>
        <p:nvSpPr>
          <p:cNvPr id="27" name="Text 22"/>
          <p:cNvSpPr/>
          <p:nvPr/>
        </p:nvSpPr>
        <p:spPr>
          <a:xfrm>
            <a:off x="5431536"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915A"/>
                </a:solidFill>
                <a:latin typeface="Calibri" pitchFamily="34" charset="0"/>
                <a:ea typeface="Calibri" pitchFamily="34" charset="-122"/>
                <a:cs typeface="Calibri" pitchFamily="34" charset="-120"/>
              </a:rPr>
              <a:t>REVIEW</a:t>
            </a:r>
            <a:endParaRPr lang="en-US" sz="1000" dirty="0"/>
          </a:p>
        </p:txBody>
      </p:sp>
      <p:sp>
        <p:nvSpPr>
          <p:cNvPr id="28" name="Text 23"/>
          <p:cNvSpPr/>
          <p:nvPr/>
        </p:nvSpPr>
        <p:spPr>
          <a:xfrm>
            <a:off x="5385816"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Approval</a:t>
            </a:r>
            <a:endParaRPr lang="en-US" sz="1400" dirty="0"/>
          </a:p>
        </p:txBody>
      </p:sp>
      <p:sp>
        <p:nvSpPr>
          <p:cNvPr id="29" name="Text 24"/>
          <p:cNvSpPr/>
          <p:nvPr/>
        </p:nvSpPr>
        <p:spPr>
          <a:xfrm>
            <a:off x="5385816"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MR approved, policies OK</a:t>
            </a:r>
            <a:endParaRPr lang="en-US" sz="1000" dirty="0"/>
          </a:p>
        </p:txBody>
      </p:sp>
      <p:sp>
        <p:nvSpPr>
          <p:cNvPr id="30" name="Text 25"/>
          <p:cNvSpPr/>
          <p:nvPr/>
        </p:nvSpPr>
        <p:spPr>
          <a:xfrm>
            <a:off x="7406640"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31" name="Shape 26"/>
          <p:cNvSpPr/>
          <p:nvPr/>
        </p:nvSpPr>
        <p:spPr>
          <a:xfrm>
            <a:off x="7552944" y="3017520"/>
            <a:ext cx="2148840" cy="2194560"/>
          </a:xfrm>
          <a:prstGeom prst="rect">
            <a:avLst/>
          </a:prstGeom>
          <a:solidFill>
            <a:srgbClr val="F8F9FA"/>
          </a:solidFill>
          <a:ln w="6350">
            <a:solidFill>
              <a:srgbClr val="E2E8F0"/>
            </a:solidFill>
            <a:prstDash val="solid"/>
          </a:ln>
        </p:spPr>
      </p:sp>
      <p:sp>
        <p:nvSpPr>
          <p:cNvPr id="32" name="Shape 27"/>
          <p:cNvSpPr/>
          <p:nvPr/>
        </p:nvSpPr>
        <p:spPr>
          <a:xfrm>
            <a:off x="7552944" y="3017520"/>
            <a:ext cx="2148840" cy="54864"/>
          </a:xfrm>
          <a:prstGeom prst="rect">
            <a:avLst/>
          </a:prstGeom>
          <a:solidFill>
            <a:srgbClr val="D4A840"/>
          </a:solidFill>
          <a:ln w="12700">
            <a:solidFill>
              <a:srgbClr val="D4A840"/>
            </a:solidFill>
            <a:prstDash val="solid"/>
          </a:ln>
        </p:spPr>
      </p:sp>
      <p:sp>
        <p:nvSpPr>
          <p:cNvPr id="33" name="Shape 28"/>
          <p:cNvSpPr/>
          <p:nvPr/>
        </p:nvSpPr>
        <p:spPr>
          <a:xfrm>
            <a:off x="8261604" y="3273552"/>
            <a:ext cx="731520" cy="731520"/>
          </a:xfrm>
          <a:prstGeom prst="ellipse">
            <a:avLst/>
          </a:prstGeom>
          <a:solidFill>
            <a:srgbClr val="00653F"/>
          </a:solidFill>
          <a:ln w="12700">
            <a:solidFill>
              <a:srgbClr val="00653F"/>
            </a:solidFill>
            <a:prstDash val="solid"/>
          </a:ln>
        </p:spPr>
      </p:sp>
      <p:pic>
        <p:nvPicPr>
          <p:cNvPr id="34" name="Image 3" descr="preencoded.png">    </p:cNvPr>
          <p:cNvPicPr>
            <a:picLocks noChangeAspect="1"/>
          </p:cNvPicPr>
          <p:nvPr/>
        </p:nvPicPr>
        <p:blipFill>
          <a:blip r:embed="rId4"/>
          <a:stretch>
            <a:fillRect/>
          </a:stretch>
        </p:blipFill>
        <p:spPr>
          <a:xfrm>
            <a:off x="8426196" y="3429000"/>
            <a:ext cx="411480" cy="411480"/>
          </a:xfrm>
          <a:prstGeom prst="rect">
            <a:avLst/>
          </a:prstGeom>
        </p:spPr>
      </p:pic>
      <p:sp>
        <p:nvSpPr>
          <p:cNvPr id="35" name="Text 29"/>
          <p:cNvSpPr/>
          <p:nvPr/>
        </p:nvSpPr>
        <p:spPr>
          <a:xfrm>
            <a:off x="7735824"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653F"/>
                </a:solidFill>
                <a:latin typeface="Calibri" pitchFamily="34" charset="0"/>
                <a:ea typeface="Calibri" pitchFamily="34" charset="-122"/>
                <a:cs typeface="Calibri" pitchFamily="34" charset="-120"/>
              </a:rPr>
              <a:t>ORCHESTRATOR</a:t>
            </a:r>
            <a:endParaRPr lang="en-US" sz="1000" dirty="0"/>
          </a:p>
        </p:txBody>
      </p:sp>
      <p:sp>
        <p:nvSpPr>
          <p:cNvPr id="36" name="Text 30"/>
          <p:cNvSpPr/>
          <p:nvPr/>
        </p:nvSpPr>
        <p:spPr>
          <a:xfrm>
            <a:off x="7690104"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BP2I · Terraform</a:t>
            </a:r>
            <a:endParaRPr lang="en-US" sz="1400" dirty="0"/>
          </a:p>
        </p:txBody>
      </p:sp>
      <p:sp>
        <p:nvSpPr>
          <p:cNvPr id="37" name="Text 31"/>
          <p:cNvSpPr/>
          <p:nvPr/>
        </p:nvSpPr>
        <p:spPr>
          <a:xfrm>
            <a:off x="7690104"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Central · cloud-agnostic</a:t>
            </a:r>
            <a:endParaRPr lang="en-US" sz="1000" dirty="0"/>
          </a:p>
        </p:txBody>
      </p:sp>
      <p:sp>
        <p:nvSpPr>
          <p:cNvPr id="38" name="Text 32"/>
          <p:cNvSpPr/>
          <p:nvPr/>
        </p:nvSpPr>
        <p:spPr>
          <a:xfrm>
            <a:off x="9710928" y="3383280"/>
            <a:ext cx="137160" cy="548640"/>
          </a:xfrm>
          <a:prstGeom prst="rect">
            <a:avLst/>
          </a:prstGeom>
          <a:noFill/>
          <a:ln/>
        </p:spPr>
        <p:txBody>
          <a:bodyPr wrap="square" lIns="0" tIns="0" rIns="0" bIns="0" rtlCol="0" anchor="ctr"/>
          <a:lstStyle/>
          <a:p>
            <a:pPr algn="ctr" indent="0" marL="0">
              <a:buNone/>
            </a:pPr>
            <a:r>
              <a:rPr lang="en-US" sz="3200" b="1" dirty="0">
                <a:solidFill>
                  <a:srgbClr val="D4A840"/>
                </a:solidFill>
                <a:latin typeface="Georgia" pitchFamily="34" charset="0"/>
                <a:ea typeface="Georgia" pitchFamily="34" charset="-122"/>
                <a:cs typeface="Georgia" pitchFamily="34" charset="-120"/>
              </a:rPr>
              <a:t>›</a:t>
            </a:r>
            <a:endParaRPr lang="en-US" sz="3200" dirty="0"/>
          </a:p>
        </p:txBody>
      </p:sp>
      <p:sp>
        <p:nvSpPr>
          <p:cNvPr id="39" name="Shape 33"/>
          <p:cNvSpPr/>
          <p:nvPr/>
        </p:nvSpPr>
        <p:spPr>
          <a:xfrm>
            <a:off x="9857232" y="3017520"/>
            <a:ext cx="2148840" cy="2194560"/>
          </a:xfrm>
          <a:prstGeom prst="rect">
            <a:avLst/>
          </a:prstGeom>
          <a:solidFill>
            <a:srgbClr val="F8F9FA"/>
          </a:solidFill>
          <a:ln w="6350">
            <a:solidFill>
              <a:srgbClr val="E2E8F0"/>
            </a:solidFill>
            <a:prstDash val="solid"/>
          </a:ln>
        </p:spPr>
      </p:sp>
      <p:sp>
        <p:nvSpPr>
          <p:cNvPr id="40" name="Shape 34"/>
          <p:cNvSpPr/>
          <p:nvPr/>
        </p:nvSpPr>
        <p:spPr>
          <a:xfrm>
            <a:off x="9857232" y="3017520"/>
            <a:ext cx="2148840" cy="54864"/>
          </a:xfrm>
          <a:prstGeom prst="rect">
            <a:avLst/>
          </a:prstGeom>
          <a:solidFill>
            <a:srgbClr val="D4A840"/>
          </a:solidFill>
          <a:ln w="12700">
            <a:solidFill>
              <a:srgbClr val="D4A840"/>
            </a:solidFill>
            <a:prstDash val="solid"/>
          </a:ln>
        </p:spPr>
      </p:sp>
      <p:sp>
        <p:nvSpPr>
          <p:cNvPr id="41" name="Shape 35"/>
          <p:cNvSpPr/>
          <p:nvPr/>
        </p:nvSpPr>
        <p:spPr>
          <a:xfrm>
            <a:off x="10565892" y="3273552"/>
            <a:ext cx="731520" cy="731520"/>
          </a:xfrm>
          <a:prstGeom prst="ellipse">
            <a:avLst/>
          </a:prstGeom>
          <a:solidFill>
            <a:srgbClr val="00653F"/>
          </a:solidFill>
          <a:ln w="12700">
            <a:solidFill>
              <a:srgbClr val="00653F"/>
            </a:solidFill>
            <a:prstDash val="solid"/>
          </a:ln>
        </p:spPr>
      </p:sp>
      <p:pic>
        <p:nvPicPr>
          <p:cNvPr id="42" name="Image 4" descr="preencoded.png">    </p:cNvPr>
          <p:cNvPicPr>
            <a:picLocks noChangeAspect="1"/>
          </p:cNvPicPr>
          <p:nvPr/>
        </p:nvPicPr>
        <p:blipFill>
          <a:blip r:embed="rId5"/>
          <a:stretch>
            <a:fillRect/>
          </a:stretch>
        </p:blipFill>
        <p:spPr>
          <a:xfrm>
            <a:off x="10730484" y="3429000"/>
            <a:ext cx="411480" cy="411480"/>
          </a:xfrm>
          <a:prstGeom prst="rect">
            <a:avLst/>
          </a:prstGeom>
        </p:spPr>
      </p:pic>
      <p:sp>
        <p:nvSpPr>
          <p:cNvPr id="43" name="Text 36"/>
          <p:cNvSpPr/>
          <p:nvPr/>
        </p:nvSpPr>
        <p:spPr>
          <a:xfrm>
            <a:off x="10040112" y="4114800"/>
            <a:ext cx="1783080" cy="256032"/>
          </a:xfrm>
          <a:prstGeom prst="rect">
            <a:avLst/>
          </a:prstGeom>
          <a:noFill/>
          <a:ln/>
        </p:spPr>
        <p:txBody>
          <a:bodyPr wrap="square" lIns="0" tIns="0" rIns="0" bIns="0" rtlCol="0" anchor="ctr"/>
          <a:lstStyle/>
          <a:p>
            <a:pPr algn="ctr" indent="0" marL="0">
              <a:buNone/>
            </a:pPr>
            <a:r>
              <a:rPr lang="en-US" sz="1000" b="1" spc="400" kern="0" dirty="0">
                <a:solidFill>
                  <a:srgbClr val="00653F"/>
                </a:solidFill>
                <a:latin typeface="Calibri" pitchFamily="34" charset="0"/>
                <a:ea typeface="Calibri" pitchFamily="34" charset="-122"/>
                <a:cs typeface="Calibri" pitchFamily="34" charset="-120"/>
              </a:rPr>
              <a:t>RESOURCES</a:t>
            </a:r>
            <a:endParaRPr lang="en-US" sz="1000" dirty="0"/>
          </a:p>
        </p:txBody>
      </p:sp>
      <p:sp>
        <p:nvSpPr>
          <p:cNvPr id="44" name="Text 37"/>
          <p:cNvSpPr/>
          <p:nvPr/>
        </p:nvSpPr>
        <p:spPr>
          <a:xfrm>
            <a:off x="9994392" y="4389120"/>
            <a:ext cx="1874520" cy="457200"/>
          </a:xfrm>
          <a:prstGeom prst="rect">
            <a:avLst/>
          </a:prstGeom>
          <a:noFill/>
          <a:ln/>
        </p:spPr>
        <p:txBody>
          <a:bodyPr wrap="square" lIns="0" tIns="0" rIns="0" bIns="0" rtlCol="0" anchor="ctr"/>
          <a:lstStyle/>
          <a:p>
            <a:pPr algn="ctr" indent="0" marL="0">
              <a:buNone/>
            </a:pPr>
            <a:r>
              <a:rPr lang="en-US" sz="1400" b="1" dirty="0">
                <a:solidFill>
                  <a:srgbClr val="1A2E28"/>
                </a:solidFill>
                <a:latin typeface="Georgia" pitchFamily="34" charset="0"/>
                <a:ea typeface="Georgia" pitchFamily="34" charset="-122"/>
                <a:cs typeface="Georgia" pitchFamily="34" charset="-120"/>
              </a:rPr>
              <a:t>VSI · LB · ROKS</a:t>
            </a:r>
            <a:endParaRPr lang="en-US" sz="1400" dirty="0"/>
          </a:p>
        </p:txBody>
      </p:sp>
      <p:sp>
        <p:nvSpPr>
          <p:cNvPr id="45" name="Text 38"/>
          <p:cNvSpPr/>
          <p:nvPr/>
        </p:nvSpPr>
        <p:spPr>
          <a:xfrm>
            <a:off x="9994392" y="4800600"/>
            <a:ext cx="1874520" cy="365760"/>
          </a:xfrm>
          <a:prstGeom prst="rect">
            <a:avLst/>
          </a:prstGeom>
          <a:noFill/>
          <a:ln/>
        </p:spPr>
        <p:txBody>
          <a:bodyPr wrap="square" lIns="0" tIns="0" rIns="0" bIns="0" rtlCol="0" anchor="ctr"/>
          <a:lstStyle/>
          <a:p>
            <a:pPr algn="ctr" indent="0" marL="0">
              <a:lnSpc>
                <a:spcPct val="125000"/>
              </a:lnSpc>
              <a:buNone/>
            </a:pPr>
            <a:r>
              <a:rPr lang="en-US" sz="1000" dirty="0">
                <a:solidFill>
                  <a:srgbClr val="6B7B78"/>
                </a:solidFill>
                <a:latin typeface="Calibri" pitchFamily="34" charset="0"/>
                <a:ea typeface="Calibri" pitchFamily="34" charset="-122"/>
                <a:cs typeface="Calibri" pitchFamily="34" charset="-120"/>
              </a:rPr>
              <a:t>Kafka · Databases aS Code</a:t>
            </a:r>
            <a:endParaRPr lang="en-US" sz="1000" dirty="0"/>
          </a:p>
        </p:txBody>
      </p:sp>
      <p:sp>
        <p:nvSpPr>
          <p:cNvPr id="46" name="Shape 39"/>
          <p:cNvSpPr/>
          <p:nvPr/>
        </p:nvSpPr>
        <p:spPr>
          <a:xfrm>
            <a:off x="640080" y="5486400"/>
            <a:ext cx="2606040" cy="457200"/>
          </a:xfrm>
          <a:prstGeom prst="rect">
            <a:avLst/>
          </a:prstGeom>
          <a:solidFill>
            <a:srgbClr val="E6F3EE"/>
          </a:solidFill>
          <a:ln w="12700">
            <a:solidFill>
              <a:srgbClr val="E6F3EE"/>
            </a:solidFill>
            <a:prstDash val="solid"/>
          </a:ln>
        </p:spPr>
      </p:sp>
      <p:sp>
        <p:nvSpPr>
          <p:cNvPr id="47" name="Text 40"/>
          <p:cNvSpPr/>
          <p:nvPr/>
        </p:nvSpPr>
        <p:spPr>
          <a:xfrm>
            <a:off x="64008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Standardization</a:t>
            </a:r>
            <a:endParaRPr lang="en-US" sz="1200" dirty="0"/>
          </a:p>
        </p:txBody>
      </p:sp>
      <p:sp>
        <p:nvSpPr>
          <p:cNvPr id="48" name="Shape 41"/>
          <p:cNvSpPr/>
          <p:nvPr/>
        </p:nvSpPr>
        <p:spPr>
          <a:xfrm>
            <a:off x="3429000" y="5486400"/>
            <a:ext cx="2606040" cy="457200"/>
          </a:xfrm>
          <a:prstGeom prst="rect">
            <a:avLst/>
          </a:prstGeom>
          <a:solidFill>
            <a:srgbClr val="E6F3EE"/>
          </a:solidFill>
          <a:ln w="12700">
            <a:solidFill>
              <a:srgbClr val="E6F3EE"/>
            </a:solidFill>
            <a:prstDash val="solid"/>
          </a:ln>
        </p:spPr>
      </p:sp>
      <p:sp>
        <p:nvSpPr>
          <p:cNvPr id="49" name="Text 42"/>
          <p:cNvSpPr/>
          <p:nvPr/>
        </p:nvSpPr>
        <p:spPr>
          <a:xfrm>
            <a:off x="342900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Idempotence</a:t>
            </a:r>
            <a:endParaRPr lang="en-US" sz="1200" dirty="0"/>
          </a:p>
        </p:txBody>
      </p:sp>
      <p:sp>
        <p:nvSpPr>
          <p:cNvPr id="50" name="Shape 43"/>
          <p:cNvSpPr/>
          <p:nvPr/>
        </p:nvSpPr>
        <p:spPr>
          <a:xfrm>
            <a:off x="6217920" y="5486400"/>
            <a:ext cx="2606040" cy="457200"/>
          </a:xfrm>
          <a:prstGeom prst="rect">
            <a:avLst/>
          </a:prstGeom>
          <a:solidFill>
            <a:srgbClr val="E6F3EE"/>
          </a:solidFill>
          <a:ln w="12700">
            <a:solidFill>
              <a:srgbClr val="E6F3EE"/>
            </a:solidFill>
            <a:prstDash val="solid"/>
          </a:ln>
        </p:spPr>
      </p:sp>
      <p:sp>
        <p:nvSpPr>
          <p:cNvPr id="51" name="Text 44"/>
          <p:cNvSpPr/>
          <p:nvPr/>
        </p:nvSpPr>
        <p:spPr>
          <a:xfrm>
            <a:off x="621792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Remote state</a:t>
            </a:r>
            <a:endParaRPr lang="en-US" sz="1200" dirty="0"/>
          </a:p>
        </p:txBody>
      </p:sp>
      <p:sp>
        <p:nvSpPr>
          <p:cNvPr id="52" name="Shape 45"/>
          <p:cNvSpPr/>
          <p:nvPr/>
        </p:nvSpPr>
        <p:spPr>
          <a:xfrm>
            <a:off x="9006840" y="5486400"/>
            <a:ext cx="2606040" cy="457200"/>
          </a:xfrm>
          <a:prstGeom prst="rect">
            <a:avLst/>
          </a:prstGeom>
          <a:solidFill>
            <a:srgbClr val="E6F3EE"/>
          </a:solidFill>
          <a:ln w="12700">
            <a:solidFill>
              <a:srgbClr val="E6F3EE"/>
            </a:solidFill>
            <a:prstDash val="solid"/>
          </a:ln>
        </p:spPr>
      </p:sp>
      <p:sp>
        <p:nvSpPr>
          <p:cNvPr id="53" name="Text 46"/>
          <p:cNvSpPr/>
          <p:nvPr/>
        </p:nvSpPr>
        <p:spPr>
          <a:xfrm>
            <a:off x="9006840" y="5486400"/>
            <a:ext cx="2606040" cy="45720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Drift detection</a:t>
            </a:r>
            <a:endParaRPr lang="en-US" sz="1200" dirty="0"/>
          </a:p>
        </p:txBody>
      </p:sp>
      <p:sp>
        <p:nvSpPr>
          <p:cNvPr id="54" name="Text 47"/>
          <p:cNvSpPr/>
          <p:nvPr/>
        </p:nvSpPr>
        <p:spPr>
          <a:xfrm>
            <a:off x="640080" y="6080760"/>
            <a:ext cx="10972800" cy="274320"/>
          </a:xfrm>
          <a:prstGeom prst="rect">
            <a:avLst/>
          </a:prstGeom>
          <a:noFill/>
          <a:ln/>
        </p:spPr>
        <p:txBody>
          <a:bodyPr wrap="square" lIns="0" tIns="0" rIns="0" bIns="0" rtlCol="0" anchor="ctr"/>
          <a:lstStyle/>
          <a:p>
            <a:pPr indent="0" marL="0">
              <a:buNone/>
            </a:pPr>
            <a:r>
              <a:rPr lang="en-US" sz="1000" i="1" dirty="0">
                <a:solidFill>
                  <a:srgbClr val="6B7B78"/>
                </a:solidFill>
                <a:latin typeface="Georgia" pitchFamily="34" charset="0"/>
                <a:ea typeface="Georgia" pitchFamily="34" charset="-122"/>
                <a:cs typeface="Georgia" pitchFamily="34" charset="-120"/>
              </a:rPr>
              <a:t>Each resource (VSI, LB, ROKS, Kafka, Databases…) is provisioned aS Code by the BP2I orchestrator, with remote state and drift detection.</a:t>
            </a:r>
            <a:endParaRPr lang="en-US" sz="1000" dirty="0"/>
          </a:p>
        </p:txBody>
      </p:sp>
      <p:sp>
        <p:nvSpPr>
          <p:cNvPr id="55" name="Text 48"/>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56" name="Text 49"/>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07 · dMZR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2</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02</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IT Marketplace</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IBM ecosystems, orders and rights</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Definition and actors</a:t>
            </a:r>
            <a:endParaRPr lang="en-US" sz="3200" dirty="0"/>
          </a:p>
        </p:txBody>
      </p:sp>
      <p:sp>
        <p:nvSpPr>
          <p:cNvPr id="4" name="Text 2"/>
          <p:cNvSpPr/>
          <p:nvPr/>
        </p:nvSpPr>
        <p:spPr>
          <a:xfrm>
            <a:off x="640080" y="1828800"/>
            <a:ext cx="10972800" cy="1097280"/>
          </a:xfrm>
          <a:prstGeom prst="rect">
            <a:avLst/>
          </a:prstGeom>
          <a:noFill/>
          <a:ln/>
        </p:spPr>
        <p:txBody>
          <a:bodyPr wrap="square" lIns="0" tIns="0" rIns="0" bIns="0" rtlCol="0" anchor="ctr"/>
          <a:lstStyle/>
          <a:p>
            <a:pPr indent="0" marL="0">
              <a:lnSpc>
                <a:spcPct val="130000"/>
              </a:lnSpc>
              <a:buNone/>
            </a:pPr>
            <a:r>
              <a:rPr lang="en-US" sz="1700" i="1" dirty="0">
                <a:solidFill>
                  <a:srgbClr val="2C2C2C"/>
                </a:solidFill>
                <a:latin typeface="Georgia" pitchFamily="34" charset="0"/>
                <a:ea typeface="Georgia" pitchFamily="34" charset="-122"/>
                <a:cs typeface="Georgia" pitchFamily="34" charset="-120"/>
              </a:rPr>
              <a:t>The IT Marketplace is the internal platform where IT producers of BNP Paribas publish their products and services to internal consumers, for daily use or to build business applications.</a:t>
            </a:r>
            <a:endParaRPr lang="en-US" sz="1700" dirty="0"/>
          </a:p>
        </p:txBody>
      </p:sp>
      <p:sp>
        <p:nvSpPr>
          <p:cNvPr id="5" name="Shape 3"/>
          <p:cNvSpPr/>
          <p:nvPr/>
        </p:nvSpPr>
        <p:spPr>
          <a:xfrm>
            <a:off x="640080" y="3200400"/>
            <a:ext cx="5440680" cy="1828800"/>
          </a:xfrm>
          <a:prstGeom prst="rect">
            <a:avLst/>
          </a:prstGeom>
          <a:solidFill>
            <a:srgbClr val="F8F9FA"/>
          </a:solidFill>
          <a:ln w="6350">
            <a:solidFill>
              <a:srgbClr val="E2E8F0"/>
            </a:solidFill>
            <a:prstDash val="solid"/>
          </a:ln>
        </p:spPr>
      </p:sp>
      <p:sp>
        <p:nvSpPr>
          <p:cNvPr id="6" name="Shape 4"/>
          <p:cNvSpPr/>
          <p:nvPr/>
        </p:nvSpPr>
        <p:spPr>
          <a:xfrm>
            <a:off x="914400" y="3520440"/>
            <a:ext cx="640080" cy="640080"/>
          </a:xfrm>
          <a:prstGeom prst="ellipse">
            <a:avLst/>
          </a:prstGeom>
          <a:solidFill>
            <a:srgbClr val="00915A"/>
          </a:solidFill>
          <a:ln w="12700">
            <a:solidFill>
              <a:srgbClr val="00915A"/>
            </a:solidFill>
            <a:prstDash val="solid"/>
          </a:ln>
        </p:spPr>
      </p:sp>
      <p:sp>
        <p:nvSpPr>
          <p:cNvPr id="7" name="Shape 5"/>
          <p:cNvSpPr/>
          <p:nvPr/>
        </p:nvSpPr>
        <p:spPr>
          <a:xfrm>
            <a:off x="6263640" y="3200400"/>
            <a:ext cx="5440680" cy="1828800"/>
          </a:xfrm>
          <a:prstGeom prst="rect">
            <a:avLst/>
          </a:prstGeom>
          <a:solidFill>
            <a:srgbClr val="F8F9FA"/>
          </a:solidFill>
          <a:ln w="6350">
            <a:solidFill>
              <a:srgbClr val="E2E8F0"/>
            </a:solidFill>
            <a:prstDash val="solid"/>
          </a:ln>
        </p:spPr>
      </p:sp>
      <p:sp>
        <p:nvSpPr>
          <p:cNvPr id="8" name="Shape 6"/>
          <p:cNvSpPr/>
          <p:nvPr/>
        </p:nvSpPr>
        <p:spPr>
          <a:xfrm>
            <a:off x="6537960" y="3520440"/>
            <a:ext cx="640080" cy="640080"/>
          </a:xfrm>
          <a:prstGeom prst="ellipse">
            <a:avLst/>
          </a:prstGeom>
          <a:solidFill>
            <a:srgbClr val="00915A"/>
          </a:solidFill>
          <a:ln w="12700">
            <a:solidFill>
              <a:srgbClr val="00915A"/>
            </a:solidFill>
            <a:prstDash val="solid"/>
          </a:ln>
        </p:spPr>
      </p:sp>
      <p:pic>
        <p:nvPicPr>
          <p:cNvPr id="9" name="Image 0" descr="preencoded.png">    </p:cNvPr>
          <p:cNvPicPr>
            <a:picLocks noChangeAspect="1"/>
          </p:cNvPicPr>
          <p:nvPr/>
        </p:nvPicPr>
        <p:blipFill>
          <a:blip r:embed="rId1"/>
          <a:stretch>
            <a:fillRect/>
          </a:stretch>
        </p:blipFill>
        <p:spPr>
          <a:xfrm>
            <a:off x="1051560" y="3657600"/>
            <a:ext cx="365760" cy="365760"/>
          </a:xfrm>
          <a:prstGeom prst="rect">
            <a:avLst/>
          </a:prstGeom>
        </p:spPr>
      </p:pic>
      <p:sp>
        <p:nvSpPr>
          <p:cNvPr id="10" name="Text 7"/>
          <p:cNvSpPr/>
          <p:nvPr/>
        </p:nvSpPr>
        <p:spPr>
          <a:xfrm>
            <a:off x="1783080" y="3566160"/>
            <a:ext cx="4069080" cy="50292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Daily use</a:t>
            </a:r>
            <a:endParaRPr lang="en-US" sz="2000" dirty="0"/>
          </a:p>
        </p:txBody>
      </p:sp>
      <p:sp>
        <p:nvSpPr>
          <p:cNvPr id="11" name="Text 8"/>
          <p:cNvSpPr/>
          <p:nvPr/>
        </p:nvSpPr>
        <p:spPr>
          <a:xfrm>
            <a:off x="914400" y="4206240"/>
            <a:ext cx="4892040" cy="777240"/>
          </a:xfrm>
          <a:prstGeom prst="rect">
            <a:avLst/>
          </a:prstGeom>
          <a:noFill/>
          <a:ln/>
        </p:spPr>
        <p:txBody>
          <a:bodyPr wrap="square" lIns="0" tIns="0" rIns="0" bIns="0" rtlCol="0" anchor="ctr"/>
          <a:lstStyle/>
          <a:p>
            <a:pPr indent="0" marL="0">
              <a:lnSpc>
                <a:spcPct val="130000"/>
              </a:lnSpc>
              <a:buNone/>
            </a:pPr>
            <a:r>
              <a:rPr lang="en-US" sz="1300" dirty="0">
                <a:solidFill>
                  <a:srgbClr val="2C2C2C"/>
                </a:solidFill>
                <a:latin typeface="Calibri" pitchFamily="34" charset="0"/>
                <a:ea typeface="Calibri" pitchFamily="34" charset="-122"/>
                <a:cs typeface="Calibri" pitchFamily="34" charset="-120"/>
              </a:rPr>
              <a:t>Recurring provisioning of resources and services (access, environments, tools) consumed by teams.</a:t>
            </a:r>
            <a:endParaRPr lang="en-US" sz="1300" dirty="0"/>
          </a:p>
        </p:txBody>
      </p:sp>
      <p:pic>
        <p:nvPicPr>
          <p:cNvPr id="12" name="Image 1" descr="preencoded.png">    </p:cNvPr>
          <p:cNvPicPr>
            <a:picLocks noChangeAspect="1"/>
          </p:cNvPicPr>
          <p:nvPr/>
        </p:nvPicPr>
        <p:blipFill>
          <a:blip r:embed="rId2"/>
          <a:stretch>
            <a:fillRect/>
          </a:stretch>
        </p:blipFill>
        <p:spPr>
          <a:xfrm>
            <a:off x="6675120" y="3657600"/>
            <a:ext cx="365760" cy="365760"/>
          </a:xfrm>
          <a:prstGeom prst="rect">
            <a:avLst/>
          </a:prstGeom>
        </p:spPr>
      </p:pic>
      <p:sp>
        <p:nvSpPr>
          <p:cNvPr id="13" name="Text 9"/>
          <p:cNvSpPr/>
          <p:nvPr/>
        </p:nvSpPr>
        <p:spPr>
          <a:xfrm>
            <a:off x="7406640" y="3566160"/>
            <a:ext cx="4069080" cy="50292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Application building</a:t>
            </a:r>
            <a:endParaRPr lang="en-US" sz="2000" dirty="0"/>
          </a:p>
        </p:txBody>
      </p:sp>
      <p:sp>
        <p:nvSpPr>
          <p:cNvPr id="14" name="Text 10"/>
          <p:cNvSpPr/>
          <p:nvPr/>
        </p:nvSpPr>
        <p:spPr>
          <a:xfrm>
            <a:off x="6537960" y="4206240"/>
            <a:ext cx="4892040" cy="777240"/>
          </a:xfrm>
          <a:prstGeom prst="rect">
            <a:avLst/>
          </a:prstGeom>
          <a:noFill/>
          <a:ln/>
        </p:spPr>
        <p:txBody>
          <a:bodyPr wrap="square" lIns="0" tIns="0" rIns="0" bIns="0" rtlCol="0" anchor="ctr"/>
          <a:lstStyle/>
          <a:p>
            <a:pPr indent="0" marL="0">
              <a:lnSpc>
                <a:spcPct val="130000"/>
              </a:lnSpc>
              <a:buNone/>
            </a:pPr>
            <a:r>
              <a:rPr lang="en-US" sz="1300" dirty="0">
                <a:solidFill>
                  <a:srgbClr val="2C2C2C"/>
                </a:solidFill>
                <a:latin typeface="Calibri" pitchFamily="34" charset="0"/>
                <a:ea typeface="Calibri" pitchFamily="34" charset="-122"/>
                <a:cs typeface="Calibri" pitchFamily="34" charset="-120"/>
              </a:rPr>
              <a:t>Assembling the blocks needed to build and run a business application (runtime, databases, network, security, observability).</a:t>
            </a:r>
            <a:endParaRPr lang="en-US" sz="1300" dirty="0"/>
          </a:p>
        </p:txBody>
      </p:sp>
      <p:sp>
        <p:nvSpPr>
          <p:cNvPr id="15" name="Text 11"/>
          <p:cNvSpPr/>
          <p:nvPr/>
        </p:nvSpPr>
        <p:spPr>
          <a:xfrm>
            <a:off x="640080" y="5303520"/>
            <a:ext cx="3657600" cy="274320"/>
          </a:xfrm>
          <a:prstGeom prst="rect">
            <a:avLst/>
          </a:prstGeom>
          <a:noFill/>
          <a:ln/>
        </p:spPr>
        <p:txBody>
          <a:bodyPr wrap="square" lIns="0" tIns="0" rIns="0" bIns="0" rtlCol="0" anchor="ctr"/>
          <a:lstStyle/>
          <a:p>
            <a:pPr indent="0" marL="0">
              <a:buNone/>
            </a:pPr>
            <a:r>
              <a:rPr lang="en-US" sz="1000" b="1" spc="600" kern="0" dirty="0">
                <a:solidFill>
                  <a:srgbClr val="00915A"/>
                </a:solidFill>
                <a:latin typeface="Calibri" pitchFamily="34" charset="0"/>
                <a:ea typeface="Calibri" pitchFamily="34" charset="-122"/>
                <a:cs typeface="Calibri" pitchFamily="34" charset="-120"/>
              </a:rPr>
              <a:t>THREE ACTORS</a:t>
            </a:r>
            <a:endParaRPr lang="en-US" sz="1000" dirty="0"/>
          </a:p>
        </p:txBody>
      </p:sp>
      <p:sp>
        <p:nvSpPr>
          <p:cNvPr id="16" name="Text 12"/>
          <p:cNvSpPr/>
          <p:nvPr/>
        </p:nvSpPr>
        <p:spPr>
          <a:xfrm>
            <a:off x="64008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Producers · teams that publish an offer</a:t>
            </a:r>
            <a:endParaRPr lang="en-US" sz="1300" dirty="0"/>
          </a:p>
        </p:txBody>
      </p:sp>
      <p:sp>
        <p:nvSpPr>
          <p:cNvPr id="17" name="Text 13"/>
          <p:cNvSpPr/>
          <p:nvPr/>
        </p:nvSpPr>
        <p:spPr>
          <a:xfrm>
            <a:off x="448056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Consumers · teams that order</a:t>
            </a:r>
            <a:endParaRPr lang="en-US" sz="1300" dirty="0"/>
          </a:p>
        </p:txBody>
      </p:sp>
      <p:sp>
        <p:nvSpPr>
          <p:cNvPr id="18" name="Text 14"/>
          <p:cNvSpPr/>
          <p:nvPr/>
        </p:nvSpPr>
        <p:spPr>
          <a:xfrm>
            <a:off x="8321040" y="5669280"/>
            <a:ext cx="3749040" cy="320040"/>
          </a:xfrm>
          <a:prstGeom prst="rect">
            <a:avLst/>
          </a:prstGeom>
          <a:noFill/>
          <a:ln/>
        </p:spPr>
        <p:txBody>
          <a:bodyPr wrap="square" lIns="0" tIns="0" rIns="0" bIns="0" rtlCol="0" anchor="ctr"/>
          <a:lstStyle/>
          <a:p>
            <a:pPr indent="0" marL="0">
              <a:buNone/>
            </a:pPr>
            <a:r>
              <a:rPr lang="en-US" sz="1300" b="1" dirty="0">
                <a:solidFill>
                  <a:srgbClr val="1A2E28"/>
                </a:solidFill>
                <a:latin typeface="Calibri" pitchFamily="34" charset="0"/>
                <a:ea typeface="Calibri" pitchFamily="34" charset="-122"/>
                <a:cs typeface="Calibri" pitchFamily="34" charset="-120"/>
              </a:rPr>
              <a:t>Employee groups · shared orders</a:t>
            </a:r>
            <a:endParaRPr lang="en-US" sz="1300" dirty="0"/>
          </a:p>
        </p:txBody>
      </p:sp>
      <p:sp>
        <p:nvSpPr>
          <p:cNvPr id="19" name="Text 15"/>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0" name="Text 16"/>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09 · Marketplace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IBM Cloud Ecosystems</a:t>
            </a:r>
            <a:endParaRPr lang="en-US" sz="3200" dirty="0"/>
          </a:p>
        </p:txBody>
      </p:sp>
      <p:sp>
        <p:nvSpPr>
          <p:cNvPr id="4" name="Text 2"/>
          <p:cNvSpPr/>
          <p:nvPr/>
        </p:nvSpPr>
        <p:spPr>
          <a:xfrm>
            <a:off x="640080" y="1828800"/>
            <a:ext cx="10972800" cy="914400"/>
          </a:xfrm>
          <a:prstGeom prst="rect">
            <a:avLst/>
          </a:prstGeom>
          <a:noFill/>
          <a:ln/>
        </p:spPr>
        <p:txBody>
          <a:bodyPr wrap="square" lIns="0" tIns="0" rIns="0" bIns="0" rtlCol="0" anchor="ctr"/>
          <a:lstStyle/>
          <a:p>
            <a:pPr indent="0" marL="0">
              <a:lnSpc>
                <a:spcPct val="130000"/>
              </a:lnSpc>
              <a:buNone/>
            </a:pPr>
            <a:r>
              <a:rPr lang="en-US" sz="1600" i="1" dirty="0">
                <a:solidFill>
                  <a:srgbClr val="2C2C2C"/>
                </a:solidFill>
                <a:latin typeface="Georgia" pitchFamily="34" charset="0"/>
                <a:ea typeface="Georgia" pitchFamily="34" charset="-122"/>
                <a:cs typeface="Georgia" pitchFamily="34" charset="-120"/>
              </a:rPr>
              <a:t>IBM Cloud is split into ecosystems. Each ecosystem is a functional and contractual scope with its own quotas, billed costs and access rights.</a:t>
            </a:r>
            <a:endParaRPr lang="en-US" sz="1600" dirty="0"/>
          </a:p>
        </p:txBody>
      </p:sp>
      <p:sp>
        <p:nvSpPr>
          <p:cNvPr id="5" name="Shape 3"/>
          <p:cNvSpPr/>
          <p:nvPr/>
        </p:nvSpPr>
        <p:spPr>
          <a:xfrm>
            <a:off x="64008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6" name="Text 4"/>
          <p:cNvSpPr/>
          <p:nvPr/>
        </p:nvSpPr>
        <p:spPr>
          <a:xfrm>
            <a:off x="91440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01</a:t>
            </a:r>
            <a:endParaRPr lang="en-US" sz="3400" dirty="0"/>
          </a:p>
        </p:txBody>
      </p:sp>
      <p:sp>
        <p:nvSpPr>
          <p:cNvPr id="7" name="Text 5"/>
          <p:cNvSpPr/>
          <p:nvPr/>
        </p:nvSpPr>
        <p:spPr>
          <a:xfrm>
            <a:off x="91440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Scope</a:t>
            </a:r>
            <a:endParaRPr lang="en-US" sz="2000" dirty="0"/>
          </a:p>
        </p:txBody>
      </p:sp>
      <p:sp>
        <p:nvSpPr>
          <p:cNvPr id="8" name="Text 6"/>
          <p:cNvSpPr/>
          <p:nvPr/>
        </p:nvSpPr>
        <p:spPr>
          <a:xfrm>
            <a:off x="91440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Business line, entity, compliance zone — one ecosystem = one internal contract</a:t>
            </a:r>
            <a:endParaRPr lang="en-US" sz="1200" dirty="0"/>
          </a:p>
        </p:txBody>
      </p:sp>
      <p:sp>
        <p:nvSpPr>
          <p:cNvPr id="9" name="Shape 7"/>
          <p:cNvSpPr/>
          <p:nvPr/>
        </p:nvSpPr>
        <p:spPr>
          <a:xfrm>
            <a:off x="457200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10" name="Text 8"/>
          <p:cNvSpPr/>
          <p:nvPr/>
        </p:nvSpPr>
        <p:spPr>
          <a:xfrm>
            <a:off x="484632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02</a:t>
            </a:r>
            <a:endParaRPr lang="en-US" sz="3400" dirty="0"/>
          </a:p>
        </p:txBody>
      </p:sp>
      <p:sp>
        <p:nvSpPr>
          <p:cNvPr id="11" name="Text 9"/>
          <p:cNvSpPr/>
          <p:nvPr/>
        </p:nvSpPr>
        <p:spPr>
          <a:xfrm>
            <a:off x="484632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Quotas &amp; costs</a:t>
            </a:r>
            <a:endParaRPr lang="en-US" sz="2000" dirty="0"/>
          </a:p>
        </p:txBody>
      </p:sp>
      <p:sp>
        <p:nvSpPr>
          <p:cNvPr id="12" name="Text 10"/>
          <p:cNvSpPr/>
          <p:nvPr/>
        </p:nvSpPr>
        <p:spPr>
          <a:xfrm>
            <a:off x="484632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Every order is billed to the requesting ecosystem, with caps</a:t>
            </a:r>
            <a:endParaRPr lang="en-US" sz="1200" dirty="0"/>
          </a:p>
        </p:txBody>
      </p:sp>
      <p:sp>
        <p:nvSpPr>
          <p:cNvPr id="13" name="Shape 11"/>
          <p:cNvSpPr/>
          <p:nvPr/>
        </p:nvSpPr>
        <p:spPr>
          <a:xfrm>
            <a:off x="8503920" y="2926080"/>
            <a:ext cx="3703320" cy="201168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14" name="Text 12"/>
          <p:cNvSpPr/>
          <p:nvPr/>
        </p:nvSpPr>
        <p:spPr>
          <a:xfrm>
            <a:off x="8778240" y="3108960"/>
            <a:ext cx="1097280" cy="640080"/>
          </a:xfrm>
          <a:prstGeom prst="rect">
            <a:avLst/>
          </a:prstGeom>
          <a:noFill/>
          <a:ln/>
        </p:spPr>
        <p:txBody>
          <a:bodyPr wrap="square" lIns="0" tIns="0" rIns="0" bIns="0" rtlCol="0" anchor="ctr"/>
          <a:lstStyle/>
          <a:p>
            <a:pPr indent="0" marL="0">
              <a:buNone/>
            </a:pPr>
            <a:r>
              <a:rPr lang="en-US" sz="3400" b="1" dirty="0">
                <a:solidFill>
                  <a:srgbClr val="D4A840"/>
                </a:solidFill>
                <a:latin typeface="Georgia" pitchFamily="34" charset="0"/>
                <a:ea typeface="Georgia" pitchFamily="34" charset="-122"/>
                <a:cs typeface="Georgia" pitchFamily="34" charset="-120"/>
              </a:rPr>
              <a:t>03</a:t>
            </a:r>
            <a:endParaRPr lang="en-US" sz="3400" dirty="0"/>
          </a:p>
        </p:txBody>
      </p:sp>
      <p:sp>
        <p:nvSpPr>
          <p:cNvPr id="15" name="Text 13"/>
          <p:cNvSpPr/>
          <p:nvPr/>
        </p:nvSpPr>
        <p:spPr>
          <a:xfrm>
            <a:off x="8778240" y="3794760"/>
            <a:ext cx="3154680" cy="457200"/>
          </a:xfrm>
          <a:prstGeom prst="rect">
            <a:avLst/>
          </a:prstGeom>
          <a:noFill/>
          <a:ln/>
        </p:spPr>
        <p:txBody>
          <a:bodyPr wrap="square" lIns="0" tIns="0" rIns="0" bIns="0" rtlCol="0" anchor="ctr"/>
          <a:lstStyle/>
          <a:p>
            <a:pPr indent="0" marL="0">
              <a:buNone/>
            </a:pPr>
            <a:r>
              <a:rPr lang="en-US" sz="2000" b="1" dirty="0">
                <a:solidFill>
                  <a:srgbClr val="1A2E28"/>
                </a:solidFill>
                <a:latin typeface="Georgia" pitchFamily="34" charset="0"/>
                <a:ea typeface="Georgia" pitchFamily="34" charset="-122"/>
                <a:cs typeface="Georgia" pitchFamily="34" charset="-120"/>
              </a:rPr>
              <a:t>Access rights</a:t>
            </a:r>
            <a:endParaRPr lang="en-US" sz="2000" dirty="0"/>
          </a:p>
        </p:txBody>
      </p:sp>
      <p:sp>
        <p:nvSpPr>
          <p:cNvPr id="16" name="Text 14"/>
          <p:cNvSpPr/>
          <p:nvPr/>
        </p:nvSpPr>
        <p:spPr>
          <a:xfrm>
            <a:off x="8778240" y="4297680"/>
            <a:ext cx="3154680" cy="594360"/>
          </a:xfrm>
          <a:prstGeom prst="rect">
            <a:avLst/>
          </a:prstGeom>
          <a:noFill/>
          <a:ln/>
        </p:spPr>
        <p:txBody>
          <a:bodyPr wrap="square" lIns="0" tIns="0" rIns="0" bIns="0" rtlCol="0" anchor="ctr"/>
          <a:lstStyle/>
          <a:p>
            <a:pPr indent="0" marL="0">
              <a:lnSpc>
                <a:spcPct val="130000"/>
              </a:lnSpc>
              <a:buNone/>
            </a:pPr>
            <a:r>
              <a:rPr lang="en-US" sz="1200" dirty="0">
                <a:solidFill>
                  <a:srgbClr val="6B7B78"/>
                </a:solidFill>
                <a:latin typeface="Calibri" pitchFamily="34" charset="0"/>
                <a:ea typeface="Calibri" pitchFamily="34" charset="-122"/>
                <a:cs typeface="Calibri" pitchFamily="34" charset="-120"/>
              </a:rPr>
              <a:t>Attachment = catalog visibility, approval, RBAC on resources</a:t>
            </a:r>
            <a:endParaRPr lang="en-US" sz="1200" dirty="0"/>
          </a:p>
        </p:txBody>
      </p:sp>
      <p:sp>
        <p:nvSpPr>
          <p:cNvPr id="17" name="Shape 15"/>
          <p:cNvSpPr/>
          <p:nvPr/>
        </p:nvSpPr>
        <p:spPr>
          <a:xfrm>
            <a:off x="640080" y="5120640"/>
            <a:ext cx="10972800" cy="1005840"/>
          </a:xfrm>
          <a:prstGeom prst="rect">
            <a:avLst/>
          </a:prstGeom>
          <a:solidFill>
            <a:srgbClr val="E6F3EE"/>
          </a:solidFill>
          <a:ln w="12700">
            <a:solidFill>
              <a:srgbClr val="E6F3EE"/>
            </a:solidFill>
            <a:prstDash val="solid"/>
          </a:ln>
        </p:spPr>
      </p:sp>
      <p:sp>
        <p:nvSpPr>
          <p:cNvPr id="18" name="Shape 16"/>
          <p:cNvSpPr/>
          <p:nvPr/>
        </p:nvSpPr>
        <p:spPr>
          <a:xfrm>
            <a:off x="640080" y="5120640"/>
            <a:ext cx="73152" cy="1005840"/>
          </a:xfrm>
          <a:prstGeom prst="rect">
            <a:avLst/>
          </a:prstGeom>
          <a:solidFill>
            <a:srgbClr val="00915A"/>
          </a:solidFill>
          <a:ln w="12700">
            <a:solidFill>
              <a:srgbClr val="00915A"/>
            </a:solidFill>
            <a:prstDash val="solid"/>
          </a:ln>
        </p:spPr>
      </p:sp>
      <p:sp>
        <p:nvSpPr>
          <p:cNvPr id="19" name="Text 17"/>
          <p:cNvSpPr/>
          <p:nvPr/>
        </p:nvSpPr>
        <p:spPr>
          <a:xfrm>
            <a:off x="868680" y="5212080"/>
            <a:ext cx="1828800" cy="274320"/>
          </a:xfrm>
          <a:prstGeom prst="rect">
            <a:avLst/>
          </a:prstGeom>
          <a:noFill/>
          <a:ln/>
        </p:spPr>
        <p:txBody>
          <a:bodyPr wrap="square" lIns="0" tIns="0" rIns="0" bIns="0" rtlCol="0" anchor="ctr"/>
          <a:lstStyle/>
          <a:p>
            <a:pPr indent="0" marL="0">
              <a:buNone/>
            </a:pPr>
            <a:r>
              <a:rPr lang="en-US" sz="1000" b="1" spc="500" kern="0" dirty="0">
                <a:solidFill>
                  <a:srgbClr val="00915A"/>
                </a:solidFill>
                <a:latin typeface="Calibri" pitchFamily="34" charset="0"/>
                <a:ea typeface="Calibri" pitchFamily="34" charset="-122"/>
                <a:cs typeface="Calibri" pitchFamily="34" charset="-120"/>
              </a:rPr>
              <a:t>KEY TAKEAWAY</a:t>
            </a:r>
            <a:endParaRPr lang="en-US" sz="1000" dirty="0"/>
          </a:p>
        </p:txBody>
      </p:sp>
      <p:sp>
        <p:nvSpPr>
          <p:cNvPr id="20" name="Text 18"/>
          <p:cNvSpPr/>
          <p:nvPr/>
        </p:nvSpPr>
        <p:spPr>
          <a:xfrm>
            <a:off x="868680" y="5486400"/>
            <a:ext cx="10515600" cy="320040"/>
          </a:xfrm>
          <a:prstGeom prst="rect">
            <a:avLst/>
          </a:prstGeom>
          <a:noFill/>
          <a:ln/>
        </p:spPr>
        <p:txBody>
          <a:bodyPr wrap="square" lIns="0" tIns="0" rIns="0" bIns="0" rtlCol="0" anchor="ctr"/>
          <a:lstStyle/>
          <a:p>
            <a:pPr indent="0" marL="0">
              <a:buNone/>
            </a:pPr>
            <a:r>
              <a:rPr lang="en-US" sz="1400" b="1" dirty="0">
                <a:solidFill>
                  <a:srgbClr val="1A2E28"/>
                </a:solidFill>
                <a:latin typeface="Georgia" pitchFamily="34" charset="0"/>
                <a:ea typeface="Georgia" pitchFamily="34" charset="-122"/>
                <a:cs typeface="Georgia" pitchFamily="34" charset="-120"/>
              </a:rPr>
              <a:t>Every consumed resource has a hosting ecosystem — no attachment, no order.</a:t>
            </a:r>
            <a:endParaRPr lang="en-US" sz="1400" dirty="0"/>
          </a:p>
        </p:txBody>
      </p:sp>
      <p:sp>
        <p:nvSpPr>
          <p:cNvPr id="21" name="Text 19"/>
          <p:cNvSpPr/>
          <p:nvPr/>
        </p:nvSpPr>
        <p:spPr>
          <a:xfrm>
            <a:off x="868680" y="5788152"/>
            <a:ext cx="10515600" cy="274320"/>
          </a:xfrm>
          <a:prstGeom prst="rect">
            <a:avLst/>
          </a:prstGeom>
          <a:noFill/>
          <a:ln/>
        </p:spPr>
        <p:txBody>
          <a:bodyPr wrap="square" lIns="0" tIns="0" rIns="0" bIns="0" rtlCol="0" anchor="ctr"/>
          <a:lstStyle/>
          <a:p>
            <a:pPr indent="0" marL="0">
              <a:buNone/>
            </a:pPr>
            <a:r>
              <a:rPr lang="en-US" sz="1100" i="1" dirty="0">
                <a:solidFill>
                  <a:srgbClr val="6B7B78"/>
                </a:solidFill>
                <a:latin typeface="Georgia" pitchFamily="34" charset="0"/>
                <a:ea typeface="Georgia" pitchFamily="34" charset="-122"/>
                <a:cs typeface="Georgia" pitchFamily="34" charset="-120"/>
              </a:rPr>
              <a:t>On the dMZR: provisioning via Marketplace and REST API (Swagger). On the dMZR aS Code: provisioning via Terraform and Marketplace — the unit is the realm. Projects migrate from one to the other.</a:t>
            </a:r>
            <a:endParaRPr lang="en-US" sz="1100" dirty="0"/>
          </a:p>
        </p:txBody>
      </p:sp>
      <p:sp>
        <p:nvSpPr>
          <p:cNvPr id="22" name="Text 20"/>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3" name="Text 21"/>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10 · Marketplace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Order lifecycle</a:t>
            </a:r>
            <a:endParaRPr lang="en-US" sz="3200" dirty="0"/>
          </a:p>
        </p:txBody>
      </p:sp>
      <p:sp>
        <p:nvSpPr>
          <p:cNvPr id="4" name="Shape 2"/>
          <p:cNvSpPr/>
          <p:nvPr/>
        </p:nvSpPr>
        <p:spPr>
          <a:xfrm>
            <a:off x="548640" y="2194560"/>
            <a:ext cx="2212848" cy="3200400"/>
          </a:xfrm>
          <a:prstGeom prst="rect">
            <a:avLst/>
          </a:prstGeom>
          <a:solidFill>
            <a:srgbClr val="F8F9FA"/>
          </a:solidFill>
          <a:ln w="6350">
            <a:solidFill>
              <a:srgbClr val="E2E8F0"/>
            </a:solidFill>
            <a:prstDash val="solid"/>
          </a:ln>
        </p:spPr>
      </p:sp>
      <p:sp>
        <p:nvSpPr>
          <p:cNvPr id="5" name="Shape 3"/>
          <p:cNvSpPr/>
          <p:nvPr/>
        </p:nvSpPr>
        <p:spPr>
          <a:xfrm>
            <a:off x="1152144" y="2514600"/>
            <a:ext cx="1005840" cy="1005840"/>
          </a:xfrm>
          <a:prstGeom prst="ellipse">
            <a:avLst/>
          </a:prstGeom>
          <a:solidFill>
            <a:srgbClr val="00915A"/>
          </a:solidFill>
          <a:ln w="12700">
            <a:solidFill>
              <a:srgbClr val="00915A"/>
            </a:solidFill>
            <a:prstDash val="solid"/>
          </a:ln>
        </p:spPr>
      </p:sp>
      <p:sp>
        <p:nvSpPr>
          <p:cNvPr id="6" name="Text 4"/>
          <p:cNvSpPr/>
          <p:nvPr/>
        </p:nvSpPr>
        <p:spPr>
          <a:xfrm>
            <a:off x="1152144"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1</a:t>
            </a:r>
            <a:endParaRPr lang="en-US" sz="4200" dirty="0"/>
          </a:p>
        </p:txBody>
      </p:sp>
      <p:sp>
        <p:nvSpPr>
          <p:cNvPr id="7" name="Text 5"/>
          <p:cNvSpPr/>
          <p:nvPr/>
        </p:nvSpPr>
        <p:spPr>
          <a:xfrm>
            <a:off x="731520"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Attachment</a:t>
            </a:r>
            <a:endParaRPr lang="en-US" sz="1600" dirty="0"/>
          </a:p>
        </p:txBody>
      </p:sp>
      <p:sp>
        <p:nvSpPr>
          <p:cNvPr id="8" name="Text 6"/>
          <p:cNvSpPr/>
          <p:nvPr/>
        </p:nvSpPr>
        <p:spPr>
          <a:xfrm>
            <a:off x="731520"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Consumer attached to an ecosystem</a:t>
            </a:r>
            <a:endParaRPr lang="en-US" sz="1100" dirty="0"/>
          </a:p>
        </p:txBody>
      </p:sp>
      <p:sp>
        <p:nvSpPr>
          <p:cNvPr id="9" name="Text 7"/>
          <p:cNvSpPr/>
          <p:nvPr/>
        </p:nvSpPr>
        <p:spPr>
          <a:xfrm>
            <a:off x="2766060"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10" name="Shape 8"/>
          <p:cNvSpPr/>
          <p:nvPr/>
        </p:nvSpPr>
        <p:spPr>
          <a:xfrm>
            <a:off x="2898648" y="2194560"/>
            <a:ext cx="2212848" cy="3200400"/>
          </a:xfrm>
          <a:prstGeom prst="rect">
            <a:avLst/>
          </a:prstGeom>
          <a:solidFill>
            <a:srgbClr val="F8F9FA"/>
          </a:solidFill>
          <a:ln w="6350">
            <a:solidFill>
              <a:srgbClr val="E2E8F0"/>
            </a:solidFill>
            <a:prstDash val="solid"/>
          </a:ln>
        </p:spPr>
      </p:sp>
      <p:sp>
        <p:nvSpPr>
          <p:cNvPr id="11" name="Shape 9"/>
          <p:cNvSpPr/>
          <p:nvPr/>
        </p:nvSpPr>
        <p:spPr>
          <a:xfrm>
            <a:off x="3502152" y="2514600"/>
            <a:ext cx="1005840" cy="1005840"/>
          </a:xfrm>
          <a:prstGeom prst="ellipse">
            <a:avLst/>
          </a:prstGeom>
          <a:solidFill>
            <a:srgbClr val="00915A"/>
          </a:solidFill>
          <a:ln w="12700">
            <a:solidFill>
              <a:srgbClr val="00915A"/>
            </a:solidFill>
            <a:prstDash val="solid"/>
          </a:ln>
        </p:spPr>
      </p:sp>
      <p:sp>
        <p:nvSpPr>
          <p:cNvPr id="12" name="Text 10"/>
          <p:cNvSpPr/>
          <p:nvPr/>
        </p:nvSpPr>
        <p:spPr>
          <a:xfrm>
            <a:off x="3502152"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2</a:t>
            </a:r>
            <a:endParaRPr lang="en-US" sz="4200" dirty="0"/>
          </a:p>
        </p:txBody>
      </p:sp>
      <p:sp>
        <p:nvSpPr>
          <p:cNvPr id="13" name="Text 11"/>
          <p:cNvSpPr/>
          <p:nvPr/>
        </p:nvSpPr>
        <p:spPr>
          <a:xfrm>
            <a:off x="3081528"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Selection</a:t>
            </a:r>
            <a:endParaRPr lang="en-US" sz="1600" dirty="0"/>
          </a:p>
        </p:txBody>
      </p:sp>
      <p:sp>
        <p:nvSpPr>
          <p:cNvPr id="14" name="Text 12"/>
          <p:cNvSpPr/>
          <p:nvPr/>
        </p:nvSpPr>
        <p:spPr>
          <a:xfrm>
            <a:off x="3081528"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Offer chosen from the visible catalog</a:t>
            </a:r>
            <a:endParaRPr lang="en-US" sz="1100" dirty="0"/>
          </a:p>
        </p:txBody>
      </p:sp>
      <p:sp>
        <p:nvSpPr>
          <p:cNvPr id="15" name="Text 13"/>
          <p:cNvSpPr/>
          <p:nvPr/>
        </p:nvSpPr>
        <p:spPr>
          <a:xfrm>
            <a:off x="5116068"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16" name="Shape 14"/>
          <p:cNvSpPr/>
          <p:nvPr/>
        </p:nvSpPr>
        <p:spPr>
          <a:xfrm>
            <a:off x="5248656" y="2194560"/>
            <a:ext cx="2212848" cy="3200400"/>
          </a:xfrm>
          <a:prstGeom prst="rect">
            <a:avLst/>
          </a:prstGeom>
          <a:solidFill>
            <a:srgbClr val="F8F9FA"/>
          </a:solidFill>
          <a:ln w="6350">
            <a:solidFill>
              <a:srgbClr val="E2E8F0"/>
            </a:solidFill>
            <a:prstDash val="solid"/>
          </a:ln>
        </p:spPr>
      </p:sp>
      <p:sp>
        <p:nvSpPr>
          <p:cNvPr id="17" name="Shape 15"/>
          <p:cNvSpPr/>
          <p:nvPr/>
        </p:nvSpPr>
        <p:spPr>
          <a:xfrm>
            <a:off x="5852160" y="2514600"/>
            <a:ext cx="1005840" cy="1005840"/>
          </a:xfrm>
          <a:prstGeom prst="ellipse">
            <a:avLst/>
          </a:prstGeom>
          <a:solidFill>
            <a:srgbClr val="00915A"/>
          </a:solidFill>
          <a:ln w="12700">
            <a:solidFill>
              <a:srgbClr val="00915A"/>
            </a:solidFill>
            <a:prstDash val="solid"/>
          </a:ln>
        </p:spPr>
      </p:sp>
      <p:sp>
        <p:nvSpPr>
          <p:cNvPr id="18" name="Text 16"/>
          <p:cNvSpPr/>
          <p:nvPr/>
        </p:nvSpPr>
        <p:spPr>
          <a:xfrm>
            <a:off x="5852160"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3</a:t>
            </a:r>
            <a:endParaRPr lang="en-US" sz="4200" dirty="0"/>
          </a:p>
        </p:txBody>
      </p:sp>
      <p:sp>
        <p:nvSpPr>
          <p:cNvPr id="19" name="Text 17"/>
          <p:cNvSpPr/>
          <p:nvPr/>
        </p:nvSpPr>
        <p:spPr>
          <a:xfrm>
            <a:off x="5431536"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Approval</a:t>
            </a:r>
            <a:endParaRPr lang="en-US" sz="1600" dirty="0"/>
          </a:p>
        </p:txBody>
      </p:sp>
      <p:sp>
        <p:nvSpPr>
          <p:cNvPr id="20" name="Text 18"/>
          <p:cNvSpPr/>
          <p:nvPr/>
        </p:nvSpPr>
        <p:spPr>
          <a:xfrm>
            <a:off x="5431536"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Workflow: ecosystem, security, FinOps</a:t>
            </a:r>
            <a:endParaRPr lang="en-US" sz="1100" dirty="0"/>
          </a:p>
        </p:txBody>
      </p:sp>
      <p:sp>
        <p:nvSpPr>
          <p:cNvPr id="21" name="Text 19"/>
          <p:cNvSpPr/>
          <p:nvPr/>
        </p:nvSpPr>
        <p:spPr>
          <a:xfrm>
            <a:off x="7466076"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22" name="Shape 20"/>
          <p:cNvSpPr/>
          <p:nvPr/>
        </p:nvSpPr>
        <p:spPr>
          <a:xfrm>
            <a:off x="7598664" y="2194560"/>
            <a:ext cx="2212848" cy="3200400"/>
          </a:xfrm>
          <a:prstGeom prst="rect">
            <a:avLst/>
          </a:prstGeom>
          <a:solidFill>
            <a:srgbClr val="F8F9FA"/>
          </a:solidFill>
          <a:ln w="6350">
            <a:solidFill>
              <a:srgbClr val="E2E8F0"/>
            </a:solidFill>
            <a:prstDash val="solid"/>
          </a:ln>
        </p:spPr>
      </p:sp>
      <p:sp>
        <p:nvSpPr>
          <p:cNvPr id="23" name="Shape 21"/>
          <p:cNvSpPr/>
          <p:nvPr/>
        </p:nvSpPr>
        <p:spPr>
          <a:xfrm>
            <a:off x="8202168" y="2514600"/>
            <a:ext cx="1005840" cy="1005840"/>
          </a:xfrm>
          <a:prstGeom prst="ellipse">
            <a:avLst/>
          </a:prstGeom>
          <a:solidFill>
            <a:srgbClr val="00915A"/>
          </a:solidFill>
          <a:ln w="12700">
            <a:solidFill>
              <a:srgbClr val="00915A"/>
            </a:solidFill>
            <a:prstDash val="solid"/>
          </a:ln>
        </p:spPr>
      </p:sp>
      <p:sp>
        <p:nvSpPr>
          <p:cNvPr id="24" name="Text 22"/>
          <p:cNvSpPr/>
          <p:nvPr/>
        </p:nvSpPr>
        <p:spPr>
          <a:xfrm>
            <a:off x="8202168"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4</a:t>
            </a:r>
            <a:endParaRPr lang="en-US" sz="4200" dirty="0"/>
          </a:p>
        </p:txBody>
      </p:sp>
      <p:sp>
        <p:nvSpPr>
          <p:cNvPr id="25" name="Text 23"/>
          <p:cNvSpPr/>
          <p:nvPr/>
        </p:nvSpPr>
        <p:spPr>
          <a:xfrm>
            <a:off x="7781544"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Execution</a:t>
            </a:r>
            <a:endParaRPr lang="en-US" sz="1600" dirty="0"/>
          </a:p>
        </p:txBody>
      </p:sp>
      <p:sp>
        <p:nvSpPr>
          <p:cNvPr id="26" name="Text 24"/>
          <p:cNvSpPr/>
          <p:nvPr/>
        </p:nvSpPr>
        <p:spPr>
          <a:xfrm>
            <a:off x="7781544"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Producer IaC pipelines (Terraform, Ansible, GitOps)</a:t>
            </a:r>
            <a:endParaRPr lang="en-US" sz="1100" dirty="0"/>
          </a:p>
        </p:txBody>
      </p:sp>
      <p:sp>
        <p:nvSpPr>
          <p:cNvPr id="27" name="Text 25"/>
          <p:cNvSpPr/>
          <p:nvPr/>
        </p:nvSpPr>
        <p:spPr>
          <a:xfrm>
            <a:off x="9816084" y="3611880"/>
            <a:ext cx="128016" cy="457200"/>
          </a:xfrm>
          <a:prstGeom prst="rect">
            <a:avLst/>
          </a:prstGeom>
          <a:noFill/>
          <a:ln/>
        </p:spPr>
        <p:txBody>
          <a:bodyPr wrap="square" lIns="0" tIns="0" rIns="0" bIns="0" rtlCol="0" anchor="ctr"/>
          <a:lstStyle/>
          <a:p>
            <a:pPr algn="ctr" indent="0" marL="0">
              <a:buNone/>
            </a:pPr>
            <a:r>
              <a:rPr lang="en-US" sz="2800" b="1" dirty="0">
                <a:solidFill>
                  <a:srgbClr val="D4A840"/>
                </a:solidFill>
                <a:latin typeface="Georgia" pitchFamily="34" charset="0"/>
                <a:ea typeface="Georgia" pitchFamily="34" charset="-122"/>
                <a:cs typeface="Georgia" pitchFamily="34" charset="-120"/>
              </a:rPr>
              <a:t>›</a:t>
            </a:r>
            <a:endParaRPr lang="en-US" sz="2800" dirty="0"/>
          </a:p>
        </p:txBody>
      </p:sp>
      <p:sp>
        <p:nvSpPr>
          <p:cNvPr id="28" name="Shape 26"/>
          <p:cNvSpPr/>
          <p:nvPr/>
        </p:nvSpPr>
        <p:spPr>
          <a:xfrm>
            <a:off x="9948672" y="2194560"/>
            <a:ext cx="2212848" cy="3200400"/>
          </a:xfrm>
          <a:prstGeom prst="rect">
            <a:avLst/>
          </a:prstGeom>
          <a:solidFill>
            <a:srgbClr val="F8F9FA"/>
          </a:solidFill>
          <a:ln w="6350">
            <a:solidFill>
              <a:srgbClr val="E2E8F0"/>
            </a:solidFill>
            <a:prstDash val="solid"/>
          </a:ln>
        </p:spPr>
      </p:sp>
      <p:sp>
        <p:nvSpPr>
          <p:cNvPr id="29" name="Shape 27"/>
          <p:cNvSpPr/>
          <p:nvPr/>
        </p:nvSpPr>
        <p:spPr>
          <a:xfrm>
            <a:off x="10552176" y="2514600"/>
            <a:ext cx="1005840" cy="1005840"/>
          </a:xfrm>
          <a:prstGeom prst="ellipse">
            <a:avLst/>
          </a:prstGeom>
          <a:solidFill>
            <a:srgbClr val="00915A"/>
          </a:solidFill>
          <a:ln w="12700">
            <a:solidFill>
              <a:srgbClr val="00915A"/>
            </a:solidFill>
            <a:prstDash val="solid"/>
          </a:ln>
        </p:spPr>
      </p:sp>
      <p:sp>
        <p:nvSpPr>
          <p:cNvPr id="30" name="Text 28"/>
          <p:cNvSpPr/>
          <p:nvPr/>
        </p:nvSpPr>
        <p:spPr>
          <a:xfrm>
            <a:off x="10552176" y="2542032"/>
            <a:ext cx="1005840" cy="960120"/>
          </a:xfrm>
          <a:prstGeom prst="rect">
            <a:avLst/>
          </a:prstGeom>
          <a:noFill/>
          <a:ln/>
        </p:spPr>
        <p:txBody>
          <a:bodyPr wrap="square" lIns="0" tIns="0" rIns="0" bIns="0" rtlCol="0" anchor="ctr"/>
          <a:lstStyle/>
          <a:p>
            <a:pPr algn="ctr" indent="0" marL="0">
              <a:buNone/>
            </a:pPr>
            <a:r>
              <a:rPr lang="en-US" sz="4200" b="1" dirty="0">
                <a:solidFill>
                  <a:srgbClr val="FFFFFF"/>
                </a:solidFill>
                <a:latin typeface="Georgia" pitchFamily="34" charset="0"/>
                <a:ea typeface="Georgia" pitchFamily="34" charset="-122"/>
                <a:cs typeface="Georgia" pitchFamily="34" charset="-120"/>
              </a:rPr>
              <a:t>5</a:t>
            </a:r>
            <a:endParaRPr lang="en-US" sz="4200" dirty="0"/>
          </a:p>
        </p:txBody>
      </p:sp>
      <p:sp>
        <p:nvSpPr>
          <p:cNvPr id="31" name="Text 29"/>
          <p:cNvSpPr/>
          <p:nvPr/>
        </p:nvSpPr>
        <p:spPr>
          <a:xfrm>
            <a:off x="10131552" y="3749040"/>
            <a:ext cx="1847088" cy="502920"/>
          </a:xfrm>
          <a:prstGeom prst="rect">
            <a:avLst/>
          </a:prstGeom>
          <a:noFill/>
          <a:ln/>
        </p:spPr>
        <p:txBody>
          <a:bodyPr wrap="square" lIns="0" tIns="0" rIns="0" bIns="0" rtlCol="0" anchor="ctr"/>
          <a:lstStyle/>
          <a:p>
            <a:pPr algn="ctr" indent="0" marL="0">
              <a:buNone/>
            </a:pPr>
            <a:r>
              <a:rPr lang="en-US" sz="1600" b="1" dirty="0">
                <a:solidFill>
                  <a:srgbClr val="1A2E28"/>
                </a:solidFill>
                <a:latin typeface="Georgia" pitchFamily="34" charset="0"/>
                <a:ea typeface="Georgia" pitchFamily="34" charset="-122"/>
                <a:cs typeface="Georgia" pitchFamily="34" charset="-120"/>
              </a:rPr>
              <a:t>Rights &amp; billing</a:t>
            </a:r>
            <a:endParaRPr lang="en-US" sz="1600" dirty="0"/>
          </a:p>
        </p:txBody>
      </p:sp>
      <p:sp>
        <p:nvSpPr>
          <p:cNvPr id="32" name="Text 30"/>
          <p:cNvSpPr/>
          <p:nvPr/>
        </p:nvSpPr>
        <p:spPr>
          <a:xfrm>
            <a:off x="10131552" y="4297680"/>
            <a:ext cx="1847088" cy="1051560"/>
          </a:xfrm>
          <a:prstGeom prst="rect">
            <a:avLst/>
          </a:prstGeom>
          <a:noFill/>
          <a:ln/>
        </p:spPr>
        <p:txBody>
          <a:bodyPr wrap="square" lIns="0" tIns="0" rIns="0" bIns="0" rtlCol="0" anchor="ctr"/>
          <a:lstStyle/>
          <a:p>
            <a:pPr algn="ctr" indent="0" marL="0">
              <a:lnSpc>
                <a:spcPct val="130000"/>
              </a:lnSpc>
              <a:buNone/>
            </a:pPr>
            <a:r>
              <a:rPr lang="en-US" sz="1100" dirty="0">
                <a:solidFill>
                  <a:srgbClr val="6B7B78"/>
                </a:solidFill>
                <a:latin typeface="Calibri" pitchFamily="34" charset="0"/>
                <a:ea typeface="Calibri" pitchFamily="34" charset="-122"/>
                <a:cs typeface="Calibri" pitchFamily="34" charset="-120"/>
              </a:rPr>
              <a:t>RBAC, IAM provisioned · cost billed to the ecosystem</a:t>
            </a:r>
            <a:endParaRPr lang="en-US" sz="1100" dirty="0"/>
          </a:p>
        </p:txBody>
      </p:sp>
      <p:sp>
        <p:nvSpPr>
          <p:cNvPr id="33" name="Text 31"/>
          <p:cNvSpPr/>
          <p:nvPr/>
        </p:nvSpPr>
        <p:spPr>
          <a:xfrm>
            <a:off x="640080" y="5715000"/>
            <a:ext cx="10972800" cy="548640"/>
          </a:xfrm>
          <a:prstGeom prst="rect">
            <a:avLst/>
          </a:prstGeom>
          <a:noFill/>
          <a:ln/>
        </p:spPr>
        <p:txBody>
          <a:bodyPr wrap="square" lIns="0" tIns="0" rIns="0" bIns="0" rtlCol="0" anchor="ctr"/>
          <a:lstStyle/>
          <a:p>
            <a:pPr indent="0" marL="0">
              <a:buNone/>
            </a:pPr>
            <a:r>
              <a:rPr lang="en-US" sz="1300" i="1" dirty="0">
                <a:solidFill>
                  <a:srgbClr val="6B7B78"/>
                </a:solidFill>
                <a:latin typeface="Georgia" pitchFamily="34" charset="0"/>
                <a:ea typeface="Georgia" pitchFamily="34" charset="-122"/>
                <a:cs typeface="Georgia" pitchFamily="34" charset="-120"/>
              </a:rPr>
              <a:t>The workflow is orchestrated end to end: selection via Marketplace portal → digital approval → automated provisioning → operational visibility.</a:t>
            </a:r>
            <a:endParaRPr lang="en-US" sz="1300" dirty="0"/>
          </a:p>
        </p:txBody>
      </p:sp>
      <p:sp>
        <p:nvSpPr>
          <p:cNvPr id="34" name="Text 32"/>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35" name="Text 33"/>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11 · Marketplace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02 · IT Marketplace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Rights and governance</a:t>
            </a:r>
            <a:endParaRPr lang="en-US" sz="3200" dirty="0"/>
          </a:p>
        </p:txBody>
      </p:sp>
      <p:sp>
        <p:nvSpPr>
          <p:cNvPr id="4" name="Shape 2"/>
          <p:cNvSpPr/>
          <p:nvPr/>
        </p:nvSpPr>
        <p:spPr>
          <a:xfrm>
            <a:off x="640080" y="1828800"/>
            <a:ext cx="5440680" cy="320040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5" name="Text 3"/>
          <p:cNvSpPr/>
          <p:nvPr/>
        </p:nvSpPr>
        <p:spPr>
          <a:xfrm>
            <a:off x="1005840" y="2103120"/>
            <a:ext cx="4709160" cy="502920"/>
          </a:xfrm>
          <a:prstGeom prst="rect">
            <a:avLst/>
          </a:prstGeom>
          <a:noFill/>
          <a:ln/>
        </p:spPr>
        <p:txBody>
          <a:bodyPr wrap="square" lIns="0" tIns="0" rIns="0" bIns="0" rtlCol="0" anchor="ctr"/>
          <a:lstStyle/>
          <a:p>
            <a:pPr indent="0" marL="0">
              <a:buNone/>
            </a:pPr>
            <a:r>
              <a:rPr lang="en-US" sz="2200" b="1" dirty="0">
                <a:solidFill>
                  <a:srgbClr val="1A2E28"/>
                </a:solidFill>
                <a:latin typeface="Georgia" pitchFamily="34" charset="0"/>
                <a:ea typeface="Georgia" pitchFamily="34" charset="-122"/>
                <a:cs typeface="Georgia" pitchFamily="34" charset="-120"/>
              </a:rPr>
              <a:t>Consumption rights</a:t>
            </a:r>
            <a:endParaRPr lang="en-US" sz="2200" dirty="0"/>
          </a:p>
        </p:txBody>
      </p:sp>
      <p:sp>
        <p:nvSpPr>
          <p:cNvPr id="6" name="Text 4"/>
          <p:cNvSpPr/>
          <p:nvPr/>
        </p:nvSpPr>
        <p:spPr>
          <a:xfrm>
            <a:off x="1005840" y="2651760"/>
            <a:ext cx="4709160" cy="365760"/>
          </a:xfrm>
          <a:prstGeom prst="rect">
            <a:avLst/>
          </a:prstGeom>
          <a:noFill/>
          <a:ln/>
        </p:spPr>
        <p:txBody>
          <a:bodyPr wrap="square" lIns="0" tIns="0" rIns="0" bIns="0" rtlCol="0" anchor="ctr"/>
          <a:lstStyle/>
          <a:p>
            <a:pPr indent="0" marL="0">
              <a:buNone/>
            </a:pPr>
            <a:r>
              <a:rPr lang="en-US" sz="1200" i="1" dirty="0">
                <a:solidFill>
                  <a:srgbClr val="00915A"/>
                </a:solidFill>
                <a:latin typeface="Calibri" pitchFamily="34" charset="0"/>
                <a:ea typeface="Calibri" pitchFamily="34" charset="-122"/>
                <a:cs typeface="Calibri" pitchFamily="34" charset="-120"/>
              </a:rPr>
              <a:t>Order · view the catalog · approve</a:t>
            </a:r>
            <a:endParaRPr lang="en-US" sz="1200" dirty="0"/>
          </a:p>
        </p:txBody>
      </p:sp>
      <p:sp>
        <p:nvSpPr>
          <p:cNvPr id="7" name="Text 5"/>
          <p:cNvSpPr/>
          <p:nvPr/>
        </p:nvSpPr>
        <p:spPr>
          <a:xfrm>
            <a:off x="1005840" y="3200400"/>
            <a:ext cx="470916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Tied to the ecosystem attachment</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Role in the employee group (simple member or approver)</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Quotas specific to the ecosystem</a:t>
            </a:r>
            <a:endParaRPr lang="en-US" sz="1300" dirty="0"/>
          </a:p>
        </p:txBody>
      </p:sp>
      <p:sp>
        <p:nvSpPr>
          <p:cNvPr id="8" name="Shape 6"/>
          <p:cNvSpPr/>
          <p:nvPr/>
        </p:nvSpPr>
        <p:spPr>
          <a:xfrm>
            <a:off x="6263640" y="1828800"/>
            <a:ext cx="5440680" cy="3200400"/>
          </a:xfrm>
          <a:prstGeom prst="rect">
            <a:avLst/>
          </a:prstGeom>
          <a:solidFill>
            <a:srgbClr val="FFFFFF"/>
          </a:solidFill>
          <a:ln w="9525">
            <a:solidFill>
              <a:srgbClr val="E2E8F0"/>
            </a:solidFill>
            <a:prstDash val="solid"/>
          </a:ln>
          <a:effectLst>
            <a:outerShdw sx="100000" sy="100000" kx="0" ky="0" algn="bl" rotWithShape="0" blurRad="127000" dist="25400" dir="5400000">
              <a:srgbClr val="000000">
                <a:alpha val="6000"/>
              </a:srgbClr>
            </a:outerShdw>
          </a:effectLst>
        </p:spPr>
      </p:sp>
      <p:sp>
        <p:nvSpPr>
          <p:cNvPr id="9" name="Text 7"/>
          <p:cNvSpPr/>
          <p:nvPr/>
        </p:nvSpPr>
        <p:spPr>
          <a:xfrm>
            <a:off x="6629400" y="2103120"/>
            <a:ext cx="4709160" cy="502920"/>
          </a:xfrm>
          <a:prstGeom prst="rect">
            <a:avLst/>
          </a:prstGeom>
          <a:noFill/>
          <a:ln/>
        </p:spPr>
        <p:txBody>
          <a:bodyPr wrap="square" lIns="0" tIns="0" rIns="0" bIns="0" rtlCol="0" anchor="ctr"/>
          <a:lstStyle/>
          <a:p>
            <a:pPr indent="0" marL="0">
              <a:buNone/>
            </a:pPr>
            <a:r>
              <a:rPr lang="en-US" sz="2200" b="1" dirty="0">
                <a:solidFill>
                  <a:srgbClr val="1A2E28"/>
                </a:solidFill>
                <a:latin typeface="Georgia" pitchFamily="34" charset="0"/>
                <a:ea typeface="Georgia" pitchFamily="34" charset="-122"/>
                <a:cs typeface="Georgia" pitchFamily="34" charset="-120"/>
              </a:rPr>
              <a:t>Publication rights</a:t>
            </a:r>
            <a:endParaRPr lang="en-US" sz="2200" dirty="0"/>
          </a:p>
        </p:txBody>
      </p:sp>
      <p:sp>
        <p:nvSpPr>
          <p:cNvPr id="10" name="Text 8"/>
          <p:cNvSpPr/>
          <p:nvPr/>
        </p:nvSpPr>
        <p:spPr>
          <a:xfrm>
            <a:off x="6629400" y="2651760"/>
            <a:ext cx="4709160" cy="365760"/>
          </a:xfrm>
          <a:prstGeom prst="rect">
            <a:avLst/>
          </a:prstGeom>
          <a:noFill/>
          <a:ln/>
        </p:spPr>
        <p:txBody>
          <a:bodyPr wrap="square" lIns="0" tIns="0" rIns="0" bIns="0" rtlCol="0" anchor="ctr"/>
          <a:lstStyle/>
          <a:p>
            <a:pPr indent="0" marL="0">
              <a:buNone/>
            </a:pPr>
            <a:r>
              <a:rPr lang="en-US" sz="1200" i="1" dirty="0">
                <a:solidFill>
                  <a:srgbClr val="00915A"/>
                </a:solidFill>
                <a:latin typeface="Calibri" pitchFamily="34" charset="0"/>
                <a:ea typeface="Calibri" pitchFamily="34" charset="-122"/>
                <a:cs typeface="Calibri" pitchFamily="34" charset="-120"/>
              </a:rPr>
              <a:t>Produce and maintain an offer</a:t>
            </a:r>
            <a:endParaRPr lang="en-US" sz="1200" dirty="0"/>
          </a:p>
        </p:txBody>
      </p:sp>
      <p:sp>
        <p:nvSpPr>
          <p:cNvPr id="11" name="Text 9"/>
          <p:cNvSpPr/>
          <p:nvPr/>
        </p:nvSpPr>
        <p:spPr>
          <a:xfrm>
            <a:off x="6629400" y="3200400"/>
            <a:ext cx="4709160" cy="1645920"/>
          </a:xfrm>
          <a:prstGeom prst="rect">
            <a:avLst/>
          </a:prstGeom>
          <a:noFill/>
          <a:ln/>
        </p:spPr>
        <p:txBody>
          <a:bodyPr wrap="square" rtlCol="0" anchor="ctr"/>
          <a:lstStyle/>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Restricted scope, reserved to validated product teams</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Obligation of quality, compliance, support</a:t>
            </a:r>
            <a:endParaRPr lang="en-US" sz="1300" dirty="0"/>
          </a:p>
          <a:p>
            <a:pPr marL="342900" indent="-342900">
              <a:spcAft>
                <a:spcPts val="600"/>
              </a:spcAft>
              <a:buSzPct val="100000"/>
              <a:buChar char="■"/>
            </a:pPr>
            <a:r>
              <a:rPr lang="en-US" sz="1300" dirty="0">
                <a:solidFill>
                  <a:srgbClr val="2C2C2C"/>
                </a:solidFill>
                <a:latin typeface="Calibri" pitchFamily="34" charset="0"/>
                <a:ea typeface="Calibri" pitchFamily="34" charset="-122"/>
                <a:cs typeface="Calibri" pitchFamily="34" charset="-120"/>
              </a:rPr>
              <a:t>Offer lifecycle managed by the producer</a:t>
            </a:r>
            <a:endParaRPr lang="en-US" sz="1300" dirty="0"/>
          </a:p>
        </p:txBody>
      </p:sp>
      <p:sp>
        <p:nvSpPr>
          <p:cNvPr id="12" name="Text 10"/>
          <p:cNvSpPr/>
          <p:nvPr/>
        </p:nvSpPr>
        <p:spPr>
          <a:xfrm>
            <a:off x="640080" y="5257800"/>
            <a:ext cx="3657600" cy="274320"/>
          </a:xfrm>
          <a:prstGeom prst="rect">
            <a:avLst/>
          </a:prstGeom>
          <a:noFill/>
          <a:ln/>
        </p:spPr>
        <p:txBody>
          <a:bodyPr wrap="square" lIns="0" tIns="0" rIns="0" bIns="0" rtlCol="0" anchor="ctr"/>
          <a:lstStyle/>
          <a:p>
            <a:pPr indent="0" marL="0">
              <a:buNone/>
            </a:pPr>
            <a:r>
              <a:rPr lang="en-US" sz="1000" b="1" spc="600" kern="0" dirty="0">
                <a:solidFill>
                  <a:srgbClr val="00915A"/>
                </a:solidFill>
                <a:latin typeface="Calibri" pitchFamily="34" charset="0"/>
                <a:ea typeface="Calibri" pitchFamily="34" charset="-122"/>
                <a:cs typeface="Calibri" pitchFamily="34" charset="-120"/>
              </a:rPr>
              <a:t>KEY ROLES</a:t>
            </a:r>
            <a:endParaRPr lang="en-US" sz="1000" dirty="0"/>
          </a:p>
        </p:txBody>
      </p:sp>
      <p:sp>
        <p:nvSpPr>
          <p:cNvPr id="13" name="Shape 11"/>
          <p:cNvSpPr/>
          <p:nvPr/>
        </p:nvSpPr>
        <p:spPr>
          <a:xfrm>
            <a:off x="640080" y="5623560"/>
            <a:ext cx="2697480" cy="502920"/>
          </a:xfrm>
          <a:prstGeom prst="rect">
            <a:avLst/>
          </a:prstGeom>
          <a:solidFill>
            <a:srgbClr val="E6F3EE"/>
          </a:solidFill>
          <a:ln w="12700">
            <a:solidFill>
              <a:srgbClr val="E6F3EE"/>
            </a:solidFill>
            <a:prstDash val="solid"/>
          </a:ln>
        </p:spPr>
      </p:sp>
      <p:sp>
        <p:nvSpPr>
          <p:cNvPr id="14" name="Text 12"/>
          <p:cNvSpPr/>
          <p:nvPr/>
        </p:nvSpPr>
        <p:spPr>
          <a:xfrm>
            <a:off x="64008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Consumer</a:t>
            </a:r>
            <a:endParaRPr lang="en-US" sz="1200" dirty="0"/>
          </a:p>
        </p:txBody>
      </p:sp>
      <p:sp>
        <p:nvSpPr>
          <p:cNvPr id="15" name="Shape 13"/>
          <p:cNvSpPr/>
          <p:nvPr/>
        </p:nvSpPr>
        <p:spPr>
          <a:xfrm>
            <a:off x="3429000" y="5623560"/>
            <a:ext cx="2697480" cy="502920"/>
          </a:xfrm>
          <a:prstGeom prst="rect">
            <a:avLst/>
          </a:prstGeom>
          <a:solidFill>
            <a:srgbClr val="E6F3EE"/>
          </a:solidFill>
          <a:ln w="12700">
            <a:solidFill>
              <a:srgbClr val="E6F3EE"/>
            </a:solidFill>
            <a:prstDash val="solid"/>
          </a:ln>
        </p:spPr>
      </p:sp>
      <p:sp>
        <p:nvSpPr>
          <p:cNvPr id="16" name="Text 14"/>
          <p:cNvSpPr/>
          <p:nvPr/>
        </p:nvSpPr>
        <p:spPr>
          <a:xfrm>
            <a:off x="342900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Approver</a:t>
            </a:r>
            <a:endParaRPr lang="en-US" sz="1200" dirty="0"/>
          </a:p>
        </p:txBody>
      </p:sp>
      <p:sp>
        <p:nvSpPr>
          <p:cNvPr id="17" name="Shape 15"/>
          <p:cNvSpPr/>
          <p:nvPr/>
        </p:nvSpPr>
        <p:spPr>
          <a:xfrm>
            <a:off x="6217920" y="5623560"/>
            <a:ext cx="2697480" cy="502920"/>
          </a:xfrm>
          <a:prstGeom prst="rect">
            <a:avLst/>
          </a:prstGeom>
          <a:solidFill>
            <a:srgbClr val="E6F3EE"/>
          </a:solidFill>
          <a:ln w="12700">
            <a:solidFill>
              <a:srgbClr val="E6F3EE"/>
            </a:solidFill>
            <a:prstDash val="solid"/>
          </a:ln>
        </p:spPr>
      </p:sp>
      <p:sp>
        <p:nvSpPr>
          <p:cNvPr id="18" name="Text 16"/>
          <p:cNvSpPr/>
          <p:nvPr/>
        </p:nvSpPr>
        <p:spPr>
          <a:xfrm>
            <a:off x="621792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Ecosystem owner</a:t>
            </a:r>
            <a:endParaRPr lang="en-US" sz="1200" dirty="0"/>
          </a:p>
        </p:txBody>
      </p:sp>
      <p:sp>
        <p:nvSpPr>
          <p:cNvPr id="19" name="Shape 17"/>
          <p:cNvSpPr/>
          <p:nvPr/>
        </p:nvSpPr>
        <p:spPr>
          <a:xfrm>
            <a:off x="9006840" y="5623560"/>
            <a:ext cx="2697480" cy="502920"/>
          </a:xfrm>
          <a:prstGeom prst="rect">
            <a:avLst/>
          </a:prstGeom>
          <a:solidFill>
            <a:srgbClr val="E6F3EE"/>
          </a:solidFill>
          <a:ln w="12700">
            <a:solidFill>
              <a:srgbClr val="E6F3EE"/>
            </a:solidFill>
            <a:prstDash val="solid"/>
          </a:ln>
        </p:spPr>
      </p:sp>
      <p:sp>
        <p:nvSpPr>
          <p:cNvPr id="20" name="Text 18"/>
          <p:cNvSpPr/>
          <p:nvPr/>
        </p:nvSpPr>
        <p:spPr>
          <a:xfrm>
            <a:off x="9006840" y="5623560"/>
            <a:ext cx="2697480" cy="502920"/>
          </a:xfrm>
          <a:prstGeom prst="rect">
            <a:avLst/>
          </a:prstGeom>
          <a:noFill/>
          <a:ln/>
        </p:spPr>
        <p:txBody>
          <a:bodyPr wrap="square" lIns="0" tIns="0" rIns="0" bIns="0" rtlCol="0" anchor="ctr"/>
          <a:lstStyle/>
          <a:p>
            <a:pPr algn="ctr" indent="0" marL="0">
              <a:buNone/>
            </a:pPr>
            <a:r>
              <a:rPr lang="en-US" sz="1200" b="1" dirty="0">
                <a:solidFill>
                  <a:srgbClr val="00653F"/>
                </a:solidFill>
                <a:latin typeface="Calibri" pitchFamily="34" charset="0"/>
                <a:ea typeface="Calibri" pitchFamily="34" charset="-122"/>
                <a:cs typeface="Calibri" pitchFamily="34" charset="-120"/>
              </a:rPr>
              <a:t>Producer</a:t>
            </a:r>
            <a:endParaRPr lang="en-US" sz="1200" dirty="0"/>
          </a:p>
        </p:txBody>
      </p:sp>
      <p:sp>
        <p:nvSpPr>
          <p:cNvPr id="21" name="Text 19"/>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2" name="Text 20"/>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12 · Marketplace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3A2B"/>
        </a:solidFill>
      </p:bgPr>
    </p:bg>
    <p:spTree>
      <p:nvGrpSpPr>
        <p:cNvPr id="1" name=""/>
        <p:cNvGrpSpPr/>
        <p:nvPr/>
      </p:nvGrpSpPr>
      <p:grpSpPr>
        <a:xfrm>
          <a:off x="0" y="0"/>
          <a:ext cx="0" cy="0"/>
          <a:chOff x="0" y="0"/>
          <a:chExt cx="0" cy="0"/>
        </a:xfrm>
      </p:grpSpPr>
      <p:sp>
        <p:nvSpPr>
          <p:cNvPr id="2" name="Text 0"/>
          <p:cNvSpPr/>
          <p:nvPr/>
        </p:nvSpPr>
        <p:spPr>
          <a:xfrm>
            <a:off x="9144000" y="731520"/>
            <a:ext cx="2743200" cy="5394960"/>
          </a:xfrm>
          <a:prstGeom prst="rect">
            <a:avLst/>
          </a:prstGeom>
          <a:noFill/>
          <a:ln/>
        </p:spPr>
        <p:txBody>
          <a:bodyPr wrap="square" lIns="0" tIns="0" rIns="0" bIns="0" rtlCol="0" anchor="ctr"/>
          <a:lstStyle/>
          <a:p>
            <a:pPr algn="ctr" indent="0" marL="0">
              <a:buNone/>
            </a:pPr>
            <a:r>
              <a:rPr lang="en-US" sz="30000" b="1" dirty="0">
                <a:solidFill>
                  <a:srgbClr val="0E5540"/>
                </a:solidFill>
                <a:latin typeface="Georgia" pitchFamily="34" charset="0"/>
                <a:ea typeface="Georgia" pitchFamily="34" charset="-122"/>
                <a:cs typeface="Georgia" pitchFamily="34" charset="-120"/>
              </a:rPr>
              <a:t>3</a:t>
            </a:r>
            <a:endParaRPr lang="en-US" sz="30000" dirty="0"/>
          </a:p>
        </p:txBody>
      </p:sp>
      <p:sp>
        <p:nvSpPr>
          <p:cNvPr id="3" name="Shape 1"/>
          <p:cNvSpPr/>
          <p:nvPr/>
        </p:nvSpPr>
        <p:spPr>
          <a:xfrm>
            <a:off x="640080" y="2286000"/>
            <a:ext cx="457200" cy="36576"/>
          </a:xfrm>
          <a:prstGeom prst="rect">
            <a:avLst/>
          </a:prstGeom>
          <a:solidFill>
            <a:srgbClr val="D4A840"/>
          </a:solidFill>
          <a:ln w="12700">
            <a:solidFill>
              <a:srgbClr val="D4A840"/>
            </a:solidFill>
            <a:prstDash val="solid"/>
          </a:ln>
        </p:spPr>
      </p:sp>
      <p:sp>
        <p:nvSpPr>
          <p:cNvPr id="4" name="Text 2"/>
          <p:cNvSpPr/>
          <p:nvPr/>
        </p:nvSpPr>
        <p:spPr>
          <a:xfrm>
            <a:off x="640080" y="2423160"/>
            <a:ext cx="5486400" cy="320040"/>
          </a:xfrm>
          <a:prstGeom prst="rect">
            <a:avLst/>
          </a:prstGeom>
          <a:noFill/>
          <a:ln/>
        </p:spPr>
        <p:txBody>
          <a:bodyPr wrap="square" lIns="0" tIns="0" rIns="0" bIns="0" rtlCol="0" anchor="ctr"/>
          <a:lstStyle/>
          <a:p>
            <a:pPr indent="0" marL="0">
              <a:buNone/>
            </a:pPr>
            <a:r>
              <a:rPr lang="en-US" sz="1200" b="1" spc="800" kern="0" dirty="0">
                <a:solidFill>
                  <a:srgbClr val="D4A840"/>
                </a:solidFill>
                <a:latin typeface="Calibri" pitchFamily="34" charset="0"/>
                <a:ea typeface="Calibri" pitchFamily="34" charset="-122"/>
                <a:cs typeface="Calibri" pitchFamily="34" charset="-120"/>
              </a:rPr>
              <a:t>SECTION 03</a:t>
            </a:r>
            <a:endParaRPr lang="en-US" sz="1200" dirty="0"/>
          </a:p>
        </p:txBody>
      </p:sp>
      <p:sp>
        <p:nvSpPr>
          <p:cNvPr id="5" name="Text 3"/>
          <p:cNvSpPr/>
          <p:nvPr/>
        </p:nvSpPr>
        <p:spPr>
          <a:xfrm>
            <a:off x="640080" y="2971800"/>
            <a:ext cx="8412480" cy="118872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TOE</a:t>
            </a:r>
            <a:endParaRPr lang="en-US" sz="5400" dirty="0"/>
          </a:p>
        </p:txBody>
      </p:sp>
      <p:sp>
        <p:nvSpPr>
          <p:cNvPr id="6" name="Text 4"/>
          <p:cNvSpPr/>
          <p:nvPr/>
        </p:nvSpPr>
        <p:spPr>
          <a:xfrm>
            <a:off x="640080" y="4343400"/>
            <a:ext cx="8412480" cy="1005840"/>
          </a:xfrm>
          <a:prstGeom prst="rect">
            <a:avLst/>
          </a:prstGeom>
          <a:noFill/>
          <a:ln/>
        </p:spPr>
        <p:txBody>
          <a:bodyPr wrap="square" lIns="0" tIns="0" rIns="0" bIns="0" rtlCol="0" anchor="ctr"/>
          <a:lstStyle/>
          <a:p>
            <a:pPr indent="0" marL="0">
              <a:lnSpc>
                <a:spcPct val="130000"/>
              </a:lnSpc>
              <a:buNone/>
            </a:pPr>
            <a:r>
              <a:rPr lang="en-US" sz="1900" i="1" dirty="0">
                <a:solidFill>
                  <a:srgbClr val="C9D6CF"/>
                </a:solidFill>
                <a:latin typeface="Georgia" pitchFamily="34" charset="0"/>
                <a:ea typeface="Georgia" pitchFamily="34" charset="-122"/>
                <a:cs typeface="Georgia" pitchFamily="34" charset="-120"/>
              </a:rPr>
              <a:t>Technology Office Expertise — mission and service offering</a:t>
            </a:r>
            <a:endParaRPr lang="en-US" sz="1900" dirty="0"/>
          </a:p>
        </p:txBody>
      </p:sp>
      <p:sp>
        <p:nvSpPr>
          <p:cNvPr id="7" name="Text 5"/>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Global mission</a:t>
            </a:r>
            <a:endParaRPr lang="en-US" sz="3200" dirty="0"/>
          </a:p>
        </p:txBody>
      </p:sp>
      <p:sp>
        <p:nvSpPr>
          <p:cNvPr id="4" name="Shape 2"/>
          <p:cNvSpPr/>
          <p:nvPr/>
        </p:nvSpPr>
        <p:spPr>
          <a:xfrm>
            <a:off x="64008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5" name="Shape 3"/>
          <p:cNvSpPr/>
          <p:nvPr/>
        </p:nvSpPr>
        <p:spPr>
          <a:xfrm>
            <a:off x="640080" y="1828800"/>
            <a:ext cx="3703320" cy="137160"/>
          </a:xfrm>
          <a:prstGeom prst="rect">
            <a:avLst/>
          </a:prstGeom>
          <a:solidFill>
            <a:srgbClr val="00915A"/>
          </a:solidFill>
          <a:ln w="12700">
            <a:solidFill>
              <a:srgbClr val="00915A"/>
            </a:solidFill>
            <a:prstDash val="solid"/>
          </a:ln>
        </p:spPr>
      </p:sp>
      <p:sp>
        <p:nvSpPr>
          <p:cNvPr id="6" name="Text 4"/>
          <p:cNvSpPr/>
          <p:nvPr/>
        </p:nvSpPr>
        <p:spPr>
          <a:xfrm>
            <a:off x="100584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01</a:t>
            </a:r>
            <a:endParaRPr lang="en-US" sz="5400" dirty="0"/>
          </a:p>
        </p:txBody>
      </p:sp>
      <p:sp>
        <p:nvSpPr>
          <p:cNvPr id="7" name="Text 5"/>
          <p:cNvSpPr/>
          <p:nvPr/>
        </p:nvSpPr>
        <p:spPr>
          <a:xfrm>
            <a:off x="100584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Drive the transformation</a:t>
            </a:r>
            <a:endParaRPr lang="en-US" sz="2200" dirty="0"/>
          </a:p>
        </p:txBody>
      </p:sp>
      <p:sp>
        <p:nvSpPr>
          <p:cNvPr id="8" name="Text 6"/>
          <p:cNvSpPr/>
          <p:nvPr/>
        </p:nvSpPr>
        <p:spPr>
          <a:xfrm>
            <a:off x="100584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PAAS V4 / FS Cloud transformation and Kubernetes industrialization for the CARD — Production Cardif entity.</a:t>
            </a:r>
            <a:endParaRPr lang="en-US" sz="1300" dirty="0"/>
          </a:p>
        </p:txBody>
      </p:sp>
      <p:sp>
        <p:nvSpPr>
          <p:cNvPr id="9" name="Shape 7"/>
          <p:cNvSpPr/>
          <p:nvPr/>
        </p:nvSpPr>
        <p:spPr>
          <a:xfrm>
            <a:off x="457200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10" name="Shape 8"/>
          <p:cNvSpPr/>
          <p:nvPr/>
        </p:nvSpPr>
        <p:spPr>
          <a:xfrm>
            <a:off x="4572000" y="1828800"/>
            <a:ext cx="3703320" cy="137160"/>
          </a:xfrm>
          <a:prstGeom prst="rect">
            <a:avLst/>
          </a:prstGeom>
          <a:solidFill>
            <a:srgbClr val="00915A"/>
          </a:solidFill>
          <a:ln w="12700">
            <a:solidFill>
              <a:srgbClr val="00915A"/>
            </a:solidFill>
            <a:prstDash val="solid"/>
          </a:ln>
        </p:spPr>
      </p:sp>
      <p:sp>
        <p:nvSpPr>
          <p:cNvPr id="11" name="Text 9"/>
          <p:cNvSpPr/>
          <p:nvPr/>
        </p:nvSpPr>
        <p:spPr>
          <a:xfrm>
            <a:off x="493776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02</a:t>
            </a:r>
            <a:endParaRPr lang="en-US" sz="5400" dirty="0"/>
          </a:p>
        </p:txBody>
      </p:sp>
      <p:sp>
        <p:nvSpPr>
          <p:cNvPr id="12" name="Text 10"/>
          <p:cNvSpPr/>
          <p:nvPr/>
        </p:nvSpPr>
        <p:spPr>
          <a:xfrm>
            <a:off x="493776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Provide a common foundation</a:t>
            </a:r>
            <a:endParaRPr lang="en-US" sz="2200" dirty="0"/>
          </a:p>
        </p:txBody>
      </p:sp>
      <p:sp>
        <p:nvSpPr>
          <p:cNvPr id="13" name="Text 11"/>
          <p:cNvSpPr/>
          <p:nvPr/>
        </p:nvSpPr>
        <p:spPr>
          <a:xfrm>
            <a:off x="493776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Standards, toolchains, automation: quality, reliability and maintainability of transverse applications.</a:t>
            </a:r>
            <a:endParaRPr lang="en-US" sz="1300" dirty="0"/>
          </a:p>
        </p:txBody>
      </p:sp>
      <p:sp>
        <p:nvSpPr>
          <p:cNvPr id="14" name="Shape 12"/>
          <p:cNvSpPr/>
          <p:nvPr/>
        </p:nvSpPr>
        <p:spPr>
          <a:xfrm>
            <a:off x="8503920" y="1828800"/>
            <a:ext cx="3703320" cy="3931920"/>
          </a:xfrm>
          <a:prstGeom prst="rect">
            <a:avLst/>
          </a:prstGeom>
          <a:solidFill>
            <a:srgbClr val="FFFFFF"/>
          </a:solidFill>
          <a:ln w="9525">
            <a:solidFill>
              <a:srgbClr val="E2E8F0"/>
            </a:solidFill>
            <a:prstDash val="solid"/>
          </a:ln>
          <a:effectLst>
            <a:outerShdw sx="100000" sy="100000" kx="0" ky="0" algn="bl" rotWithShape="0" blurRad="152400" dist="38100" dir="5400000">
              <a:srgbClr val="000000">
                <a:alpha val="8000"/>
              </a:srgbClr>
            </a:outerShdw>
          </a:effectLst>
        </p:spPr>
      </p:sp>
      <p:sp>
        <p:nvSpPr>
          <p:cNvPr id="15" name="Shape 13"/>
          <p:cNvSpPr/>
          <p:nvPr/>
        </p:nvSpPr>
        <p:spPr>
          <a:xfrm>
            <a:off x="8503920" y="1828800"/>
            <a:ext cx="3703320" cy="137160"/>
          </a:xfrm>
          <a:prstGeom prst="rect">
            <a:avLst/>
          </a:prstGeom>
          <a:solidFill>
            <a:srgbClr val="00915A"/>
          </a:solidFill>
          <a:ln w="12700">
            <a:solidFill>
              <a:srgbClr val="00915A"/>
            </a:solidFill>
            <a:prstDash val="solid"/>
          </a:ln>
        </p:spPr>
      </p:sp>
      <p:sp>
        <p:nvSpPr>
          <p:cNvPr id="16" name="Text 14"/>
          <p:cNvSpPr/>
          <p:nvPr/>
        </p:nvSpPr>
        <p:spPr>
          <a:xfrm>
            <a:off x="8869680" y="2286000"/>
            <a:ext cx="1371600" cy="914400"/>
          </a:xfrm>
          <a:prstGeom prst="rect">
            <a:avLst/>
          </a:prstGeom>
          <a:noFill/>
          <a:ln/>
        </p:spPr>
        <p:txBody>
          <a:bodyPr wrap="square" lIns="0" tIns="0" rIns="0" bIns="0" rtlCol="0" anchor="ctr"/>
          <a:lstStyle/>
          <a:p>
            <a:pPr indent="0" marL="0">
              <a:buNone/>
            </a:pPr>
            <a:r>
              <a:rPr lang="en-US" sz="5400" b="1" dirty="0">
                <a:solidFill>
                  <a:srgbClr val="D4A840"/>
                </a:solidFill>
                <a:latin typeface="Georgia" pitchFamily="34" charset="0"/>
                <a:ea typeface="Georgia" pitchFamily="34" charset="-122"/>
                <a:cs typeface="Georgia" pitchFamily="34" charset="-120"/>
              </a:rPr>
              <a:t>03</a:t>
            </a:r>
            <a:endParaRPr lang="en-US" sz="5400" dirty="0"/>
          </a:p>
        </p:txBody>
      </p:sp>
      <p:sp>
        <p:nvSpPr>
          <p:cNvPr id="17" name="Text 15"/>
          <p:cNvSpPr/>
          <p:nvPr/>
        </p:nvSpPr>
        <p:spPr>
          <a:xfrm>
            <a:off x="8869680" y="3291840"/>
            <a:ext cx="2971800" cy="914400"/>
          </a:xfrm>
          <a:prstGeom prst="rect">
            <a:avLst/>
          </a:prstGeom>
          <a:noFill/>
          <a:ln/>
        </p:spPr>
        <p:txBody>
          <a:bodyPr wrap="square" lIns="0" tIns="0" rIns="0" bIns="0" rtlCol="0" anchor="ctr"/>
          <a:lstStyle/>
          <a:p>
            <a:pPr indent="0" marL="0">
              <a:lnSpc>
                <a:spcPct val="115000"/>
              </a:lnSpc>
              <a:buNone/>
            </a:pPr>
            <a:r>
              <a:rPr lang="en-US" sz="2200" b="1" dirty="0">
                <a:solidFill>
                  <a:srgbClr val="1A2E28"/>
                </a:solidFill>
                <a:latin typeface="Georgia" pitchFamily="34" charset="0"/>
                <a:ea typeface="Georgia" pitchFamily="34" charset="-122"/>
                <a:cs typeface="Georgia" pitchFamily="34" charset="-120"/>
              </a:rPr>
              <a:t>Empower the teams</a:t>
            </a:r>
            <a:endParaRPr lang="en-US" sz="2200" dirty="0"/>
          </a:p>
        </p:txBody>
      </p:sp>
      <p:sp>
        <p:nvSpPr>
          <p:cNvPr id="18" name="Text 16"/>
          <p:cNvSpPr/>
          <p:nvPr/>
        </p:nvSpPr>
        <p:spPr>
          <a:xfrm>
            <a:off x="8869680" y="4297680"/>
            <a:ext cx="2971800" cy="1371600"/>
          </a:xfrm>
          <a:prstGeom prst="rect">
            <a:avLst/>
          </a:prstGeom>
          <a:noFill/>
          <a:ln/>
        </p:spPr>
        <p:txBody>
          <a:bodyPr wrap="square" lIns="0" tIns="0" rIns="0" bIns="0" rtlCol="0" anchor="ctr"/>
          <a:lstStyle/>
          <a:p>
            <a:pPr indent="0" marL="0">
              <a:lnSpc>
                <a:spcPct val="140000"/>
              </a:lnSpc>
              <a:buNone/>
            </a:pPr>
            <a:r>
              <a:rPr lang="en-US" sz="1300" dirty="0">
                <a:solidFill>
                  <a:srgbClr val="2C2C2C"/>
                </a:solidFill>
                <a:latin typeface="Calibri" pitchFamily="34" charset="0"/>
                <a:ea typeface="Calibri" pitchFamily="34" charset="-122"/>
                <a:cs typeface="Calibri" pitchFamily="34" charset="-120"/>
              </a:rPr>
              <a:t>Tech-buddies, training, kits: ensure team autonomy despite turnover and multiple projects.</a:t>
            </a:r>
            <a:endParaRPr lang="en-US" sz="1300" dirty="0"/>
          </a:p>
        </p:txBody>
      </p:sp>
      <p:sp>
        <p:nvSpPr>
          <p:cNvPr id="19" name="Text 17"/>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0" name="Text 18"/>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14 · TOE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Focus areas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72800" cy="914400"/>
        </p:xfrm>
        <a:graphic>
          <a:graphicData uri="http://schemas.openxmlformats.org/drawingml/2006/table">
            <a:tbl>
              <a:tblPr/>
              <a:tblGrid>
                <a:gridCol w="3474720"/>
                <a:gridCol w="7498080"/>
              </a:tblGrid>
              <a:tr h="502920">
                <a:tc>
                  <a:txBody>
                    <a:bodyPr/>
                    <a:lstStyle/>
                    <a:p>
                      <a:pPr algn="l" indent="0" marL="0">
                        <a:buNone/>
                      </a:pPr>
                      <a:r>
                        <a:rPr lang="en-US" sz="1200" b="1" spc="400" kern="0" dirty="0">
                          <a:solidFill>
                            <a:srgbClr val="FFFFFF"/>
                          </a:solidFill>
                          <a:latin typeface="Calibri" pitchFamily="34" charset="0"/>
                          <a:ea typeface="Calibri" pitchFamily="34" charset="-122"/>
                          <a:cs typeface="Calibri" pitchFamily="34" charset="-120"/>
                        </a:rPr>
                        <a:t>AREA</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915A"/>
                    </a:solidFill>
                  </a:tcPr>
                </a:tc>
                <a:tc>
                  <a:txBody>
                    <a:bodyPr/>
                    <a:lstStyle/>
                    <a:p>
                      <a:pPr algn="l" indent="0" marL="0">
                        <a:buNone/>
                      </a:pPr>
                      <a:r>
                        <a:rPr lang="en-US" sz="1200" b="1" spc="400" kern="0" dirty="0">
                          <a:solidFill>
                            <a:srgbClr val="FFFFFF"/>
                          </a:solidFill>
                          <a:latin typeface="Calibri" pitchFamily="34" charset="0"/>
                          <a:ea typeface="Calibri" pitchFamily="34" charset="-122"/>
                          <a:cs typeface="Calibri" pitchFamily="34" charset="-120"/>
                        </a:rPr>
                        <a:t>MAIN ACTIVITIES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0915A"/>
                    </a:solidFill>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Support &amp; Operations</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N2 / N3 incident management · SLA tracking · dashboards (Bastion Server) · alert automation.</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Development &amp; Tooling</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Internal tools (Adret, Iclés) · Ansible scripts · CI/CD pipelines · management of TOE assets (VMs, clusters).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CD &amp; Toolchain</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Delivery chains standardization · rollout support · compliance with ODM standards.</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Enablement &amp; Knowledge</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Workshops · onboarding · video tutorials · knowledge base · tech-buddy assignment.</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685800">
                <a:tc>
                  <a:txBody>
                    <a:bodyPr/>
                    <a:lstStyle/>
                    <a:p>
                      <a:pPr indent="0" marL="0">
                        <a:buNone/>
                      </a:pPr>
                      <a:r>
                        <a:rPr lang="en-US" sz="1400" b="1" dirty="0">
                          <a:solidFill>
                            <a:srgbClr val="1A2E28"/>
                          </a:solidFill>
                          <a:latin typeface="Georgia" pitchFamily="34" charset="0"/>
                          <a:ea typeface="Georgia" pitchFamily="34" charset="-122"/>
                          <a:cs typeface="Georgia" pitchFamily="34" charset="-120"/>
                        </a:rPr>
                        <a:t>Continuous improvement / Audits</a:t>
                      </a:r>
                      <a:endParaRPr lang="en-US" sz="1400" dirty="0">
                        <a:latin typeface="Georgia" charset="0"/>
                        <a:ea typeface="Georgia" charset="0"/>
                        <a:cs typeface="Georgia"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200" dirty="0">
                          <a:solidFill>
                            <a:srgbClr val="2C2C2C"/>
                          </a:solidFill>
                          <a:latin typeface="Calibri" pitchFamily="34" charset="0"/>
                          <a:ea typeface="Calibri" pitchFamily="34" charset="-122"/>
                          <a:cs typeface="Calibri" pitchFamily="34" charset="-120"/>
                        </a:rPr>
                        <a:t>Scripts and chains audits · vulnerability fixes · performance optimization · practices review.</a:t>
                      </a:r>
                      <a:endParaRPr lang="en-US" sz="12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6" name="Text 3"/>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15 · TOE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03 · TOE</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Interactions TOE · Marketplace · dMZR</a:t>
            </a:r>
            <a:endParaRPr lang="en-US" sz="3200" dirty="0"/>
          </a:p>
        </p:txBody>
      </p:sp>
      <p:sp>
        <p:nvSpPr>
          <p:cNvPr id="4" name="Shape 2"/>
          <p:cNvSpPr/>
          <p:nvPr/>
        </p:nvSpPr>
        <p:spPr>
          <a:xfrm>
            <a:off x="5180076" y="1645920"/>
            <a:ext cx="1828800" cy="1828800"/>
          </a:xfrm>
          <a:prstGeom prst="ellipse">
            <a:avLst/>
          </a:prstGeom>
          <a:solidFill>
            <a:srgbClr val="00915A"/>
          </a:solidFill>
          <a:ln w="12700">
            <a:solidFill>
              <a:srgbClr val="00915A"/>
            </a:solidFill>
            <a:prstDash val="solid"/>
          </a:ln>
        </p:spPr>
      </p:sp>
      <p:sp>
        <p:nvSpPr>
          <p:cNvPr id="5" name="Text 3"/>
          <p:cNvSpPr/>
          <p:nvPr/>
        </p:nvSpPr>
        <p:spPr>
          <a:xfrm>
            <a:off x="5180076" y="224028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TOE</a:t>
            </a:r>
            <a:endParaRPr lang="en-US" sz="2000" dirty="0"/>
          </a:p>
        </p:txBody>
      </p:sp>
      <p:sp>
        <p:nvSpPr>
          <p:cNvPr id="6" name="Text 4"/>
          <p:cNvSpPr/>
          <p:nvPr/>
        </p:nvSpPr>
        <p:spPr>
          <a:xfrm>
            <a:off x="5180076" y="265176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Expertise &amp; foundation</a:t>
            </a:r>
            <a:endParaRPr lang="en-US" sz="1000" dirty="0"/>
          </a:p>
        </p:txBody>
      </p:sp>
      <p:sp>
        <p:nvSpPr>
          <p:cNvPr id="7" name="Shape 5"/>
          <p:cNvSpPr/>
          <p:nvPr/>
        </p:nvSpPr>
        <p:spPr>
          <a:xfrm>
            <a:off x="2103120" y="4023360"/>
            <a:ext cx="1828800" cy="1828800"/>
          </a:xfrm>
          <a:prstGeom prst="ellipse">
            <a:avLst/>
          </a:prstGeom>
          <a:solidFill>
            <a:srgbClr val="00653F"/>
          </a:solidFill>
          <a:ln w="12700">
            <a:solidFill>
              <a:srgbClr val="00653F"/>
            </a:solidFill>
            <a:prstDash val="solid"/>
          </a:ln>
        </p:spPr>
      </p:sp>
      <p:sp>
        <p:nvSpPr>
          <p:cNvPr id="8" name="Text 6"/>
          <p:cNvSpPr/>
          <p:nvPr/>
        </p:nvSpPr>
        <p:spPr>
          <a:xfrm>
            <a:off x="2103120" y="461772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Marketplace</a:t>
            </a:r>
            <a:endParaRPr lang="en-US" sz="2000" dirty="0"/>
          </a:p>
        </p:txBody>
      </p:sp>
      <p:sp>
        <p:nvSpPr>
          <p:cNvPr id="9" name="Text 7"/>
          <p:cNvSpPr/>
          <p:nvPr/>
        </p:nvSpPr>
        <p:spPr>
          <a:xfrm>
            <a:off x="2103120" y="502920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Offers &amp; rights</a:t>
            </a:r>
            <a:endParaRPr lang="en-US" sz="1000" dirty="0"/>
          </a:p>
        </p:txBody>
      </p:sp>
      <p:sp>
        <p:nvSpPr>
          <p:cNvPr id="10" name="Shape 8"/>
          <p:cNvSpPr/>
          <p:nvPr/>
        </p:nvSpPr>
        <p:spPr>
          <a:xfrm>
            <a:off x="8257032" y="4023360"/>
            <a:ext cx="1828800" cy="1828800"/>
          </a:xfrm>
          <a:prstGeom prst="ellipse">
            <a:avLst/>
          </a:prstGeom>
          <a:solidFill>
            <a:srgbClr val="003A2B"/>
          </a:solidFill>
          <a:ln w="12700">
            <a:solidFill>
              <a:srgbClr val="003A2B"/>
            </a:solidFill>
            <a:prstDash val="solid"/>
          </a:ln>
        </p:spPr>
      </p:sp>
      <p:sp>
        <p:nvSpPr>
          <p:cNvPr id="11" name="Text 9"/>
          <p:cNvSpPr/>
          <p:nvPr/>
        </p:nvSpPr>
        <p:spPr>
          <a:xfrm>
            <a:off x="8257032" y="4617720"/>
            <a:ext cx="182880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dMZR</a:t>
            </a:r>
            <a:endParaRPr lang="en-US" sz="2000" dirty="0"/>
          </a:p>
        </p:txBody>
      </p:sp>
      <p:sp>
        <p:nvSpPr>
          <p:cNvPr id="12" name="Text 10"/>
          <p:cNvSpPr/>
          <p:nvPr/>
        </p:nvSpPr>
        <p:spPr>
          <a:xfrm>
            <a:off x="8257032" y="5029200"/>
            <a:ext cx="1828800" cy="320040"/>
          </a:xfrm>
          <a:prstGeom prst="rect">
            <a:avLst/>
          </a:prstGeom>
          <a:noFill/>
          <a:ln/>
        </p:spPr>
        <p:txBody>
          <a:bodyPr wrap="square" lIns="0" tIns="0" rIns="0" bIns="0" rtlCol="0" anchor="ctr"/>
          <a:lstStyle/>
          <a:p>
            <a:pPr algn="ctr" indent="0" marL="0">
              <a:buNone/>
            </a:pPr>
            <a:r>
              <a:rPr lang="en-US" sz="1000" i="1" dirty="0">
                <a:solidFill>
                  <a:srgbClr val="D9E8E1"/>
                </a:solidFill>
                <a:latin typeface="Calibri" pitchFamily="34" charset="0"/>
                <a:ea typeface="Calibri" pitchFamily="34" charset="-122"/>
                <a:cs typeface="Calibri" pitchFamily="34" charset="-120"/>
              </a:rPr>
              <a:t>Platform</a:t>
            </a:r>
            <a:endParaRPr lang="en-US" sz="1000" dirty="0"/>
          </a:p>
        </p:txBody>
      </p:sp>
      <p:sp>
        <p:nvSpPr>
          <p:cNvPr id="13" name="Shape 11"/>
          <p:cNvSpPr/>
          <p:nvPr/>
        </p:nvSpPr>
        <p:spPr>
          <a:xfrm>
            <a:off x="5317236" y="3063240"/>
            <a:ext cx="-1522476" cy="1371600"/>
          </a:xfrm>
          <a:prstGeom prst="line">
            <a:avLst/>
          </a:prstGeom>
          <a:noFill/>
          <a:ln w="25400">
            <a:solidFill>
              <a:srgbClr val="D4A840"/>
            </a:solidFill>
            <a:prstDash val="solid"/>
          </a:ln>
        </p:spPr>
      </p:sp>
      <p:sp>
        <p:nvSpPr>
          <p:cNvPr id="14" name="Shape 12"/>
          <p:cNvSpPr/>
          <p:nvPr/>
        </p:nvSpPr>
        <p:spPr>
          <a:xfrm>
            <a:off x="6871716" y="3063240"/>
            <a:ext cx="1522476" cy="1371600"/>
          </a:xfrm>
          <a:prstGeom prst="line">
            <a:avLst/>
          </a:prstGeom>
          <a:noFill/>
          <a:ln w="25400">
            <a:solidFill>
              <a:srgbClr val="D4A840"/>
            </a:solidFill>
            <a:prstDash val="solid"/>
          </a:ln>
        </p:spPr>
      </p:sp>
      <p:sp>
        <p:nvSpPr>
          <p:cNvPr id="15" name="Shape 13"/>
          <p:cNvSpPr/>
          <p:nvPr/>
        </p:nvSpPr>
        <p:spPr>
          <a:xfrm>
            <a:off x="3931920" y="4937760"/>
            <a:ext cx="4325112" cy="0"/>
          </a:xfrm>
          <a:prstGeom prst="line">
            <a:avLst/>
          </a:prstGeom>
          <a:noFill/>
          <a:ln w="25400">
            <a:solidFill>
              <a:srgbClr val="D4A840"/>
            </a:solidFill>
            <a:prstDash val="solid"/>
          </a:ln>
        </p:spPr>
      </p:sp>
      <p:sp>
        <p:nvSpPr>
          <p:cNvPr id="16" name="Text 14"/>
          <p:cNvSpPr/>
          <p:nvPr/>
        </p:nvSpPr>
        <p:spPr>
          <a:xfrm>
            <a:off x="3474720" y="3429000"/>
            <a:ext cx="228600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publishes offers</a:t>
            </a:r>
            <a:endParaRPr lang="en-US" sz="1100" dirty="0"/>
          </a:p>
        </p:txBody>
      </p:sp>
      <p:sp>
        <p:nvSpPr>
          <p:cNvPr id="17" name="Text 15"/>
          <p:cNvSpPr/>
          <p:nvPr/>
        </p:nvSpPr>
        <p:spPr>
          <a:xfrm>
            <a:off x="6400800" y="3429000"/>
            <a:ext cx="228600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operates on</a:t>
            </a:r>
            <a:endParaRPr lang="en-US" sz="1100" dirty="0"/>
          </a:p>
        </p:txBody>
      </p:sp>
      <p:sp>
        <p:nvSpPr>
          <p:cNvPr id="18" name="Text 16"/>
          <p:cNvSpPr/>
          <p:nvPr/>
        </p:nvSpPr>
        <p:spPr>
          <a:xfrm>
            <a:off x="4846320" y="4773168"/>
            <a:ext cx="2468880" cy="27432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deploys via</a:t>
            </a:r>
            <a:endParaRPr lang="en-US" sz="1100" dirty="0"/>
          </a:p>
        </p:txBody>
      </p:sp>
      <p:sp>
        <p:nvSpPr>
          <p:cNvPr id="19" name="Shape 17"/>
          <p:cNvSpPr/>
          <p:nvPr/>
        </p:nvSpPr>
        <p:spPr>
          <a:xfrm>
            <a:off x="5074920" y="4800600"/>
            <a:ext cx="2011680" cy="228600"/>
          </a:xfrm>
          <a:prstGeom prst="rect">
            <a:avLst/>
          </a:prstGeom>
          <a:solidFill>
            <a:srgbClr val="FFFFFF"/>
          </a:solidFill>
          <a:ln w="12700">
            <a:solidFill>
              <a:srgbClr val="FFFFFF"/>
            </a:solidFill>
            <a:prstDash val="solid"/>
          </a:ln>
        </p:spPr>
      </p:sp>
      <p:sp>
        <p:nvSpPr>
          <p:cNvPr id="20" name="Text 18"/>
          <p:cNvSpPr/>
          <p:nvPr/>
        </p:nvSpPr>
        <p:spPr>
          <a:xfrm>
            <a:off x="5074920" y="4773168"/>
            <a:ext cx="2011680" cy="274320"/>
          </a:xfrm>
          <a:prstGeom prst="rect">
            <a:avLst/>
          </a:prstGeom>
          <a:noFill/>
          <a:ln/>
        </p:spPr>
        <p:txBody>
          <a:bodyPr wrap="square" lIns="0" tIns="0" rIns="0" bIns="0" rtlCol="0" anchor="ctr"/>
          <a:lstStyle/>
          <a:p>
            <a:pPr algn="ctr" indent="0" marL="0">
              <a:buNone/>
            </a:pPr>
            <a:r>
              <a:rPr lang="en-US" sz="1100" i="1" dirty="0">
                <a:solidFill>
                  <a:srgbClr val="6B7B78"/>
                </a:solidFill>
                <a:latin typeface="Calibri" pitchFamily="34" charset="0"/>
                <a:ea typeface="Calibri" pitchFamily="34" charset="-122"/>
                <a:cs typeface="Calibri" pitchFamily="34" charset="-120"/>
              </a:rPr>
              <a:t>deploys via</a:t>
            </a:r>
            <a:endParaRPr lang="en-US" sz="1100" dirty="0"/>
          </a:p>
        </p:txBody>
      </p:sp>
      <p:sp>
        <p:nvSpPr>
          <p:cNvPr id="21" name="Text 19"/>
          <p:cNvSpPr/>
          <p:nvPr/>
        </p:nvSpPr>
        <p:spPr>
          <a:xfrm>
            <a:off x="640080" y="5989320"/>
            <a:ext cx="10972800" cy="457200"/>
          </a:xfrm>
          <a:prstGeom prst="rect">
            <a:avLst/>
          </a:prstGeom>
          <a:noFill/>
          <a:ln/>
        </p:spPr>
        <p:txBody>
          <a:bodyPr wrap="square" lIns="0" tIns="0" rIns="0" bIns="0" rtlCol="0" anchor="ctr"/>
          <a:lstStyle/>
          <a:p>
            <a:pPr algn="ctr" indent="0" marL="0">
              <a:lnSpc>
                <a:spcPct val="130000"/>
              </a:lnSpc>
              <a:buNone/>
            </a:pPr>
            <a:r>
              <a:rPr lang="en-US" sz="1100" i="1" dirty="0">
                <a:solidFill>
                  <a:srgbClr val="6B7B78"/>
                </a:solidFill>
                <a:latin typeface="Georgia" pitchFamily="34" charset="0"/>
                <a:ea typeface="Georgia" pitchFamily="34" charset="-122"/>
                <a:cs typeface="Georgia" pitchFamily="34" charset="-120"/>
              </a:rPr>
              <a:t>The TOE consumes the Marketplace for its own needs and to tool transverse applications. It produces building blocks (toolchains, templates, kits) that it publishes. It operates daily on the dMZR, the natural contact point between application teams and the platform.</a:t>
            </a:r>
            <a:endParaRPr lang="en-US" sz="1100" dirty="0"/>
          </a:p>
        </p:txBody>
      </p:sp>
      <p:sp>
        <p:nvSpPr>
          <p:cNvPr id="22" name="Text 20"/>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3" name="Text 21"/>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16 · TOE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9144000" cy="274320"/>
          </a:xfrm>
          <a:prstGeom prst="rect">
            <a:avLst/>
          </a:prstGeom>
          <a:noFill/>
          <a:ln/>
        </p:spPr>
        <p:txBody>
          <a:bodyPr wrap="square" lIns="0" tIns="0" rIns="0" bIns="0" rtlCol="0" anchor="ctr"/>
          <a:lstStyle/>
          <a:p>
            <a:pPr indent="0" marL="0">
              <a:buNone/>
            </a:pPr>
            <a:r>
              <a:rPr lang="en-US" sz="1100" b="1" spc="600" kern="0" dirty="0">
                <a:solidFill>
                  <a:srgbClr val="00915A"/>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640080" y="822960"/>
            <a:ext cx="10972800" cy="822960"/>
          </a:xfrm>
          <a:prstGeom prst="rect">
            <a:avLst/>
          </a:prstGeom>
          <a:noFill/>
          <a:ln/>
        </p:spPr>
        <p:txBody>
          <a:bodyPr wrap="square" lIns="0" tIns="0" rIns="0" bIns="0" rtlCol="0" anchor="ctr"/>
          <a:lstStyle/>
          <a:p>
            <a:pPr indent="0" marL="0">
              <a:buNone/>
            </a:pPr>
            <a:r>
              <a:rPr lang="en-US" sz="3200" b="1" dirty="0">
                <a:solidFill>
                  <a:srgbClr val="1A2E28"/>
                </a:solidFill>
                <a:latin typeface="Georgia" pitchFamily="34" charset="0"/>
                <a:ea typeface="Georgia" pitchFamily="34" charset="-122"/>
                <a:cs typeface="Georgia" pitchFamily="34" charset="-120"/>
              </a:rPr>
              <a:t>Session outline · 2 hours</a:t>
            </a:r>
            <a:endParaRPr lang="en-US" sz="3200" dirty="0"/>
          </a:p>
        </p:txBody>
      </p:sp>
      <p:sp>
        <p:nvSpPr>
          <p:cNvPr id="4" name="Shape 2"/>
          <p:cNvSpPr/>
          <p:nvPr/>
        </p:nvSpPr>
        <p:spPr>
          <a:xfrm>
            <a:off x="640080" y="1984248"/>
            <a:ext cx="1737360" cy="457200"/>
          </a:xfrm>
          <a:prstGeom prst="rect">
            <a:avLst/>
          </a:prstGeom>
          <a:solidFill>
            <a:srgbClr val="00915A"/>
          </a:solidFill>
          <a:ln w="12700">
            <a:solidFill>
              <a:srgbClr val="00915A"/>
            </a:solidFill>
            <a:prstDash val="solid"/>
          </a:ln>
        </p:spPr>
      </p:sp>
      <p:sp>
        <p:nvSpPr>
          <p:cNvPr id="5" name="Text 3"/>
          <p:cNvSpPr/>
          <p:nvPr/>
        </p:nvSpPr>
        <p:spPr>
          <a:xfrm>
            <a:off x="640080" y="1984248"/>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0:00 – 0:20</a:t>
            </a:r>
            <a:endParaRPr lang="en-US" sz="1300" dirty="0"/>
          </a:p>
        </p:txBody>
      </p:sp>
      <p:sp>
        <p:nvSpPr>
          <p:cNvPr id="6" name="Text 4"/>
          <p:cNvSpPr/>
          <p:nvPr/>
        </p:nvSpPr>
        <p:spPr>
          <a:xfrm>
            <a:off x="2560320" y="1920240"/>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dMZR overview</a:t>
            </a:r>
            <a:endParaRPr lang="en-US" sz="1800" dirty="0"/>
          </a:p>
        </p:txBody>
      </p:sp>
      <p:sp>
        <p:nvSpPr>
          <p:cNvPr id="7" name="Text 5"/>
          <p:cNvSpPr/>
          <p:nvPr/>
        </p:nvSpPr>
        <p:spPr>
          <a:xfrm>
            <a:off x="2560320" y="2258568"/>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Architecture, zones, managed services, link with FS Cloud.</a:t>
            </a:r>
            <a:endParaRPr lang="en-US" sz="1200" dirty="0"/>
          </a:p>
        </p:txBody>
      </p:sp>
      <p:sp>
        <p:nvSpPr>
          <p:cNvPr id="8" name="Shape 6"/>
          <p:cNvSpPr/>
          <p:nvPr/>
        </p:nvSpPr>
        <p:spPr>
          <a:xfrm>
            <a:off x="640080" y="2679192"/>
            <a:ext cx="10972800" cy="0"/>
          </a:xfrm>
          <a:prstGeom prst="line">
            <a:avLst/>
          </a:prstGeom>
          <a:noFill/>
          <a:ln w="6350">
            <a:solidFill>
              <a:srgbClr val="E2E8F0"/>
            </a:solidFill>
            <a:prstDash val="solid"/>
          </a:ln>
        </p:spPr>
      </p:sp>
      <p:sp>
        <p:nvSpPr>
          <p:cNvPr id="9" name="Shape 7"/>
          <p:cNvSpPr/>
          <p:nvPr/>
        </p:nvSpPr>
        <p:spPr>
          <a:xfrm>
            <a:off x="640080" y="2788920"/>
            <a:ext cx="1737360" cy="457200"/>
          </a:xfrm>
          <a:prstGeom prst="rect">
            <a:avLst/>
          </a:prstGeom>
          <a:solidFill>
            <a:srgbClr val="00915A"/>
          </a:solidFill>
          <a:ln w="12700">
            <a:solidFill>
              <a:srgbClr val="00915A"/>
            </a:solidFill>
            <a:prstDash val="solid"/>
          </a:ln>
        </p:spPr>
      </p:sp>
      <p:sp>
        <p:nvSpPr>
          <p:cNvPr id="10" name="Text 8"/>
          <p:cNvSpPr/>
          <p:nvPr/>
        </p:nvSpPr>
        <p:spPr>
          <a:xfrm>
            <a:off x="640080" y="2788920"/>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0:20 – 0:50</a:t>
            </a:r>
            <a:endParaRPr lang="en-US" sz="1300" dirty="0"/>
          </a:p>
        </p:txBody>
      </p:sp>
      <p:sp>
        <p:nvSpPr>
          <p:cNvPr id="11" name="Text 9"/>
          <p:cNvSpPr/>
          <p:nvPr/>
        </p:nvSpPr>
        <p:spPr>
          <a:xfrm>
            <a:off x="2560320" y="2724912"/>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IT Marketplace</a:t>
            </a:r>
            <a:endParaRPr lang="en-US" sz="1800" dirty="0"/>
          </a:p>
        </p:txBody>
      </p:sp>
      <p:sp>
        <p:nvSpPr>
          <p:cNvPr id="12" name="Text 10"/>
          <p:cNvSpPr/>
          <p:nvPr/>
        </p:nvSpPr>
        <p:spPr>
          <a:xfrm>
            <a:off x="2560320" y="3063240"/>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Role, actors (producers / consumers), order lifecycle.</a:t>
            </a:r>
            <a:endParaRPr lang="en-US" sz="1200" dirty="0"/>
          </a:p>
        </p:txBody>
      </p:sp>
      <p:sp>
        <p:nvSpPr>
          <p:cNvPr id="13" name="Shape 11"/>
          <p:cNvSpPr/>
          <p:nvPr/>
        </p:nvSpPr>
        <p:spPr>
          <a:xfrm>
            <a:off x="640080" y="3483864"/>
            <a:ext cx="10972800" cy="0"/>
          </a:xfrm>
          <a:prstGeom prst="line">
            <a:avLst/>
          </a:prstGeom>
          <a:noFill/>
          <a:ln w="6350">
            <a:solidFill>
              <a:srgbClr val="E2E8F0"/>
            </a:solidFill>
            <a:prstDash val="solid"/>
          </a:ln>
        </p:spPr>
      </p:sp>
      <p:sp>
        <p:nvSpPr>
          <p:cNvPr id="14" name="Shape 12"/>
          <p:cNvSpPr/>
          <p:nvPr/>
        </p:nvSpPr>
        <p:spPr>
          <a:xfrm>
            <a:off x="640080" y="3593592"/>
            <a:ext cx="1737360" cy="457200"/>
          </a:xfrm>
          <a:prstGeom prst="rect">
            <a:avLst/>
          </a:prstGeom>
          <a:solidFill>
            <a:srgbClr val="00915A"/>
          </a:solidFill>
          <a:ln w="12700">
            <a:solidFill>
              <a:srgbClr val="00915A"/>
            </a:solidFill>
            <a:prstDash val="solid"/>
          </a:ln>
        </p:spPr>
      </p:sp>
      <p:sp>
        <p:nvSpPr>
          <p:cNvPr id="15" name="Text 13"/>
          <p:cNvSpPr/>
          <p:nvPr/>
        </p:nvSpPr>
        <p:spPr>
          <a:xfrm>
            <a:off x="640080" y="3593592"/>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0:50 – 1:20</a:t>
            </a:r>
            <a:endParaRPr lang="en-US" sz="1300" dirty="0"/>
          </a:p>
        </p:txBody>
      </p:sp>
      <p:sp>
        <p:nvSpPr>
          <p:cNvPr id="16" name="Text 14"/>
          <p:cNvSpPr/>
          <p:nvPr/>
        </p:nvSpPr>
        <p:spPr>
          <a:xfrm>
            <a:off x="2560320" y="3529584"/>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IBM Ecosystems</a:t>
            </a:r>
            <a:endParaRPr lang="en-US" sz="1800" dirty="0"/>
          </a:p>
        </p:txBody>
      </p:sp>
      <p:sp>
        <p:nvSpPr>
          <p:cNvPr id="17" name="Text 15"/>
          <p:cNvSpPr/>
          <p:nvPr/>
        </p:nvSpPr>
        <p:spPr>
          <a:xfrm>
            <a:off x="2560320" y="3867912"/>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Segmentation, attachment, rights, financial governance.</a:t>
            </a:r>
            <a:endParaRPr lang="en-US" sz="1200" dirty="0"/>
          </a:p>
        </p:txBody>
      </p:sp>
      <p:sp>
        <p:nvSpPr>
          <p:cNvPr id="18" name="Shape 16"/>
          <p:cNvSpPr/>
          <p:nvPr/>
        </p:nvSpPr>
        <p:spPr>
          <a:xfrm>
            <a:off x="640080" y="4288536"/>
            <a:ext cx="10972800" cy="0"/>
          </a:xfrm>
          <a:prstGeom prst="line">
            <a:avLst/>
          </a:prstGeom>
          <a:noFill/>
          <a:ln w="6350">
            <a:solidFill>
              <a:srgbClr val="E2E8F0"/>
            </a:solidFill>
            <a:prstDash val="solid"/>
          </a:ln>
        </p:spPr>
      </p:sp>
      <p:sp>
        <p:nvSpPr>
          <p:cNvPr id="19" name="Shape 17"/>
          <p:cNvSpPr/>
          <p:nvPr/>
        </p:nvSpPr>
        <p:spPr>
          <a:xfrm>
            <a:off x="640080" y="4398264"/>
            <a:ext cx="1737360" cy="457200"/>
          </a:xfrm>
          <a:prstGeom prst="rect">
            <a:avLst/>
          </a:prstGeom>
          <a:solidFill>
            <a:srgbClr val="00915A"/>
          </a:solidFill>
          <a:ln w="12700">
            <a:solidFill>
              <a:srgbClr val="00915A"/>
            </a:solidFill>
            <a:prstDash val="solid"/>
          </a:ln>
        </p:spPr>
      </p:sp>
      <p:sp>
        <p:nvSpPr>
          <p:cNvPr id="20" name="Text 18"/>
          <p:cNvSpPr/>
          <p:nvPr/>
        </p:nvSpPr>
        <p:spPr>
          <a:xfrm>
            <a:off x="640080" y="4398264"/>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1:20 – 1:45</a:t>
            </a:r>
            <a:endParaRPr lang="en-US" sz="1300" dirty="0"/>
          </a:p>
        </p:txBody>
      </p:sp>
      <p:sp>
        <p:nvSpPr>
          <p:cNvPr id="21" name="Text 19"/>
          <p:cNvSpPr/>
          <p:nvPr/>
        </p:nvSpPr>
        <p:spPr>
          <a:xfrm>
            <a:off x="2560320" y="4334256"/>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TOE</a:t>
            </a:r>
            <a:endParaRPr lang="en-US" sz="1800" dirty="0"/>
          </a:p>
        </p:txBody>
      </p:sp>
      <p:sp>
        <p:nvSpPr>
          <p:cNvPr id="22" name="Text 20"/>
          <p:cNvSpPr/>
          <p:nvPr/>
        </p:nvSpPr>
        <p:spPr>
          <a:xfrm>
            <a:off x="2560320" y="4672584"/>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Mission, focus areas, interactions with Marketplace and dMZR.</a:t>
            </a:r>
            <a:endParaRPr lang="en-US" sz="1200" dirty="0"/>
          </a:p>
        </p:txBody>
      </p:sp>
      <p:sp>
        <p:nvSpPr>
          <p:cNvPr id="23" name="Shape 21"/>
          <p:cNvSpPr/>
          <p:nvPr/>
        </p:nvSpPr>
        <p:spPr>
          <a:xfrm>
            <a:off x="640080" y="5093208"/>
            <a:ext cx="10972800" cy="0"/>
          </a:xfrm>
          <a:prstGeom prst="line">
            <a:avLst/>
          </a:prstGeom>
          <a:noFill/>
          <a:ln w="6350">
            <a:solidFill>
              <a:srgbClr val="E2E8F0"/>
            </a:solidFill>
            <a:prstDash val="solid"/>
          </a:ln>
        </p:spPr>
      </p:sp>
      <p:sp>
        <p:nvSpPr>
          <p:cNvPr id="24" name="Shape 22"/>
          <p:cNvSpPr/>
          <p:nvPr/>
        </p:nvSpPr>
        <p:spPr>
          <a:xfrm>
            <a:off x="640080" y="5202936"/>
            <a:ext cx="1737360" cy="457200"/>
          </a:xfrm>
          <a:prstGeom prst="rect">
            <a:avLst/>
          </a:prstGeom>
          <a:solidFill>
            <a:srgbClr val="00915A"/>
          </a:solidFill>
          <a:ln w="12700">
            <a:solidFill>
              <a:srgbClr val="00915A"/>
            </a:solidFill>
            <a:prstDash val="solid"/>
          </a:ln>
        </p:spPr>
      </p:sp>
      <p:sp>
        <p:nvSpPr>
          <p:cNvPr id="25" name="Text 23"/>
          <p:cNvSpPr/>
          <p:nvPr/>
        </p:nvSpPr>
        <p:spPr>
          <a:xfrm>
            <a:off x="640080" y="5202936"/>
            <a:ext cx="173736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1:45 – 2:00</a:t>
            </a:r>
            <a:endParaRPr lang="en-US" sz="1300" dirty="0"/>
          </a:p>
        </p:txBody>
      </p:sp>
      <p:sp>
        <p:nvSpPr>
          <p:cNvPr id="26" name="Text 24"/>
          <p:cNvSpPr/>
          <p:nvPr/>
        </p:nvSpPr>
        <p:spPr>
          <a:xfrm>
            <a:off x="2560320" y="5138928"/>
            <a:ext cx="8961120" cy="365760"/>
          </a:xfrm>
          <a:prstGeom prst="rect">
            <a:avLst/>
          </a:prstGeom>
          <a:noFill/>
          <a:ln/>
        </p:spPr>
        <p:txBody>
          <a:bodyPr wrap="square" lIns="0" tIns="0" rIns="0" bIns="0" rtlCol="0" anchor="ctr"/>
          <a:lstStyle/>
          <a:p>
            <a:pPr indent="0" marL="0">
              <a:buNone/>
            </a:pPr>
            <a:r>
              <a:rPr lang="en-US" sz="1800" b="1" dirty="0">
                <a:solidFill>
                  <a:srgbClr val="1A2E28"/>
                </a:solidFill>
                <a:latin typeface="Georgia" pitchFamily="34" charset="0"/>
                <a:ea typeface="Georgia" pitchFamily="34" charset="-122"/>
                <a:cs typeface="Georgia" pitchFamily="34" charset="-120"/>
              </a:rPr>
              <a:t>Q&amp;A and next steps</a:t>
            </a:r>
            <a:endParaRPr lang="en-US" sz="1800" dirty="0"/>
          </a:p>
        </p:txBody>
      </p:sp>
      <p:sp>
        <p:nvSpPr>
          <p:cNvPr id="27" name="Text 25"/>
          <p:cNvSpPr/>
          <p:nvPr/>
        </p:nvSpPr>
        <p:spPr>
          <a:xfrm>
            <a:off x="2560320" y="5477256"/>
            <a:ext cx="8961120" cy="320040"/>
          </a:xfrm>
          <a:prstGeom prst="rect">
            <a:avLst/>
          </a:prstGeom>
          <a:noFill/>
          <a:ln/>
        </p:spPr>
        <p:txBody>
          <a:bodyPr wrap="square" lIns="0" tIns="0" rIns="0" bIns="0" rtlCol="0" anchor="ctr"/>
          <a:lstStyle/>
          <a:p>
            <a:pPr indent="0" marL="0">
              <a:buNone/>
            </a:pPr>
            <a:r>
              <a:rPr lang="en-US" sz="1200" dirty="0">
                <a:solidFill>
                  <a:srgbClr val="6B7B78"/>
                </a:solidFill>
                <a:latin typeface="Calibri" pitchFamily="34" charset="0"/>
                <a:ea typeface="Calibri" pitchFamily="34" charset="-122"/>
                <a:cs typeface="Calibri" pitchFamily="34" charset="-120"/>
              </a:rPr>
              <a:t>Contacts, tech-buddies, knowledge base, shared backlog.</a:t>
            </a:r>
            <a:endParaRPr lang="en-US" sz="1200" dirty="0"/>
          </a:p>
        </p:txBody>
      </p:sp>
      <p:sp>
        <p:nvSpPr>
          <p:cNvPr id="28" name="Text 26"/>
          <p:cNvSpPr/>
          <p:nvPr/>
        </p:nvSpPr>
        <p:spPr>
          <a:xfrm>
            <a:off x="640080" y="6492240"/>
            <a:ext cx="6400800" cy="228600"/>
          </a:xfrm>
          <a:prstGeom prst="rect">
            <a:avLst/>
          </a:prstGeom>
          <a:noFill/>
          <a:ln/>
        </p:spPr>
        <p:txBody>
          <a:bodyPr wrap="square" lIns="0" tIns="0" rIns="0" bIns="0" rtlCol="0" anchor="ctr"/>
          <a:lstStyle/>
          <a:p>
            <a:pPr indent="0" marL="0">
              <a:buNone/>
            </a:pPr>
            <a:r>
              <a:rPr lang="en-US" sz="900" i="1" dirty="0">
                <a:solidFill>
                  <a:srgbClr val="9AA5A1"/>
                </a:solidFill>
                <a:latin typeface="Calibri" pitchFamily="34" charset="0"/>
                <a:ea typeface="Calibri" pitchFamily="34" charset="-122"/>
                <a:cs typeface="Calibri" pitchFamily="34" charset="-120"/>
              </a:rPr>
              <a:t>BNP Paribas Cardif · CARD Production</a:t>
            </a:r>
            <a:endParaRPr lang="en-US" sz="900" dirty="0"/>
          </a:p>
        </p:txBody>
      </p:sp>
      <p:sp>
        <p:nvSpPr>
          <p:cNvPr id="29" name="Text 27"/>
          <p:cNvSpPr/>
          <p:nvPr/>
        </p:nvSpPr>
        <p:spPr>
          <a:xfrm>
            <a:off x="8229600" y="6492240"/>
            <a:ext cx="3383280" cy="228600"/>
          </a:xfrm>
          <a:prstGeom prst="rect">
            <a:avLst/>
          </a:prstGeom>
          <a:noFill/>
          <a:ln/>
        </p:spPr>
        <p:txBody>
          <a:bodyPr wrap="square" lIns="0" tIns="0" rIns="0" bIns="0" rtlCol="0" anchor="ctr"/>
          <a:lstStyle/>
          <a:p>
            <a:pPr algn="r" indent="0" marL="0">
              <a:buNone/>
            </a:pPr>
            <a:r>
              <a:rPr lang="en-US" sz="900" dirty="0">
                <a:solidFill>
                  <a:srgbClr val="9AA5A1"/>
                </a:solidFill>
                <a:latin typeface="Calibri" pitchFamily="34" charset="0"/>
                <a:ea typeface="Calibri" pitchFamily="34" charset="-122"/>
                <a:cs typeface="Calibri" pitchFamily="34" charset="-120"/>
              </a:rPr>
              <a:t>17 · Agenda</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3A2B"/>
        </a:solidFill>
      </p:bgPr>
    </p:bg>
    <p:spTree>
      <p:nvGrpSpPr>
        <p:cNvPr id="1" name=""/>
        <p:cNvGrpSpPr/>
        <p:nvPr/>
      </p:nvGrpSpPr>
      <p:grpSpPr>
        <a:xfrm>
          <a:off x="0" y="0"/>
          <a:ext cx="0" cy="0"/>
          <a:chOff x="0" y="0"/>
          <a:chExt cx="0" cy="0"/>
        </a:xfrm>
      </p:grpSpPr>
      <p:sp>
        <p:nvSpPr>
          <p:cNvPr id="2" name="Shape 0"/>
          <p:cNvSpPr/>
          <p:nvPr/>
        </p:nvSpPr>
        <p:spPr>
          <a:xfrm>
            <a:off x="640080" y="2560320"/>
            <a:ext cx="548640" cy="36576"/>
          </a:xfrm>
          <a:prstGeom prst="rect">
            <a:avLst/>
          </a:prstGeom>
          <a:solidFill>
            <a:srgbClr val="D4A840"/>
          </a:solidFill>
          <a:ln w="12700">
            <a:solidFill>
              <a:srgbClr val="D4A840"/>
            </a:solidFill>
            <a:prstDash val="solid"/>
          </a:ln>
        </p:spPr>
      </p:sp>
      <p:sp>
        <p:nvSpPr>
          <p:cNvPr id="3" name="Text 1"/>
          <p:cNvSpPr/>
          <p:nvPr/>
        </p:nvSpPr>
        <p:spPr>
          <a:xfrm>
            <a:off x="640080" y="2743200"/>
            <a:ext cx="10972800" cy="1280160"/>
          </a:xfrm>
          <a:prstGeom prst="rect">
            <a:avLst/>
          </a:prstGeom>
          <a:noFill/>
          <a:ln/>
        </p:spPr>
        <p:txBody>
          <a:bodyPr wrap="square" lIns="0" tIns="0" rIns="0" bIns="0" rtlCol="0" anchor="ctr"/>
          <a:lstStyle/>
          <a:p>
            <a:pPr indent="0" marL="0">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4" name="Text 2"/>
          <p:cNvSpPr/>
          <p:nvPr/>
        </p:nvSpPr>
        <p:spPr>
          <a:xfrm>
            <a:off x="640080" y="4023360"/>
            <a:ext cx="10972800" cy="457200"/>
          </a:xfrm>
          <a:prstGeom prst="rect">
            <a:avLst/>
          </a:prstGeom>
          <a:noFill/>
          <a:ln/>
        </p:spPr>
        <p:txBody>
          <a:bodyPr wrap="square" lIns="0" tIns="0" rIns="0" bIns="0" rtlCol="0" anchor="ctr"/>
          <a:lstStyle/>
          <a:p>
            <a:pPr indent="0" marL="0">
              <a:buNone/>
            </a:pPr>
            <a:r>
              <a:rPr lang="en-US" sz="2000" i="1" dirty="0">
                <a:solidFill>
                  <a:srgbClr val="C9D6CF"/>
                </a:solidFill>
                <a:latin typeface="Georgia" pitchFamily="34" charset="0"/>
                <a:ea typeface="Georgia" pitchFamily="34" charset="-122"/>
                <a:cs typeface="Georgia" pitchFamily="34" charset="-120"/>
              </a:rPr>
              <a:t>Questions, feedback, deep-dives.</a:t>
            </a:r>
            <a:endParaRPr lang="en-US" sz="2000" dirty="0"/>
          </a:p>
        </p:txBody>
      </p:sp>
      <p:sp>
        <p:nvSpPr>
          <p:cNvPr id="5" name="Text 3"/>
          <p:cNvSpPr/>
          <p:nvPr/>
        </p:nvSpPr>
        <p:spPr>
          <a:xfrm>
            <a:off x="640080" y="4526280"/>
            <a:ext cx="10972800" cy="365760"/>
          </a:xfrm>
          <a:prstGeom prst="rect">
            <a:avLst/>
          </a:prstGeom>
          <a:noFill/>
          <a:ln/>
        </p:spPr>
        <p:txBody>
          <a:bodyPr wrap="square" lIns="0" tIns="0" rIns="0" bIns="0" rtlCol="0" anchor="ctr"/>
          <a:lstStyle/>
          <a:p>
            <a:pPr indent="0" marL="0">
              <a:buNone/>
            </a:pPr>
            <a:r>
              <a:rPr lang="en-US" sz="1400" dirty="0">
                <a:solidFill>
                  <a:srgbClr val="A7BAB0"/>
                </a:solidFill>
                <a:latin typeface="Calibri" pitchFamily="34" charset="0"/>
                <a:ea typeface="Calibri" pitchFamily="34" charset="-122"/>
                <a:cs typeface="Calibri" pitchFamily="34" charset="-120"/>
              </a:rPr>
              <a:t>The TOE team remains available for follow-up discussions on any topic.</a:t>
            </a:r>
            <a:endParaRPr lang="en-US" sz="1400" dirty="0"/>
          </a:p>
        </p:txBody>
      </p:sp>
      <p:sp>
        <p:nvSpPr>
          <p:cNvPr id="6" name="Text 4"/>
          <p:cNvSpPr/>
          <p:nvPr/>
        </p:nvSpPr>
        <p:spPr>
          <a:xfrm>
            <a:off x="640080" y="6172200"/>
            <a:ext cx="5486400" cy="274320"/>
          </a:xfrm>
          <a:prstGeom prst="rect">
            <a:avLst/>
          </a:prstGeom>
          <a:noFill/>
          <a:ln/>
        </p:spPr>
        <p:txBody>
          <a:bodyPr wrap="square" lIns="0" tIns="0" rIns="0" bIns="0" rtlCol="0" anchor="ctr"/>
          <a:lstStyle/>
          <a:p>
            <a:pPr indent="0" marL="0">
              <a:buNone/>
            </a:pPr>
            <a:r>
              <a:rPr lang="en-US" sz="1100" b="1" spc="800" kern="0" dirty="0">
                <a:solidFill>
                  <a:srgbClr val="FFFFFF"/>
                </a:solidFill>
                <a:latin typeface="Calibri" pitchFamily="34" charset="0"/>
                <a:ea typeface="Calibri" pitchFamily="34" charset="-122"/>
                <a:cs typeface="Calibri" pitchFamily="34" charset="-120"/>
              </a:rPr>
              <a:t>BNP PARIBAS CARDIF</a:t>
            </a:r>
            <a:endParaRPr lang="en-US" sz="1100" dirty="0"/>
          </a:p>
        </p:txBody>
      </p:sp>
      <p:sp>
        <p:nvSpPr>
          <p:cNvPr id="7" name="Text 5"/>
          <p:cNvSpPr/>
          <p:nvPr/>
        </p:nvSpPr>
        <p:spPr>
          <a:xfrm>
            <a:off x="5760720" y="6172200"/>
            <a:ext cx="5943600" cy="274320"/>
          </a:xfrm>
          <a:prstGeom prst="rect">
            <a:avLst/>
          </a:prstGeom>
          <a:noFill/>
          <a:ln/>
        </p:spPr>
        <p:txBody>
          <a:bodyPr wrap="square" lIns="0" tIns="0" rIns="0" bIns="0" rtlCol="0" anchor="ctr"/>
          <a:lstStyle/>
          <a:p>
            <a:pPr algn="r" indent="0" marL="0">
              <a:buNone/>
            </a:pPr>
            <a:r>
              <a:rPr lang="en-US" sz="1000" i="1" dirty="0">
                <a:solidFill>
                  <a:srgbClr val="8FA69C"/>
                </a:solidFill>
                <a:latin typeface="Calibri" pitchFamily="34" charset="0"/>
                <a:ea typeface="Calibri" pitchFamily="34" charset="-122"/>
                <a:cs typeface="Calibri" pitchFamily="34" charset="-120"/>
              </a:rPr>
              <a:t>CARD — Production Cardif · Technology Office Expertise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BNP Paribas Cardif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dMZR · IT Marketplace · TOE</dc:title>
  <dc:subject>PptxGenJS Presentation</dc:subject>
  <dc:creator>BNP Paribas Cardif — Production</dc:creator>
  <cp:lastModifiedBy>BNP Paribas Cardif — Production</cp:lastModifiedBy>
  <cp:revision>1</cp:revision>
  <dcterms:created xsi:type="dcterms:W3CDTF">2026-04-24T08:33:23Z</dcterms:created>
  <dcterms:modified xsi:type="dcterms:W3CDTF">2026-04-24T08:33:23Z</dcterms:modified>
</cp:coreProperties>
</file>