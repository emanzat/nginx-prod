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 tous. Aujourd'hui je vais vous montrer comment on traduit concretement les exigences de resilience et de continuite IT en configuration Kubernetes, sur notre cluster ROKS. On ne va pas rester dans la theorie : on part d'un cluster reel, six workers repartis sur trois zones a Paris, en OpenShift 4.18. Et a chaque exigence, je vous montrerai le bout de manifeste Deployment qui la met en oeuvre. Comptez une vingtaine de minutes, et on gardera du temps pour vos questions a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notre point de depart. Le cluster, c'est six noeuds worker, repartis deux par zone, sur Paris 1, Paris 2 et Paris 3, dans un pool unique. Ce qu'il faut retenir de ce schema : cette topologie trois zones avec deux workers chacune nous suffit pour heberger des services jusqu'au niveau le plus exigeant, le niveau Extreme. Tout ce que je vais vous montrer ensuite part de cette realite materielle. Et pour anticiper la question : le plan de controle, lui, est gere par IBM. Nous, on ne gere que les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de base du referentiel, c'est celui-ci : le niveau de resilience qu'on doit mettre en place depend de la criticite metier du service. Il y a quatre classes : Extreme, Serious, Moderate et Low. Et plus on monte en criticite, plus les exigences sont fortes : davantage de zones, un failover plus rapide, des mecanismes de reconstruction obligatoires. Attention sur un point : cette matrice fixe un minimum, un plancher. Pas une cible. Et decider qu'une application est Extreme ou Moderate, ca, ca releve de l'analyse de sensibilite metier, pas d'un choix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la configuration, posons le vocabulaire de l'infrastructure. Tout part de la region : c'est le perimetre geographique, ici Paris. Une region contient plusieurs zones de disponibilite, les AZ — chez nous il y en a trois. Chaque zone correspond physiquement a un site, un datacenter. Jusque-la, c'est la couche physique : de la geographie et des batiments. Par-dessus, il y a la couche logique, le reseau defini par logiciel. Le VPC, le reseau prive virtuel, s'etend sur toute la region et traverse les trois zones. Et a l'interieur du VPC, chaque subnet est rattache a une seule zone. Le point a retenir : le VPC est regional, le subnet est zonal. C'est cette distinction qui permet, plus tard, de repartir nos pods sur les zones tout en restant dans un meme reseau prive.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c'est la reproduction fidele de la matrice du referentiel. On n'a rien invente : c'est le document source. Deux choses sur la notation. Le M, ca veut dire Must, c'est l'exigence minimale. Et MUST, SHOULD, COULD, c'est le niveau d'exigibilite, facon MoSCoW. Je precise en toute transparence : les colonnes Regional ne sont pas renseignees dans le document d'origine, donc on les a retirees ici. Dernier point : les services classes Vital Entity ou Vital Group sortent du perimetre de cette matrice. Ce tableau, c'est notre point d'ancrage, et tous les slides qui suivent vont le rendre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Premiere exigence : la topologie de deploiement. Le probleme, c'est que sans consigne explicite, l'ordonnanceur Kubernetes peut tres bien placer tous les pods dans une seule zone. Et le jour ou cette zone tombe, c'est tout le service qui tombe avec elle. La solution est a droite : topologySpreadConstraints avec la cle zone, qui force la repartition sur Paris 1, 2 et 3. Pour Extreme et Serious, on met DoNotSchedule : garantie stricte. Pour Moderate, ScheduleAnyway : on etale au mieux. Et avec une deuxieme contrainte sur le hostname, on etale aussi sur les deux workers de chaque zone. On reviendra sur l'anti-affinite stricte un peu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Deuxieme exigence : assurer la continuite pendant les operations volontaires. Et la, on ne parle pas de pannes : on parle des upgrades, des drains de noeud, de la maintenance de routine. Des operations planifiees, et frequentes. Le risque, c'est qu'une operation banale fasse tomber tous les pods d'une zone en meme temps. Le PodDisruptionBudget empeche ca : il garantit qu'au plus un pod est indisponible pendant un drain. On ajoute terminationGracePeriodSeconds et le hook preStop, qui assurent un arret propre, le temps de vider les connexions en cours. Concretement : l'ordonnanceur respecte le budget avant d'evincer un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Troisieme exigence : la sante et le dimensionnement. Le failover automatique de Kubernetes ne marche que si deux conditions sont remplies. Premiere condition : les pods sont bien dimensionnes, avec des requests et des limits, pour qu'il reste de la marge quand une zone disparait. Deuxieme condition : leur etat reel est connu de l'ordonnanceur, et ca passe par les sondes. On en a trois. La startup, pour les applications lentes a demarrer. La readiness, pour n'envoyer du trafic qu'aux pods vraiment prets. La liveness, pour redemarrer un pod bloque. Et avec maxUnavailable a zero, on garantit zero interruption pendant les deploiements.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Quatrieme exigence : la priorisation. Imaginez le scenario : on perd une zone, il nous reste quatre workers. Ces quatre workers doivent pouvoir replanifier en priorite les pods des services les plus critiques, Extreme et Serious, quitte a sacrifier des services moins importants. C'est exactement le role de la PriorityClass. Sous pression, ce sont les pods de faible priorite qui sont evinces en premier. Et une recommandation tres concrete : on garde environ un tiers de la capacite du cluster libre, pour pouvoir absorber la perte d'une zone sans degradation 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des donnees et de la sauvegarde. La regle d'or, c'est celle-ci : aucune donnee persistante ne doit vivre dans un pod ou dans un noeud. Uniquement des volumes ephemeres. L'etat, lui, va dans des services externes : une base PostgreSQL repliquee sur plusieurs zones, et les fichiers et objets dans le stockage objet regional. Important a comprendre : la replication entre zones est portee par le service de donnees, pas par le volume de bloc, qui lui reste zonal. Cote cluster, OADP et Velero sauvegardent les objets Kubernetes du namespace. Et la sauvegarde de l'etcd, sur ROKS, c'est IBM qui s'en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slide, c'est la synthese technique. Vous avez sous les yeux le manifeste Deployment complet d'un service Serious ou Extreme. Il rassemble tout ce qu'on vient de voir : six replicas, la repartition par zone et par hote, la PriorityClass, une strategie de mise a jour sans interruption, et les trois sondes. Le message que je veux que vous reteniez : la resilience, ce n'est pas une option qu'on ajoute apres coup. Elle est ecrite, elle est versionnee dans le manifeste. Donc elle est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premier exemple de configuration par niveau : la classe Extreme. A gauche, le profil vous rappelle les valeurs de la matrice : trois zones, All Active, HA, Near Sync, reconstruction obligatoire. A droite, le manifeste qui correspond. Regardez trois choses : replicas a trois, c'est le plancher impose par la matrice ; le topologySpread en DoNotSchedule, garantie stricte ; et la PriorityClass business-extreme. Je le dis clairement : la matrice ne fixe pas de nombre de replicas. Trois, c'est le plancher topologique. Le chiffre final depend du capacity planning et de la charge reelle.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classe Serious. Sur les mecanismes, elle est tres proche d'Extreme : meme mode All Active, meme HA, meme Near Sync, reconstruction obligatoire. La seule difference, c'est le plancher : deux zones au minimum, au lieu de trois. Le manifeste reprend donc la meme structure : topologySpread strict, PriorityClass, PodDisruptionBudget. Je precise une chose importante : notre cluster a trois zones. Rien ne nous empeche d'etaler un service Serious sur les trois zones plutot que deux. C'est meme conseille. La matrice donne un minimum, jamais un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classe Moderate. La, on change de registre. Le failover passe de HA a Hot. La distribution des donnees passe de Near Sync a Async ou Batch. Et la reconstruction n'est plus obligatoire, elle devient recommandee. Dans le manifeste, deux differences a voir : le topologySpread passe en ScheduleAnyway, donc un etalement au mieux et non plus garanti ; et il n'y a plus de PriorityClass elevee. Le PodDisruptionBudget reste recommande. En clair : pour un service Moderate, on accepte une reprise un peu moins immediate, et ca simplifie la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classe Low, la moins exigeante. Une seule zone au minimum, failover Cold, reconstruction simplement possible. Le manifeste est volontairement le plus simple : une seule replica, et surtout une strategie Recreate au lieu de RollingUpdate. C'est ca, concretement, le Cold failover : la reprise se fait par redeploiement. Pas de topologySpread puisqu'on est sur une seule zone, et PodDisruptionBudget optionnel. Mais attention : Low ne veut pas dire sans sauvegarde. La sauvegarde des objets du cluster reste assuree, comme on l'a vu sur le slide des donnees.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complement de resilience. Un point technique important : topologySpreadConstraints equilibre la repartition, mais il n'interdit pas formellement que deux pods se retrouvent sur le meme worker. Pour une garantie stricte, et c'est ce qu'attend un audit bancaire, il faut une anti-affinite required sur la cle hostname. C'est ce que montre le manifeste. Les deux contraintes sont complementaires : la zone pour les AZ, le hostname pour les noeuds. On voit aussi le drain controle d'un noeud en maintenance, et l'interaction avec l'autoscaler. Sur deux workers par zone, ca nous donne au plus deux pods par service et par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Deuxieme complement, et c'est un point souvent oublie : la resilience du trafic entrant. Je vais etre clair : une application parfaitement HA, mais placee derriere un point d'entree unique, c'est un plan de reprise casse. Le routeur HAProxy d'OpenShift doit lui aussi etre reparti sur les trois zones. C'est pour ca qu'on configure l'IngressController avec plusieurs replicas. On voit la Route en reencrypt pour la terminaison TLS. Il y a externalTrafficPolicy en Local, qui preserve l'IP source mais demande des replicas par noeud. Et en amont, la bascule GSLB, F5 et DNS entre regions. La chaine d'entree doit etre aussi resiliente que l'application elle-meme.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Troisieme complement : la reconstruction par GitOps. Le referentiel insiste sur le mecanisme de reconstruction : comment est-ce qu'on reconstruit. Avec GitOps, la reponse est nette : Git est la source de verite unique. Le manifeste ArgoCD a selfHeal active : tout ecart avec Git est corrige automatiquement. Les roles sont repartis : OADP et Velero restaurent les donnees, ArgoCD restaure la configuration. Le scenario de reprise : on recree un cluster ROKS vierge, on pointe ArgoCD sur le depot Git, et tout l'etat cible se resynchronise. C'est une reconstruction reproductible, declarative, et qui tient les delais de 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etre direct : la resilience, ca ne se decrete pas, ca se prouve. Le referentiel consacre tout un chapitre aux exercices. On en a six types : couper une zone, drainer un noeud, supprimer des pods au hasard, injecter de la latence reseau, tester une restauration en la chronometrant, et l'exercice de continuite planifie. Et il y a une distinction a avoir en tete : les tests de fiabilite verifient que l'application encaisse les pannes ; les exercices de continuite, eux, rejouent les sinistres majeurs de facon planifiee. Et on couvre les trois couches : application, middleware,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Cette checklist, voyez-la comme une grille d'audit : chaque ligne, c'est une verification concrete a faire sur un manifeste Deployment. Le message central de cette presentation, le voici : on rend la resilience explicite et versionnee dans le code, pour que chaque exigence du referentiel devienne une ligne de YAML qu'on peut auditer et reproduire. Nos prochaines etapes : passer en revue les manifestes existants, attribuer une classe a chaque application, et planifier notre premier exercice de continuite. Merci de votre attention. Je prends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A1E"/>
        </a:solidFill>
      </p:bgPr>
    </p:bg>
    <p:spTree>
      <p:nvGrpSpPr>
        <p:cNvPr id="1" name=""/>
        <p:cNvGrpSpPr/>
        <p:nvPr/>
      </p:nvGrpSpPr>
      <p:grpSpPr>
        <a:xfrm>
          <a:off x="0" y="0"/>
          <a:ext cx="0" cy="0"/>
          <a:chOff x="0" y="0"/>
          <a:chExt cx="0" cy="0"/>
        </a:xfrm>
      </p:grpSpPr>
      <p:sp>
        <p:nvSpPr>
          <p:cNvPr id="2" name="Shape 0"/>
          <p:cNvSpPr/>
          <p:nvPr/>
        </p:nvSpPr>
        <p:spPr>
          <a:xfrm>
            <a:off x="9144000" y="-2377440"/>
            <a:ext cx="5852160" cy="5852160"/>
          </a:xfrm>
          <a:prstGeom prst="ellipse">
            <a:avLst/>
          </a:prstGeom>
          <a:solidFill>
            <a:srgbClr val="164032"/>
          </a:solidFill>
          <a:ln/>
        </p:spPr>
      </p:sp>
      <p:sp>
        <p:nvSpPr>
          <p:cNvPr id="3" name="Shape 1"/>
          <p:cNvSpPr/>
          <p:nvPr/>
        </p:nvSpPr>
        <p:spPr>
          <a:xfrm>
            <a:off x="10424160" y="4023360"/>
            <a:ext cx="4206240" cy="4206240"/>
          </a:xfrm>
          <a:prstGeom prst="ellipse">
            <a:avLst/>
          </a:prstGeom>
          <a:solidFill>
            <a:srgbClr val="1C2E3A"/>
          </a:solidFill>
          <a:ln/>
        </p:spPr>
      </p:sp>
      <p:sp>
        <p:nvSpPr>
          <p:cNvPr id="4" name="Text 2"/>
          <p:cNvSpPr/>
          <p:nvPr/>
        </p:nvSpPr>
        <p:spPr>
          <a:xfrm>
            <a:off x="777240" y="1371600"/>
            <a:ext cx="10058400" cy="320040"/>
          </a:xfrm>
          <a:prstGeom prst="rect">
            <a:avLst/>
          </a:prstGeom>
          <a:noFill/>
          <a:ln/>
        </p:spPr>
        <p:txBody>
          <a:bodyPr wrap="square" lIns="0" tIns="0" rIns="0" bIns="0" rtlCol="0" anchor="ctr"/>
          <a:lstStyle/>
          <a:p>
            <a:pPr indent="0" marL="0">
              <a:buNone/>
            </a:pPr>
            <a:r>
              <a:rPr lang="en-US" sz="1300" b="1" spc="300" kern="0" dirty="0">
                <a:solidFill>
                  <a:srgbClr val="00925F"/>
                </a:solidFill>
                <a:latin typeface="Calibri" pitchFamily="34" charset="0"/>
                <a:ea typeface="Calibri" pitchFamily="34" charset="-122"/>
                <a:cs typeface="Calibri" pitchFamily="34" charset="-120"/>
              </a:rPr>
              <a:t>RÉSILIENCE &amp; CONTINUITÉ IT — CLOUD COMPUTING</a:t>
            </a:r>
            <a:endParaRPr lang="en-US" sz="1300" dirty="0"/>
          </a:p>
        </p:txBody>
      </p:sp>
      <p:sp>
        <p:nvSpPr>
          <p:cNvPr id="5" name="Text 3"/>
          <p:cNvSpPr/>
          <p:nvPr/>
        </p:nvSpPr>
        <p:spPr>
          <a:xfrm>
            <a:off x="777240" y="1783080"/>
            <a:ext cx="10424160" cy="1828800"/>
          </a:xfrm>
          <a:prstGeom prst="rect">
            <a:avLst/>
          </a:prstGeom>
          <a:noFill/>
          <a:ln/>
        </p:spPr>
        <p:txBody>
          <a:bodyPr wrap="square" lIns="0" tIns="0" rIns="0" bIns="0" rtlCol="0" anchor="ctr"/>
          <a:lstStyle/>
          <a:p>
            <a:pPr indent="0" marL="0">
              <a:lnSpc>
                <a:spcPct val="104000"/>
              </a:lnSpc>
              <a:buNone/>
            </a:pPr>
            <a:r>
              <a:rPr lang="en-US" sz="4400" b="1" dirty="0">
                <a:solidFill>
                  <a:srgbClr val="FFFFFF"/>
                </a:solidFill>
                <a:latin typeface="Georgia" pitchFamily="34" charset="0"/>
                <a:ea typeface="Georgia" pitchFamily="34" charset="-122"/>
                <a:cs typeface="Georgia" pitchFamily="34" charset="-120"/>
              </a:rPr>
              <a:t>Résilience &amp; Continuité IT</a:t>
            </a:r>
            <a:endParaRPr lang="en-US" sz="4400" dirty="0"/>
          </a:p>
          <a:p>
            <a:pPr indent="0" marL="0">
              <a:lnSpc>
                <a:spcPct val="104000"/>
              </a:lnSpc>
              <a:buNone/>
            </a:pPr>
            <a:r>
              <a:rPr lang="en-US" sz="4400" b="1" dirty="0">
                <a:solidFill>
                  <a:srgbClr val="00925F"/>
                </a:solidFill>
                <a:latin typeface="Georgia" pitchFamily="34" charset="0"/>
                <a:ea typeface="Georgia" pitchFamily="34" charset="-122"/>
                <a:cs typeface="Georgia" pitchFamily="34" charset="-120"/>
              </a:rPr>
              <a:t>sur Kubernetes ROKS</a:t>
            </a:r>
            <a:endParaRPr lang="en-US" sz="4400" dirty="0"/>
          </a:p>
        </p:txBody>
      </p:sp>
      <p:sp>
        <p:nvSpPr>
          <p:cNvPr id="6" name="Text 4"/>
          <p:cNvSpPr/>
          <p:nvPr/>
        </p:nvSpPr>
        <p:spPr>
          <a:xfrm>
            <a:off x="777240" y="3611880"/>
            <a:ext cx="9692640" cy="457200"/>
          </a:xfrm>
          <a:prstGeom prst="rect">
            <a:avLst/>
          </a:prstGeom>
          <a:noFill/>
          <a:ln/>
        </p:spPr>
        <p:txBody>
          <a:bodyPr wrap="square" lIns="0" tIns="0" rIns="0" bIns="0" rtlCol="0" anchor="ctr"/>
          <a:lstStyle/>
          <a:p>
            <a:pPr indent="0" marL="0">
              <a:buNone/>
            </a:pPr>
            <a:r>
              <a:rPr lang="en-US" sz="1600" dirty="0">
                <a:solidFill>
                  <a:srgbClr val="9DB0BB"/>
                </a:solidFill>
                <a:latin typeface="Calibri" pitchFamily="34" charset="0"/>
                <a:ea typeface="Calibri" pitchFamily="34" charset="-122"/>
                <a:cs typeface="Calibri" pitchFamily="34" charset="-120"/>
              </a:rPr>
              <a:t>Exigences applicables et mise en œuvre — avec exemples de manifestes Deployment</a:t>
            </a:r>
            <a:endParaRPr lang="en-US" sz="1600" dirty="0"/>
          </a:p>
        </p:txBody>
      </p:sp>
      <p:sp>
        <p:nvSpPr>
          <p:cNvPr id="7" name="Shape 5"/>
          <p:cNvSpPr/>
          <p:nvPr/>
        </p:nvSpPr>
        <p:spPr>
          <a:xfrm>
            <a:off x="777240" y="4434840"/>
            <a:ext cx="1965960" cy="566928"/>
          </a:xfrm>
          <a:prstGeom prst="roundRect">
            <a:avLst>
              <a:gd name="adj" fmla="val 50000"/>
            </a:avLst>
          </a:prstGeom>
          <a:solidFill>
            <a:srgbClr val="1E303C"/>
          </a:solidFill>
          <a:ln w="12700">
            <a:solidFill>
              <a:srgbClr val="00684A"/>
            </a:solidFill>
            <a:prstDash val="solid"/>
          </a:ln>
        </p:spPr>
      </p:sp>
      <p:sp>
        <p:nvSpPr>
          <p:cNvPr id="8" name="Shape 6"/>
          <p:cNvSpPr/>
          <p:nvPr/>
        </p:nvSpPr>
        <p:spPr>
          <a:xfrm>
            <a:off x="978408" y="4608576"/>
            <a:ext cx="219456" cy="219456"/>
          </a:xfrm>
          <a:prstGeom prst="ellipse">
            <a:avLst/>
          </a:prstGeom>
          <a:solidFill>
            <a:srgbClr val="00925F"/>
          </a:solidFill>
          <a:ln/>
        </p:spPr>
      </p:sp>
      <p:sp>
        <p:nvSpPr>
          <p:cNvPr id="9" name="Text 7"/>
          <p:cNvSpPr/>
          <p:nvPr/>
        </p:nvSpPr>
        <p:spPr>
          <a:xfrm>
            <a:off x="1234440" y="4434840"/>
            <a:ext cx="1463040" cy="566928"/>
          </a:xfrm>
          <a:prstGeom prst="rect">
            <a:avLst/>
          </a:prstGeom>
          <a:noFill/>
          <a:ln/>
        </p:spPr>
        <p:txBody>
          <a:bodyPr wrap="square" lIns="0" tIns="0" rIns="0" bIns="0" rtlCol="0" anchor="ctr"/>
          <a:lstStyle/>
          <a:p>
            <a:pPr indent="0" marL="0">
              <a:buNone/>
            </a:pPr>
            <a:r>
              <a:rPr lang="en-US" sz="1250" b="1" dirty="0">
                <a:solidFill>
                  <a:srgbClr val="C7D4DB"/>
                </a:solidFill>
                <a:latin typeface="Calibri" pitchFamily="34" charset="0"/>
                <a:ea typeface="Calibri" pitchFamily="34" charset="-122"/>
                <a:cs typeface="Calibri" pitchFamily="34" charset="-120"/>
              </a:rPr>
              <a:t>AZ · Paris 1</a:t>
            </a:r>
            <a:endParaRPr lang="en-US" sz="1250" dirty="0"/>
          </a:p>
        </p:txBody>
      </p:sp>
      <p:sp>
        <p:nvSpPr>
          <p:cNvPr id="10" name="Shape 8"/>
          <p:cNvSpPr/>
          <p:nvPr/>
        </p:nvSpPr>
        <p:spPr>
          <a:xfrm>
            <a:off x="2926080" y="4434840"/>
            <a:ext cx="1965960" cy="566928"/>
          </a:xfrm>
          <a:prstGeom prst="roundRect">
            <a:avLst>
              <a:gd name="adj" fmla="val 50000"/>
            </a:avLst>
          </a:prstGeom>
          <a:solidFill>
            <a:srgbClr val="1E303C"/>
          </a:solidFill>
          <a:ln w="12700">
            <a:solidFill>
              <a:srgbClr val="00684A"/>
            </a:solidFill>
            <a:prstDash val="solid"/>
          </a:ln>
        </p:spPr>
      </p:sp>
      <p:sp>
        <p:nvSpPr>
          <p:cNvPr id="11" name="Shape 9"/>
          <p:cNvSpPr/>
          <p:nvPr/>
        </p:nvSpPr>
        <p:spPr>
          <a:xfrm>
            <a:off x="3127248" y="4608576"/>
            <a:ext cx="219456" cy="219456"/>
          </a:xfrm>
          <a:prstGeom prst="ellipse">
            <a:avLst/>
          </a:prstGeom>
          <a:solidFill>
            <a:srgbClr val="00925F"/>
          </a:solidFill>
          <a:ln/>
        </p:spPr>
      </p:sp>
      <p:sp>
        <p:nvSpPr>
          <p:cNvPr id="12" name="Text 10"/>
          <p:cNvSpPr/>
          <p:nvPr/>
        </p:nvSpPr>
        <p:spPr>
          <a:xfrm>
            <a:off x="3383280" y="4434840"/>
            <a:ext cx="1463040" cy="566928"/>
          </a:xfrm>
          <a:prstGeom prst="rect">
            <a:avLst/>
          </a:prstGeom>
          <a:noFill/>
          <a:ln/>
        </p:spPr>
        <p:txBody>
          <a:bodyPr wrap="square" lIns="0" tIns="0" rIns="0" bIns="0" rtlCol="0" anchor="ctr"/>
          <a:lstStyle/>
          <a:p>
            <a:pPr indent="0" marL="0">
              <a:buNone/>
            </a:pPr>
            <a:r>
              <a:rPr lang="en-US" sz="1250" b="1" dirty="0">
                <a:solidFill>
                  <a:srgbClr val="C7D4DB"/>
                </a:solidFill>
                <a:latin typeface="Calibri" pitchFamily="34" charset="0"/>
                <a:ea typeface="Calibri" pitchFamily="34" charset="-122"/>
                <a:cs typeface="Calibri" pitchFamily="34" charset="-120"/>
              </a:rPr>
              <a:t>AZ · Paris 2</a:t>
            </a:r>
            <a:endParaRPr lang="en-US" sz="1250" dirty="0"/>
          </a:p>
        </p:txBody>
      </p:sp>
      <p:sp>
        <p:nvSpPr>
          <p:cNvPr id="13" name="Shape 11"/>
          <p:cNvSpPr/>
          <p:nvPr/>
        </p:nvSpPr>
        <p:spPr>
          <a:xfrm>
            <a:off x="5074920" y="4434840"/>
            <a:ext cx="1965960" cy="566928"/>
          </a:xfrm>
          <a:prstGeom prst="roundRect">
            <a:avLst>
              <a:gd name="adj" fmla="val 50000"/>
            </a:avLst>
          </a:prstGeom>
          <a:solidFill>
            <a:srgbClr val="1E303C"/>
          </a:solidFill>
          <a:ln w="12700">
            <a:solidFill>
              <a:srgbClr val="00684A"/>
            </a:solidFill>
            <a:prstDash val="solid"/>
          </a:ln>
        </p:spPr>
      </p:sp>
      <p:sp>
        <p:nvSpPr>
          <p:cNvPr id="14" name="Shape 12"/>
          <p:cNvSpPr/>
          <p:nvPr/>
        </p:nvSpPr>
        <p:spPr>
          <a:xfrm>
            <a:off x="5276088" y="4608576"/>
            <a:ext cx="219456" cy="219456"/>
          </a:xfrm>
          <a:prstGeom prst="ellipse">
            <a:avLst/>
          </a:prstGeom>
          <a:solidFill>
            <a:srgbClr val="00925F"/>
          </a:solidFill>
          <a:ln/>
        </p:spPr>
      </p:sp>
      <p:sp>
        <p:nvSpPr>
          <p:cNvPr id="15" name="Text 13"/>
          <p:cNvSpPr/>
          <p:nvPr/>
        </p:nvSpPr>
        <p:spPr>
          <a:xfrm>
            <a:off x="5532120" y="4434840"/>
            <a:ext cx="1463040" cy="566928"/>
          </a:xfrm>
          <a:prstGeom prst="rect">
            <a:avLst/>
          </a:prstGeom>
          <a:noFill/>
          <a:ln/>
        </p:spPr>
        <p:txBody>
          <a:bodyPr wrap="square" lIns="0" tIns="0" rIns="0" bIns="0" rtlCol="0" anchor="ctr"/>
          <a:lstStyle/>
          <a:p>
            <a:pPr indent="0" marL="0">
              <a:buNone/>
            </a:pPr>
            <a:r>
              <a:rPr lang="en-US" sz="1250" b="1" dirty="0">
                <a:solidFill>
                  <a:srgbClr val="C7D4DB"/>
                </a:solidFill>
                <a:latin typeface="Calibri" pitchFamily="34" charset="0"/>
                <a:ea typeface="Calibri" pitchFamily="34" charset="-122"/>
                <a:cs typeface="Calibri" pitchFamily="34" charset="-120"/>
              </a:rPr>
              <a:t>AZ · Paris 3</a:t>
            </a:r>
            <a:endParaRPr lang="en-US" sz="1250" dirty="0"/>
          </a:p>
        </p:txBody>
      </p:sp>
      <p:sp>
        <p:nvSpPr>
          <p:cNvPr id="16" name="Text 14"/>
          <p:cNvSpPr/>
          <p:nvPr/>
        </p:nvSpPr>
        <p:spPr>
          <a:xfrm>
            <a:off x="777240" y="5138928"/>
            <a:ext cx="9144000" cy="320040"/>
          </a:xfrm>
          <a:prstGeom prst="rect">
            <a:avLst/>
          </a:prstGeom>
          <a:noFill/>
          <a:ln/>
        </p:spPr>
        <p:txBody>
          <a:bodyPr wrap="square" lIns="0" tIns="0" rIns="0" bIns="0" rtlCol="0" anchor="ctr"/>
          <a:lstStyle/>
          <a:p>
            <a:pPr indent="0" marL="0">
              <a:buNone/>
            </a:pPr>
            <a:r>
              <a:rPr lang="en-US" sz="1200" dirty="0">
                <a:solidFill>
                  <a:srgbClr val="7C8A80"/>
                </a:solidFill>
                <a:latin typeface="Calibri" pitchFamily="34" charset="0"/>
                <a:ea typeface="Calibri" pitchFamily="34" charset="-122"/>
                <a:cs typeface="Calibri" pitchFamily="34" charset="-120"/>
              </a:rPr>
              <a:t>6 workers  ·  3 zones de disponibilité  ·  OpenShift 4.18.33</a:t>
            </a:r>
            <a:endParaRPr lang="en-US" sz="1200" dirty="0"/>
          </a:p>
        </p:txBody>
      </p:sp>
      <p:sp>
        <p:nvSpPr>
          <p:cNvPr id="17" name="Shape 15"/>
          <p:cNvSpPr/>
          <p:nvPr/>
        </p:nvSpPr>
        <p:spPr>
          <a:xfrm>
            <a:off x="795528" y="5897880"/>
            <a:ext cx="2926080" cy="0"/>
          </a:xfrm>
          <a:prstGeom prst="line">
            <a:avLst/>
          </a:prstGeom>
          <a:noFill/>
          <a:ln w="22225">
            <a:solidFill>
              <a:srgbClr val="C2A24E"/>
            </a:solidFill>
            <a:prstDash val="solid"/>
          </a:ln>
        </p:spPr>
      </p:sp>
      <p:sp>
        <p:nvSpPr>
          <p:cNvPr id="18" name="Text 16"/>
          <p:cNvSpPr/>
          <p:nvPr/>
        </p:nvSpPr>
        <p:spPr>
          <a:xfrm>
            <a:off x="777240" y="5989320"/>
            <a:ext cx="7315200" cy="320040"/>
          </a:xfrm>
          <a:prstGeom prst="rect">
            <a:avLst/>
          </a:prstGeom>
          <a:noFill/>
          <a:ln/>
        </p:spPr>
        <p:txBody>
          <a:bodyPr wrap="square" lIns="0" tIns="0" rIns="0" bIns="0" rtlCol="0" anchor="ctr"/>
          <a:lstStyle/>
          <a:p>
            <a:pPr indent="0" marL="0">
              <a:buNone/>
            </a:pPr>
            <a:r>
              <a:rPr lang="en-US" sz="1100" dirty="0">
                <a:solidFill>
                  <a:srgbClr val="7C8A80"/>
                </a:solidFill>
                <a:latin typeface="Calibri" pitchFamily="34" charset="0"/>
                <a:ea typeface="Calibri" pitchFamily="34" charset="-122"/>
                <a:cs typeface="Calibri" pitchFamily="34" charset="-120"/>
              </a:rPr>
              <a:t>Architecture Cloud Native  —  Mai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CONTEXTE</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Votre cluster ROKS — point de départ</a:t>
            </a:r>
            <a:endParaRPr lang="en-US" sz="2700" dirty="0"/>
          </a:p>
        </p:txBody>
      </p:sp>
      <p:sp>
        <p:nvSpPr>
          <p:cNvPr id="4" name="Shape 2"/>
          <p:cNvSpPr/>
          <p:nvPr/>
        </p:nvSpPr>
        <p:spPr>
          <a:xfrm>
            <a:off x="502920" y="1417320"/>
            <a:ext cx="2606040" cy="1280160"/>
          </a:xfrm>
          <a:prstGeom prst="roundRect">
            <a:avLst>
              <a:gd name="adj" fmla="val 6429"/>
            </a:avLst>
          </a:prstGeom>
          <a:solidFill>
            <a:srgbClr val="F4F2EA"/>
          </a:solidFill>
          <a:ln w="12700">
            <a:solidFill>
              <a:srgbClr val="DED8C8"/>
            </a:solidFill>
            <a:prstDash val="solid"/>
          </a:ln>
        </p:spPr>
      </p:sp>
      <p:sp>
        <p:nvSpPr>
          <p:cNvPr id="5" name="Text 3"/>
          <p:cNvSpPr/>
          <p:nvPr/>
        </p:nvSpPr>
        <p:spPr>
          <a:xfrm>
            <a:off x="594360" y="1463040"/>
            <a:ext cx="2423160" cy="731520"/>
          </a:xfrm>
          <a:prstGeom prst="rect">
            <a:avLst/>
          </a:prstGeom>
          <a:noFill/>
          <a:ln/>
        </p:spPr>
        <p:txBody>
          <a:bodyPr wrap="square" lIns="0" tIns="0" rIns="0" bIns="0" rtlCol="0" anchor="ctr"/>
          <a:lstStyle/>
          <a:p>
            <a:pPr algn="ctr" indent="0" marL="0">
              <a:buNone/>
            </a:pPr>
            <a:r>
              <a:rPr lang="en-US" sz="4000" b="1" dirty="0">
                <a:solidFill>
                  <a:srgbClr val="00925F"/>
                </a:solidFill>
                <a:latin typeface="Georgia" pitchFamily="34" charset="0"/>
                <a:ea typeface="Georgia" pitchFamily="34" charset="-122"/>
                <a:cs typeface="Georgia" pitchFamily="34" charset="-120"/>
              </a:rPr>
              <a:t>6</a:t>
            </a:r>
            <a:endParaRPr lang="en-US" sz="4000" dirty="0"/>
          </a:p>
        </p:txBody>
      </p:sp>
      <p:sp>
        <p:nvSpPr>
          <p:cNvPr id="6" name="Text 4"/>
          <p:cNvSpPr/>
          <p:nvPr/>
        </p:nvSpPr>
        <p:spPr>
          <a:xfrm>
            <a:off x="594360" y="2212848"/>
            <a:ext cx="2423160" cy="411480"/>
          </a:xfrm>
          <a:prstGeom prst="rect">
            <a:avLst/>
          </a:prstGeom>
          <a:noFill/>
          <a:ln/>
        </p:spPr>
        <p:txBody>
          <a:bodyPr wrap="square" lIns="0" tIns="0" rIns="0" bIns="0" rtlCol="0" anchor="ctr"/>
          <a:lstStyle/>
          <a:p>
            <a:pPr algn="ctr" indent="0" marL="0">
              <a:buNone/>
            </a:pPr>
            <a:r>
              <a:rPr lang="en-US" sz="1200" dirty="0">
                <a:solidFill>
                  <a:srgbClr val="7C8A80"/>
                </a:solidFill>
                <a:latin typeface="Calibri" pitchFamily="34" charset="0"/>
                <a:ea typeface="Calibri" pitchFamily="34" charset="-122"/>
                <a:cs typeface="Calibri" pitchFamily="34" charset="-120"/>
              </a:rPr>
              <a:t>nœuds worker</a:t>
            </a:r>
            <a:endParaRPr lang="en-US" sz="1200" dirty="0"/>
          </a:p>
        </p:txBody>
      </p:sp>
      <p:sp>
        <p:nvSpPr>
          <p:cNvPr id="7" name="Shape 5"/>
          <p:cNvSpPr/>
          <p:nvPr/>
        </p:nvSpPr>
        <p:spPr>
          <a:xfrm>
            <a:off x="3337560" y="1417320"/>
            <a:ext cx="2606040" cy="1280160"/>
          </a:xfrm>
          <a:prstGeom prst="roundRect">
            <a:avLst>
              <a:gd name="adj" fmla="val 6429"/>
            </a:avLst>
          </a:prstGeom>
          <a:solidFill>
            <a:srgbClr val="F4F2EA"/>
          </a:solidFill>
          <a:ln w="12700">
            <a:solidFill>
              <a:srgbClr val="DED8C8"/>
            </a:solidFill>
            <a:prstDash val="solid"/>
          </a:ln>
        </p:spPr>
      </p:sp>
      <p:sp>
        <p:nvSpPr>
          <p:cNvPr id="8" name="Text 6"/>
          <p:cNvSpPr/>
          <p:nvPr/>
        </p:nvSpPr>
        <p:spPr>
          <a:xfrm>
            <a:off x="3429000" y="1463040"/>
            <a:ext cx="2423160" cy="731520"/>
          </a:xfrm>
          <a:prstGeom prst="rect">
            <a:avLst/>
          </a:prstGeom>
          <a:noFill/>
          <a:ln/>
        </p:spPr>
        <p:txBody>
          <a:bodyPr wrap="square" lIns="0" tIns="0" rIns="0" bIns="0" rtlCol="0" anchor="ctr"/>
          <a:lstStyle/>
          <a:p>
            <a:pPr algn="ctr" indent="0" marL="0">
              <a:buNone/>
            </a:pPr>
            <a:r>
              <a:rPr lang="en-US" sz="4000" b="1" dirty="0">
                <a:solidFill>
                  <a:srgbClr val="00925F"/>
                </a:solidFill>
                <a:latin typeface="Georgia" pitchFamily="34" charset="0"/>
                <a:ea typeface="Georgia" pitchFamily="34" charset="-122"/>
                <a:cs typeface="Georgia" pitchFamily="34" charset="-120"/>
              </a:rPr>
              <a:t>3</a:t>
            </a:r>
            <a:endParaRPr lang="en-US" sz="4000" dirty="0"/>
          </a:p>
        </p:txBody>
      </p:sp>
      <p:sp>
        <p:nvSpPr>
          <p:cNvPr id="9" name="Text 7"/>
          <p:cNvSpPr/>
          <p:nvPr/>
        </p:nvSpPr>
        <p:spPr>
          <a:xfrm>
            <a:off x="3429000" y="2212848"/>
            <a:ext cx="2423160" cy="411480"/>
          </a:xfrm>
          <a:prstGeom prst="rect">
            <a:avLst/>
          </a:prstGeom>
          <a:noFill/>
          <a:ln/>
        </p:spPr>
        <p:txBody>
          <a:bodyPr wrap="square" lIns="0" tIns="0" rIns="0" bIns="0" rtlCol="0" anchor="ctr"/>
          <a:lstStyle/>
          <a:p>
            <a:pPr algn="ctr" indent="0" marL="0">
              <a:buNone/>
            </a:pPr>
            <a:r>
              <a:rPr lang="en-US" sz="1200" dirty="0">
                <a:solidFill>
                  <a:srgbClr val="7C8A80"/>
                </a:solidFill>
                <a:latin typeface="Calibri" pitchFamily="34" charset="0"/>
                <a:ea typeface="Calibri" pitchFamily="34" charset="-122"/>
                <a:cs typeface="Calibri" pitchFamily="34" charset="-120"/>
              </a:rPr>
              <a:t>zones (Paris 1·2·3)</a:t>
            </a:r>
            <a:endParaRPr lang="en-US" sz="1200" dirty="0"/>
          </a:p>
        </p:txBody>
      </p:sp>
      <p:sp>
        <p:nvSpPr>
          <p:cNvPr id="10" name="Shape 8"/>
          <p:cNvSpPr/>
          <p:nvPr/>
        </p:nvSpPr>
        <p:spPr>
          <a:xfrm>
            <a:off x="6172200" y="1417320"/>
            <a:ext cx="2606040" cy="1280160"/>
          </a:xfrm>
          <a:prstGeom prst="roundRect">
            <a:avLst>
              <a:gd name="adj" fmla="val 6429"/>
            </a:avLst>
          </a:prstGeom>
          <a:solidFill>
            <a:srgbClr val="F4F2EA"/>
          </a:solidFill>
          <a:ln w="12700">
            <a:solidFill>
              <a:srgbClr val="DED8C8"/>
            </a:solidFill>
            <a:prstDash val="solid"/>
          </a:ln>
        </p:spPr>
      </p:sp>
      <p:sp>
        <p:nvSpPr>
          <p:cNvPr id="11" name="Text 9"/>
          <p:cNvSpPr/>
          <p:nvPr/>
        </p:nvSpPr>
        <p:spPr>
          <a:xfrm>
            <a:off x="6263640" y="1463040"/>
            <a:ext cx="2423160" cy="731520"/>
          </a:xfrm>
          <a:prstGeom prst="rect">
            <a:avLst/>
          </a:prstGeom>
          <a:noFill/>
          <a:ln/>
        </p:spPr>
        <p:txBody>
          <a:bodyPr wrap="square" lIns="0" tIns="0" rIns="0" bIns="0" rtlCol="0" anchor="ctr"/>
          <a:lstStyle/>
          <a:p>
            <a:pPr algn="ctr" indent="0" marL="0">
              <a:buNone/>
            </a:pPr>
            <a:r>
              <a:rPr lang="en-US" sz="4000" b="1" dirty="0">
                <a:solidFill>
                  <a:srgbClr val="00925F"/>
                </a:solidFill>
                <a:latin typeface="Georgia" pitchFamily="34" charset="0"/>
                <a:ea typeface="Georgia" pitchFamily="34" charset="-122"/>
                <a:cs typeface="Georgia" pitchFamily="34" charset="-120"/>
              </a:rPr>
              <a:t>2</a:t>
            </a:r>
            <a:endParaRPr lang="en-US" sz="4000" dirty="0"/>
          </a:p>
        </p:txBody>
      </p:sp>
      <p:sp>
        <p:nvSpPr>
          <p:cNvPr id="12" name="Text 10"/>
          <p:cNvSpPr/>
          <p:nvPr/>
        </p:nvSpPr>
        <p:spPr>
          <a:xfrm>
            <a:off x="6263640" y="2212848"/>
            <a:ext cx="2423160" cy="411480"/>
          </a:xfrm>
          <a:prstGeom prst="rect">
            <a:avLst/>
          </a:prstGeom>
          <a:noFill/>
          <a:ln/>
        </p:spPr>
        <p:txBody>
          <a:bodyPr wrap="square" lIns="0" tIns="0" rIns="0" bIns="0" rtlCol="0" anchor="ctr"/>
          <a:lstStyle/>
          <a:p>
            <a:pPr algn="ctr" indent="0" marL="0">
              <a:buNone/>
            </a:pPr>
            <a:r>
              <a:rPr lang="en-US" sz="1200" dirty="0">
                <a:solidFill>
                  <a:srgbClr val="7C8A80"/>
                </a:solidFill>
                <a:latin typeface="Calibri" pitchFamily="34" charset="0"/>
                <a:ea typeface="Calibri" pitchFamily="34" charset="-122"/>
                <a:cs typeface="Calibri" pitchFamily="34" charset="-120"/>
              </a:rPr>
              <a:t>workers par AZ</a:t>
            </a:r>
            <a:endParaRPr lang="en-US" sz="1200" dirty="0"/>
          </a:p>
        </p:txBody>
      </p:sp>
      <p:sp>
        <p:nvSpPr>
          <p:cNvPr id="13" name="Shape 11"/>
          <p:cNvSpPr/>
          <p:nvPr/>
        </p:nvSpPr>
        <p:spPr>
          <a:xfrm>
            <a:off x="9006840" y="1417320"/>
            <a:ext cx="2606040" cy="1280160"/>
          </a:xfrm>
          <a:prstGeom prst="roundRect">
            <a:avLst>
              <a:gd name="adj" fmla="val 6429"/>
            </a:avLst>
          </a:prstGeom>
          <a:solidFill>
            <a:srgbClr val="F4F2EA"/>
          </a:solidFill>
          <a:ln w="12700">
            <a:solidFill>
              <a:srgbClr val="DED8C8"/>
            </a:solidFill>
            <a:prstDash val="solid"/>
          </a:ln>
        </p:spPr>
      </p:sp>
      <p:sp>
        <p:nvSpPr>
          <p:cNvPr id="14" name="Text 12"/>
          <p:cNvSpPr/>
          <p:nvPr/>
        </p:nvSpPr>
        <p:spPr>
          <a:xfrm>
            <a:off x="9098280" y="1463040"/>
            <a:ext cx="2423160" cy="731520"/>
          </a:xfrm>
          <a:prstGeom prst="rect">
            <a:avLst/>
          </a:prstGeom>
          <a:noFill/>
          <a:ln/>
        </p:spPr>
        <p:txBody>
          <a:bodyPr wrap="square" lIns="0" tIns="0" rIns="0" bIns="0" rtlCol="0" anchor="ctr"/>
          <a:lstStyle/>
          <a:p>
            <a:pPr algn="ctr" indent="0" marL="0">
              <a:buNone/>
            </a:pPr>
            <a:r>
              <a:rPr lang="en-US" sz="4000" b="1" dirty="0">
                <a:solidFill>
                  <a:srgbClr val="00925F"/>
                </a:solidFill>
                <a:latin typeface="Georgia" pitchFamily="34" charset="0"/>
                <a:ea typeface="Georgia" pitchFamily="34" charset="-122"/>
                <a:cs typeface="Georgia" pitchFamily="34" charset="-120"/>
              </a:rPr>
              <a:t>4.18</a:t>
            </a:r>
            <a:endParaRPr lang="en-US" sz="4000" dirty="0"/>
          </a:p>
        </p:txBody>
      </p:sp>
      <p:sp>
        <p:nvSpPr>
          <p:cNvPr id="15" name="Text 13"/>
          <p:cNvSpPr/>
          <p:nvPr/>
        </p:nvSpPr>
        <p:spPr>
          <a:xfrm>
            <a:off x="9098280" y="2212848"/>
            <a:ext cx="2423160" cy="411480"/>
          </a:xfrm>
          <a:prstGeom prst="rect">
            <a:avLst/>
          </a:prstGeom>
          <a:noFill/>
          <a:ln/>
        </p:spPr>
        <p:txBody>
          <a:bodyPr wrap="square" lIns="0" tIns="0" rIns="0" bIns="0" rtlCol="0" anchor="ctr"/>
          <a:lstStyle/>
          <a:p>
            <a:pPr algn="ctr" indent="0" marL="0">
              <a:buNone/>
            </a:pPr>
            <a:r>
              <a:rPr lang="en-US" sz="1200" dirty="0">
                <a:solidFill>
                  <a:srgbClr val="7C8A80"/>
                </a:solidFill>
                <a:latin typeface="Calibri" pitchFamily="34" charset="0"/>
                <a:ea typeface="Calibri" pitchFamily="34" charset="-122"/>
                <a:cs typeface="Calibri" pitchFamily="34" charset="-120"/>
              </a:rPr>
              <a:t>version OpenShift</a:t>
            </a:r>
            <a:endParaRPr lang="en-US" sz="1200" dirty="0"/>
          </a:p>
        </p:txBody>
      </p:sp>
      <p:sp>
        <p:nvSpPr>
          <p:cNvPr id="16" name="Text 14"/>
          <p:cNvSpPr/>
          <p:nvPr/>
        </p:nvSpPr>
        <p:spPr>
          <a:xfrm>
            <a:off x="502920" y="2999232"/>
            <a:ext cx="10058400" cy="274320"/>
          </a:xfrm>
          <a:prstGeom prst="rect">
            <a:avLst/>
          </a:prstGeom>
          <a:noFill/>
          <a:ln/>
        </p:spPr>
        <p:txBody>
          <a:bodyPr wrap="square" lIns="0" tIns="0" rIns="0" bIns="0" rtlCol="0" anchor="ctr"/>
          <a:lstStyle/>
          <a:p>
            <a:pPr indent="0" marL="0">
              <a:buNone/>
            </a:pPr>
            <a:r>
              <a:rPr lang="en-US" sz="1100" b="1" spc="150" kern="0" dirty="0">
                <a:solidFill>
                  <a:srgbClr val="164032"/>
                </a:solidFill>
                <a:latin typeface="Calibri" pitchFamily="34" charset="0"/>
                <a:ea typeface="Calibri" pitchFamily="34" charset="-122"/>
                <a:cs typeface="Calibri" pitchFamily="34" charset="-120"/>
              </a:rPr>
              <a:t>RÉGION PARIS — POOL UNIQUE  wpool-38ad19c0…</a:t>
            </a:r>
            <a:endParaRPr lang="en-US" sz="1100" dirty="0"/>
          </a:p>
        </p:txBody>
      </p:sp>
      <p:sp>
        <p:nvSpPr>
          <p:cNvPr id="17" name="Shape 15"/>
          <p:cNvSpPr/>
          <p:nvPr/>
        </p:nvSpPr>
        <p:spPr>
          <a:xfrm>
            <a:off x="539496" y="3310128"/>
            <a:ext cx="3456432" cy="2505456"/>
          </a:xfrm>
          <a:prstGeom prst="roundRect">
            <a:avLst>
              <a:gd name="adj" fmla="val 2920"/>
            </a:avLst>
          </a:prstGeom>
          <a:solidFill>
            <a:srgbClr val="FFFFFF"/>
          </a:solidFill>
          <a:ln w="15875">
            <a:solidFill>
              <a:srgbClr val="00925F"/>
            </a:solidFill>
            <a:prstDash val="dash"/>
          </a:ln>
        </p:spPr>
      </p:sp>
      <p:sp>
        <p:nvSpPr>
          <p:cNvPr id="18" name="Shape 16"/>
          <p:cNvSpPr/>
          <p:nvPr/>
        </p:nvSpPr>
        <p:spPr>
          <a:xfrm>
            <a:off x="539496" y="3310128"/>
            <a:ext cx="3456432" cy="457200"/>
          </a:xfrm>
          <a:prstGeom prst="rect">
            <a:avLst/>
          </a:prstGeom>
          <a:solidFill>
            <a:srgbClr val="00925F"/>
          </a:solidFill>
          <a:ln/>
        </p:spPr>
      </p:sp>
      <p:sp>
        <p:nvSpPr>
          <p:cNvPr id="19" name="Text 17"/>
          <p:cNvSpPr/>
          <p:nvPr/>
        </p:nvSpPr>
        <p:spPr>
          <a:xfrm>
            <a:off x="676656" y="3310128"/>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AZ — Paris 1</a:t>
            </a:r>
            <a:endParaRPr lang="en-US" sz="1250" dirty="0"/>
          </a:p>
        </p:txBody>
      </p:sp>
      <p:sp>
        <p:nvSpPr>
          <p:cNvPr id="20" name="Shape 18"/>
          <p:cNvSpPr/>
          <p:nvPr/>
        </p:nvSpPr>
        <p:spPr>
          <a:xfrm>
            <a:off x="740664" y="3931920"/>
            <a:ext cx="1481328" cy="1664208"/>
          </a:xfrm>
          <a:prstGeom prst="roundRect">
            <a:avLst>
              <a:gd name="adj" fmla="val 4321"/>
            </a:avLst>
          </a:prstGeom>
          <a:solidFill>
            <a:srgbClr val="F4F2EA"/>
          </a:solidFill>
          <a:ln w="12700">
            <a:solidFill>
              <a:srgbClr val="DED8C8"/>
            </a:solidFill>
            <a:prstDash val="solid"/>
          </a:ln>
        </p:spPr>
      </p:sp>
      <p:pic>
        <p:nvPicPr>
          <p:cNvPr id="21" name="Image 0" descr="preencoded.png">    </p:cNvPr>
          <p:cNvPicPr>
            <a:picLocks noChangeAspect="1"/>
          </p:cNvPicPr>
          <p:nvPr/>
        </p:nvPicPr>
        <p:blipFill>
          <a:blip r:embed="rId1"/>
          <a:stretch>
            <a:fillRect/>
          </a:stretch>
        </p:blipFill>
        <p:spPr>
          <a:xfrm>
            <a:off x="1280160" y="4114800"/>
            <a:ext cx="402336" cy="402336"/>
          </a:xfrm>
          <a:prstGeom prst="rect">
            <a:avLst/>
          </a:prstGeom>
        </p:spPr>
      </p:pic>
      <p:sp>
        <p:nvSpPr>
          <p:cNvPr id="22" name="Text 19"/>
          <p:cNvSpPr/>
          <p:nvPr/>
        </p:nvSpPr>
        <p:spPr>
          <a:xfrm>
            <a:off x="740664"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23" name="Shape 20"/>
          <p:cNvSpPr/>
          <p:nvPr/>
        </p:nvSpPr>
        <p:spPr>
          <a:xfrm>
            <a:off x="978408" y="4882896"/>
            <a:ext cx="1005840" cy="310896"/>
          </a:xfrm>
          <a:prstGeom prst="roundRect">
            <a:avLst>
              <a:gd name="adj" fmla="val 50000"/>
            </a:avLst>
          </a:prstGeom>
          <a:solidFill>
            <a:srgbClr val="E3F1F0"/>
          </a:solidFill>
          <a:ln/>
        </p:spPr>
      </p:sp>
      <p:sp>
        <p:nvSpPr>
          <p:cNvPr id="24" name="Text 21"/>
          <p:cNvSpPr/>
          <p:nvPr/>
        </p:nvSpPr>
        <p:spPr>
          <a:xfrm>
            <a:off x="978408"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25" name="Shape 22"/>
          <p:cNvSpPr/>
          <p:nvPr/>
        </p:nvSpPr>
        <p:spPr>
          <a:xfrm>
            <a:off x="2368296" y="3931920"/>
            <a:ext cx="1481328" cy="1664208"/>
          </a:xfrm>
          <a:prstGeom prst="roundRect">
            <a:avLst>
              <a:gd name="adj" fmla="val 4321"/>
            </a:avLst>
          </a:prstGeom>
          <a:solidFill>
            <a:srgbClr val="F4F2EA"/>
          </a:solidFill>
          <a:ln w="12700">
            <a:solidFill>
              <a:srgbClr val="DED8C8"/>
            </a:solidFill>
            <a:prstDash val="solid"/>
          </a:ln>
        </p:spPr>
      </p:sp>
      <p:pic>
        <p:nvPicPr>
          <p:cNvPr id="26" name="Image 1" descr="preencoded.png">    </p:cNvPr>
          <p:cNvPicPr>
            <a:picLocks noChangeAspect="1"/>
          </p:cNvPicPr>
          <p:nvPr/>
        </p:nvPicPr>
        <p:blipFill>
          <a:blip r:embed="rId2"/>
          <a:stretch>
            <a:fillRect/>
          </a:stretch>
        </p:blipFill>
        <p:spPr>
          <a:xfrm>
            <a:off x="2907792" y="4114800"/>
            <a:ext cx="402336" cy="402336"/>
          </a:xfrm>
          <a:prstGeom prst="rect">
            <a:avLst/>
          </a:prstGeom>
        </p:spPr>
      </p:pic>
      <p:sp>
        <p:nvSpPr>
          <p:cNvPr id="27" name="Text 23"/>
          <p:cNvSpPr/>
          <p:nvPr/>
        </p:nvSpPr>
        <p:spPr>
          <a:xfrm>
            <a:off x="2368296"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28" name="Shape 24"/>
          <p:cNvSpPr/>
          <p:nvPr/>
        </p:nvSpPr>
        <p:spPr>
          <a:xfrm>
            <a:off x="2606040" y="4882896"/>
            <a:ext cx="1005840" cy="310896"/>
          </a:xfrm>
          <a:prstGeom prst="roundRect">
            <a:avLst>
              <a:gd name="adj" fmla="val 50000"/>
            </a:avLst>
          </a:prstGeom>
          <a:solidFill>
            <a:srgbClr val="E3F1F0"/>
          </a:solidFill>
          <a:ln/>
        </p:spPr>
      </p:sp>
      <p:sp>
        <p:nvSpPr>
          <p:cNvPr id="29" name="Text 25"/>
          <p:cNvSpPr/>
          <p:nvPr/>
        </p:nvSpPr>
        <p:spPr>
          <a:xfrm>
            <a:off x="2606040"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30" name="Shape 26"/>
          <p:cNvSpPr/>
          <p:nvPr/>
        </p:nvSpPr>
        <p:spPr>
          <a:xfrm>
            <a:off x="4261104" y="3310128"/>
            <a:ext cx="3456432" cy="2505456"/>
          </a:xfrm>
          <a:prstGeom prst="roundRect">
            <a:avLst>
              <a:gd name="adj" fmla="val 2920"/>
            </a:avLst>
          </a:prstGeom>
          <a:solidFill>
            <a:srgbClr val="FFFFFF"/>
          </a:solidFill>
          <a:ln w="15875">
            <a:solidFill>
              <a:srgbClr val="00925F"/>
            </a:solidFill>
            <a:prstDash val="dash"/>
          </a:ln>
        </p:spPr>
      </p:sp>
      <p:sp>
        <p:nvSpPr>
          <p:cNvPr id="31" name="Shape 27"/>
          <p:cNvSpPr/>
          <p:nvPr/>
        </p:nvSpPr>
        <p:spPr>
          <a:xfrm>
            <a:off x="4261104" y="3310128"/>
            <a:ext cx="3456432" cy="457200"/>
          </a:xfrm>
          <a:prstGeom prst="rect">
            <a:avLst/>
          </a:prstGeom>
          <a:solidFill>
            <a:srgbClr val="00925F"/>
          </a:solidFill>
          <a:ln/>
        </p:spPr>
      </p:sp>
      <p:sp>
        <p:nvSpPr>
          <p:cNvPr id="32" name="Text 28"/>
          <p:cNvSpPr/>
          <p:nvPr/>
        </p:nvSpPr>
        <p:spPr>
          <a:xfrm>
            <a:off x="4398264" y="3310128"/>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AZ — Paris 2</a:t>
            </a:r>
            <a:endParaRPr lang="en-US" sz="1250" dirty="0"/>
          </a:p>
        </p:txBody>
      </p:sp>
      <p:sp>
        <p:nvSpPr>
          <p:cNvPr id="33" name="Shape 29"/>
          <p:cNvSpPr/>
          <p:nvPr/>
        </p:nvSpPr>
        <p:spPr>
          <a:xfrm>
            <a:off x="4462272" y="3931920"/>
            <a:ext cx="1481328" cy="1664208"/>
          </a:xfrm>
          <a:prstGeom prst="roundRect">
            <a:avLst>
              <a:gd name="adj" fmla="val 4321"/>
            </a:avLst>
          </a:prstGeom>
          <a:solidFill>
            <a:srgbClr val="F4F2EA"/>
          </a:solidFill>
          <a:ln w="12700">
            <a:solidFill>
              <a:srgbClr val="DED8C8"/>
            </a:solidFill>
            <a:prstDash val="solid"/>
          </a:ln>
        </p:spPr>
      </p:sp>
      <p:pic>
        <p:nvPicPr>
          <p:cNvPr id="34" name="Image 2" descr="preencoded.png">    </p:cNvPr>
          <p:cNvPicPr>
            <a:picLocks noChangeAspect="1"/>
          </p:cNvPicPr>
          <p:nvPr/>
        </p:nvPicPr>
        <p:blipFill>
          <a:blip r:embed="rId3"/>
          <a:stretch>
            <a:fillRect/>
          </a:stretch>
        </p:blipFill>
        <p:spPr>
          <a:xfrm>
            <a:off x="5001768" y="4114800"/>
            <a:ext cx="402336" cy="402336"/>
          </a:xfrm>
          <a:prstGeom prst="rect">
            <a:avLst/>
          </a:prstGeom>
        </p:spPr>
      </p:pic>
      <p:sp>
        <p:nvSpPr>
          <p:cNvPr id="35" name="Text 30"/>
          <p:cNvSpPr/>
          <p:nvPr/>
        </p:nvSpPr>
        <p:spPr>
          <a:xfrm>
            <a:off x="4462272"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36" name="Shape 31"/>
          <p:cNvSpPr/>
          <p:nvPr/>
        </p:nvSpPr>
        <p:spPr>
          <a:xfrm>
            <a:off x="4700016" y="4882896"/>
            <a:ext cx="1005840" cy="310896"/>
          </a:xfrm>
          <a:prstGeom prst="roundRect">
            <a:avLst>
              <a:gd name="adj" fmla="val 50000"/>
            </a:avLst>
          </a:prstGeom>
          <a:solidFill>
            <a:srgbClr val="E3F1F0"/>
          </a:solidFill>
          <a:ln/>
        </p:spPr>
      </p:sp>
      <p:sp>
        <p:nvSpPr>
          <p:cNvPr id="37" name="Text 32"/>
          <p:cNvSpPr/>
          <p:nvPr/>
        </p:nvSpPr>
        <p:spPr>
          <a:xfrm>
            <a:off x="4700016"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38" name="Shape 33"/>
          <p:cNvSpPr/>
          <p:nvPr/>
        </p:nvSpPr>
        <p:spPr>
          <a:xfrm>
            <a:off x="6089904" y="3931920"/>
            <a:ext cx="1481328" cy="1664208"/>
          </a:xfrm>
          <a:prstGeom prst="roundRect">
            <a:avLst>
              <a:gd name="adj" fmla="val 4321"/>
            </a:avLst>
          </a:prstGeom>
          <a:solidFill>
            <a:srgbClr val="F4F2EA"/>
          </a:solidFill>
          <a:ln w="12700">
            <a:solidFill>
              <a:srgbClr val="DED8C8"/>
            </a:solidFill>
            <a:prstDash val="solid"/>
          </a:ln>
        </p:spPr>
      </p:sp>
      <p:pic>
        <p:nvPicPr>
          <p:cNvPr id="39" name="Image 3" descr="preencoded.png">    </p:cNvPr>
          <p:cNvPicPr>
            <a:picLocks noChangeAspect="1"/>
          </p:cNvPicPr>
          <p:nvPr/>
        </p:nvPicPr>
        <p:blipFill>
          <a:blip r:embed="rId4"/>
          <a:stretch>
            <a:fillRect/>
          </a:stretch>
        </p:blipFill>
        <p:spPr>
          <a:xfrm>
            <a:off x="6629400" y="4114800"/>
            <a:ext cx="402336" cy="402336"/>
          </a:xfrm>
          <a:prstGeom prst="rect">
            <a:avLst/>
          </a:prstGeom>
        </p:spPr>
      </p:pic>
      <p:sp>
        <p:nvSpPr>
          <p:cNvPr id="40" name="Text 34"/>
          <p:cNvSpPr/>
          <p:nvPr/>
        </p:nvSpPr>
        <p:spPr>
          <a:xfrm>
            <a:off x="6089904"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41" name="Shape 35"/>
          <p:cNvSpPr/>
          <p:nvPr/>
        </p:nvSpPr>
        <p:spPr>
          <a:xfrm>
            <a:off x="6327648" y="4882896"/>
            <a:ext cx="1005840" cy="310896"/>
          </a:xfrm>
          <a:prstGeom prst="roundRect">
            <a:avLst>
              <a:gd name="adj" fmla="val 50000"/>
            </a:avLst>
          </a:prstGeom>
          <a:solidFill>
            <a:srgbClr val="E3F1F0"/>
          </a:solidFill>
          <a:ln/>
        </p:spPr>
      </p:sp>
      <p:sp>
        <p:nvSpPr>
          <p:cNvPr id="42" name="Text 36"/>
          <p:cNvSpPr/>
          <p:nvPr/>
        </p:nvSpPr>
        <p:spPr>
          <a:xfrm>
            <a:off x="6327648"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43" name="Shape 37"/>
          <p:cNvSpPr/>
          <p:nvPr/>
        </p:nvSpPr>
        <p:spPr>
          <a:xfrm>
            <a:off x="7982712" y="3310128"/>
            <a:ext cx="3456432" cy="2505456"/>
          </a:xfrm>
          <a:prstGeom prst="roundRect">
            <a:avLst>
              <a:gd name="adj" fmla="val 2920"/>
            </a:avLst>
          </a:prstGeom>
          <a:solidFill>
            <a:srgbClr val="FFFFFF"/>
          </a:solidFill>
          <a:ln w="15875">
            <a:solidFill>
              <a:srgbClr val="00925F"/>
            </a:solidFill>
            <a:prstDash val="dash"/>
          </a:ln>
        </p:spPr>
      </p:sp>
      <p:sp>
        <p:nvSpPr>
          <p:cNvPr id="44" name="Shape 38"/>
          <p:cNvSpPr/>
          <p:nvPr/>
        </p:nvSpPr>
        <p:spPr>
          <a:xfrm>
            <a:off x="7982712" y="3310128"/>
            <a:ext cx="3456432" cy="457200"/>
          </a:xfrm>
          <a:prstGeom prst="rect">
            <a:avLst/>
          </a:prstGeom>
          <a:solidFill>
            <a:srgbClr val="00925F"/>
          </a:solidFill>
          <a:ln/>
        </p:spPr>
      </p:sp>
      <p:sp>
        <p:nvSpPr>
          <p:cNvPr id="45" name="Text 39"/>
          <p:cNvSpPr/>
          <p:nvPr/>
        </p:nvSpPr>
        <p:spPr>
          <a:xfrm>
            <a:off x="8119872" y="3310128"/>
            <a:ext cx="3200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AZ — Paris 3</a:t>
            </a:r>
            <a:endParaRPr lang="en-US" sz="1250" dirty="0"/>
          </a:p>
        </p:txBody>
      </p:sp>
      <p:sp>
        <p:nvSpPr>
          <p:cNvPr id="46" name="Shape 40"/>
          <p:cNvSpPr/>
          <p:nvPr/>
        </p:nvSpPr>
        <p:spPr>
          <a:xfrm>
            <a:off x="8183880" y="3931920"/>
            <a:ext cx="1481328" cy="1664208"/>
          </a:xfrm>
          <a:prstGeom prst="roundRect">
            <a:avLst>
              <a:gd name="adj" fmla="val 4321"/>
            </a:avLst>
          </a:prstGeom>
          <a:solidFill>
            <a:srgbClr val="F4F2EA"/>
          </a:solidFill>
          <a:ln w="12700">
            <a:solidFill>
              <a:srgbClr val="DED8C8"/>
            </a:solidFill>
            <a:prstDash val="solid"/>
          </a:ln>
        </p:spPr>
      </p:sp>
      <p:pic>
        <p:nvPicPr>
          <p:cNvPr id="47" name="Image 4" descr="preencoded.png">    </p:cNvPr>
          <p:cNvPicPr>
            <a:picLocks noChangeAspect="1"/>
          </p:cNvPicPr>
          <p:nvPr/>
        </p:nvPicPr>
        <p:blipFill>
          <a:blip r:embed="rId5"/>
          <a:stretch>
            <a:fillRect/>
          </a:stretch>
        </p:blipFill>
        <p:spPr>
          <a:xfrm>
            <a:off x="8723376" y="4114800"/>
            <a:ext cx="402336" cy="402336"/>
          </a:xfrm>
          <a:prstGeom prst="rect">
            <a:avLst/>
          </a:prstGeom>
        </p:spPr>
      </p:pic>
      <p:sp>
        <p:nvSpPr>
          <p:cNvPr id="48" name="Text 41"/>
          <p:cNvSpPr/>
          <p:nvPr/>
        </p:nvSpPr>
        <p:spPr>
          <a:xfrm>
            <a:off x="8183880"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49" name="Shape 42"/>
          <p:cNvSpPr/>
          <p:nvPr/>
        </p:nvSpPr>
        <p:spPr>
          <a:xfrm>
            <a:off x="8421624" y="4882896"/>
            <a:ext cx="1005840" cy="310896"/>
          </a:xfrm>
          <a:prstGeom prst="roundRect">
            <a:avLst>
              <a:gd name="adj" fmla="val 50000"/>
            </a:avLst>
          </a:prstGeom>
          <a:solidFill>
            <a:srgbClr val="E3F1F0"/>
          </a:solidFill>
          <a:ln/>
        </p:spPr>
      </p:sp>
      <p:sp>
        <p:nvSpPr>
          <p:cNvPr id="50" name="Text 43"/>
          <p:cNvSpPr/>
          <p:nvPr/>
        </p:nvSpPr>
        <p:spPr>
          <a:xfrm>
            <a:off x="8421624"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51" name="Shape 44"/>
          <p:cNvSpPr/>
          <p:nvPr/>
        </p:nvSpPr>
        <p:spPr>
          <a:xfrm>
            <a:off x="9811512" y="3931920"/>
            <a:ext cx="1481328" cy="1664208"/>
          </a:xfrm>
          <a:prstGeom prst="roundRect">
            <a:avLst>
              <a:gd name="adj" fmla="val 4321"/>
            </a:avLst>
          </a:prstGeom>
          <a:solidFill>
            <a:srgbClr val="F4F2EA"/>
          </a:solidFill>
          <a:ln w="12700">
            <a:solidFill>
              <a:srgbClr val="DED8C8"/>
            </a:solidFill>
            <a:prstDash val="solid"/>
          </a:ln>
        </p:spPr>
      </p:sp>
      <p:pic>
        <p:nvPicPr>
          <p:cNvPr id="52" name="Image 5" descr="preencoded.png">    </p:cNvPr>
          <p:cNvPicPr>
            <a:picLocks noChangeAspect="1"/>
          </p:cNvPicPr>
          <p:nvPr/>
        </p:nvPicPr>
        <p:blipFill>
          <a:blip r:embed="rId6"/>
          <a:stretch>
            <a:fillRect/>
          </a:stretch>
        </p:blipFill>
        <p:spPr>
          <a:xfrm>
            <a:off x="10351008" y="4114800"/>
            <a:ext cx="402336" cy="402336"/>
          </a:xfrm>
          <a:prstGeom prst="rect">
            <a:avLst/>
          </a:prstGeom>
        </p:spPr>
      </p:pic>
      <p:sp>
        <p:nvSpPr>
          <p:cNvPr id="53" name="Text 45"/>
          <p:cNvSpPr/>
          <p:nvPr/>
        </p:nvSpPr>
        <p:spPr>
          <a:xfrm>
            <a:off x="9811512" y="4572000"/>
            <a:ext cx="1481328" cy="274320"/>
          </a:xfrm>
          <a:prstGeom prst="rect">
            <a:avLst/>
          </a:prstGeom>
          <a:noFill/>
          <a:ln/>
        </p:spPr>
        <p:txBody>
          <a:bodyPr wrap="square" lIns="0" tIns="0" rIns="0" bIns="0" rtlCol="0" anchor="ctr"/>
          <a:lstStyle/>
          <a:p>
            <a:pPr algn="ctr" indent="0" marL="0">
              <a:buNone/>
            </a:pPr>
            <a:r>
              <a:rPr lang="en-US" sz="1100" b="1" dirty="0">
                <a:solidFill>
                  <a:srgbClr val="26352C"/>
                </a:solidFill>
                <a:latin typeface="Calibri" pitchFamily="34" charset="0"/>
                <a:ea typeface="Calibri" pitchFamily="34" charset="-122"/>
                <a:cs typeface="Calibri" pitchFamily="34" charset="-120"/>
              </a:rPr>
              <a:t>worker</a:t>
            </a:r>
            <a:endParaRPr lang="en-US" sz="1100" dirty="0"/>
          </a:p>
        </p:txBody>
      </p:sp>
      <p:sp>
        <p:nvSpPr>
          <p:cNvPr id="54" name="Shape 46"/>
          <p:cNvSpPr/>
          <p:nvPr/>
        </p:nvSpPr>
        <p:spPr>
          <a:xfrm>
            <a:off x="10049256" y="4882896"/>
            <a:ext cx="1005840" cy="310896"/>
          </a:xfrm>
          <a:prstGeom prst="roundRect">
            <a:avLst>
              <a:gd name="adj" fmla="val 50000"/>
            </a:avLst>
          </a:prstGeom>
          <a:solidFill>
            <a:srgbClr val="E3F1F0"/>
          </a:solidFill>
          <a:ln/>
        </p:spPr>
      </p:sp>
      <p:sp>
        <p:nvSpPr>
          <p:cNvPr id="55" name="Text 47"/>
          <p:cNvSpPr/>
          <p:nvPr/>
        </p:nvSpPr>
        <p:spPr>
          <a:xfrm>
            <a:off x="10049256" y="4882896"/>
            <a:ext cx="1005840" cy="310896"/>
          </a:xfrm>
          <a:prstGeom prst="rect">
            <a:avLst/>
          </a:prstGeom>
          <a:noFill/>
          <a:ln/>
        </p:spPr>
        <p:txBody>
          <a:bodyPr wrap="square" lIns="0" tIns="0" rIns="0" bIns="0" rtlCol="0" anchor="ctr"/>
          <a:lstStyle/>
          <a:p>
            <a:pPr algn="ctr" indent="0" marL="0">
              <a:buNone/>
            </a:pPr>
            <a:r>
              <a:rPr lang="en-US" sz="900" b="1" dirty="0">
                <a:solidFill>
                  <a:srgbClr val="00684A"/>
                </a:solidFill>
                <a:latin typeface="Calibri" pitchFamily="34" charset="0"/>
                <a:ea typeface="Calibri" pitchFamily="34" charset="-122"/>
                <a:cs typeface="Calibri" pitchFamily="34" charset="-120"/>
              </a:rPr>
              <a:t>Normal</a:t>
            </a:r>
            <a:endParaRPr lang="en-US" sz="900" dirty="0"/>
          </a:p>
        </p:txBody>
      </p:sp>
      <p:sp>
        <p:nvSpPr>
          <p:cNvPr id="56" name="Text 48"/>
          <p:cNvSpPr/>
          <p:nvPr/>
        </p:nvSpPr>
        <p:spPr>
          <a:xfrm>
            <a:off x="502920" y="5943600"/>
            <a:ext cx="11155680" cy="320040"/>
          </a:xfrm>
          <a:prstGeom prst="rect">
            <a:avLst/>
          </a:prstGeom>
          <a:noFill/>
          <a:ln/>
        </p:spPr>
        <p:txBody>
          <a:bodyPr wrap="square" lIns="0" tIns="0" rIns="0" bIns="0" rtlCol="0" anchor="ctr"/>
          <a:lstStyle/>
          <a:p>
            <a:pPr indent="0" marL="0">
              <a:buNone/>
            </a:pPr>
            <a:r>
              <a:rPr lang="en-US" sz="1200" i="1" dirty="0">
                <a:solidFill>
                  <a:srgbClr val="7C8A80"/>
                </a:solidFill>
                <a:latin typeface="Calibri" pitchFamily="34" charset="0"/>
                <a:ea typeface="Calibri" pitchFamily="34" charset="-122"/>
                <a:cs typeface="Calibri" pitchFamily="34" charset="-120"/>
              </a:rPr>
              <a:t>Une topologie 3 AZ × 2 workers : socle suffisant pour héberger des services jusqu'à la classe Extreme.</a:t>
            </a:r>
            <a:endParaRPr lang="en-US" sz="1200" dirty="0"/>
          </a:p>
        </p:txBody>
      </p:sp>
      <p:sp>
        <p:nvSpPr>
          <p:cNvPr id="58" name="Text 49"/>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59" name="Text 50"/>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LE CADRE DE RÉFÉRENCE</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Quatre classes de criticité métier</a:t>
            </a:r>
            <a:endParaRPr lang="en-US" sz="2700" dirty="0"/>
          </a:p>
        </p:txBody>
      </p:sp>
      <p:sp>
        <p:nvSpPr>
          <p:cNvPr id="4" name="Text 2"/>
          <p:cNvSpPr/>
          <p:nvPr/>
        </p:nvSpPr>
        <p:spPr>
          <a:xfrm>
            <a:off x="502920" y="1188720"/>
            <a:ext cx="11155680" cy="320040"/>
          </a:xfrm>
          <a:prstGeom prst="rect">
            <a:avLst/>
          </a:prstGeom>
          <a:noFill/>
          <a:ln/>
        </p:spPr>
        <p:txBody>
          <a:bodyPr wrap="square" lIns="0" tIns="0" rIns="0" bIns="0" rtlCol="0" anchor="ctr"/>
          <a:lstStyle/>
          <a:p>
            <a:pPr indent="0" marL="0">
              <a:buNone/>
            </a:pPr>
            <a:r>
              <a:rPr lang="en-US" sz="1300" dirty="0">
                <a:solidFill>
                  <a:srgbClr val="7C8A80"/>
                </a:solidFill>
                <a:latin typeface="Calibri" pitchFamily="34" charset="0"/>
                <a:ea typeface="Calibri" pitchFamily="34" charset="-122"/>
                <a:cs typeface="Calibri" pitchFamily="34" charset="-120"/>
              </a:rPr>
              <a:t>L'exigence de résilience dépend de la criticité métier du service. La matrice fixe le minimum requis.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914400"/>
        </p:xfrm>
        <a:graphic>
          <a:graphicData uri="http://schemas.openxmlformats.org/drawingml/2006/table">
            <a:tbl>
              <a:tblPr/>
              <a:tblGrid>
                <a:gridCol w="2404872"/>
                <a:gridCol w="2194560"/>
                <a:gridCol w="2194560"/>
                <a:gridCol w="2194560"/>
                <a:gridCol w="2194560"/>
              </a:tblGrid>
              <a:tr h="7132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Exigence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Extreme</a:t>
                      </a:r>
                      <a:endParaRPr lang="en-US" sz="1500" dirty="0">
                        <a:latin typeface="Georgia" charset="0"/>
                        <a:ea typeface="Georgia" charset="0"/>
                        <a:cs typeface="Georgia"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Serious</a:t>
                      </a:r>
                      <a:endParaRPr lang="en-US" sz="1500" dirty="0">
                        <a:latin typeface="Georgia" charset="0"/>
                        <a:ea typeface="Georgia" charset="0"/>
                        <a:cs typeface="Georgia"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08A1E"/>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Moderate</a:t>
                      </a:r>
                      <a:endParaRPr lang="en-US" sz="1500" dirty="0">
                        <a:latin typeface="Georgia" charset="0"/>
                        <a:ea typeface="Georgia" charset="0"/>
                        <a:cs typeface="Georgia"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4A840"/>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Low</a:t>
                      </a:r>
                      <a:endParaRPr lang="en-US" sz="1500" dirty="0">
                        <a:latin typeface="Georgia" charset="0"/>
                        <a:ea typeface="Georgia" charset="0"/>
                        <a:cs typeface="Georgia"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A7C59"/>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Hébergement</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3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1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AZ status</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All Active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All Active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Failover</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HA</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HA</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Hot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Cold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Données</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Near Sync</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Near Sync</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Async / Batch</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Async / Batch</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Backup</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2 AZ</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Reconstruction</a:t>
                      </a:r>
                      <a:endParaRPr lang="en-US" sz="11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6352C"/>
                          </a:solidFill>
                          <a:latin typeface="Calibri" pitchFamily="34" charset="0"/>
                          <a:ea typeface="Calibri" pitchFamily="34" charset="-122"/>
                          <a:cs typeface="Calibri" pitchFamily="34" charset="-120"/>
                        </a:rPr>
                        <a:t>COULD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8" name="Text 4"/>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FONDATION CLOUD</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Topologie d'infrastructure — du physique au logique</a:t>
            </a:r>
            <a:endParaRPr lang="en-US" sz="2700" dirty="0"/>
          </a:p>
        </p:txBody>
      </p:sp>
      <p:sp>
        <p:nvSpPr>
          <p:cNvPr id="4" name="Text 2"/>
          <p:cNvSpPr/>
          <p:nvPr/>
        </p:nvSpPr>
        <p:spPr>
          <a:xfrm>
            <a:off x="502920" y="1161288"/>
            <a:ext cx="11155680" cy="292608"/>
          </a:xfrm>
          <a:prstGeom prst="rect">
            <a:avLst/>
          </a:prstGeom>
          <a:noFill/>
          <a:ln/>
        </p:spPr>
        <p:txBody>
          <a:bodyPr wrap="square" lIns="0" tIns="0" rIns="0" bIns="0" rtlCol="0" anchor="ctr"/>
          <a:lstStyle/>
          <a:p>
            <a:pPr indent="0" marL="0">
              <a:buNone/>
            </a:pPr>
            <a:r>
              <a:rPr lang="en-US" sz="1250" dirty="0">
                <a:solidFill>
                  <a:srgbClr val="7C8A80"/>
                </a:solidFill>
                <a:latin typeface="Calibri" pitchFamily="34" charset="0"/>
                <a:ea typeface="Calibri" pitchFamily="34" charset="-122"/>
                <a:cs typeface="Calibri" pitchFamily="34" charset="-120"/>
              </a:rPr>
              <a:t>Comment s'articulent région, datacenters, zones, VPC et subnets sur IBM Cloud.</a:t>
            </a:r>
            <a:endParaRPr lang="en-US" sz="1250" dirty="0"/>
          </a:p>
        </p:txBody>
      </p:sp>
      <p:sp>
        <p:nvSpPr>
          <p:cNvPr id="5" name="Shape 3"/>
          <p:cNvSpPr/>
          <p:nvPr/>
        </p:nvSpPr>
        <p:spPr>
          <a:xfrm>
            <a:off x="502920" y="1481328"/>
            <a:ext cx="11183112" cy="3584448"/>
          </a:xfrm>
          <a:prstGeom prst="roundRect">
            <a:avLst>
              <a:gd name="adj" fmla="val 1531"/>
            </a:avLst>
          </a:prstGeom>
          <a:solidFill>
            <a:srgbClr val="EBEEE6"/>
          </a:solidFill>
          <a:ln w="15875">
            <a:solidFill>
              <a:srgbClr val="0C2A1E"/>
            </a:solidFill>
            <a:prstDash val="solid"/>
          </a:ln>
          <a:effectLst>
            <a:outerShdw sx="100000" sy="100000" kx="0" ky="0" algn="bl" rotWithShape="0" blurRad="88900" dist="38100" dir="8100000">
              <a:srgbClr val="0B1419">
                <a:alpha val="22000"/>
              </a:srgbClr>
            </a:outerShdw>
          </a:effectLst>
        </p:spPr>
      </p:sp>
      <p:sp>
        <p:nvSpPr>
          <p:cNvPr id="6" name="Shape 4"/>
          <p:cNvSpPr/>
          <p:nvPr/>
        </p:nvSpPr>
        <p:spPr>
          <a:xfrm>
            <a:off x="502920" y="1481328"/>
            <a:ext cx="3246120" cy="457200"/>
          </a:xfrm>
          <a:prstGeom prst="roundRect">
            <a:avLst>
              <a:gd name="adj" fmla="val 12000"/>
            </a:avLst>
          </a:prstGeom>
          <a:solidFill>
            <a:srgbClr val="0C2A1E"/>
          </a:solidFill>
          <a:ln/>
        </p:spPr>
      </p:sp>
      <p:pic>
        <p:nvPicPr>
          <p:cNvPr id="7" name="Image 0" descr="preencoded.png">    </p:cNvPr>
          <p:cNvPicPr>
            <a:picLocks noChangeAspect="1"/>
          </p:cNvPicPr>
          <p:nvPr/>
        </p:nvPicPr>
        <p:blipFill>
          <a:blip r:embed="rId1"/>
          <a:stretch>
            <a:fillRect/>
          </a:stretch>
        </p:blipFill>
        <p:spPr>
          <a:xfrm>
            <a:off x="649224" y="1600200"/>
            <a:ext cx="219456" cy="219456"/>
          </a:xfrm>
          <a:prstGeom prst="rect">
            <a:avLst/>
          </a:prstGeom>
        </p:spPr>
      </p:pic>
      <p:sp>
        <p:nvSpPr>
          <p:cNvPr id="8" name="Text 5"/>
          <p:cNvSpPr/>
          <p:nvPr/>
        </p:nvSpPr>
        <p:spPr>
          <a:xfrm>
            <a:off x="960120" y="1481328"/>
            <a:ext cx="2834640" cy="457200"/>
          </a:xfrm>
          <a:prstGeom prst="rect">
            <a:avLst/>
          </a:prstGeom>
          <a:noFill/>
          <a:ln/>
        </p:spPr>
        <p:txBody>
          <a:bodyPr wrap="square" lIns="0" tIns="0" rIns="0" bIns="0" rtlCol="0" anchor="ctr"/>
          <a:lstStyle/>
          <a:p>
            <a:pPr indent="0" marL="0">
              <a:buNone/>
            </a:pPr>
            <a:r>
              <a:rPr lang="en-US" sz="980" b="1" dirty="0">
                <a:solidFill>
                  <a:srgbClr val="FFFFFF"/>
                </a:solidFill>
                <a:latin typeface="Calibri" pitchFamily="34" charset="0"/>
                <a:ea typeface="Calibri" pitchFamily="34" charset="-122"/>
                <a:cs typeface="Calibri" pitchFamily="34" charset="-120"/>
              </a:rPr>
              <a:t>RÉGION — Paris (Multi-Zone Region)</a:t>
            </a:r>
            <a:endParaRPr lang="en-US" sz="980" dirty="0"/>
          </a:p>
        </p:txBody>
      </p:sp>
      <p:sp>
        <p:nvSpPr>
          <p:cNvPr id="9" name="Shape 6"/>
          <p:cNvSpPr/>
          <p:nvPr/>
        </p:nvSpPr>
        <p:spPr>
          <a:xfrm>
            <a:off x="795528" y="2048256"/>
            <a:ext cx="10597896" cy="2761488"/>
          </a:xfrm>
          <a:prstGeom prst="roundRect">
            <a:avLst>
              <a:gd name="adj" fmla="val 1987"/>
            </a:avLst>
          </a:prstGeom>
          <a:solidFill>
            <a:srgbClr val="FFFFFF"/>
          </a:solidFill>
          <a:ln w="19050">
            <a:solidFill>
              <a:srgbClr val="C2A24E"/>
            </a:solidFill>
            <a:prstDash val="dash"/>
          </a:ln>
        </p:spPr>
      </p:sp>
      <p:sp>
        <p:nvSpPr>
          <p:cNvPr id="10" name="Shape 7"/>
          <p:cNvSpPr/>
          <p:nvPr/>
        </p:nvSpPr>
        <p:spPr>
          <a:xfrm>
            <a:off x="795528" y="2039112"/>
            <a:ext cx="3977640" cy="420624"/>
          </a:xfrm>
          <a:prstGeom prst="roundRect">
            <a:avLst>
              <a:gd name="adj" fmla="val 13043"/>
            </a:avLst>
          </a:prstGeom>
          <a:solidFill>
            <a:srgbClr val="C2A24E"/>
          </a:solidFill>
          <a:ln/>
        </p:spPr>
      </p:sp>
      <p:pic>
        <p:nvPicPr>
          <p:cNvPr id="11" name="Image 1" descr="preencoded.png">    </p:cNvPr>
          <p:cNvPicPr>
            <a:picLocks noChangeAspect="1"/>
          </p:cNvPicPr>
          <p:nvPr/>
        </p:nvPicPr>
        <p:blipFill>
          <a:blip r:embed="rId2"/>
          <a:stretch>
            <a:fillRect/>
          </a:stretch>
        </p:blipFill>
        <p:spPr>
          <a:xfrm>
            <a:off x="923544" y="2139696"/>
            <a:ext cx="201168" cy="201168"/>
          </a:xfrm>
          <a:prstGeom prst="rect">
            <a:avLst/>
          </a:prstGeom>
        </p:spPr>
      </p:pic>
      <p:sp>
        <p:nvSpPr>
          <p:cNvPr id="12" name="Text 8"/>
          <p:cNvSpPr/>
          <p:nvPr/>
        </p:nvSpPr>
        <p:spPr>
          <a:xfrm>
            <a:off x="1197864" y="2039112"/>
            <a:ext cx="3520440" cy="420624"/>
          </a:xfrm>
          <a:prstGeom prst="rect">
            <a:avLst/>
          </a:prstGeom>
          <a:noFill/>
          <a:ln/>
        </p:spPr>
        <p:txBody>
          <a:bodyPr wrap="square" lIns="0" tIns="0" rIns="0" bIns="0" rtlCol="0" anchor="ctr"/>
          <a:lstStyle/>
          <a:p>
            <a:pPr indent="0" marL="0">
              <a:buNone/>
            </a:pPr>
            <a:r>
              <a:rPr lang="en-US" sz="930" b="1" dirty="0">
                <a:solidFill>
                  <a:srgbClr val="3A2E0A"/>
                </a:solidFill>
                <a:latin typeface="Calibri" pitchFamily="34" charset="0"/>
                <a:ea typeface="Calibri" pitchFamily="34" charset="-122"/>
                <a:cs typeface="Calibri" pitchFamily="34" charset="-120"/>
              </a:rPr>
              <a:t>VPC — réseau privé virtuel (étendu sur la région)</a:t>
            </a:r>
            <a:endParaRPr lang="en-US" sz="930" dirty="0"/>
          </a:p>
        </p:txBody>
      </p:sp>
      <p:sp>
        <p:nvSpPr>
          <p:cNvPr id="13" name="Shape 9"/>
          <p:cNvSpPr/>
          <p:nvPr/>
        </p:nvSpPr>
        <p:spPr>
          <a:xfrm>
            <a:off x="1033272" y="2578608"/>
            <a:ext cx="3310128" cy="2048256"/>
          </a:xfrm>
          <a:prstGeom prst="roundRect">
            <a:avLst>
              <a:gd name="adj" fmla="val 3125"/>
            </a:avLst>
          </a:prstGeom>
          <a:solidFill>
            <a:srgbClr val="F4F2EA"/>
          </a:solidFill>
          <a:ln w="12700">
            <a:solidFill>
              <a:srgbClr val="00925F"/>
            </a:solidFill>
            <a:prstDash val="solid"/>
          </a:ln>
        </p:spPr>
      </p:sp>
      <p:sp>
        <p:nvSpPr>
          <p:cNvPr id="14" name="Shape 10"/>
          <p:cNvSpPr/>
          <p:nvPr/>
        </p:nvSpPr>
        <p:spPr>
          <a:xfrm>
            <a:off x="1033272" y="2578608"/>
            <a:ext cx="3310128" cy="402336"/>
          </a:xfrm>
          <a:prstGeom prst="roundRect">
            <a:avLst>
              <a:gd name="adj" fmla="val 15909"/>
            </a:avLst>
          </a:prstGeom>
          <a:solidFill>
            <a:srgbClr val="00925F"/>
          </a:solidFill>
          <a:ln/>
        </p:spPr>
      </p:sp>
      <p:sp>
        <p:nvSpPr>
          <p:cNvPr id="15" name="Text 11"/>
          <p:cNvSpPr/>
          <p:nvPr/>
        </p:nvSpPr>
        <p:spPr>
          <a:xfrm>
            <a:off x="1179576" y="2578608"/>
            <a:ext cx="3035808"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ZONE — Paris 1  ·  AZ</a:t>
            </a:r>
            <a:endParaRPr lang="en-US" sz="1000" dirty="0"/>
          </a:p>
        </p:txBody>
      </p:sp>
      <p:sp>
        <p:nvSpPr>
          <p:cNvPr id="16" name="Shape 12"/>
          <p:cNvSpPr/>
          <p:nvPr/>
        </p:nvSpPr>
        <p:spPr>
          <a:xfrm>
            <a:off x="1216152" y="3090672"/>
            <a:ext cx="2944368" cy="749808"/>
          </a:xfrm>
          <a:prstGeom prst="roundRect">
            <a:avLst>
              <a:gd name="adj" fmla="val 7317"/>
            </a:avLst>
          </a:prstGeom>
          <a:solidFill>
            <a:srgbClr val="FFFFFF"/>
          </a:solidFill>
          <a:ln w="12700">
            <a:solidFill>
              <a:srgbClr val="DED8C8"/>
            </a:solidFill>
            <a:prstDash val="solid"/>
          </a:ln>
        </p:spPr>
      </p:sp>
      <p:pic>
        <p:nvPicPr>
          <p:cNvPr id="17" name="Image 2" descr="preencoded.png">    </p:cNvPr>
          <p:cNvPicPr>
            <a:picLocks noChangeAspect="1"/>
          </p:cNvPicPr>
          <p:nvPr/>
        </p:nvPicPr>
        <p:blipFill>
          <a:blip r:embed="rId3"/>
          <a:stretch>
            <a:fillRect/>
          </a:stretch>
        </p:blipFill>
        <p:spPr>
          <a:xfrm>
            <a:off x="1362456" y="3337560"/>
            <a:ext cx="256032" cy="256032"/>
          </a:xfrm>
          <a:prstGeom prst="rect">
            <a:avLst/>
          </a:prstGeom>
        </p:spPr>
      </p:pic>
      <p:sp>
        <p:nvSpPr>
          <p:cNvPr id="18" name="Text 13"/>
          <p:cNvSpPr/>
          <p:nvPr/>
        </p:nvSpPr>
        <p:spPr>
          <a:xfrm>
            <a:off x="1728216" y="309067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Site / Datacenter</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infrastructure physique</a:t>
            </a:r>
            <a:endParaRPr lang="en-US" sz="1050" dirty="0"/>
          </a:p>
        </p:txBody>
      </p:sp>
      <p:sp>
        <p:nvSpPr>
          <p:cNvPr id="19" name="Shape 14"/>
          <p:cNvSpPr/>
          <p:nvPr/>
        </p:nvSpPr>
        <p:spPr>
          <a:xfrm>
            <a:off x="1216152" y="3913632"/>
            <a:ext cx="2944368" cy="749808"/>
          </a:xfrm>
          <a:prstGeom prst="roundRect">
            <a:avLst>
              <a:gd name="adj" fmla="val 7317"/>
            </a:avLst>
          </a:prstGeom>
          <a:solidFill>
            <a:srgbClr val="FFFFFF"/>
          </a:solidFill>
          <a:ln w="12700">
            <a:solidFill>
              <a:srgbClr val="C2A24E"/>
            </a:solidFill>
            <a:prstDash val="dash"/>
          </a:ln>
        </p:spPr>
      </p:sp>
      <p:pic>
        <p:nvPicPr>
          <p:cNvPr id="20" name="Image 3" descr="preencoded.png">    </p:cNvPr>
          <p:cNvPicPr>
            <a:picLocks noChangeAspect="1"/>
          </p:cNvPicPr>
          <p:nvPr/>
        </p:nvPicPr>
        <p:blipFill>
          <a:blip r:embed="rId4"/>
          <a:stretch>
            <a:fillRect/>
          </a:stretch>
        </p:blipFill>
        <p:spPr>
          <a:xfrm>
            <a:off x="1362456" y="4160520"/>
            <a:ext cx="256032" cy="256032"/>
          </a:xfrm>
          <a:prstGeom prst="rect">
            <a:avLst/>
          </a:prstGeom>
        </p:spPr>
      </p:pic>
      <p:sp>
        <p:nvSpPr>
          <p:cNvPr id="21" name="Text 15"/>
          <p:cNvSpPr/>
          <p:nvPr/>
        </p:nvSpPr>
        <p:spPr>
          <a:xfrm>
            <a:off x="1728216" y="391363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Subnet</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10.24.0.0/24  ·  rattaché à la zone</a:t>
            </a:r>
            <a:endParaRPr lang="en-US" sz="1050" dirty="0"/>
          </a:p>
        </p:txBody>
      </p:sp>
      <p:sp>
        <p:nvSpPr>
          <p:cNvPr id="22" name="Shape 16"/>
          <p:cNvSpPr/>
          <p:nvPr/>
        </p:nvSpPr>
        <p:spPr>
          <a:xfrm>
            <a:off x="4558284" y="2578608"/>
            <a:ext cx="3310128" cy="2048256"/>
          </a:xfrm>
          <a:prstGeom prst="roundRect">
            <a:avLst>
              <a:gd name="adj" fmla="val 3125"/>
            </a:avLst>
          </a:prstGeom>
          <a:solidFill>
            <a:srgbClr val="F4F2EA"/>
          </a:solidFill>
          <a:ln w="12700">
            <a:solidFill>
              <a:srgbClr val="00925F"/>
            </a:solidFill>
            <a:prstDash val="solid"/>
          </a:ln>
        </p:spPr>
      </p:sp>
      <p:sp>
        <p:nvSpPr>
          <p:cNvPr id="23" name="Shape 17"/>
          <p:cNvSpPr/>
          <p:nvPr/>
        </p:nvSpPr>
        <p:spPr>
          <a:xfrm>
            <a:off x="4558284" y="2578608"/>
            <a:ext cx="3310128" cy="402336"/>
          </a:xfrm>
          <a:prstGeom prst="roundRect">
            <a:avLst>
              <a:gd name="adj" fmla="val 15909"/>
            </a:avLst>
          </a:prstGeom>
          <a:solidFill>
            <a:srgbClr val="00925F"/>
          </a:solidFill>
          <a:ln/>
        </p:spPr>
      </p:sp>
      <p:sp>
        <p:nvSpPr>
          <p:cNvPr id="24" name="Text 18"/>
          <p:cNvSpPr/>
          <p:nvPr/>
        </p:nvSpPr>
        <p:spPr>
          <a:xfrm>
            <a:off x="4704588" y="2578608"/>
            <a:ext cx="3035808"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ZONE — Paris 2  ·  AZ</a:t>
            </a:r>
            <a:endParaRPr lang="en-US" sz="1000" dirty="0"/>
          </a:p>
        </p:txBody>
      </p:sp>
      <p:sp>
        <p:nvSpPr>
          <p:cNvPr id="25" name="Shape 19"/>
          <p:cNvSpPr/>
          <p:nvPr/>
        </p:nvSpPr>
        <p:spPr>
          <a:xfrm>
            <a:off x="4741164" y="3090672"/>
            <a:ext cx="2944368" cy="749808"/>
          </a:xfrm>
          <a:prstGeom prst="roundRect">
            <a:avLst>
              <a:gd name="adj" fmla="val 7317"/>
            </a:avLst>
          </a:prstGeom>
          <a:solidFill>
            <a:srgbClr val="FFFFFF"/>
          </a:solidFill>
          <a:ln w="12700">
            <a:solidFill>
              <a:srgbClr val="DED8C8"/>
            </a:solidFill>
            <a:prstDash val="solid"/>
          </a:ln>
        </p:spPr>
      </p:sp>
      <p:pic>
        <p:nvPicPr>
          <p:cNvPr id="26" name="Image 4" descr="preencoded.png">    </p:cNvPr>
          <p:cNvPicPr>
            <a:picLocks noChangeAspect="1"/>
          </p:cNvPicPr>
          <p:nvPr/>
        </p:nvPicPr>
        <p:blipFill>
          <a:blip r:embed="rId5"/>
          <a:stretch>
            <a:fillRect/>
          </a:stretch>
        </p:blipFill>
        <p:spPr>
          <a:xfrm>
            <a:off x="4887468" y="3337560"/>
            <a:ext cx="256032" cy="256032"/>
          </a:xfrm>
          <a:prstGeom prst="rect">
            <a:avLst/>
          </a:prstGeom>
        </p:spPr>
      </p:pic>
      <p:sp>
        <p:nvSpPr>
          <p:cNvPr id="27" name="Text 20"/>
          <p:cNvSpPr/>
          <p:nvPr/>
        </p:nvSpPr>
        <p:spPr>
          <a:xfrm>
            <a:off x="5253228" y="309067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Site / Datacenter</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infrastructure physique</a:t>
            </a:r>
            <a:endParaRPr lang="en-US" sz="1050" dirty="0"/>
          </a:p>
        </p:txBody>
      </p:sp>
      <p:sp>
        <p:nvSpPr>
          <p:cNvPr id="28" name="Shape 21"/>
          <p:cNvSpPr/>
          <p:nvPr/>
        </p:nvSpPr>
        <p:spPr>
          <a:xfrm>
            <a:off x="4741164" y="3913632"/>
            <a:ext cx="2944368" cy="749808"/>
          </a:xfrm>
          <a:prstGeom prst="roundRect">
            <a:avLst>
              <a:gd name="adj" fmla="val 7317"/>
            </a:avLst>
          </a:prstGeom>
          <a:solidFill>
            <a:srgbClr val="FFFFFF"/>
          </a:solidFill>
          <a:ln w="12700">
            <a:solidFill>
              <a:srgbClr val="C2A24E"/>
            </a:solidFill>
            <a:prstDash val="dash"/>
          </a:ln>
        </p:spPr>
      </p:sp>
      <p:pic>
        <p:nvPicPr>
          <p:cNvPr id="29" name="Image 5" descr="preencoded.png">    </p:cNvPr>
          <p:cNvPicPr>
            <a:picLocks noChangeAspect="1"/>
          </p:cNvPicPr>
          <p:nvPr/>
        </p:nvPicPr>
        <p:blipFill>
          <a:blip r:embed="rId6"/>
          <a:stretch>
            <a:fillRect/>
          </a:stretch>
        </p:blipFill>
        <p:spPr>
          <a:xfrm>
            <a:off x="4887468" y="4160520"/>
            <a:ext cx="256032" cy="256032"/>
          </a:xfrm>
          <a:prstGeom prst="rect">
            <a:avLst/>
          </a:prstGeom>
        </p:spPr>
      </p:pic>
      <p:sp>
        <p:nvSpPr>
          <p:cNvPr id="30" name="Text 22"/>
          <p:cNvSpPr/>
          <p:nvPr/>
        </p:nvSpPr>
        <p:spPr>
          <a:xfrm>
            <a:off x="5253228" y="391363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Subnet</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10.24.1.0/24  ·  rattaché à la zone</a:t>
            </a:r>
            <a:endParaRPr lang="en-US" sz="1050" dirty="0"/>
          </a:p>
        </p:txBody>
      </p:sp>
      <p:sp>
        <p:nvSpPr>
          <p:cNvPr id="31" name="Shape 23"/>
          <p:cNvSpPr/>
          <p:nvPr/>
        </p:nvSpPr>
        <p:spPr>
          <a:xfrm>
            <a:off x="8083296" y="2578608"/>
            <a:ext cx="3310128" cy="2048256"/>
          </a:xfrm>
          <a:prstGeom prst="roundRect">
            <a:avLst>
              <a:gd name="adj" fmla="val 3125"/>
            </a:avLst>
          </a:prstGeom>
          <a:solidFill>
            <a:srgbClr val="F4F2EA"/>
          </a:solidFill>
          <a:ln w="12700">
            <a:solidFill>
              <a:srgbClr val="00925F"/>
            </a:solidFill>
            <a:prstDash val="solid"/>
          </a:ln>
        </p:spPr>
      </p:sp>
      <p:sp>
        <p:nvSpPr>
          <p:cNvPr id="32" name="Shape 24"/>
          <p:cNvSpPr/>
          <p:nvPr/>
        </p:nvSpPr>
        <p:spPr>
          <a:xfrm>
            <a:off x="8083296" y="2578608"/>
            <a:ext cx="3310128" cy="402336"/>
          </a:xfrm>
          <a:prstGeom prst="roundRect">
            <a:avLst>
              <a:gd name="adj" fmla="val 15909"/>
            </a:avLst>
          </a:prstGeom>
          <a:solidFill>
            <a:srgbClr val="00925F"/>
          </a:solidFill>
          <a:ln/>
        </p:spPr>
      </p:sp>
      <p:sp>
        <p:nvSpPr>
          <p:cNvPr id="33" name="Text 25"/>
          <p:cNvSpPr/>
          <p:nvPr/>
        </p:nvSpPr>
        <p:spPr>
          <a:xfrm>
            <a:off x="8229600" y="2578608"/>
            <a:ext cx="3035808" cy="40233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ZONE — Paris 3  ·  AZ</a:t>
            </a:r>
            <a:endParaRPr lang="en-US" sz="1000" dirty="0"/>
          </a:p>
        </p:txBody>
      </p:sp>
      <p:sp>
        <p:nvSpPr>
          <p:cNvPr id="34" name="Shape 26"/>
          <p:cNvSpPr/>
          <p:nvPr/>
        </p:nvSpPr>
        <p:spPr>
          <a:xfrm>
            <a:off x="8266176" y="3090672"/>
            <a:ext cx="2944368" cy="749808"/>
          </a:xfrm>
          <a:prstGeom prst="roundRect">
            <a:avLst>
              <a:gd name="adj" fmla="val 7317"/>
            </a:avLst>
          </a:prstGeom>
          <a:solidFill>
            <a:srgbClr val="FFFFFF"/>
          </a:solidFill>
          <a:ln w="12700">
            <a:solidFill>
              <a:srgbClr val="DED8C8"/>
            </a:solidFill>
            <a:prstDash val="solid"/>
          </a:ln>
        </p:spPr>
      </p:sp>
      <p:pic>
        <p:nvPicPr>
          <p:cNvPr id="35" name="Image 6" descr="preencoded.png">    </p:cNvPr>
          <p:cNvPicPr>
            <a:picLocks noChangeAspect="1"/>
          </p:cNvPicPr>
          <p:nvPr/>
        </p:nvPicPr>
        <p:blipFill>
          <a:blip r:embed="rId7"/>
          <a:stretch>
            <a:fillRect/>
          </a:stretch>
        </p:blipFill>
        <p:spPr>
          <a:xfrm>
            <a:off x="8412480" y="3337560"/>
            <a:ext cx="256032" cy="256032"/>
          </a:xfrm>
          <a:prstGeom prst="rect">
            <a:avLst/>
          </a:prstGeom>
        </p:spPr>
      </p:pic>
      <p:sp>
        <p:nvSpPr>
          <p:cNvPr id="36" name="Text 27"/>
          <p:cNvSpPr/>
          <p:nvPr/>
        </p:nvSpPr>
        <p:spPr>
          <a:xfrm>
            <a:off x="8778240" y="309067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Site / Datacenter</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infrastructure physique</a:t>
            </a:r>
            <a:endParaRPr lang="en-US" sz="1050" dirty="0"/>
          </a:p>
        </p:txBody>
      </p:sp>
      <p:sp>
        <p:nvSpPr>
          <p:cNvPr id="37" name="Shape 28"/>
          <p:cNvSpPr/>
          <p:nvPr/>
        </p:nvSpPr>
        <p:spPr>
          <a:xfrm>
            <a:off x="8266176" y="3913632"/>
            <a:ext cx="2944368" cy="749808"/>
          </a:xfrm>
          <a:prstGeom prst="roundRect">
            <a:avLst>
              <a:gd name="adj" fmla="val 7317"/>
            </a:avLst>
          </a:prstGeom>
          <a:solidFill>
            <a:srgbClr val="FFFFFF"/>
          </a:solidFill>
          <a:ln w="12700">
            <a:solidFill>
              <a:srgbClr val="C2A24E"/>
            </a:solidFill>
            <a:prstDash val="dash"/>
          </a:ln>
        </p:spPr>
      </p:sp>
      <p:pic>
        <p:nvPicPr>
          <p:cNvPr id="38" name="Image 7" descr="preencoded.png">    </p:cNvPr>
          <p:cNvPicPr>
            <a:picLocks noChangeAspect="1"/>
          </p:cNvPicPr>
          <p:nvPr/>
        </p:nvPicPr>
        <p:blipFill>
          <a:blip r:embed="rId8"/>
          <a:stretch>
            <a:fillRect/>
          </a:stretch>
        </p:blipFill>
        <p:spPr>
          <a:xfrm>
            <a:off x="8412480" y="4160520"/>
            <a:ext cx="256032" cy="256032"/>
          </a:xfrm>
          <a:prstGeom prst="rect">
            <a:avLst/>
          </a:prstGeom>
        </p:spPr>
      </p:pic>
      <p:sp>
        <p:nvSpPr>
          <p:cNvPr id="39" name="Text 29"/>
          <p:cNvSpPr/>
          <p:nvPr/>
        </p:nvSpPr>
        <p:spPr>
          <a:xfrm>
            <a:off x="8778240" y="3913632"/>
            <a:ext cx="2304288" cy="749808"/>
          </a:xfrm>
          <a:prstGeom prst="rect">
            <a:avLst/>
          </a:prstGeom>
          <a:noFill/>
          <a:ln/>
        </p:spPr>
        <p:txBody>
          <a:bodyPr wrap="square" lIns="0" tIns="0" rIns="0" bIns="0" rtlCol="0" anchor="ctr"/>
          <a:lstStyle/>
          <a:p>
            <a:pPr indent="0" marL="0">
              <a:lnSpc>
                <a:spcPct val="105000"/>
              </a:lnSpc>
              <a:buNone/>
            </a:pPr>
            <a:r>
              <a:rPr lang="en-US" sz="1050" b="1" dirty="0">
                <a:solidFill>
                  <a:srgbClr val="26352C"/>
                </a:solidFill>
                <a:latin typeface="Calibri" pitchFamily="34" charset="0"/>
                <a:ea typeface="Calibri" pitchFamily="34" charset="-122"/>
                <a:cs typeface="Calibri" pitchFamily="34" charset="-120"/>
              </a:rPr>
              <a:t>Subnet</a:t>
            </a:r>
            <a:endParaRPr lang="en-US" sz="1050" dirty="0"/>
          </a:p>
          <a:p>
            <a:pPr indent="0" marL="0">
              <a:lnSpc>
                <a:spcPct val="105000"/>
              </a:lnSpc>
              <a:buNone/>
            </a:pPr>
            <a:r>
              <a:rPr lang="en-US" sz="850" dirty="0">
                <a:solidFill>
                  <a:srgbClr val="7C8A80"/>
                </a:solidFill>
                <a:latin typeface="Calibri" pitchFamily="34" charset="0"/>
                <a:ea typeface="Calibri" pitchFamily="34" charset="-122"/>
                <a:cs typeface="Calibri" pitchFamily="34" charset="-120"/>
              </a:rPr>
              <a:t>10.24.2.0/24  ·  rattaché à la zone</a:t>
            </a:r>
            <a:endParaRPr lang="en-US" sz="1050" dirty="0"/>
          </a:p>
        </p:txBody>
      </p:sp>
      <p:sp>
        <p:nvSpPr>
          <p:cNvPr id="40" name="Shape 30"/>
          <p:cNvSpPr/>
          <p:nvPr/>
        </p:nvSpPr>
        <p:spPr>
          <a:xfrm>
            <a:off x="502920" y="5248656"/>
            <a:ext cx="5486400" cy="1024128"/>
          </a:xfrm>
          <a:prstGeom prst="roundRect">
            <a:avLst>
              <a:gd name="adj" fmla="val 7143"/>
            </a:avLst>
          </a:prstGeom>
          <a:solidFill>
            <a:srgbClr val="EBEEE6"/>
          </a:solidFill>
          <a:ln w="12700">
            <a:solidFill>
              <a:srgbClr val="0C2A1E"/>
            </a:solidFill>
            <a:prstDash val="solid"/>
          </a:ln>
        </p:spPr>
      </p:sp>
      <p:sp>
        <p:nvSpPr>
          <p:cNvPr id="41" name="Text 31"/>
          <p:cNvSpPr/>
          <p:nvPr/>
        </p:nvSpPr>
        <p:spPr>
          <a:xfrm>
            <a:off x="713232" y="5358384"/>
            <a:ext cx="5029200" cy="274320"/>
          </a:xfrm>
          <a:prstGeom prst="rect">
            <a:avLst/>
          </a:prstGeom>
          <a:noFill/>
          <a:ln/>
        </p:spPr>
        <p:txBody>
          <a:bodyPr wrap="square" lIns="0" tIns="0" rIns="0" bIns="0" rtlCol="0" anchor="ctr"/>
          <a:lstStyle/>
          <a:p>
            <a:pPr indent="0" marL="0">
              <a:buNone/>
            </a:pPr>
            <a:r>
              <a:rPr lang="en-US" sz="1000" b="1" spc="150" kern="0" dirty="0">
                <a:solidFill>
                  <a:srgbClr val="0C2A1E"/>
                </a:solidFill>
                <a:latin typeface="Calibri" pitchFamily="34" charset="0"/>
                <a:ea typeface="Calibri" pitchFamily="34" charset="-122"/>
                <a:cs typeface="Calibri" pitchFamily="34" charset="-120"/>
              </a:rPr>
              <a:t>COUCHE PHYSIQUE</a:t>
            </a:r>
            <a:endParaRPr lang="en-US" sz="1000" dirty="0"/>
          </a:p>
        </p:txBody>
      </p:sp>
      <p:sp>
        <p:nvSpPr>
          <p:cNvPr id="42" name="Text 32"/>
          <p:cNvSpPr/>
          <p:nvPr/>
        </p:nvSpPr>
        <p:spPr>
          <a:xfrm>
            <a:off x="713232" y="5632704"/>
            <a:ext cx="5029200" cy="320040"/>
          </a:xfrm>
          <a:prstGeom prst="rect">
            <a:avLst/>
          </a:prstGeom>
          <a:noFill/>
          <a:ln/>
        </p:spPr>
        <p:txBody>
          <a:bodyPr wrap="square" lIns="0" tIns="0" rIns="0" bIns="0" rtlCol="0" anchor="ctr"/>
          <a:lstStyle/>
          <a:p>
            <a:pPr indent="0" marL="0">
              <a:buNone/>
            </a:pPr>
            <a:r>
              <a:rPr lang="en-US" sz="1150" b="1" dirty="0">
                <a:solidFill>
                  <a:srgbClr val="26352C"/>
                </a:solidFill>
                <a:latin typeface="Calibri" pitchFamily="34" charset="0"/>
                <a:ea typeface="Calibri" pitchFamily="34" charset="-122"/>
                <a:cs typeface="Calibri" pitchFamily="34" charset="-120"/>
              </a:rPr>
              <a:t>Région  ·  Site  ·  Datacenter  ·  Zone (AZ)</a:t>
            </a:r>
            <a:endParaRPr lang="en-US" sz="1150" dirty="0"/>
          </a:p>
        </p:txBody>
      </p:sp>
      <p:sp>
        <p:nvSpPr>
          <p:cNvPr id="43" name="Text 33"/>
          <p:cNvSpPr/>
          <p:nvPr/>
        </p:nvSpPr>
        <p:spPr>
          <a:xfrm>
            <a:off x="713232" y="5907024"/>
            <a:ext cx="5029200" cy="274320"/>
          </a:xfrm>
          <a:prstGeom prst="rect">
            <a:avLst/>
          </a:prstGeom>
          <a:noFill/>
          <a:ln/>
        </p:spPr>
        <p:txBody>
          <a:bodyPr wrap="square" lIns="0" tIns="0" rIns="0" bIns="0" rtlCol="0" anchor="ctr"/>
          <a:lstStyle/>
          <a:p>
            <a:pPr indent="0" marL="0">
              <a:buNone/>
            </a:pPr>
            <a:r>
              <a:rPr lang="en-US" sz="950" i="1" dirty="0">
                <a:solidFill>
                  <a:srgbClr val="7C8A80"/>
                </a:solidFill>
                <a:latin typeface="Calibri" pitchFamily="34" charset="0"/>
                <a:ea typeface="Calibri" pitchFamily="34" charset="-122"/>
                <a:cs typeface="Calibri" pitchFamily="34" charset="-120"/>
              </a:rPr>
              <a:t>Ce qui existe matériellement : géographie et bâtiments.</a:t>
            </a:r>
            <a:endParaRPr lang="en-US" sz="950" dirty="0"/>
          </a:p>
        </p:txBody>
      </p:sp>
      <p:sp>
        <p:nvSpPr>
          <p:cNvPr id="44" name="Shape 34"/>
          <p:cNvSpPr/>
          <p:nvPr/>
        </p:nvSpPr>
        <p:spPr>
          <a:xfrm>
            <a:off x="6199632" y="5248656"/>
            <a:ext cx="5486400" cy="1024128"/>
          </a:xfrm>
          <a:prstGeom prst="roundRect">
            <a:avLst>
              <a:gd name="adj" fmla="val 7143"/>
            </a:avLst>
          </a:prstGeom>
          <a:solidFill>
            <a:srgbClr val="FBF6E6"/>
          </a:solidFill>
          <a:ln w="12700">
            <a:solidFill>
              <a:srgbClr val="C2A24E"/>
            </a:solidFill>
            <a:prstDash val="dash"/>
          </a:ln>
        </p:spPr>
      </p:sp>
      <p:sp>
        <p:nvSpPr>
          <p:cNvPr id="45" name="Text 35"/>
          <p:cNvSpPr/>
          <p:nvPr/>
        </p:nvSpPr>
        <p:spPr>
          <a:xfrm>
            <a:off x="6409944" y="5358384"/>
            <a:ext cx="5029200" cy="274320"/>
          </a:xfrm>
          <a:prstGeom prst="rect">
            <a:avLst/>
          </a:prstGeom>
          <a:noFill/>
          <a:ln/>
        </p:spPr>
        <p:txBody>
          <a:bodyPr wrap="square" lIns="0" tIns="0" rIns="0" bIns="0" rtlCol="0" anchor="ctr"/>
          <a:lstStyle/>
          <a:p>
            <a:pPr indent="0" marL="0">
              <a:buNone/>
            </a:pPr>
            <a:r>
              <a:rPr lang="en-US" sz="1000" b="1" spc="150" kern="0" dirty="0">
                <a:solidFill>
                  <a:srgbClr val="3A2E0A"/>
                </a:solidFill>
                <a:latin typeface="Calibri" pitchFamily="34" charset="0"/>
                <a:ea typeface="Calibri" pitchFamily="34" charset="-122"/>
                <a:cs typeface="Calibri" pitchFamily="34" charset="-120"/>
              </a:rPr>
              <a:t>COUCHE LOGIQUE</a:t>
            </a:r>
            <a:endParaRPr lang="en-US" sz="1000" dirty="0"/>
          </a:p>
        </p:txBody>
      </p:sp>
      <p:sp>
        <p:nvSpPr>
          <p:cNvPr id="46" name="Text 36"/>
          <p:cNvSpPr/>
          <p:nvPr/>
        </p:nvSpPr>
        <p:spPr>
          <a:xfrm>
            <a:off x="6409944" y="5632704"/>
            <a:ext cx="5029200" cy="320040"/>
          </a:xfrm>
          <a:prstGeom prst="rect">
            <a:avLst/>
          </a:prstGeom>
          <a:noFill/>
          <a:ln/>
        </p:spPr>
        <p:txBody>
          <a:bodyPr wrap="square" lIns="0" tIns="0" rIns="0" bIns="0" rtlCol="0" anchor="ctr"/>
          <a:lstStyle/>
          <a:p>
            <a:pPr indent="0" marL="0">
              <a:buNone/>
            </a:pPr>
            <a:r>
              <a:rPr lang="en-US" sz="1150" b="1" dirty="0">
                <a:solidFill>
                  <a:srgbClr val="26352C"/>
                </a:solidFill>
                <a:latin typeface="Calibri" pitchFamily="34" charset="0"/>
                <a:ea typeface="Calibri" pitchFamily="34" charset="-122"/>
                <a:cs typeface="Calibri" pitchFamily="34" charset="-120"/>
              </a:rPr>
              <a:t>VPC (régional)  ·  Subnet (zonal)</a:t>
            </a:r>
            <a:endParaRPr lang="en-US" sz="1150" dirty="0"/>
          </a:p>
        </p:txBody>
      </p:sp>
      <p:sp>
        <p:nvSpPr>
          <p:cNvPr id="47" name="Text 37"/>
          <p:cNvSpPr/>
          <p:nvPr/>
        </p:nvSpPr>
        <p:spPr>
          <a:xfrm>
            <a:off x="6409944" y="5907024"/>
            <a:ext cx="5120640" cy="274320"/>
          </a:xfrm>
          <a:prstGeom prst="rect">
            <a:avLst/>
          </a:prstGeom>
          <a:noFill/>
          <a:ln/>
        </p:spPr>
        <p:txBody>
          <a:bodyPr wrap="square" lIns="0" tIns="0" rIns="0" bIns="0" rtlCol="0" anchor="ctr"/>
          <a:lstStyle/>
          <a:p>
            <a:pPr indent="0" marL="0">
              <a:buNone/>
            </a:pPr>
            <a:r>
              <a:rPr lang="en-US" sz="950" i="1" dirty="0">
                <a:solidFill>
                  <a:srgbClr val="7C8A80"/>
                </a:solidFill>
                <a:latin typeface="Calibri" pitchFamily="34" charset="0"/>
                <a:ea typeface="Calibri" pitchFamily="34" charset="-122"/>
                <a:cs typeface="Calibri" pitchFamily="34" charset="-120"/>
              </a:rPr>
              <a:t>Le réseau défini par logiciel : le VPC couvre la région, chaque subnet vit dans une zone.</a:t>
            </a:r>
            <a:endParaRPr lang="en-US" sz="950" dirty="0"/>
          </a:p>
        </p:txBody>
      </p:sp>
      <p:sp>
        <p:nvSpPr>
          <p:cNvPr id="49" name="Text 38"/>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50" name="Text 39"/>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RÉFÉRENTIEL DE RÉSILIENCE</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Matrice de résilience Cloud — exigences minimales</a:t>
            </a:r>
            <a:endParaRPr lang="en-US" sz="2700" dirty="0"/>
          </a:p>
        </p:txBody>
      </p:sp>
      <p:sp>
        <p:nvSpPr>
          <p:cNvPr id="4" name="Text 2"/>
          <p:cNvSpPr/>
          <p:nvPr/>
        </p:nvSpPr>
        <p:spPr>
          <a:xfrm>
            <a:off x="502920" y="1161288"/>
            <a:ext cx="11155680" cy="292608"/>
          </a:xfrm>
          <a:prstGeom prst="rect">
            <a:avLst/>
          </a:prstGeom>
          <a:noFill/>
          <a:ln/>
        </p:spPr>
        <p:txBody>
          <a:bodyPr wrap="square" lIns="0" tIns="0" rIns="0" bIns="0" rtlCol="0" anchor="ctr"/>
          <a:lstStyle/>
          <a:p>
            <a:pPr indent="0" marL="0">
              <a:buNone/>
            </a:pPr>
            <a:r>
              <a:rPr lang="en-US" sz="1250" dirty="0">
                <a:solidFill>
                  <a:srgbClr val="7C8A80"/>
                </a:solidFill>
                <a:latin typeface="Calibri" pitchFamily="34" charset="0"/>
                <a:ea typeface="Calibri" pitchFamily="34" charset="-122"/>
                <a:cs typeface="Calibri" pitchFamily="34" charset="-120"/>
              </a:rPr>
              <a:t>Reproduction de la matrice du référentiel — critère minimal « at least ».</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3112" cy="914400"/>
        </p:xfrm>
        <a:graphic>
          <a:graphicData uri="http://schemas.openxmlformats.org/drawingml/2006/table">
            <a:tbl>
              <a:tblPr/>
              <a:tblGrid>
                <a:gridCol w="1417320"/>
                <a:gridCol w="1220724"/>
                <a:gridCol w="1220724"/>
                <a:gridCol w="1220724"/>
                <a:gridCol w="1220724"/>
                <a:gridCol w="1220724"/>
                <a:gridCol w="1220724"/>
                <a:gridCol w="1220724"/>
                <a:gridCol w="1220724"/>
              </a:tblGrid>
              <a:tr h="365760">
                <a:tc rowSpan="2">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Service</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Topology Deployment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gridSpan="2">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Active Mode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hMerge="1">
                  <a:tcPr/>
                </a:tc>
                <a:tc gridSpan="2">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Data Distribution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hMerge="1">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Backup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gridSpan="2">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Recover mechanism</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C2A1E"/>
                    </a:solidFill>
                  </a:tcPr>
                </a:tc>
                <a:tc hMerge="1">
                  <a:tcPr/>
                </a:tc>
              </a:tr>
              <a:tr h="841248">
                <a:tc vMerge="1">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AZ Hosting</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(région locale)</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AZ Status</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Local (AZ)</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Failover Mode</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Local (AZ) Data</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Distribution Mode</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Regional Data</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Distribution</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Local (AZ) Backup</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Distribution</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Local (AZ) Rebuild</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Mechanism</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c>
                  <a:txBody>
                    <a:bodyPr/>
                    <a:lstStyle/>
                    <a:p>
                      <a:pPr algn="ctr" indent="0" marL="0">
                        <a:buNone/>
                      </a:pPr>
                      <a:r>
                        <a:rPr lang="en-US" sz="830" b="1" dirty="0">
                          <a:solidFill>
                            <a:srgbClr val="FFFFFF"/>
                          </a:solidFill>
                          <a:latin typeface="Calibri" pitchFamily="34" charset="0"/>
                          <a:ea typeface="Calibri" pitchFamily="34" charset="-122"/>
                          <a:cs typeface="Calibri" pitchFamily="34" charset="-120"/>
                        </a:rPr>
                        <a:t>Local Data Restore</a:t>
                      </a:r>
                      <a:endParaRPr lang="en-US" sz="830" dirty="0">
                        <a:latin typeface="Calibri" charset="0"/>
                        <a:ea typeface="Calibri" charset="0"/>
                        <a:cs typeface="Calibri" charset="0"/>
                      </a:endParaRPr>
                    </a:p>
                    <a:p>
                      <a:pPr algn="ctr" indent="0" marL="0">
                        <a:buNone/>
                      </a:pPr>
                      <a:r>
                        <a:rPr lang="en-US" sz="830" b="1" dirty="0">
                          <a:solidFill>
                            <a:srgbClr val="FFFFFF"/>
                          </a:solidFill>
                          <a:latin typeface="Calibri" pitchFamily="34" charset="0"/>
                          <a:ea typeface="Calibri" pitchFamily="34" charset="-122"/>
                          <a:cs typeface="Calibri" pitchFamily="34" charset="-120"/>
                        </a:rPr>
                        <a:t>Mechanism</a:t>
                      </a:r>
                      <a:endParaRPr lang="en-US" sz="83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4032"/>
                    </a:solidFill>
                  </a:tcPr>
                </a:tc>
              </a:tr>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Extreme</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M:Three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M:All Active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M:HA</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M:Near Sync</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M:One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Serious</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08A1E"/>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M:All Active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M:HA</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M:Near Sync</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M:One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4A840"/>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M:Hot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M:Async/Batch</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M:One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SHOULD</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A7C59"/>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M:One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M:Cold</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M:Async/Batch</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M:One</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M:Two</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COULD</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c>
                  <a:txBody>
                    <a:bodyPr/>
                    <a:lstStyle/>
                    <a:p>
                      <a:pPr algn="ctr" indent="0" marL="0">
                        <a:buNone/>
                      </a:pPr>
                      <a:r>
                        <a:rPr lang="en-US" sz="950" dirty="0">
                          <a:solidFill>
                            <a:srgbClr val="26352C"/>
                          </a:solidFill>
                          <a:latin typeface="Calibri" pitchFamily="34" charset="0"/>
                          <a:ea typeface="Calibri" pitchFamily="34" charset="-122"/>
                          <a:cs typeface="Calibri" pitchFamily="34" charset="-120"/>
                        </a:rPr>
                        <a:t>MUST</a:t>
                      </a:r>
                      <a:endParaRPr lang="en-US" sz="9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2EA"/>
                    </a:solidFill>
                  </a:tcPr>
                </a:tc>
              </a:tr>
            </a:tbl>
          </a:graphicData>
        </a:graphic>
      </p:graphicFrame>
      <p:sp>
        <p:nvSpPr>
          <p:cNvPr id="6" name="Text 3"/>
          <p:cNvSpPr/>
          <p:nvPr/>
        </p:nvSpPr>
        <p:spPr>
          <a:xfrm>
            <a:off x="502920" y="5010912"/>
            <a:ext cx="11155680" cy="274320"/>
          </a:xfrm>
          <a:prstGeom prst="rect">
            <a:avLst/>
          </a:prstGeom>
          <a:noFill/>
          <a:ln/>
        </p:spPr>
        <p:txBody>
          <a:bodyPr wrap="square" lIns="0" tIns="0" rIns="0" bIns="0" rtlCol="0" anchor="ctr"/>
          <a:lstStyle/>
          <a:p>
            <a:pPr indent="0" marL="0">
              <a:buNone/>
            </a:pPr>
            <a:r>
              <a:rPr lang="en-US" sz="1000" i="1" dirty="0">
                <a:solidFill>
                  <a:srgbClr val="7C8A80"/>
                </a:solidFill>
                <a:latin typeface="Calibri" pitchFamily="34" charset="0"/>
                <a:ea typeface="Calibri" pitchFamily="34" charset="-122"/>
                <a:cs typeface="Calibri" pitchFamily="34" charset="-120"/>
              </a:rPr>
              <a:t>Les colonnes « Regional » du référentiel ne sont pas renseignées (« - ») et sont omises ici.</a:t>
            </a:r>
            <a:endParaRPr lang="en-US" sz="1000" dirty="0"/>
          </a:p>
        </p:txBody>
      </p:sp>
      <p:sp>
        <p:nvSpPr>
          <p:cNvPr id="7" name="Shape 4"/>
          <p:cNvSpPr/>
          <p:nvPr/>
        </p:nvSpPr>
        <p:spPr>
          <a:xfrm>
            <a:off x="502920" y="5340096"/>
            <a:ext cx="11183112" cy="868680"/>
          </a:xfrm>
          <a:prstGeom prst="roundRect">
            <a:avLst>
              <a:gd name="adj" fmla="val 8421"/>
            </a:avLst>
          </a:prstGeom>
          <a:solidFill>
            <a:srgbClr val="E7F2F1"/>
          </a:solidFill>
          <a:ln w="12700">
            <a:solidFill>
              <a:srgbClr val="00925F"/>
            </a:solidFill>
            <a:prstDash val="solid"/>
          </a:ln>
        </p:spPr>
      </p:sp>
      <p:sp>
        <p:nvSpPr>
          <p:cNvPr id="8" name="Shape 5"/>
          <p:cNvSpPr/>
          <p:nvPr/>
        </p:nvSpPr>
        <p:spPr>
          <a:xfrm>
            <a:off x="502920" y="5340096"/>
            <a:ext cx="91440" cy="868680"/>
          </a:xfrm>
          <a:prstGeom prst="rect">
            <a:avLst/>
          </a:prstGeom>
          <a:solidFill>
            <a:srgbClr val="00925F"/>
          </a:solidFill>
          <a:ln/>
        </p:spPr>
      </p:sp>
      <p:sp>
        <p:nvSpPr>
          <p:cNvPr id="9" name="Text 6"/>
          <p:cNvSpPr/>
          <p:nvPr/>
        </p:nvSpPr>
        <p:spPr>
          <a:xfrm>
            <a:off x="777240" y="5340096"/>
            <a:ext cx="10607040" cy="868680"/>
          </a:xfrm>
          <a:prstGeom prst="rect">
            <a:avLst/>
          </a:prstGeom>
          <a:noFill/>
          <a:ln/>
        </p:spPr>
        <p:txBody>
          <a:bodyPr wrap="square" lIns="0" tIns="0" rIns="0" bIns="0" rtlCol="0" anchor="ctr"/>
          <a:lstStyle/>
          <a:p>
            <a:pPr indent="0" marL="0">
              <a:lnSpc>
                <a:spcPct val="114000"/>
              </a:lnSpc>
              <a:spcAft>
                <a:spcPts val="100"/>
              </a:spcAft>
              <a:buNone/>
            </a:pPr>
            <a:r>
              <a:rPr lang="en-US" sz="1050" b="1" dirty="0">
                <a:solidFill>
                  <a:srgbClr val="26352C"/>
                </a:solidFill>
                <a:latin typeface="Calibri" pitchFamily="34" charset="0"/>
                <a:ea typeface="Calibri" pitchFamily="34" charset="-122"/>
                <a:cs typeface="Calibri" pitchFamily="34" charset="-120"/>
              </a:rPr>
              <a:t>M : Must — exigence minimale de la matrice (« at least »).</a:t>
            </a:r>
            <a:endParaRPr lang="en-US" sz="1050" dirty="0"/>
          </a:p>
          <a:p>
            <a:pPr indent="0" marL="0">
              <a:lnSpc>
                <a:spcPct val="114000"/>
              </a:lnSpc>
              <a:spcAft>
                <a:spcPts val="100"/>
              </a:spcAft>
              <a:buNone/>
            </a:pPr>
            <a:r>
              <a:rPr lang="en-US" sz="1050" b="1" dirty="0">
                <a:solidFill>
                  <a:srgbClr val="26352C"/>
                </a:solidFill>
                <a:latin typeface="Calibri" pitchFamily="34" charset="0"/>
                <a:ea typeface="Calibri" pitchFamily="34" charset="-122"/>
                <a:cs typeface="Calibri" pitchFamily="34" charset="-120"/>
              </a:rPr>
              <a:t>MUST / SHOULD / COULD : niveau d'exigibilité de l'implémentation (MoSCoW).</a:t>
            </a:r>
            <a:endParaRPr lang="en-US" sz="1050" dirty="0"/>
          </a:p>
          <a:p>
            <a:pPr indent="0" marL="0">
              <a:lnSpc>
                <a:spcPct val="114000"/>
              </a:lnSpc>
              <a:spcAft>
                <a:spcPts val="100"/>
              </a:spcAft>
              <a:buNone/>
            </a:pPr>
            <a:r>
              <a:rPr lang="en-US" sz="1050" b="1" dirty="0">
                <a:solidFill>
                  <a:srgbClr val="26352C"/>
                </a:solidFill>
                <a:latin typeface="Calibri" pitchFamily="34" charset="0"/>
                <a:ea typeface="Calibri" pitchFamily="34" charset="-122"/>
                <a:cs typeface="Calibri" pitchFamily="34" charset="-120"/>
              </a:rPr>
              <a:t>Services identifiés Vital Entity / Vital Group : exclus du périmètre de la matrice.</a:t>
            </a:r>
            <a:endParaRPr lang="en-US" sz="1050" dirty="0"/>
          </a:p>
        </p:txBody>
      </p:sp>
      <p:sp>
        <p:nvSpPr>
          <p:cNvPr id="11" name="Text 7"/>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2" name="Text 8"/>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00925F"/>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EXIGENCE 1 — TOPOLOGIE DE DÉPLOIEMENT</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Répartir les pods sur les 3 zones de disponibilité</a:t>
            </a:r>
            <a:endParaRPr lang="en-US" sz="24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POURQUOI</a:t>
            </a:r>
            <a:endParaRPr lang="en-US" sz="1100" dirty="0"/>
          </a:p>
        </p:txBody>
      </p:sp>
      <p:sp>
        <p:nvSpPr>
          <p:cNvPr id="7" name="Text 5"/>
          <p:cNvSpPr/>
          <p:nvPr/>
        </p:nvSpPr>
        <p:spPr>
          <a:xfrm>
            <a:off x="502920" y="1737360"/>
            <a:ext cx="4343400" cy="1143000"/>
          </a:xfrm>
          <a:prstGeom prst="rect">
            <a:avLst/>
          </a:prstGeom>
          <a:noFill/>
          <a:ln/>
        </p:spPr>
        <p:txBody>
          <a:bodyPr wrap="square" lIns="0" tIns="0" rIns="0" bIns="0" rtlCol="0" anchor="ctr"/>
          <a:lstStyle/>
          <a:p>
            <a:pPr indent="0" marL="0">
              <a:lnSpc>
                <a:spcPct val="112000"/>
              </a:lnSpc>
              <a:buNone/>
            </a:pPr>
            <a:r>
              <a:rPr lang="en-US" sz="1250" dirty="0">
                <a:solidFill>
                  <a:srgbClr val="26352C"/>
                </a:solidFill>
                <a:latin typeface="Calibri" pitchFamily="34" charset="0"/>
                <a:ea typeface="Calibri" pitchFamily="34" charset="-122"/>
                <a:cs typeface="Calibri" pitchFamily="34" charset="-120"/>
              </a:rPr>
              <a:t>La matrice impose un hébergement sur 2 à 3 AZ. Sans contrainte explicite, l'ordonnanceur peut concentrer tous les pods dans une seule zone.</a:t>
            </a:r>
            <a:endParaRPr lang="en-US" sz="1250" dirty="0"/>
          </a:p>
        </p:txBody>
      </p:sp>
      <p:sp>
        <p:nvSpPr>
          <p:cNvPr id="8" name="Text 6"/>
          <p:cNvSpPr/>
          <p:nvPr/>
        </p:nvSpPr>
        <p:spPr>
          <a:xfrm>
            <a:off x="502920" y="2926080"/>
            <a:ext cx="4343400" cy="1828800"/>
          </a:xfrm>
          <a:prstGeom prst="rect">
            <a:avLst/>
          </a:prstGeom>
          <a:noFill/>
          <a:ln/>
        </p:spPr>
        <p:txBody>
          <a:bodyPr wrap="square" lIns="0" tIns="0" rIns="0" bIns="0" rtlCol="0" anchor="ctr"/>
          <a:lstStyle/>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topologyKey: zone répartit les pods sur Paris 1 / 2 / 3.</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DoNotSchedule (Extreme / Serious) = garantie stricte ; ScheduleAnyway (Moderate) = au mieux.</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Une 2ᵉ contrainte hostname étale aussi sur les 2 workers de chaque AZ.</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Déployer avec anti-affinité sur plusieurs AZ et plusieurs nœuds pour éviter une défaillance simultanée.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Deployment &gt; spec.template.spec</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topologySpreadConstraints: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1</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topology.kubernetes.io/zone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DoNotSchedule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labelSelector:</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matchLabels: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paiement-api</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1</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kubernetes.io/hostname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ScheduleAnyway</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labelSelector:</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matchLabels: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paiement-api</a:t>
            </a:r>
            <a:endParaRPr lang="en-US" sz="1150" dirty="0"/>
          </a:p>
          <a:p>
            <a:pPr algn="l" indent="0" marL="0">
              <a:lnSpc>
                <a:spcPct val="106000"/>
              </a:lnSpc>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zone   -&gt; Paris 1/2/3 (eu-fr2-1/2/3)</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maxSkew: 1 -&gt; ecart max 1 pod entre zones</a:t>
            </a:r>
            <a:endParaRPr lang="en-US" sz="11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00925F"/>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EXIGENCE 2 — CONTINUITÉ OPÉRATIONNELLE</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Protéger le service pendant les opérations volontaires</a:t>
            </a:r>
            <a:endParaRPr lang="en-US" sz="24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POURQUOI</a:t>
            </a:r>
            <a:endParaRPr lang="en-US" sz="1100" dirty="0"/>
          </a:p>
        </p:txBody>
      </p:sp>
      <p:sp>
        <p:nvSpPr>
          <p:cNvPr id="7" name="Text 5"/>
          <p:cNvSpPr/>
          <p:nvPr/>
        </p:nvSpPr>
        <p:spPr>
          <a:xfrm>
            <a:off x="502920" y="1737360"/>
            <a:ext cx="4343400" cy="1143000"/>
          </a:xfrm>
          <a:prstGeom prst="rect">
            <a:avLst/>
          </a:prstGeom>
          <a:noFill/>
          <a:ln/>
        </p:spPr>
        <p:txBody>
          <a:bodyPr wrap="square" lIns="0" tIns="0" rIns="0" bIns="0" rtlCol="0" anchor="ctr"/>
          <a:lstStyle/>
          <a:p>
            <a:pPr indent="0" marL="0">
              <a:lnSpc>
                <a:spcPct val="112000"/>
              </a:lnSpc>
              <a:buNone/>
            </a:pPr>
            <a:r>
              <a:rPr lang="en-US" sz="1250" dirty="0">
                <a:solidFill>
                  <a:srgbClr val="26352C"/>
                </a:solidFill>
                <a:latin typeface="Calibri" pitchFamily="34" charset="0"/>
                <a:ea typeface="Calibri" pitchFamily="34" charset="-122"/>
                <a:cs typeface="Calibri" pitchFamily="34" charset="-120"/>
              </a:rPr>
              <a:t>Les pods sont régulièrement replanifiés (upgrades, drain de nœud, maintenance). Sans garde-fou, une AZ entière peut tomber le temps d'une opération.</a:t>
            </a:r>
            <a:endParaRPr lang="en-US" sz="1250" dirty="0"/>
          </a:p>
        </p:txBody>
      </p:sp>
      <p:sp>
        <p:nvSpPr>
          <p:cNvPr id="8" name="Text 6"/>
          <p:cNvSpPr/>
          <p:nvPr/>
        </p:nvSpPr>
        <p:spPr>
          <a:xfrm>
            <a:off x="502920" y="2926080"/>
            <a:ext cx="4343400" cy="1828800"/>
          </a:xfrm>
          <a:prstGeom prst="rect">
            <a:avLst/>
          </a:prstGeom>
          <a:noFill/>
          <a:ln/>
        </p:spPr>
        <p:txBody>
          <a:bodyPr wrap="square" lIns="0" tIns="0" rIns="0" bIns="0" rtlCol="0" anchor="ctr"/>
          <a:lstStyle/>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PodDisruptionBudget : au plus 1 pod indisponible lors d'un drain.</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terminationGracePeriodSeconds + preStop : arrêt propre, drain des connexions.</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L'ordonnanceur respecte le PDB avant d'évincer un pod.</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Limiter la disruption métier quand les pods doivent être replanifiés (upgrades, maintenance de routine).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policy/v1</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PodDisruptionBudget</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metadata:</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paiement-api-pdb</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ns002i014490</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spec:</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1</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selector:</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matchLabels: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paiement-api</a:t>
            </a:r>
            <a:endParaRPr lang="en-US" sz="1150" dirty="0"/>
          </a:p>
          <a:p>
            <a:pPr algn="l" indent="0" marL="0">
              <a:lnSpc>
                <a:spcPct val="106000"/>
              </a:lnSpc>
              <a:buNone/>
            </a:pPr>
            <a:r>
              <a:rPr lang="en-US" sz="1150" dirty="0">
                <a:solidFill>
                  <a:srgbClr val="7E9788"/>
                </a:solidFill>
                <a:latin typeface="Consolas" pitchFamily="34" charset="0"/>
                <a:ea typeface="Consolas" pitchFamily="34" charset="-122"/>
                <a:cs typeface="Consolas" pitchFamily="34" charset="-120"/>
              </a:rPr>
              <a:t>---</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Deployment &gt; spec.template.spec</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terminationGracePeriodSeconds:</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60</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containers: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paiement-api</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lifecycle: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preStop:</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exec:</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command:</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["sh", "-c", "sleep 10"]</a:t>
            </a:r>
            <a:endParaRPr lang="en-US" sz="11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00925F"/>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EXIGENCE 3 — SANTÉ &amp; DIMENSIONNEMENT</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Rendre le failover automatique fiable</a:t>
            </a:r>
            <a:endParaRPr lang="en-US" sz="24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POURQUOI</a:t>
            </a:r>
            <a:endParaRPr lang="en-US" sz="1100" dirty="0"/>
          </a:p>
        </p:txBody>
      </p:sp>
      <p:sp>
        <p:nvSpPr>
          <p:cNvPr id="7" name="Text 5"/>
          <p:cNvSpPr/>
          <p:nvPr/>
        </p:nvSpPr>
        <p:spPr>
          <a:xfrm>
            <a:off x="502920" y="1737360"/>
            <a:ext cx="4343400" cy="1143000"/>
          </a:xfrm>
          <a:prstGeom prst="rect">
            <a:avLst/>
          </a:prstGeom>
          <a:noFill/>
          <a:ln/>
        </p:spPr>
        <p:txBody>
          <a:bodyPr wrap="square" lIns="0" tIns="0" rIns="0" bIns="0" rtlCol="0" anchor="ctr"/>
          <a:lstStyle/>
          <a:p>
            <a:pPr indent="0" marL="0">
              <a:lnSpc>
                <a:spcPct val="112000"/>
              </a:lnSpc>
              <a:buNone/>
            </a:pPr>
            <a:r>
              <a:rPr lang="en-US" sz="1250" dirty="0">
                <a:solidFill>
                  <a:srgbClr val="26352C"/>
                </a:solidFill>
                <a:latin typeface="Calibri" pitchFamily="34" charset="0"/>
                <a:ea typeface="Calibri" pitchFamily="34" charset="-122"/>
                <a:cs typeface="Calibri" pitchFamily="34" charset="-120"/>
              </a:rPr>
              <a:t>Le failover natif de Kubernetes ne fonctionne que si les pods sont correctement dimensionnés et si leur état réel est signalé à l'ordonnanceur.</a:t>
            </a:r>
            <a:endParaRPr lang="en-US" sz="1250" dirty="0"/>
          </a:p>
        </p:txBody>
      </p:sp>
      <p:sp>
        <p:nvSpPr>
          <p:cNvPr id="8" name="Text 6"/>
          <p:cNvSpPr/>
          <p:nvPr/>
        </p:nvSpPr>
        <p:spPr>
          <a:xfrm>
            <a:off x="502920" y="2926080"/>
            <a:ext cx="4343400" cy="1828800"/>
          </a:xfrm>
          <a:prstGeom prst="rect">
            <a:avLst/>
          </a:prstGeom>
          <a:noFill/>
          <a:ln/>
        </p:spPr>
        <p:txBody>
          <a:bodyPr wrap="square" lIns="0" tIns="0" rIns="0" bIns="0" rtlCol="0" anchor="ctr"/>
          <a:lstStyle/>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requests / limits : réservation garantie + marge pour absorber la perte d'une AZ.</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3 sondes : startup (démarrage lent), readiness (trafic), liveness (redémarrage).</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strategy maxUnavailable: 0 : zéro interruption pendant les déploiements.</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Combiner health checks et probes pour l'application et ses composants techniques / middleware.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100" i="1" dirty="0">
                <a:solidFill>
                  <a:srgbClr val="7E9788"/>
                </a:solidFill>
                <a:latin typeface="Consolas" pitchFamily="34" charset="0"/>
                <a:ea typeface="Consolas" pitchFamily="34" charset="-122"/>
                <a:cs typeface="Consolas" pitchFamily="34" charset="-120"/>
              </a:rPr>
              <a:t># Deployment &gt; spec</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strategy:</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RollingUpdate</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rollingUpdate:</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0</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maxSurge:</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1</a:t>
            </a:r>
            <a:endParaRPr lang="en-US" sz="1100" dirty="0"/>
          </a:p>
          <a:p>
            <a:pPr algn="l" indent="0" marL="0">
              <a:lnSpc>
                <a:spcPct val="106000"/>
              </a:lnSpc>
              <a:buNone/>
            </a:pPr>
            <a:r>
              <a:rPr lang="en-US" sz="1100" i="1" dirty="0">
                <a:solidFill>
                  <a:srgbClr val="7E9788"/>
                </a:solidFill>
                <a:latin typeface="Consolas" pitchFamily="34" charset="0"/>
                <a:ea typeface="Consolas" pitchFamily="34" charset="-122"/>
                <a:cs typeface="Consolas" pitchFamily="34" charset="-120"/>
              </a:rPr>
              <a:t># spec.template.spec.containers[]</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resources:</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requests:</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 cpu: 500m, memory: 512Mi }</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limits:</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 cpu: "1",  memory: 1Gi }</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startupProbe:</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 path: /health/startup, port: 8080 }</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5</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failureThreshold:</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30</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readinessProbe:</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 path: /health/ready, port: 8080 }</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10</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livenessProbe:</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 path: /health/live, port: 8080 }</a:t>
            </a:r>
            <a:endParaRPr lang="en-US" sz="1100" dirty="0"/>
          </a:p>
          <a:p>
            <a:pPr algn="l" indent="0" marL="0">
              <a:lnSpc>
                <a:spcPct val="106000"/>
              </a:lnSpc>
              <a:buNone/>
            </a:pPr>
            <a:r>
              <a:rPr lang="en-US" sz="110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1100" dirty="0">
                <a:solidFill>
                  <a:srgbClr val="DCE6EC"/>
                </a:solidFill>
                <a:latin typeface="Consolas" pitchFamily="34" charset="0"/>
                <a:ea typeface="Consolas" pitchFamily="34" charset="-122"/>
                <a:cs typeface="Consolas" pitchFamily="34" charset="-120"/>
              </a:rPr>
              <a:t> 15</a:t>
            </a:r>
            <a:endParaRPr lang="en-US" sz="110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00925F"/>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EXIGENCE 4 — PRIORISATION</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Garantir le réordonnancement des services critiques</a:t>
            </a:r>
            <a:endParaRPr lang="en-US" sz="24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POURQUOI</a:t>
            </a:r>
            <a:endParaRPr lang="en-US" sz="1100" dirty="0"/>
          </a:p>
        </p:txBody>
      </p:sp>
      <p:sp>
        <p:nvSpPr>
          <p:cNvPr id="7" name="Text 5"/>
          <p:cNvSpPr/>
          <p:nvPr/>
        </p:nvSpPr>
        <p:spPr>
          <a:xfrm>
            <a:off x="502920" y="1737360"/>
            <a:ext cx="4343400" cy="1143000"/>
          </a:xfrm>
          <a:prstGeom prst="rect">
            <a:avLst/>
          </a:prstGeom>
          <a:noFill/>
          <a:ln/>
        </p:spPr>
        <p:txBody>
          <a:bodyPr wrap="square" lIns="0" tIns="0" rIns="0" bIns="0" rtlCol="0" anchor="ctr"/>
          <a:lstStyle/>
          <a:p>
            <a:pPr indent="0" marL="0">
              <a:lnSpc>
                <a:spcPct val="112000"/>
              </a:lnSpc>
              <a:buNone/>
            </a:pPr>
            <a:r>
              <a:rPr lang="en-US" sz="1250" dirty="0">
                <a:solidFill>
                  <a:srgbClr val="26352C"/>
                </a:solidFill>
                <a:latin typeface="Calibri" pitchFamily="34" charset="0"/>
                <a:ea typeface="Calibri" pitchFamily="34" charset="-122"/>
                <a:cs typeface="Calibri" pitchFamily="34" charset="-120"/>
              </a:rPr>
              <a:t>En cas de perte d'une AZ, les 4 workers restants doivent pouvoir replanifier en priorité les pods Extreme / Serious, quitte à préempter les workloads moins critiques.</a:t>
            </a:r>
            <a:endParaRPr lang="en-US" sz="1250" dirty="0"/>
          </a:p>
        </p:txBody>
      </p:sp>
      <p:sp>
        <p:nvSpPr>
          <p:cNvPr id="8" name="Text 6"/>
          <p:cNvSpPr/>
          <p:nvPr/>
        </p:nvSpPr>
        <p:spPr>
          <a:xfrm>
            <a:off x="502920" y="2926080"/>
            <a:ext cx="4343400" cy="1828800"/>
          </a:xfrm>
          <a:prstGeom prst="rect">
            <a:avLst/>
          </a:prstGeom>
          <a:noFill/>
          <a:ln/>
        </p:spPr>
        <p:txBody>
          <a:bodyPr wrap="square" lIns="0" tIns="0" rIns="0" bIns="0" rtlCol="0" anchor="ctr"/>
          <a:lstStyle/>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PriorityClass élevée pour les services Extreme / Serious.</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Sous pression, les pods de faible priorité sont préemptés en premier.</a:t>
            </a:r>
            <a:endParaRPr lang="en-US" sz="1150" dirty="0"/>
          </a:p>
          <a:p>
            <a:pPr marL="152400" indent="-152400">
              <a:spcAft>
                <a:spcPts val="700"/>
              </a:spcAft>
              <a:buSzPct val="100000"/>
              <a:buChar char="•"/>
            </a:pPr>
            <a:r>
              <a:rPr lang="en-US" sz="1150" dirty="0">
                <a:solidFill>
                  <a:srgbClr val="26352C"/>
                </a:solidFill>
                <a:latin typeface="Calibri" pitchFamily="34" charset="0"/>
                <a:ea typeface="Calibri" pitchFamily="34" charset="-122"/>
                <a:cs typeface="Calibri" pitchFamily="34" charset="-120"/>
              </a:rPr>
              <a:t>Conserver ~1/3 de capacité libre pour absorber la perte d'une AZ.</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Définir des priorités de Runtime pour héberger en priorité les services Extreme et Serious.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scheduling.k8s.io/v1</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PriorityClass</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metadata:</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business-extreme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value: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1000000</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globalDefault:</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false</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description:</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"Services Extreme / Serious"</a:t>
            </a:r>
            <a:endParaRPr lang="en-US" sz="1150" dirty="0"/>
          </a:p>
          <a:p>
            <a:pPr algn="l" indent="0" marL="0">
              <a:lnSpc>
                <a:spcPct val="106000"/>
              </a:lnSpc>
              <a:buNone/>
            </a:pPr>
            <a:r>
              <a:rPr lang="en-US" sz="1150" dirty="0">
                <a:solidFill>
                  <a:srgbClr val="7E9788"/>
                </a:solidFill>
                <a:latin typeface="Consolas" pitchFamily="34" charset="0"/>
                <a:ea typeface="Consolas" pitchFamily="34" charset="-122"/>
                <a:cs typeface="Consolas" pitchFamily="34" charset="-120"/>
              </a:rPr>
              <a:t>---</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Deployment &gt; spec.template.spec</a:t>
            </a:r>
            <a:endParaRPr lang="en-US" sz="1150" dirty="0"/>
          </a:p>
          <a:p>
            <a:pPr algn="l" indent="0" marL="0">
              <a:lnSpc>
                <a:spcPct val="106000"/>
              </a:lnSpc>
              <a:buNone/>
            </a:pPr>
            <a:r>
              <a:rPr lang="en-US" sz="1150" dirty="0">
                <a:solidFill>
                  <a:srgbClr val="73C9A0"/>
                </a:solidFill>
                <a:latin typeface="Consolas" pitchFamily="34" charset="0"/>
                <a:ea typeface="Consolas" pitchFamily="34" charset="-122"/>
                <a:cs typeface="Consolas" pitchFamily="34" charset="-120"/>
              </a:rPr>
              <a:t>priorityClassName:</a:t>
            </a:r>
            <a:pPr algn="l" indent="0" marL="0">
              <a:lnSpc>
                <a:spcPct val="106000"/>
              </a:lnSpc>
              <a:buNone/>
            </a:pPr>
            <a:r>
              <a:rPr lang="en-US" sz="1150" dirty="0">
                <a:solidFill>
                  <a:srgbClr val="DCE6EC"/>
                </a:solidFill>
                <a:latin typeface="Consolas" pitchFamily="34" charset="0"/>
                <a:ea typeface="Consolas" pitchFamily="34" charset="-122"/>
                <a:cs typeface="Consolas" pitchFamily="34" charset="-120"/>
              </a:rPr>
              <a:t> business-extreme</a:t>
            </a:r>
            <a:endParaRPr lang="en-US" sz="1150" dirty="0"/>
          </a:p>
          <a:p>
            <a:pPr algn="l" indent="0" marL="0">
              <a:lnSpc>
                <a:spcPct val="106000"/>
              </a:lnSpc>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Les pods sans priorite (value plus basse)</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sont preemptes en premier si un worker</a:t>
            </a:r>
            <a:endParaRPr lang="en-US" sz="1150" dirty="0"/>
          </a:p>
          <a:p>
            <a:pPr algn="l" indent="0" marL="0">
              <a:lnSpc>
                <a:spcPct val="106000"/>
              </a:lnSpc>
              <a:buNone/>
            </a:pPr>
            <a:r>
              <a:rPr lang="en-US" sz="1150" i="1" dirty="0">
                <a:solidFill>
                  <a:srgbClr val="7E9788"/>
                </a:solidFill>
                <a:latin typeface="Consolas" pitchFamily="34" charset="0"/>
                <a:ea typeface="Consolas" pitchFamily="34" charset="-122"/>
                <a:cs typeface="Consolas" pitchFamily="34" charset="-120"/>
              </a:rPr>
              <a:t># manque de ressources apres une perte d'AZ.</a:t>
            </a:r>
            <a:endParaRPr lang="en-US" sz="11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DONNÉES &amp; SAUVEGARDE</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Pas d'état local, sauvegarde maîtrisée</a:t>
            </a:r>
            <a:endParaRPr lang="en-US" sz="2700" dirty="0"/>
          </a:p>
        </p:txBody>
      </p:sp>
      <p:sp>
        <p:nvSpPr>
          <p:cNvPr id="4" name="Shape 2"/>
          <p:cNvSpPr/>
          <p:nvPr/>
        </p:nvSpPr>
        <p:spPr>
          <a:xfrm>
            <a:off x="502920" y="1371600"/>
            <a:ext cx="11183112" cy="914400"/>
          </a:xfrm>
          <a:prstGeom prst="roundRect">
            <a:avLst>
              <a:gd name="adj" fmla="val 8000"/>
            </a:avLst>
          </a:prstGeom>
          <a:solidFill>
            <a:srgbClr val="F4F2EA"/>
          </a:solidFill>
          <a:ln w="12700">
            <a:solidFill>
              <a:srgbClr val="DED8C8"/>
            </a:solidFill>
            <a:prstDash val="solid"/>
          </a:ln>
        </p:spPr>
      </p:sp>
      <p:sp>
        <p:nvSpPr>
          <p:cNvPr id="5" name="Shape 3"/>
          <p:cNvSpPr/>
          <p:nvPr/>
        </p:nvSpPr>
        <p:spPr>
          <a:xfrm>
            <a:off x="777240" y="1572768"/>
            <a:ext cx="512064" cy="512064"/>
          </a:xfrm>
          <a:prstGeom prst="ellipse">
            <a:avLst/>
          </a:prstGeom>
          <a:solidFill>
            <a:srgbClr val="00925F"/>
          </a:solidFill>
          <a:ln/>
        </p:spPr>
      </p:sp>
      <p:pic>
        <p:nvPicPr>
          <p:cNvPr id="6" name="Image 0" descr="preencoded.png">    </p:cNvPr>
          <p:cNvPicPr>
            <a:picLocks noChangeAspect="1"/>
          </p:cNvPicPr>
          <p:nvPr/>
        </p:nvPicPr>
        <p:blipFill>
          <a:blip r:embed="rId1"/>
          <a:stretch>
            <a:fillRect/>
          </a:stretch>
        </p:blipFill>
        <p:spPr>
          <a:xfrm>
            <a:off x="905256" y="1700784"/>
            <a:ext cx="256032" cy="256032"/>
          </a:xfrm>
          <a:prstGeom prst="rect">
            <a:avLst/>
          </a:prstGeom>
        </p:spPr>
      </p:pic>
      <p:sp>
        <p:nvSpPr>
          <p:cNvPr id="7" name="Text 4"/>
          <p:cNvSpPr/>
          <p:nvPr/>
        </p:nvSpPr>
        <p:spPr>
          <a:xfrm>
            <a:off x="1508760" y="1490472"/>
            <a:ext cx="3657600" cy="676656"/>
          </a:xfrm>
          <a:prstGeom prst="rect">
            <a:avLst/>
          </a:prstGeom>
          <a:noFill/>
          <a:ln/>
        </p:spPr>
        <p:txBody>
          <a:bodyPr wrap="square" lIns="0" tIns="0" rIns="0" bIns="0" rtlCol="0" anchor="ctr"/>
          <a:lstStyle/>
          <a:p>
            <a:pPr indent="0" marL="0">
              <a:lnSpc>
                <a:spcPct val="100000"/>
              </a:lnSpc>
              <a:buNone/>
            </a:pPr>
            <a:r>
              <a:rPr lang="en-US" sz="1350" b="1" dirty="0">
                <a:solidFill>
                  <a:srgbClr val="0C2A1E"/>
                </a:solidFill>
                <a:latin typeface="Calibri" pitchFamily="34" charset="0"/>
                <a:ea typeface="Calibri" pitchFamily="34" charset="-122"/>
                <a:cs typeface="Calibri" pitchFamily="34" charset="-120"/>
              </a:rPr>
              <a:t>Aucune donnée persistante locale</a:t>
            </a:r>
            <a:endParaRPr lang="en-US" sz="1350" dirty="0"/>
          </a:p>
        </p:txBody>
      </p:sp>
      <p:sp>
        <p:nvSpPr>
          <p:cNvPr id="8" name="Text 5"/>
          <p:cNvSpPr/>
          <p:nvPr/>
        </p:nvSpPr>
        <p:spPr>
          <a:xfrm>
            <a:off x="5303520" y="1463040"/>
            <a:ext cx="6263640" cy="731520"/>
          </a:xfrm>
          <a:prstGeom prst="rect">
            <a:avLst/>
          </a:prstGeom>
          <a:noFill/>
          <a:ln/>
        </p:spPr>
        <p:txBody>
          <a:bodyPr wrap="square" lIns="0" tIns="0" rIns="0" bIns="0" rtlCol="0" anchor="ctr"/>
          <a:lstStyle/>
          <a:p>
            <a:pPr indent="0" marL="0">
              <a:lnSpc>
                <a:spcPct val="108000"/>
              </a:lnSpc>
              <a:buNone/>
            </a:pPr>
            <a:r>
              <a:rPr lang="en-US" sz="1150" dirty="0">
                <a:solidFill>
                  <a:srgbClr val="26352C"/>
                </a:solidFill>
                <a:latin typeface="Calibri" pitchFamily="34" charset="0"/>
                <a:ea typeface="Calibri" pitchFamily="34" charset="-122"/>
                <a:cs typeface="Calibri" pitchFamily="34" charset="-120"/>
              </a:rPr>
              <a:t>Les Runtimes et les Nodes ne stockent aucune donnée persistante — volumes emptyDir éphémères uniquement.</a:t>
            </a:r>
            <a:endParaRPr lang="en-US" sz="1150" dirty="0"/>
          </a:p>
        </p:txBody>
      </p:sp>
      <p:sp>
        <p:nvSpPr>
          <p:cNvPr id="9" name="Shape 6"/>
          <p:cNvSpPr/>
          <p:nvPr/>
        </p:nvSpPr>
        <p:spPr>
          <a:xfrm>
            <a:off x="502920" y="2377440"/>
            <a:ext cx="11183112" cy="914400"/>
          </a:xfrm>
          <a:prstGeom prst="roundRect">
            <a:avLst>
              <a:gd name="adj" fmla="val 8000"/>
            </a:avLst>
          </a:prstGeom>
          <a:solidFill>
            <a:srgbClr val="F4F2EA"/>
          </a:solidFill>
          <a:ln w="12700">
            <a:solidFill>
              <a:srgbClr val="DED8C8"/>
            </a:solidFill>
            <a:prstDash val="solid"/>
          </a:ln>
        </p:spPr>
      </p:sp>
      <p:sp>
        <p:nvSpPr>
          <p:cNvPr id="10" name="Shape 7"/>
          <p:cNvSpPr/>
          <p:nvPr/>
        </p:nvSpPr>
        <p:spPr>
          <a:xfrm>
            <a:off x="777240" y="2578608"/>
            <a:ext cx="512064" cy="512064"/>
          </a:xfrm>
          <a:prstGeom prst="ellipse">
            <a:avLst/>
          </a:prstGeom>
          <a:solidFill>
            <a:srgbClr val="00925F"/>
          </a:solidFill>
          <a:ln/>
        </p:spPr>
      </p:sp>
      <p:pic>
        <p:nvPicPr>
          <p:cNvPr id="11" name="Image 1" descr="preencoded.png">    </p:cNvPr>
          <p:cNvPicPr>
            <a:picLocks noChangeAspect="1"/>
          </p:cNvPicPr>
          <p:nvPr/>
        </p:nvPicPr>
        <p:blipFill>
          <a:blip r:embed="rId2"/>
          <a:stretch>
            <a:fillRect/>
          </a:stretch>
        </p:blipFill>
        <p:spPr>
          <a:xfrm>
            <a:off x="905256" y="2706624"/>
            <a:ext cx="256032" cy="256032"/>
          </a:xfrm>
          <a:prstGeom prst="rect">
            <a:avLst/>
          </a:prstGeom>
        </p:spPr>
      </p:pic>
      <p:sp>
        <p:nvSpPr>
          <p:cNvPr id="12" name="Text 8"/>
          <p:cNvSpPr/>
          <p:nvPr/>
        </p:nvSpPr>
        <p:spPr>
          <a:xfrm>
            <a:off x="1508760" y="2496312"/>
            <a:ext cx="3657600" cy="676656"/>
          </a:xfrm>
          <a:prstGeom prst="rect">
            <a:avLst/>
          </a:prstGeom>
          <a:noFill/>
          <a:ln/>
        </p:spPr>
        <p:txBody>
          <a:bodyPr wrap="square" lIns="0" tIns="0" rIns="0" bIns="0" rtlCol="0" anchor="ctr"/>
          <a:lstStyle/>
          <a:p>
            <a:pPr indent="0" marL="0">
              <a:lnSpc>
                <a:spcPct val="100000"/>
              </a:lnSpc>
              <a:buNone/>
            </a:pPr>
            <a:r>
              <a:rPr lang="en-US" sz="1350" b="1" dirty="0">
                <a:solidFill>
                  <a:srgbClr val="0C2A1E"/>
                </a:solidFill>
                <a:latin typeface="Calibri" pitchFamily="34" charset="0"/>
                <a:ea typeface="Calibri" pitchFamily="34" charset="-122"/>
                <a:cs typeface="Calibri" pitchFamily="34" charset="-120"/>
              </a:rPr>
              <a:t>État externalisé</a:t>
            </a:r>
            <a:endParaRPr lang="en-US" sz="1350" dirty="0"/>
          </a:p>
        </p:txBody>
      </p:sp>
      <p:sp>
        <p:nvSpPr>
          <p:cNvPr id="13" name="Text 9"/>
          <p:cNvSpPr/>
          <p:nvPr/>
        </p:nvSpPr>
        <p:spPr>
          <a:xfrm>
            <a:off x="5303520" y="2468880"/>
            <a:ext cx="6263640" cy="731520"/>
          </a:xfrm>
          <a:prstGeom prst="rect">
            <a:avLst/>
          </a:prstGeom>
          <a:noFill/>
          <a:ln/>
        </p:spPr>
        <p:txBody>
          <a:bodyPr wrap="square" lIns="0" tIns="0" rIns="0" bIns="0" rtlCol="0" anchor="ctr"/>
          <a:lstStyle/>
          <a:p>
            <a:pPr indent="0" marL="0">
              <a:lnSpc>
                <a:spcPct val="108000"/>
              </a:lnSpc>
              <a:buNone/>
            </a:pPr>
            <a:r>
              <a:rPr lang="en-US" sz="1150" dirty="0">
                <a:solidFill>
                  <a:srgbClr val="26352C"/>
                </a:solidFill>
                <a:latin typeface="Calibri" pitchFamily="34" charset="0"/>
                <a:ea typeface="Calibri" pitchFamily="34" charset="-122"/>
                <a:cs typeface="Calibri" pitchFamily="34" charset="-120"/>
              </a:rPr>
              <a:t>Bases en DBaaS PostgreSQL répliqué multi-AZ ; fichiers et objets dans IBM COS régional (cross-AZ).</a:t>
            </a:r>
            <a:endParaRPr lang="en-US" sz="1150" dirty="0"/>
          </a:p>
        </p:txBody>
      </p:sp>
      <p:sp>
        <p:nvSpPr>
          <p:cNvPr id="14" name="Shape 10"/>
          <p:cNvSpPr/>
          <p:nvPr/>
        </p:nvSpPr>
        <p:spPr>
          <a:xfrm>
            <a:off x="502920" y="3383280"/>
            <a:ext cx="11183112" cy="914400"/>
          </a:xfrm>
          <a:prstGeom prst="roundRect">
            <a:avLst>
              <a:gd name="adj" fmla="val 8000"/>
            </a:avLst>
          </a:prstGeom>
          <a:solidFill>
            <a:srgbClr val="F4F2EA"/>
          </a:solidFill>
          <a:ln w="12700">
            <a:solidFill>
              <a:srgbClr val="DED8C8"/>
            </a:solidFill>
            <a:prstDash val="solid"/>
          </a:ln>
        </p:spPr>
      </p:sp>
      <p:sp>
        <p:nvSpPr>
          <p:cNvPr id="15" name="Shape 11"/>
          <p:cNvSpPr/>
          <p:nvPr/>
        </p:nvSpPr>
        <p:spPr>
          <a:xfrm>
            <a:off x="777240" y="3584448"/>
            <a:ext cx="512064" cy="512064"/>
          </a:xfrm>
          <a:prstGeom prst="ellipse">
            <a:avLst/>
          </a:prstGeom>
          <a:solidFill>
            <a:srgbClr val="00925F"/>
          </a:solidFill>
          <a:ln/>
        </p:spPr>
      </p:sp>
      <p:pic>
        <p:nvPicPr>
          <p:cNvPr id="16" name="Image 2" descr="preencoded.png">    </p:cNvPr>
          <p:cNvPicPr>
            <a:picLocks noChangeAspect="1"/>
          </p:cNvPicPr>
          <p:nvPr/>
        </p:nvPicPr>
        <p:blipFill>
          <a:blip r:embed="rId3"/>
          <a:stretch>
            <a:fillRect/>
          </a:stretch>
        </p:blipFill>
        <p:spPr>
          <a:xfrm>
            <a:off x="905256" y="3712464"/>
            <a:ext cx="256032" cy="256032"/>
          </a:xfrm>
          <a:prstGeom prst="rect">
            <a:avLst/>
          </a:prstGeom>
        </p:spPr>
      </p:pic>
      <p:sp>
        <p:nvSpPr>
          <p:cNvPr id="17" name="Text 12"/>
          <p:cNvSpPr/>
          <p:nvPr/>
        </p:nvSpPr>
        <p:spPr>
          <a:xfrm>
            <a:off x="1508760" y="3502152"/>
            <a:ext cx="3657600" cy="676656"/>
          </a:xfrm>
          <a:prstGeom prst="rect">
            <a:avLst/>
          </a:prstGeom>
          <a:noFill/>
          <a:ln/>
        </p:spPr>
        <p:txBody>
          <a:bodyPr wrap="square" lIns="0" tIns="0" rIns="0" bIns="0" rtlCol="0" anchor="ctr"/>
          <a:lstStyle/>
          <a:p>
            <a:pPr indent="0" marL="0">
              <a:lnSpc>
                <a:spcPct val="100000"/>
              </a:lnSpc>
              <a:buNone/>
            </a:pPr>
            <a:r>
              <a:rPr lang="en-US" sz="1350" b="1" dirty="0">
                <a:solidFill>
                  <a:srgbClr val="0C2A1E"/>
                </a:solidFill>
                <a:latin typeface="Calibri" pitchFamily="34" charset="0"/>
                <a:ea typeface="Calibri" pitchFamily="34" charset="-122"/>
                <a:cs typeface="Calibri" pitchFamily="34" charset="-120"/>
              </a:rPr>
              <a:t>Stockage zone-redondant</a:t>
            </a:r>
            <a:endParaRPr lang="en-US" sz="1350" dirty="0"/>
          </a:p>
        </p:txBody>
      </p:sp>
      <p:sp>
        <p:nvSpPr>
          <p:cNvPr id="18" name="Text 13"/>
          <p:cNvSpPr/>
          <p:nvPr/>
        </p:nvSpPr>
        <p:spPr>
          <a:xfrm>
            <a:off x="5303520" y="3474720"/>
            <a:ext cx="6263640" cy="731520"/>
          </a:xfrm>
          <a:prstGeom prst="rect">
            <a:avLst/>
          </a:prstGeom>
          <a:noFill/>
          <a:ln/>
        </p:spPr>
        <p:txBody>
          <a:bodyPr wrap="square" lIns="0" tIns="0" rIns="0" bIns="0" rtlCol="0" anchor="ctr"/>
          <a:lstStyle/>
          <a:p>
            <a:pPr indent="0" marL="0">
              <a:lnSpc>
                <a:spcPct val="108000"/>
              </a:lnSpc>
              <a:buNone/>
            </a:pPr>
            <a:r>
              <a:rPr lang="en-US" sz="1150" dirty="0">
                <a:solidFill>
                  <a:srgbClr val="26352C"/>
                </a:solidFill>
                <a:latin typeface="Calibri" pitchFamily="34" charset="0"/>
                <a:ea typeface="Calibri" pitchFamily="34" charset="-122"/>
                <a:cs typeface="Calibri" pitchFamily="34" charset="-120"/>
              </a:rPr>
              <a:t>Le Block Storage IBM est zonal : la réplication inter-AZ est portée par le service de données, pas par le volume.</a:t>
            </a:r>
            <a:endParaRPr lang="en-US" sz="1150" dirty="0"/>
          </a:p>
        </p:txBody>
      </p:sp>
      <p:sp>
        <p:nvSpPr>
          <p:cNvPr id="19" name="Shape 14"/>
          <p:cNvSpPr/>
          <p:nvPr/>
        </p:nvSpPr>
        <p:spPr>
          <a:xfrm>
            <a:off x="502920" y="4389120"/>
            <a:ext cx="11183112" cy="914400"/>
          </a:xfrm>
          <a:prstGeom prst="roundRect">
            <a:avLst>
              <a:gd name="adj" fmla="val 8000"/>
            </a:avLst>
          </a:prstGeom>
          <a:solidFill>
            <a:srgbClr val="F4F2EA"/>
          </a:solidFill>
          <a:ln w="12700">
            <a:solidFill>
              <a:srgbClr val="DED8C8"/>
            </a:solidFill>
            <a:prstDash val="solid"/>
          </a:ln>
        </p:spPr>
      </p:sp>
      <p:sp>
        <p:nvSpPr>
          <p:cNvPr id="20" name="Shape 15"/>
          <p:cNvSpPr/>
          <p:nvPr/>
        </p:nvSpPr>
        <p:spPr>
          <a:xfrm>
            <a:off x="777240" y="4590288"/>
            <a:ext cx="512064" cy="512064"/>
          </a:xfrm>
          <a:prstGeom prst="ellipse">
            <a:avLst/>
          </a:prstGeom>
          <a:solidFill>
            <a:srgbClr val="00925F"/>
          </a:solidFill>
          <a:ln/>
        </p:spPr>
      </p:sp>
      <p:pic>
        <p:nvPicPr>
          <p:cNvPr id="21" name="Image 3" descr="preencoded.png">    </p:cNvPr>
          <p:cNvPicPr>
            <a:picLocks noChangeAspect="1"/>
          </p:cNvPicPr>
          <p:nvPr/>
        </p:nvPicPr>
        <p:blipFill>
          <a:blip r:embed="rId4"/>
          <a:stretch>
            <a:fillRect/>
          </a:stretch>
        </p:blipFill>
        <p:spPr>
          <a:xfrm>
            <a:off x="905256" y="4718304"/>
            <a:ext cx="256032" cy="256032"/>
          </a:xfrm>
          <a:prstGeom prst="rect">
            <a:avLst/>
          </a:prstGeom>
        </p:spPr>
      </p:pic>
      <p:sp>
        <p:nvSpPr>
          <p:cNvPr id="22" name="Text 16"/>
          <p:cNvSpPr/>
          <p:nvPr/>
        </p:nvSpPr>
        <p:spPr>
          <a:xfrm>
            <a:off x="1508760" y="4507992"/>
            <a:ext cx="3657600" cy="676656"/>
          </a:xfrm>
          <a:prstGeom prst="rect">
            <a:avLst/>
          </a:prstGeom>
          <a:noFill/>
          <a:ln/>
        </p:spPr>
        <p:txBody>
          <a:bodyPr wrap="square" lIns="0" tIns="0" rIns="0" bIns="0" rtlCol="0" anchor="ctr"/>
          <a:lstStyle/>
          <a:p>
            <a:pPr indent="0" marL="0">
              <a:lnSpc>
                <a:spcPct val="100000"/>
              </a:lnSpc>
              <a:buNone/>
            </a:pPr>
            <a:r>
              <a:rPr lang="en-US" sz="1350" b="1" dirty="0">
                <a:solidFill>
                  <a:srgbClr val="0C2A1E"/>
                </a:solidFill>
                <a:latin typeface="Calibri" pitchFamily="34" charset="0"/>
                <a:ea typeface="Calibri" pitchFamily="34" charset="-122"/>
                <a:cs typeface="Calibri" pitchFamily="34" charset="-120"/>
              </a:rPr>
              <a:t>Sauvegarde des objets cluster</a:t>
            </a:r>
            <a:endParaRPr lang="en-US" sz="1350" dirty="0"/>
          </a:p>
        </p:txBody>
      </p:sp>
      <p:sp>
        <p:nvSpPr>
          <p:cNvPr id="23" name="Text 17"/>
          <p:cNvSpPr/>
          <p:nvPr/>
        </p:nvSpPr>
        <p:spPr>
          <a:xfrm>
            <a:off x="5303520" y="4480560"/>
            <a:ext cx="6263640" cy="731520"/>
          </a:xfrm>
          <a:prstGeom prst="rect">
            <a:avLst/>
          </a:prstGeom>
          <a:noFill/>
          <a:ln/>
        </p:spPr>
        <p:txBody>
          <a:bodyPr wrap="square" lIns="0" tIns="0" rIns="0" bIns="0" rtlCol="0" anchor="ctr"/>
          <a:lstStyle/>
          <a:p>
            <a:pPr indent="0" marL="0">
              <a:lnSpc>
                <a:spcPct val="108000"/>
              </a:lnSpc>
              <a:buNone/>
            </a:pPr>
            <a:r>
              <a:rPr lang="en-US" sz="1150" dirty="0">
                <a:solidFill>
                  <a:srgbClr val="26352C"/>
                </a:solidFill>
                <a:latin typeface="Calibri" pitchFamily="34" charset="0"/>
                <a:ea typeface="Calibri" pitchFamily="34" charset="-122"/>
                <a:cs typeface="Calibri" pitchFamily="34" charset="-120"/>
              </a:rPr>
              <a:t>OADP / Velero : namespaces, deployments, configmaps, secrets, services, PV — restauration après disruption majeure.</a:t>
            </a:r>
            <a:endParaRPr lang="en-US" sz="1150" dirty="0"/>
          </a:p>
        </p:txBody>
      </p:sp>
      <p:sp>
        <p:nvSpPr>
          <p:cNvPr id="24" name="Shape 18"/>
          <p:cNvSpPr/>
          <p:nvPr/>
        </p:nvSpPr>
        <p:spPr>
          <a:xfrm>
            <a:off x="502920" y="5394960"/>
            <a:ext cx="11183112" cy="914400"/>
          </a:xfrm>
          <a:prstGeom prst="roundRect">
            <a:avLst>
              <a:gd name="adj" fmla="val 8000"/>
            </a:avLst>
          </a:prstGeom>
          <a:solidFill>
            <a:srgbClr val="F4F2EA"/>
          </a:solidFill>
          <a:ln w="12700">
            <a:solidFill>
              <a:srgbClr val="DED8C8"/>
            </a:solidFill>
            <a:prstDash val="solid"/>
          </a:ln>
        </p:spPr>
      </p:sp>
      <p:sp>
        <p:nvSpPr>
          <p:cNvPr id="25" name="Shape 19"/>
          <p:cNvSpPr/>
          <p:nvPr/>
        </p:nvSpPr>
        <p:spPr>
          <a:xfrm>
            <a:off x="777240" y="5596128"/>
            <a:ext cx="512064" cy="512064"/>
          </a:xfrm>
          <a:prstGeom prst="ellipse">
            <a:avLst/>
          </a:prstGeom>
          <a:solidFill>
            <a:srgbClr val="00925F"/>
          </a:solidFill>
          <a:ln/>
        </p:spPr>
      </p:sp>
      <p:pic>
        <p:nvPicPr>
          <p:cNvPr id="26" name="Image 4" descr="preencoded.png">    </p:cNvPr>
          <p:cNvPicPr>
            <a:picLocks noChangeAspect="1"/>
          </p:cNvPicPr>
          <p:nvPr/>
        </p:nvPicPr>
        <p:blipFill>
          <a:blip r:embed="rId5"/>
          <a:stretch>
            <a:fillRect/>
          </a:stretch>
        </p:blipFill>
        <p:spPr>
          <a:xfrm>
            <a:off x="905256" y="5724144"/>
            <a:ext cx="256032" cy="256032"/>
          </a:xfrm>
          <a:prstGeom prst="rect">
            <a:avLst/>
          </a:prstGeom>
        </p:spPr>
      </p:pic>
      <p:sp>
        <p:nvSpPr>
          <p:cNvPr id="27" name="Text 20"/>
          <p:cNvSpPr/>
          <p:nvPr/>
        </p:nvSpPr>
        <p:spPr>
          <a:xfrm>
            <a:off x="1508760" y="5513832"/>
            <a:ext cx="3657600" cy="676656"/>
          </a:xfrm>
          <a:prstGeom prst="rect">
            <a:avLst/>
          </a:prstGeom>
          <a:noFill/>
          <a:ln/>
        </p:spPr>
        <p:txBody>
          <a:bodyPr wrap="square" lIns="0" tIns="0" rIns="0" bIns="0" rtlCol="0" anchor="ctr"/>
          <a:lstStyle/>
          <a:p>
            <a:pPr indent="0" marL="0">
              <a:lnSpc>
                <a:spcPct val="100000"/>
              </a:lnSpc>
              <a:buNone/>
            </a:pPr>
            <a:r>
              <a:rPr lang="en-US" sz="1350" b="1" dirty="0">
                <a:solidFill>
                  <a:srgbClr val="0C2A1E"/>
                </a:solidFill>
                <a:latin typeface="Calibri" pitchFamily="34" charset="0"/>
                <a:ea typeface="Calibri" pitchFamily="34" charset="-122"/>
                <a:cs typeface="Calibri" pitchFamily="34" charset="-120"/>
              </a:rPr>
              <a:t>etcd managé par IBM</a:t>
            </a:r>
            <a:endParaRPr lang="en-US" sz="1350" dirty="0"/>
          </a:p>
        </p:txBody>
      </p:sp>
      <p:sp>
        <p:nvSpPr>
          <p:cNvPr id="28" name="Text 21"/>
          <p:cNvSpPr/>
          <p:nvPr/>
        </p:nvSpPr>
        <p:spPr>
          <a:xfrm>
            <a:off x="5303520" y="5486400"/>
            <a:ext cx="6263640" cy="731520"/>
          </a:xfrm>
          <a:prstGeom prst="rect">
            <a:avLst/>
          </a:prstGeom>
          <a:noFill/>
          <a:ln/>
        </p:spPr>
        <p:txBody>
          <a:bodyPr wrap="square" lIns="0" tIns="0" rIns="0" bIns="0" rtlCol="0" anchor="ctr"/>
          <a:lstStyle/>
          <a:p>
            <a:pPr indent="0" marL="0">
              <a:lnSpc>
                <a:spcPct val="108000"/>
              </a:lnSpc>
              <a:buNone/>
            </a:pPr>
            <a:r>
              <a:rPr lang="en-US" sz="1150" dirty="0">
                <a:solidFill>
                  <a:srgbClr val="26352C"/>
                </a:solidFill>
                <a:latin typeface="Calibri" pitchFamily="34" charset="0"/>
                <a:ea typeface="Calibri" pitchFamily="34" charset="-122"/>
                <a:cs typeface="Calibri" pitchFamily="34" charset="-120"/>
              </a:rPr>
              <a:t>Sur ROKS, le plan de contrôle et l'etcd sont gérés par IBM : la sauvegarde etcd est assurée par le provider.</a:t>
            </a:r>
            <a:endParaRPr lang="en-US" sz="1150" dirty="0"/>
          </a:p>
        </p:txBody>
      </p:sp>
      <p:sp>
        <p:nvSpPr>
          <p:cNvPr id="30" name="Text 2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31" name="Text 2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058400" cy="274320"/>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MANIFESTE DE RÉFÉRENCE</a:t>
            </a:r>
            <a:endParaRPr lang="en-US" sz="1200" dirty="0"/>
          </a:p>
        </p:txBody>
      </p:sp>
      <p:sp>
        <p:nvSpPr>
          <p:cNvPr id="3" name="Text 1"/>
          <p:cNvSpPr/>
          <p:nvPr/>
        </p:nvSpPr>
        <p:spPr>
          <a:xfrm>
            <a:off x="502920" y="566928"/>
            <a:ext cx="11155680" cy="603504"/>
          </a:xfrm>
          <a:prstGeom prst="rect">
            <a:avLst/>
          </a:prstGeom>
          <a:noFill/>
          <a:ln/>
        </p:spPr>
        <p:txBody>
          <a:bodyPr wrap="square" lIns="0" tIns="0" rIns="0" bIns="0" rtlCol="0" anchor="ctr"/>
          <a:lstStyle/>
          <a:p>
            <a:pPr indent="0" marL="0">
              <a:buNone/>
            </a:pPr>
            <a:r>
              <a:rPr lang="en-US" sz="2700" b="1" dirty="0">
                <a:solidFill>
                  <a:srgbClr val="0C2A1E"/>
                </a:solidFill>
                <a:latin typeface="Georgia" pitchFamily="34" charset="0"/>
                <a:ea typeface="Georgia" pitchFamily="34" charset="-122"/>
                <a:cs typeface="Georgia" pitchFamily="34" charset="-120"/>
              </a:rPr>
              <a:t>Deployment — service Serious / Extreme</a:t>
            </a:r>
            <a:endParaRPr lang="en-US" sz="2700" dirty="0"/>
          </a:p>
        </p:txBody>
      </p:sp>
      <p:sp>
        <p:nvSpPr>
          <p:cNvPr id="4" name="Text 2"/>
          <p:cNvSpPr/>
          <p:nvPr/>
        </p:nvSpPr>
        <p:spPr>
          <a:xfrm>
            <a:off x="502920" y="1170432"/>
            <a:ext cx="11155680" cy="292608"/>
          </a:xfrm>
          <a:prstGeom prst="rect">
            <a:avLst/>
          </a:prstGeom>
          <a:noFill/>
          <a:ln/>
        </p:spPr>
        <p:txBody>
          <a:bodyPr wrap="square" lIns="0" tIns="0" rIns="0" bIns="0" rtlCol="0" anchor="ctr"/>
          <a:lstStyle/>
          <a:p>
            <a:pPr indent="0" marL="0">
              <a:buNone/>
            </a:pPr>
            <a:r>
              <a:rPr lang="en-US" sz="1100" dirty="0">
                <a:solidFill>
                  <a:srgbClr val="7C8A80"/>
                </a:solidFill>
                <a:latin typeface="Consolas" pitchFamily="34" charset="0"/>
                <a:ea typeface="Consolas" pitchFamily="34" charset="-122"/>
                <a:cs typeface="Consolas" pitchFamily="34" charset="-120"/>
              </a:rPr>
              <a:t>deployment-paiement-api.yaml  ·  namespace ns002i014490  ·  6 réplicas, 2 par AZ</a:t>
            </a:r>
            <a:endParaRPr lang="en-US" sz="1100" dirty="0"/>
          </a:p>
        </p:txBody>
      </p:sp>
      <p:sp>
        <p:nvSpPr>
          <p:cNvPr id="5" name="Shape 3"/>
          <p:cNvSpPr/>
          <p:nvPr/>
        </p:nvSpPr>
        <p:spPr>
          <a:xfrm>
            <a:off x="502920" y="1481328"/>
            <a:ext cx="5532120" cy="4709160"/>
          </a:xfrm>
          <a:prstGeom prst="roundRect">
            <a:avLst>
              <a:gd name="adj" fmla="val 1359"/>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6" name="Text 4"/>
          <p:cNvSpPr/>
          <p:nvPr/>
        </p:nvSpPr>
        <p:spPr>
          <a:xfrm>
            <a:off x="667512" y="1609344"/>
            <a:ext cx="5202936" cy="4453128"/>
          </a:xfrm>
          <a:prstGeom prst="rect">
            <a:avLst/>
          </a:prstGeom>
          <a:noFill/>
          <a:ln/>
        </p:spPr>
        <p:txBody>
          <a:bodyPr wrap="square" lIns="0" tIns="0" rIns="0" bIns="0" rtlCol="0" anchor="t"/>
          <a:lstStyle/>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apps/v1</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Deployment</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metadata:</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ns002i014490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spec:</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6</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strategy:</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RollingUpdate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rollingUpdate: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maxSurge: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selector:</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matchLabels: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template: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metadata:</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labels: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spec:</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priorityClassName: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business-extreme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terminationGracePeriodSeconds:</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60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topologySpreadConstraints: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topology.kubernetes.io/zone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DoNotSchedule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labelSelector:</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matchLabels: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kubernetes.io/hostname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ScheduleAnyway</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labelSelector:</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matchLabels: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p:txBody>
      </p:sp>
      <p:sp>
        <p:nvSpPr>
          <p:cNvPr id="7" name="Shape 5"/>
          <p:cNvSpPr/>
          <p:nvPr/>
        </p:nvSpPr>
        <p:spPr>
          <a:xfrm>
            <a:off x="6163056" y="1481328"/>
            <a:ext cx="5522976" cy="4709160"/>
          </a:xfrm>
          <a:prstGeom prst="roundRect">
            <a:avLst>
              <a:gd name="adj" fmla="val 1359"/>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8" name="Text 6"/>
          <p:cNvSpPr/>
          <p:nvPr/>
        </p:nvSpPr>
        <p:spPr>
          <a:xfrm>
            <a:off x="6327648" y="1609344"/>
            <a:ext cx="5193792" cy="4453128"/>
          </a:xfrm>
          <a:prstGeom prst="rect">
            <a:avLst/>
          </a:prstGeom>
          <a:noFill/>
          <a:ln/>
        </p:spPr>
        <p:txBody>
          <a:bodyPr wrap="square" lIns="0" tIns="0" rIns="0" bIns="0" rtlCol="0" anchor="t"/>
          <a:lstStyle/>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containers: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paiement-api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image:</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harbor/paiement-api:1.4.2</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ports: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 containerPort:</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8080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resources: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requests: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cpu:</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500m</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memory:</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512Mi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limits:</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cpu:</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memory:</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1Gi</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startupProbe: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httpGet:</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path:</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/health/startup</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port:</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8080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failureThreshold:</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30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5</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readinessProbe: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httpGet:</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path:</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/health/ready</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port:</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8080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livenessProbe: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httpGet:</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path:</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/health/live</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port:</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8080</a:t>
            </a:r>
            <a:endParaRPr lang="en-US" sz="740" dirty="0"/>
          </a:p>
          <a:p>
            <a:pPr algn="l" indent="0" marL="0">
              <a:lnSpc>
                <a:spcPct val="106000"/>
              </a:lnSpc>
              <a:buNone/>
            </a:pPr>
            <a:r>
              <a:rPr lang="en-US" sz="740" dirty="0">
                <a:solidFill>
                  <a:srgbClr val="73C9A0"/>
                </a:solidFill>
                <a:latin typeface="Consolas" pitchFamily="34" charset="0"/>
                <a:ea typeface="Consolas" pitchFamily="34" charset="-122"/>
                <a:cs typeface="Consolas" pitchFamily="34" charset="-120"/>
              </a:rPr>
              <a:t>            periodSeconds:</a:t>
            </a:r>
            <a:pPr algn="l" indent="0" marL="0">
              <a:lnSpc>
                <a:spcPct val="106000"/>
              </a:lnSpc>
              <a:buNone/>
            </a:pPr>
            <a:r>
              <a:rPr lang="en-US" sz="740" dirty="0">
                <a:solidFill>
                  <a:srgbClr val="DCE6EC"/>
                </a:solidFill>
                <a:latin typeface="Consolas" pitchFamily="34" charset="0"/>
                <a:ea typeface="Consolas" pitchFamily="34" charset="-122"/>
                <a:cs typeface="Consolas" pitchFamily="34" charset="-120"/>
              </a:rPr>
              <a:t> 15</a:t>
            </a:r>
            <a:endParaRPr lang="en-US" sz="740" dirty="0"/>
          </a:p>
        </p:txBody>
      </p:sp>
      <p:sp>
        <p:nvSpPr>
          <p:cNvPr id="10" name="Text 7"/>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1" name="Text 8"/>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C0392B"/>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E</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EXEMPLE DE CONFIGURATION — PAR NIVEAU DE SENSIBILITÉ</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Classe Extreme — manifeste Deployment</a:t>
            </a:r>
            <a:endParaRPr lang="en-US" sz="2400" dirty="0"/>
          </a:p>
        </p:txBody>
      </p:sp>
      <p:sp>
        <p:nvSpPr>
          <p:cNvPr id="6" name="Shape 4"/>
          <p:cNvSpPr/>
          <p:nvPr/>
        </p:nvSpPr>
        <p:spPr>
          <a:xfrm>
            <a:off x="502920" y="1481328"/>
            <a:ext cx="3017520" cy="4690872"/>
          </a:xfrm>
          <a:prstGeom prst="rect">
            <a:avLst/>
          </a:prstGeom>
          <a:solidFill>
            <a:srgbClr val="FFFFFF"/>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7" name="Shape 5"/>
          <p:cNvSpPr/>
          <p:nvPr/>
        </p:nvSpPr>
        <p:spPr>
          <a:xfrm>
            <a:off x="502920" y="1481328"/>
            <a:ext cx="3017520" cy="566928"/>
          </a:xfrm>
          <a:prstGeom prst="rect">
            <a:avLst/>
          </a:prstGeom>
          <a:solidFill>
            <a:srgbClr val="C0392B"/>
          </a:solidFill>
          <a:ln/>
        </p:spPr>
      </p:sp>
      <p:sp>
        <p:nvSpPr>
          <p:cNvPr id="8" name="Text 6"/>
          <p:cNvSpPr/>
          <p:nvPr/>
        </p:nvSpPr>
        <p:spPr>
          <a:xfrm>
            <a:off x="640080" y="1481328"/>
            <a:ext cx="2743200" cy="56692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PROFIL MATRICE DE RÉSILIENCE</a:t>
            </a:r>
            <a:endParaRPr lang="en-US" sz="1050" dirty="0"/>
          </a:p>
        </p:txBody>
      </p:sp>
      <p:sp>
        <p:nvSpPr>
          <p:cNvPr id="9" name="Text 7"/>
          <p:cNvSpPr/>
          <p:nvPr/>
        </p:nvSpPr>
        <p:spPr>
          <a:xfrm>
            <a:off x="658368" y="215798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Hosting</a:t>
            </a:r>
            <a:endParaRPr lang="en-US" sz="950" dirty="0"/>
          </a:p>
        </p:txBody>
      </p:sp>
      <p:sp>
        <p:nvSpPr>
          <p:cNvPr id="10" name="Text 8"/>
          <p:cNvSpPr/>
          <p:nvPr/>
        </p:nvSpPr>
        <p:spPr>
          <a:xfrm>
            <a:off x="2103120" y="215798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M:Three</a:t>
            </a:r>
            <a:endParaRPr lang="en-US" sz="1050" dirty="0"/>
          </a:p>
        </p:txBody>
      </p:sp>
      <p:sp>
        <p:nvSpPr>
          <p:cNvPr id="11" name="Shape 9"/>
          <p:cNvSpPr/>
          <p:nvPr/>
        </p:nvSpPr>
        <p:spPr>
          <a:xfrm>
            <a:off x="658368" y="2706624"/>
            <a:ext cx="2743200" cy="0"/>
          </a:xfrm>
          <a:prstGeom prst="line">
            <a:avLst/>
          </a:prstGeom>
          <a:noFill/>
          <a:ln w="9525">
            <a:solidFill>
              <a:srgbClr val="ECF1F2"/>
            </a:solidFill>
            <a:prstDash val="solid"/>
          </a:ln>
        </p:spPr>
      </p:sp>
      <p:sp>
        <p:nvSpPr>
          <p:cNvPr id="12" name="Text 10"/>
          <p:cNvSpPr/>
          <p:nvPr/>
        </p:nvSpPr>
        <p:spPr>
          <a:xfrm>
            <a:off x="658368" y="2811780"/>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Status</a:t>
            </a:r>
            <a:endParaRPr lang="en-US" sz="950" dirty="0"/>
          </a:p>
        </p:txBody>
      </p:sp>
      <p:sp>
        <p:nvSpPr>
          <p:cNvPr id="13" name="Text 11"/>
          <p:cNvSpPr/>
          <p:nvPr/>
        </p:nvSpPr>
        <p:spPr>
          <a:xfrm>
            <a:off x="2103120" y="2811780"/>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M:All Active</a:t>
            </a:r>
            <a:endParaRPr lang="en-US" sz="1050" dirty="0"/>
          </a:p>
        </p:txBody>
      </p:sp>
      <p:sp>
        <p:nvSpPr>
          <p:cNvPr id="14" name="Shape 12"/>
          <p:cNvSpPr/>
          <p:nvPr/>
        </p:nvSpPr>
        <p:spPr>
          <a:xfrm>
            <a:off x="658368" y="3360420"/>
            <a:ext cx="2743200" cy="0"/>
          </a:xfrm>
          <a:prstGeom prst="line">
            <a:avLst/>
          </a:prstGeom>
          <a:noFill/>
          <a:ln w="9525">
            <a:solidFill>
              <a:srgbClr val="ECF1F2"/>
            </a:solidFill>
            <a:prstDash val="solid"/>
          </a:ln>
        </p:spPr>
      </p:sp>
      <p:sp>
        <p:nvSpPr>
          <p:cNvPr id="15" name="Text 13"/>
          <p:cNvSpPr/>
          <p:nvPr/>
        </p:nvSpPr>
        <p:spPr>
          <a:xfrm>
            <a:off x="658368" y="3465576"/>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Failover Mode</a:t>
            </a:r>
            <a:endParaRPr lang="en-US" sz="950" dirty="0"/>
          </a:p>
        </p:txBody>
      </p:sp>
      <p:sp>
        <p:nvSpPr>
          <p:cNvPr id="16" name="Text 14"/>
          <p:cNvSpPr/>
          <p:nvPr/>
        </p:nvSpPr>
        <p:spPr>
          <a:xfrm>
            <a:off x="2103120" y="3465576"/>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M:HA</a:t>
            </a:r>
            <a:endParaRPr lang="en-US" sz="1050" dirty="0"/>
          </a:p>
        </p:txBody>
      </p:sp>
      <p:sp>
        <p:nvSpPr>
          <p:cNvPr id="17" name="Shape 15"/>
          <p:cNvSpPr/>
          <p:nvPr/>
        </p:nvSpPr>
        <p:spPr>
          <a:xfrm>
            <a:off x="658368" y="4014216"/>
            <a:ext cx="2743200" cy="0"/>
          </a:xfrm>
          <a:prstGeom prst="line">
            <a:avLst/>
          </a:prstGeom>
          <a:noFill/>
          <a:ln w="9525">
            <a:solidFill>
              <a:srgbClr val="ECF1F2"/>
            </a:solidFill>
            <a:prstDash val="solid"/>
          </a:ln>
        </p:spPr>
      </p:sp>
      <p:sp>
        <p:nvSpPr>
          <p:cNvPr id="18" name="Text 16"/>
          <p:cNvSpPr/>
          <p:nvPr/>
        </p:nvSpPr>
        <p:spPr>
          <a:xfrm>
            <a:off x="658368" y="4119372"/>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Data Distribution</a:t>
            </a:r>
            <a:endParaRPr lang="en-US" sz="950" dirty="0"/>
          </a:p>
        </p:txBody>
      </p:sp>
      <p:sp>
        <p:nvSpPr>
          <p:cNvPr id="19" name="Text 17"/>
          <p:cNvSpPr/>
          <p:nvPr/>
        </p:nvSpPr>
        <p:spPr>
          <a:xfrm>
            <a:off x="2103120" y="4119372"/>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M:Near Sync</a:t>
            </a:r>
            <a:endParaRPr lang="en-US" sz="1050" dirty="0"/>
          </a:p>
        </p:txBody>
      </p:sp>
      <p:sp>
        <p:nvSpPr>
          <p:cNvPr id="20" name="Shape 18"/>
          <p:cNvSpPr/>
          <p:nvPr/>
        </p:nvSpPr>
        <p:spPr>
          <a:xfrm>
            <a:off x="658368" y="4668012"/>
            <a:ext cx="2743200" cy="0"/>
          </a:xfrm>
          <a:prstGeom prst="line">
            <a:avLst/>
          </a:prstGeom>
          <a:noFill/>
          <a:ln w="9525">
            <a:solidFill>
              <a:srgbClr val="ECF1F2"/>
            </a:solidFill>
            <a:prstDash val="solid"/>
          </a:ln>
        </p:spPr>
      </p:sp>
      <p:sp>
        <p:nvSpPr>
          <p:cNvPr id="21" name="Text 19"/>
          <p:cNvSpPr/>
          <p:nvPr/>
        </p:nvSpPr>
        <p:spPr>
          <a:xfrm>
            <a:off x="658368" y="4773168"/>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Backup Distribution</a:t>
            </a:r>
            <a:endParaRPr lang="en-US" sz="950" dirty="0"/>
          </a:p>
        </p:txBody>
      </p:sp>
      <p:sp>
        <p:nvSpPr>
          <p:cNvPr id="22" name="Text 20"/>
          <p:cNvSpPr/>
          <p:nvPr/>
        </p:nvSpPr>
        <p:spPr>
          <a:xfrm>
            <a:off x="2103120" y="4773168"/>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23" name="Shape 21"/>
          <p:cNvSpPr/>
          <p:nvPr/>
        </p:nvSpPr>
        <p:spPr>
          <a:xfrm>
            <a:off x="658368" y="5321808"/>
            <a:ext cx="2743200" cy="0"/>
          </a:xfrm>
          <a:prstGeom prst="line">
            <a:avLst/>
          </a:prstGeom>
          <a:noFill/>
          <a:ln w="9525">
            <a:solidFill>
              <a:srgbClr val="ECF1F2"/>
            </a:solidFill>
            <a:prstDash val="solid"/>
          </a:ln>
        </p:spPr>
      </p:sp>
      <p:sp>
        <p:nvSpPr>
          <p:cNvPr id="24" name="Text 22"/>
          <p:cNvSpPr/>
          <p:nvPr/>
        </p:nvSpPr>
        <p:spPr>
          <a:xfrm>
            <a:off x="658368" y="542696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Rebuild Mechanism</a:t>
            </a:r>
            <a:endParaRPr lang="en-US" sz="950" dirty="0"/>
          </a:p>
        </p:txBody>
      </p:sp>
      <p:sp>
        <p:nvSpPr>
          <p:cNvPr id="25" name="Text 23"/>
          <p:cNvSpPr/>
          <p:nvPr/>
        </p:nvSpPr>
        <p:spPr>
          <a:xfrm>
            <a:off x="2103120" y="542696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MUST</a:t>
            </a:r>
            <a:endParaRPr lang="en-US" sz="1050" dirty="0"/>
          </a:p>
        </p:txBody>
      </p:sp>
      <p:sp>
        <p:nvSpPr>
          <p:cNvPr id="26" name="Shape 24"/>
          <p:cNvSpPr/>
          <p:nvPr/>
        </p:nvSpPr>
        <p:spPr>
          <a:xfrm>
            <a:off x="3703320" y="1481328"/>
            <a:ext cx="79827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27" name="Text 25"/>
          <p:cNvSpPr/>
          <p:nvPr/>
        </p:nvSpPr>
        <p:spPr>
          <a:xfrm>
            <a:off x="3867912" y="1609344"/>
            <a:ext cx="7653528" cy="4434840"/>
          </a:xfrm>
          <a:prstGeom prst="rect">
            <a:avLst/>
          </a:prstGeom>
          <a:noFill/>
          <a:ln/>
        </p:spPr>
        <p:txBody>
          <a:bodyPr wrap="square" lIns="0" tIns="0" rIns="0" bIns="0" rtlCol="0" anchor="t"/>
          <a:lstStyle/>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Classe Extreme — 3 AZ · All Active · HA · Rebuild MUST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apps/v1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Deployment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svc-extreme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ns002i014490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resilience/classification: extreme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3                 # = AZ Hosting M:Three (plancher)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strategy:</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RollingUpdate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rollingUpdate: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maxUnavailable: 0, maxSurge: 2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svc-extreme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template: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svc-extreme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priorityClassName: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business-extreme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topologySpreadConstraints: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topology.kubernetes.io/zone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DoNotSchedule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svc-extreme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containers: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image: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harbor/svc-extreme:1.0.0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readinessProbe: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/health/ready, port: 8080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livenessProbe: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/health/live, port: 8080 }</a:t>
            </a:r>
            <a:endParaRPr lang="en-US" sz="670" dirty="0"/>
          </a:p>
          <a:p>
            <a:pPr algn="l" indent="0" marL="0">
              <a:lnSpc>
                <a:spcPct val="106000"/>
              </a:lnSpc>
              <a:buNone/>
            </a:pPr>
            <a:r>
              <a:rPr lang="en-US" sz="670" dirty="0">
                <a:solidFill>
                  <a:srgbClr val="7E9788"/>
                </a:solidFill>
                <a:latin typeface="Consolas" pitchFamily="34" charset="0"/>
                <a:ea typeface="Consolas" pitchFamily="34" charset="-122"/>
                <a:cs typeface="Consolas" pitchFamily="34" charset="-120"/>
              </a:rPr>
              <a: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policy/v1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PodDisruptionBudget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name: svc-extreme-pdb, namespace: ns002i014490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svc-extreme }</a:t>
            </a:r>
            <a:endParaRPr lang="en-US" sz="670" dirty="0"/>
          </a:p>
        </p:txBody>
      </p:sp>
      <p:sp>
        <p:nvSpPr>
          <p:cNvPr id="29" name="Text 26"/>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30" name="Text 27"/>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E08A1E"/>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S</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EXEMPLE DE CONFIGURATION — PAR NIVEAU DE SENSIBILITÉ</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Classe Serious — manifeste Deployment</a:t>
            </a:r>
            <a:endParaRPr lang="en-US" sz="2400" dirty="0"/>
          </a:p>
        </p:txBody>
      </p:sp>
      <p:sp>
        <p:nvSpPr>
          <p:cNvPr id="6" name="Shape 4"/>
          <p:cNvSpPr/>
          <p:nvPr/>
        </p:nvSpPr>
        <p:spPr>
          <a:xfrm>
            <a:off x="502920" y="1481328"/>
            <a:ext cx="3017520" cy="4690872"/>
          </a:xfrm>
          <a:prstGeom prst="rect">
            <a:avLst/>
          </a:prstGeom>
          <a:solidFill>
            <a:srgbClr val="FFFFFF"/>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7" name="Shape 5"/>
          <p:cNvSpPr/>
          <p:nvPr/>
        </p:nvSpPr>
        <p:spPr>
          <a:xfrm>
            <a:off x="502920" y="1481328"/>
            <a:ext cx="3017520" cy="566928"/>
          </a:xfrm>
          <a:prstGeom prst="rect">
            <a:avLst/>
          </a:prstGeom>
          <a:solidFill>
            <a:srgbClr val="E08A1E"/>
          </a:solidFill>
          <a:ln/>
        </p:spPr>
      </p:sp>
      <p:sp>
        <p:nvSpPr>
          <p:cNvPr id="8" name="Text 6"/>
          <p:cNvSpPr/>
          <p:nvPr/>
        </p:nvSpPr>
        <p:spPr>
          <a:xfrm>
            <a:off x="640080" y="1481328"/>
            <a:ext cx="2743200" cy="56692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PROFIL MATRICE DE RÉSILIENCE</a:t>
            </a:r>
            <a:endParaRPr lang="en-US" sz="1050" dirty="0"/>
          </a:p>
        </p:txBody>
      </p:sp>
      <p:sp>
        <p:nvSpPr>
          <p:cNvPr id="9" name="Text 7"/>
          <p:cNvSpPr/>
          <p:nvPr/>
        </p:nvSpPr>
        <p:spPr>
          <a:xfrm>
            <a:off x="658368" y="215798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Hosting</a:t>
            </a:r>
            <a:endParaRPr lang="en-US" sz="950" dirty="0"/>
          </a:p>
        </p:txBody>
      </p:sp>
      <p:sp>
        <p:nvSpPr>
          <p:cNvPr id="10" name="Text 8"/>
          <p:cNvSpPr/>
          <p:nvPr/>
        </p:nvSpPr>
        <p:spPr>
          <a:xfrm>
            <a:off x="2103120" y="215798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11" name="Shape 9"/>
          <p:cNvSpPr/>
          <p:nvPr/>
        </p:nvSpPr>
        <p:spPr>
          <a:xfrm>
            <a:off x="658368" y="2706624"/>
            <a:ext cx="2743200" cy="0"/>
          </a:xfrm>
          <a:prstGeom prst="line">
            <a:avLst/>
          </a:prstGeom>
          <a:noFill/>
          <a:ln w="9525">
            <a:solidFill>
              <a:srgbClr val="ECF1F2"/>
            </a:solidFill>
            <a:prstDash val="solid"/>
          </a:ln>
        </p:spPr>
      </p:sp>
      <p:sp>
        <p:nvSpPr>
          <p:cNvPr id="12" name="Text 10"/>
          <p:cNvSpPr/>
          <p:nvPr/>
        </p:nvSpPr>
        <p:spPr>
          <a:xfrm>
            <a:off x="658368" y="2811780"/>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Status</a:t>
            </a:r>
            <a:endParaRPr lang="en-US" sz="950" dirty="0"/>
          </a:p>
        </p:txBody>
      </p:sp>
      <p:sp>
        <p:nvSpPr>
          <p:cNvPr id="13" name="Text 11"/>
          <p:cNvSpPr/>
          <p:nvPr/>
        </p:nvSpPr>
        <p:spPr>
          <a:xfrm>
            <a:off x="2103120" y="2811780"/>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M:All Active</a:t>
            </a:r>
            <a:endParaRPr lang="en-US" sz="1050" dirty="0"/>
          </a:p>
        </p:txBody>
      </p:sp>
      <p:sp>
        <p:nvSpPr>
          <p:cNvPr id="14" name="Shape 12"/>
          <p:cNvSpPr/>
          <p:nvPr/>
        </p:nvSpPr>
        <p:spPr>
          <a:xfrm>
            <a:off x="658368" y="3360420"/>
            <a:ext cx="2743200" cy="0"/>
          </a:xfrm>
          <a:prstGeom prst="line">
            <a:avLst/>
          </a:prstGeom>
          <a:noFill/>
          <a:ln w="9525">
            <a:solidFill>
              <a:srgbClr val="ECF1F2"/>
            </a:solidFill>
            <a:prstDash val="solid"/>
          </a:ln>
        </p:spPr>
      </p:sp>
      <p:sp>
        <p:nvSpPr>
          <p:cNvPr id="15" name="Text 13"/>
          <p:cNvSpPr/>
          <p:nvPr/>
        </p:nvSpPr>
        <p:spPr>
          <a:xfrm>
            <a:off x="658368" y="3465576"/>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Failover Mode</a:t>
            </a:r>
            <a:endParaRPr lang="en-US" sz="950" dirty="0"/>
          </a:p>
        </p:txBody>
      </p:sp>
      <p:sp>
        <p:nvSpPr>
          <p:cNvPr id="16" name="Text 14"/>
          <p:cNvSpPr/>
          <p:nvPr/>
        </p:nvSpPr>
        <p:spPr>
          <a:xfrm>
            <a:off x="2103120" y="3465576"/>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M:HA</a:t>
            </a:r>
            <a:endParaRPr lang="en-US" sz="1050" dirty="0"/>
          </a:p>
        </p:txBody>
      </p:sp>
      <p:sp>
        <p:nvSpPr>
          <p:cNvPr id="17" name="Shape 15"/>
          <p:cNvSpPr/>
          <p:nvPr/>
        </p:nvSpPr>
        <p:spPr>
          <a:xfrm>
            <a:off x="658368" y="4014216"/>
            <a:ext cx="2743200" cy="0"/>
          </a:xfrm>
          <a:prstGeom prst="line">
            <a:avLst/>
          </a:prstGeom>
          <a:noFill/>
          <a:ln w="9525">
            <a:solidFill>
              <a:srgbClr val="ECF1F2"/>
            </a:solidFill>
            <a:prstDash val="solid"/>
          </a:ln>
        </p:spPr>
      </p:sp>
      <p:sp>
        <p:nvSpPr>
          <p:cNvPr id="18" name="Text 16"/>
          <p:cNvSpPr/>
          <p:nvPr/>
        </p:nvSpPr>
        <p:spPr>
          <a:xfrm>
            <a:off x="658368" y="4119372"/>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Data Distribution</a:t>
            </a:r>
            <a:endParaRPr lang="en-US" sz="950" dirty="0"/>
          </a:p>
        </p:txBody>
      </p:sp>
      <p:sp>
        <p:nvSpPr>
          <p:cNvPr id="19" name="Text 17"/>
          <p:cNvSpPr/>
          <p:nvPr/>
        </p:nvSpPr>
        <p:spPr>
          <a:xfrm>
            <a:off x="2103120" y="4119372"/>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M:Near Sync</a:t>
            </a:r>
            <a:endParaRPr lang="en-US" sz="1050" dirty="0"/>
          </a:p>
        </p:txBody>
      </p:sp>
      <p:sp>
        <p:nvSpPr>
          <p:cNvPr id="20" name="Shape 18"/>
          <p:cNvSpPr/>
          <p:nvPr/>
        </p:nvSpPr>
        <p:spPr>
          <a:xfrm>
            <a:off x="658368" y="4668012"/>
            <a:ext cx="2743200" cy="0"/>
          </a:xfrm>
          <a:prstGeom prst="line">
            <a:avLst/>
          </a:prstGeom>
          <a:noFill/>
          <a:ln w="9525">
            <a:solidFill>
              <a:srgbClr val="ECF1F2"/>
            </a:solidFill>
            <a:prstDash val="solid"/>
          </a:ln>
        </p:spPr>
      </p:sp>
      <p:sp>
        <p:nvSpPr>
          <p:cNvPr id="21" name="Text 19"/>
          <p:cNvSpPr/>
          <p:nvPr/>
        </p:nvSpPr>
        <p:spPr>
          <a:xfrm>
            <a:off x="658368" y="4773168"/>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Backup Distribution</a:t>
            </a:r>
            <a:endParaRPr lang="en-US" sz="950" dirty="0"/>
          </a:p>
        </p:txBody>
      </p:sp>
      <p:sp>
        <p:nvSpPr>
          <p:cNvPr id="22" name="Text 20"/>
          <p:cNvSpPr/>
          <p:nvPr/>
        </p:nvSpPr>
        <p:spPr>
          <a:xfrm>
            <a:off x="2103120" y="4773168"/>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23" name="Shape 21"/>
          <p:cNvSpPr/>
          <p:nvPr/>
        </p:nvSpPr>
        <p:spPr>
          <a:xfrm>
            <a:off x="658368" y="5321808"/>
            <a:ext cx="2743200" cy="0"/>
          </a:xfrm>
          <a:prstGeom prst="line">
            <a:avLst/>
          </a:prstGeom>
          <a:noFill/>
          <a:ln w="9525">
            <a:solidFill>
              <a:srgbClr val="ECF1F2"/>
            </a:solidFill>
            <a:prstDash val="solid"/>
          </a:ln>
        </p:spPr>
      </p:sp>
      <p:sp>
        <p:nvSpPr>
          <p:cNvPr id="24" name="Text 22"/>
          <p:cNvSpPr/>
          <p:nvPr/>
        </p:nvSpPr>
        <p:spPr>
          <a:xfrm>
            <a:off x="658368" y="542696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Rebuild Mechanism</a:t>
            </a:r>
            <a:endParaRPr lang="en-US" sz="950" dirty="0"/>
          </a:p>
        </p:txBody>
      </p:sp>
      <p:sp>
        <p:nvSpPr>
          <p:cNvPr id="25" name="Text 23"/>
          <p:cNvSpPr/>
          <p:nvPr/>
        </p:nvSpPr>
        <p:spPr>
          <a:xfrm>
            <a:off x="2103120" y="542696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MUST</a:t>
            </a:r>
            <a:endParaRPr lang="en-US" sz="1050" dirty="0"/>
          </a:p>
        </p:txBody>
      </p:sp>
      <p:sp>
        <p:nvSpPr>
          <p:cNvPr id="26" name="Shape 24"/>
          <p:cNvSpPr/>
          <p:nvPr/>
        </p:nvSpPr>
        <p:spPr>
          <a:xfrm>
            <a:off x="3703320" y="1481328"/>
            <a:ext cx="79827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27" name="Text 25"/>
          <p:cNvSpPr/>
          <p:nvPr/>
        </p:nvSpPr>
        <p:spPr>
          <a:xfrm>
            <a:off x="3867912" y="1609344"/>
            <a:ext cx="7653528" cy="4434840"/>
          </a:xfrm>
          <a:prstGeom prst="rect">
            <a:avLst/>
          </a:prstGeom>
          <a:noFill/>
          <a:ln/>
        </p:spPr>
        <p:txBody>
          <a:bodyPr wrap="square" lIns="0" tIns="0" rIns="0" bIns="0" rtlCol="0" anchor="t"/>
          <a:lstStyle/>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Classe Serious — 2 AZ (min) · All Active · HA · Rebuild MUST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apps/v1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Deployment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svc-serious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ns002i014490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resilience/classification: serious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2                 # = AZ Hosting M:Two (plancher)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strategy:</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RollingUpdate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rollingUpdate: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maxUnavailable: 0, maxSurge: 1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svc-serious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template: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svc-serious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priorityClassName: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business-serious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topologySpreadConstraints: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topology.kubernetes.io/zone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DoNotSchedule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svc-serious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containers: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image: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harbor/svc-serious:1.0.0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readinessProbe: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/health/ready, port: 8080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livenessProbe: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/health/live, port: 8080 }</a:t>
            </a:r>
            <a:endParaRPr lang="en-US" sz="670" dirty="0"/>
          </a:p>
          <a:p>
            <a:pPr algn="l" indent="0" marL="0">
              <a:lnSpc>
                <a:spcPct val="106000"/>
              </a:lnSpc>
              <a:buNone/>
            </a:pPr>
            <a:r>
              <a:rPr lang="en-US" sz="670" dirty="0">
                <a:solidFill>
                  <a:srgbClr val="7E9788"/>
                </a:solidFill>
                <a:latin typeface="Consolas" pitchFamily="34" charset="0"/>
                <a:ea typeface="Consolas" pitchFamily="34" charset="-122"/>
                <a:cs typeface="Consolas" pitchFamily="34" charset="-120"/>
              </a:rPr>
              <a: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policy/v1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PodDisruptionBudget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name: svc-serious-pdb, namespace: ns002i014490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svc-serious }</a:t>
            </a:r>
            <a:endParaRPr lang="en-US" sz="670" dirty="0"/>
          </a:p>
        </p:txBody>
      </p:sp>
      <p:sp>
        <p:nvSpPr>
          <p:cNvPr id="29" name="Text 26"/>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30" name="Text 27"/>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D4A840"/>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M</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EXEMPLE DE CONFIGURATION — PAR NIVEAU DE SENSIBILITÉ</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Classe Moderate — manifeste Deployment</a:t>
            </a:r>
            <a:endParaRPr lang="en-US" sz="2400" dirty="0"/>
          </a:p>
        </p:txBody>
      </p:sp>
      <p:sp>
        <p:nvSpPr>
          <p:cNvPr id="6" name="Shape 4"/>
          <p:cNvSpPr/>
          <p:nvPr/>
        </p:nvSpPr>
        <p:spPr>
          <a:xfrm>
            <a:off x="502920" y="1481328"/>
            <a:ext cx="3017520" cy="4690872"/>
          </a:xfrm>
          <a:prstGeom prst="rect">
            <a:avLst/>
          </a:prstGeom>
          <a:solidFill>
            <a:srgbClr val="FFFFFF"/>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7" name="Shape 5"/>
          <p:cNvSpPr/>
          <p:nvPr/>
        </p:nvSpPr>
        <p:spPr>
          <a:xfrm>
            <a:off x="502920" y="1481328"/>
            <a:ext cx="3017520" cy="566928"/>
          </a:xfrm>
          <a:prstGeom prst="rect">
            <a:avLst/>
          </a:prstGeom>
          <a:solidFill>
            <a:srgbClr val="D4A840"/>
          </a:solidFill>
          <a:ln/>
        </p:spPr>
      </p:sp>
      <p:sp>
        <p:nvSpPr>
          <p:cNvPr id="8" name="Text 6"/>
          <p:cNvSpPr/>
          <p:nvPr/>
        </p:nvSpPr>
        <p:spPr>
          <a:xfrm>
            <a:off x="640080" y="1481328"/>
            <a:ext cx="2743200" cy="56692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PROFIL MATRICE DE RÉSILIENCE</a:t>
            </a:r>
            <a:endParaRPr lang="en-US" sz="1050" dirty="0"/>
          </a:p>
        </p:txBody>
      </p:sp>
      <p:sp>
        <p:nvSpPr>
          <p:cNvPr id="9" name="Text 7"/>
          <p:cNvSpPr/>
          <p:nvPr/>
        </p:nvSpPr>
        <p:spPr>
          <a:xfrm>
            <a:off x="658368" y="215798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Hosting</a:t>
            </a:r>
            <a:endParaRPr lang="en-US" sz="950" dirty="0"/>
          </a:p>
        </p:txBody>
      </p:sp>
      <p:sp>
        <p:nvSpPr>
          <p:cNvPr id="10" name="Text 8"/>
          <p:cNvSpPr/>
          <p:nvPr/>
        </p:nvSpPr>
        <p:spPr>
          <a:xfrm>
            <a:off x="2103120" y="215798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11" name="Shape 9"/>
          <p:cNvSpPr/>
          <p:nvPr/>
        </p:nvSpPr>
        <p:spPr>
          <a:xfrm>
            <a:off x="658368" y="2706624"/>
            <a:ext cx="2743200" cy="0"/>
          </a:xfrm>
          <a:prstGeom prst="line">
            <a:avLst/>
          </a:prstGeom>
          <a:noFill/>
          <a:ln w="9525">
            <a:solidFill>
              <a:srgbClr val="ECF1F2"/>
            </a:solidFill>
            <a:prstDash val="solid"/>
          </a:ln>
        </p:spPr>
      </p:sp>
      <p:sp>
        <p:nvSpPr>
          <p:cNvPr id="12" name="Text 10"/>
          <p:cNvSpPr/>
          <p:nvPr/>
        </p:nvSpPr>
        <p:spPr>
          <a:xfrm>
            <a:off x="658368" y="2811780"/>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Status</a:t>
            </a:r>
            <a:endParaRPr lang="en-US" sz="950" dirty="0"/>
          </a:p>
        </p:txBody>
      </p:sp>
      <p:sp>
        <p:nvSpPr>
          <p:cNvPr id="13" name="Text 11"/>
          <p:cNvSpPr/>
          <p:nvPr/>
        </p:nvSpPr>
        <p:spPr>
          <a:xfrm>
            <a:off x="2103120" y="2811780"/>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a:t>
            </a:r>
            <a:endParaRPr lang="en-US" sz="1050" dirty="0"/>
          </a:p>
        </p:txBody>
      </p:sp>
      <p:sp>
        <p:nvSpPr>
          <p:cNvPr id="14" name="Shape 12"/>
          <p:cNvSpPr/>
          <p:nvPr/>
        </p:nvSpPr>
        <p:spPr>
          <a:xfrm>
            <a:off x="658368" y="3360420"/>
            <a:ext cx="2743200" cy="0"/>
          </a:xfrm>
          <a:prstGeom prst="line">
            <a:avLst/>
          </a:prstGeom>
          <a:noFill/>
          <a:ln w="9525">
            <a:solidFill>
              <a:srgbClr val="ECF1F2"/>
            </a:solidFill>
            <a:prstDash val="solid"/>
          </a:ln>
        </p:spPr>
      </p:sp>
      <p:sp>
        <p:nvSpPr>
          <p:cNvPr id="15" name="Text 13"/>
          <p:cNvSpPr/>
          <p:nvPr/>
        </p:nvSpPr>
        <p:spPr>
          <a:xfrm>
            <a:off x="658368" y="3465576"/>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Failover Mode</a:t>
            </a:r>
            <a:endParaRPr lang="en-US" sz="950" dirty="0"/>
          </a:p>
        </p:txBody>
      </p:sp>
      <p:sp>
        <p:nvSpPr>
          <p:cNvPr id="16" name="Text 14"/>
          <p:cNvSpPr/>
          <p:nvPr/>
        </p:nvSpPr>
        <p:spPr>
          <a:xfrm>
            <a:off x="2103120" y="3465576"/>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M:Hot</a:t>
            </a:r>
            <a:endParaRPr lang="en-US" sz="1050" dirty="0"/>
          </a:p>
        </p:txBody>
      </p:sp>
      <p:sp>
        <p:nvSpPr>
          <p:cNvPr id="17" name="Shape 15"/>
          <p:cNvSpPr/>
          <p:nvPr/>
        </p:nvSpPr>
        <p:spPr>
          <a:xfrm>
            <a:off x="658368" y="4014216"/>
            <a:ext cx="2743200" cy="0"/>
          </a:xfrm>
          <a:prstGeom prst="line">
            <a:avLst/>
          </a:prstGeom>
          <a:noFill/>
          <a:ln w="9525">
            <a:solidFill>
              <a:srgbClr val="ECF1F2"/>
            </a:solidFill>
            <a:prstDash val="solid"/>
          </a:ln>
        </p:spPr>
      </p:sp>
      <p:sp>
        <p:nvSpPr>
          <p:cNvPr id="18" name="Text 16"/>
          <p:cNvSpPr/>
          <p:nvPr/>
        </p:nvSpPr>
        <p:spPr>
          <a:xfrm>
            <a:off x="658368" y="4119372"/>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Data Distribution</a:t>
            </a:r>
            <a:endParaRPr lang="en-US" sz="950" dirty="0"/>
          </a:p>
        </p:txBody>
      </p:sp>
      <p:sp>
        <p:nvSpPr>
          <p:cNvPr id="19" name="Text 17"/>
          <p:cNvSpPr/>
          <p:nvPr/>
        </p:nvSpPr>
        <p:spPr>
          <a:xfrm>
            <a:off x="2103120" y="4119372"/>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M:Async/Batch</a:t>
            </a:r>
            <a:endParaRPr lang="en-US" sz="1050" dirty="0"/>
          </a:p>
        </p:txBody>
      </p:sp>
      <p:sp>
        <p:nvSpPr>
          <p:cNvPr id="20" name="Shape 18"/>
          <p:cNvSpPr/>
          <p:nvPr/>
        </p:nvSpPr>
        <p:spPr>
          <a:xfrm>
            <a:off x="658368" y="4668012"/>
            <a:ext cx="2743200" cy="0"/>
          </a:xfrm>
          <a:prstGeom prst="line">
            <a:avLst/>
          </a:prstGeom>
          <a:noFill/>
          <a:ln w="9525">
            <a:solidFill>
              <a:srgbClr val="ECF1F2"/>
            </a:solidFill>
            <a:prstDash val="solid"/>
          </a:ln>
        </p:spPr>
      </p:sp>
      <p:sp>
        <p:nvSpPr>
          <p:cNvPr id="21" name="Text 19"/>
          <p:cNvSpPr/>
          <p:nvPr/>
        </p:nvSpPr>
        <p:spPr>
          <a:xfrm>
            <a:off x="658368" y="4773168"/>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Backup Distribution</a:t>
            </a:r>
            <a:endParaRPr lang="en-US" sz="950" dirty="0"/>
          </a:p>
        </p:txBody>
      </p:sp>
      <p:sp>
        <p:nvSpPr>
          <p:cNvPr id="22" name="Text 20"/>
          <p:cNvSpPr/>
          <p:nvPr/>
        </p:nvSpPr>
        <p:spPr>
          <a:xfrm>
            <a:off x="2103120" y="4773168"/>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23" name="Shape 21"/>
          <p:cNvSpPr/>
          <p:nvPr/>
        </p:nvSpPr>
        <p:spPr>
          <a:xfrm>
            <a:off x="658368" y="5321808"/>
            <a:ext cx="2743200" cy="0"/>
          </a:xfrm>
          <a:prstGeom prst="line">
            <a:avLst/>
          </a:prstGeom>
          <a:noFill/>
          <a:ln w="9525">
            <a:solidFill>
              <a:srgbClr val="ECF1F2"/>
            </a:solidFill>
            <a:prstDash val="solid"/>
          </a:ln>
        </p:spPr>
      </p:sp>
      <p:sp>
        <p:nvSpPr>
          <p:cNvPr id="24" name="Text 22"/>
          <p:cNvSpPr/>
          <p:nvPr/>
        </p:nvSpPr>
        <p:spPr>
          <a:xfrm>
            <a:off x="658368" y="542696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Rebuild Mechanism</a:t>
            </a:r>
            <a:endParaRPr lang="en-US" sz="950" dirty="0"/>
          </a:p>
        </p:txBody>
      </p:sp>
      <p:sp>
        <p:nvSpPr>
          <p:cNvPr id="25" name="Text 23"/>
          <p:cNvSpPr/>
          <p:nvPr/>
        </p:nvSpPr>
        <p:spPr>
          <a:xfrm>
            <a:off x="2103120" y="542696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SHOULD</a:t>
            </a:r>
            <a:endParaRPr lang="en-US" sz="1050" dirty="0"/>
          </a:p>
        </p:txBody>
      </p:sp>
      <p:sp>
        <p:nvSpPr>
          <p:cNvPr id="26" name="Shape 24"/>
          <p:cNvSpPr/>
          <p:nvPr/>
        </p:nvSpPr>
        <p:spPr>
          <a:xfrm>
            <a:off x="3703320" y="1481328"/>
            <a:ext cx="79827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27" name="Text 25"/>
          <p:cNvSpPr/>
          <p:nvPr/>
        </p:nvSpPr>
        <p:spPr>
          <a:xfrm>
            <a:off x="3867912" y="1609344"/>
            <a:ext cx="7653528" cy="4434840"/>
          </a:xfrm>
          <a:prstGeom prst="rect">
            <a:avLst/>
          </a:prstGeom>
          <a:noFill/>
          <a:ln/>
        </p:spPr>
        <p:txBody>
          <a:bodyPr wrap="square" lIns="0" tIns="0" rIns="0" bIns="0" rtlCol="0" anchor="t"/>
          <a:lstStyle/>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Classe Moderate — 2 AZ · Hot Failover · Rebuild SHOULD</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apps/v1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Deployment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svc-moderate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ns002i014490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resilience/classification: moderate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2                 # = AZ Hosting M:Two (plancher)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strategy:</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RollingUpdate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rollingUpdate: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maxUnavailable: 1, maxSurge: 1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svc-moderate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template: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svc-moderate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topologySpreadConstraints: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maxSkew:</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topology.kubernetes.io/zone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whenUnsatisfiable: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ScheduleAnyway   # 2 AZ au mieux</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svc-moderate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containers: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image: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harbor/svc-moderate:1.0.0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readinessProbe: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/health/ready, port: 8080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livenessProbe: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/health/live, port: 8080 }</a:t>
            </a:r>
            <a:endParaRPr lang="en-US" sz="670" dirty="0"/>
          </a:p>
          <a:p>
            <a:pPr algn="l" indent="0" marL="0">
              <a:lnSpc>
                <a:spcPct val="106000"/>
              </a:lnSpc>
              <a:buNone/>
            </a:pPr>
            <a:r>
              <a:rPr lang="en-US" sz="670" dirty="0">
                <a:solidFill>
                  <a:srgbClr val="7E9788"/>
                </a:solidFill>
                <a:latin typeface="Consolas" pitchFamily="34" charset="0"/>
                <a:ea typeface="Consolas" pitchFamily="34" charset="-122"/>
                <a:cs typeface="Consolas" pitchFamily="34" charset="-120"/>
              </a:rPr>
              <a: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policy/v1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PodDisruptionBudget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name: svc-moderate-pdb, namespace: ns002i014490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maxUnavailable: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svc-moderate }</a:t>
            </a:r>
            <a:endParaRPr lang="en-US" sz="670" dirty="0"/>
          </a:p>
        </p:txBody>
      </p:sp>
      <p:sp>
        <p:nvSpPr>
          <p:cNvPr id="29" name="Text 26"/>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30" name="Text 27"/>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66928" cy="566928"/>
          </a:xfrm>
          <a:prstGeom prst="ellipse">
            <a:avLst/>
          </a:prstGeom>
          <a:solidFill>
            <a:srgbClr val="4A7C59"/>
          </a:solidFill>
          <a:ln/>
          <a:effectLst>
            <a:outerShdw sx="100000" sy="100000" kx="0" ky="0" algn="bl" rotWithShape="0" blurRad="88900" dist="38100" dir="8100000">
              <a:srgbClr val="0B1419">
                <a:alpha val="22000"/>
              </a:srgbClr>
            </a:outerShdw>
          </a:effectLst>
        </p:spPr>
      </p:sp>
      <p:sp>
        <p:nvSpPr>
          <p:cNvPr id="3" name="Text 1"/>
          <p:cNvSpPr/>
          <p:nvPr/>
        </p:nvSpPr>
        <p:spPr>
          <a:xfrm>
            <a:off x="502920" y="365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a:t>
            </a:r>
            <a:endParaRPr lang="en-US" sz="2200" dirty="0"/>
          </a:p>
        </p:txBody>
      </p:sp>
      <p:sp>
        <p:nvSpPr>
          <p:cNvPr id="4" name="Text 2"/>
          <p:cNvSpPr/>
          <p:nvPr/>
        </p:nvSpPr>
        <p:spPr>
          <a:xfrm>
            <a:off x="1234440" y="347472"/>
            <a:ext cx="1005840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EXEMPLE DE CONFIGURATION — PAR NIVEAU DE SENSIBILITÉ</a:t>
            </a:r>
            <a:endParaRPr lang="en-US" sz="1150" dirty="0"/>
          </a:p>
        </p:txBody>
      </p:sp>
      <p:sp>
        <p:nvSpPr>
          <p:cNvPr id="5" name="Text 3"/>
          <p:cNvSpPr/>
          <p:nvPr/>
        </p:nvSpPr>
        <p:spPr>
          <a:xfrm>
            <a:off x="1234440" y="566928"/>
            <a:ext cx="10424160" cy="548640"/>
          </a:xfrm>
          <a:prstGeom prst="rect">
            <a:avLst/>
          </a:prstGeom>
          <a:noFill/>
          <a:ln/>
        </p:spPr>
        <p:txBody>
          <a:bodyPr wrap="square" lIns="0" tIns="0" rIns="0" bIns="0" rtlCol="0" anchor="ctr"/>
          <a:lstStyle/>
          <a:p>
            <a:pPr indent="0" marL="0">
              <a:buNone/>
            </a:pPr>
            <a:r>
              <a:rPr lang="en-US" sz="2400" b="1" dirty="0">
                <a:solidFill>
                  <a:srgbClr val="0C2A1E"/>
                </a:solidFill>
                <a:latin typeface="Georgia" pitchFamily="34" charset="0"/>
                <a:ea typeface="Georgia" pitchFamily="34" charset="-122"/>
                <a:cs typeface="Georgia" pitchFamily="34" charset="-120"/>
              </a:rPr>
              <a:t>Classe Low — manifeste Deployment</a:t>
            </a:r>
            <a:endParaRPr lang="en-US" sz="2400" dirty="0"/>
          </a:p>
        </p:txBody>
      </p:sp>
      <p:sp>
        <p:nvSpPr>
          <p:cNvPr id="6" name="Shape 4"/>
          <p:cNvSpPr/>
          <p:nvPr/>
        </p:nvSpPr>
        <p:spPr>
          <a:xfrm>
            <a:off x="502920" y="1481328"/>
            <a:ext cx="3017520" cy="4690872"/>
          </a:xfrm>
          <a:prstGeom prst="rect">
            <a:avLst/>
          </a:prstGeom>
          <a:solidFill>
            <a:srgbClr val="FFFFFF"/>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7" name="Shape 5"/>
          <p:cNvSpPr/>
          <p:nvPr/>
        </p:nvSpPr>
        <p:spPr>
          <a:xfrm>
            <a:off x="502920" y="1481328"/>
            <a:ext cx="3017520" cy="566928"/>
          </a:xfrm>
          <a:prstGeom prst="rect">
            <a:avLst/>
          </a:prstGeom>
          <a:solidFill>
            <a:srgbClr val="4A7C59"/>
          </a:solidFill>
          <a:ln/>
        </p:spPr>
      </p:sp>
      <p:sp>
        <p:nvSpPr>
          <p:cNvPr id="8" name="Text 6"/>
          <p:cNvSpPr/>
          <p:nvPr/>
        </p:nvSpPr>
        <p:spPr>
          <a:xfrm>
            <a:off x="640080" y="1481328"/>
            <a:ext cx="2743200" cy="56692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PROFIL MATRICE DE RÉSILIENCE</a:t>
            </a:r>
            <a:endParaRPr lang="en-US" sz="1050" dirty="0"/>
          </a:p>
        </p:txBody>
      </p:sp>
      <p:sp>
        <p:nvSpPr>
          <p:cNvPr id="9" name="Text 7"/>
          <p:cNvSpPr/>
          <p:nvPr/>
        </p:nvSpPr>
        <p:spPr>
          <a:xfrm>
            <a:off x="658368" y="215798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Hosting</a:t>
            </a:r>
            <a:endParaRPr lang="en-US" sz="950" dirty="0"/>
          </a:p>
        </p:txBody>
      </p:sp>
      <p:sp>
        <p:nvSpPr>
          <p:cNvPr id="10" name="Text 8"/>
          <p:cNvSpPr/>
          <p:nvPr/>
        </p:nvSpPr>
        <p:spPr>
          <a:xfrm>
            <a:off x="2103120" y="215798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M:One</a:t>
            </a:r>
            <a:endParaRPr lang="en-US" sz="1050" dirty="0"/>
          </a:p>
        </p:txBody>
      </p:sp>
      <p:sp>
        <p:nvSpPr>
          <p:cNvPr id="11" name="Shape 9"/>
          <p:cNvSpPr/>
          <p:nvPr/>
        </p:nvSpPr>
        <p:spPr>
          <a:xfrm>
            <a:off x="658368" y="2706624"/>
            <a:ext cx="2743200" cy="0"/>
          </a:xfrm>
          <a:prstGeom prst="line">
            <a:avLst/>
          </a:prstGeom>
          <a:noFill/>
          <a:ln w="9525">
            <a:solidFill>
              <a:srgbClr val="ECF1F2"/>
            </a:solidFill>
            <a:prstDash val="solid"/>
          </a:ln>
        </p:spPr>
      </p:sp>
      <p:sp>
        <p:nvSpPr>
          <p:cNvPr id="12" name="Text 10"/>
          <p:cNvSpPr/>
          <p:nvPr/>
        </p:nvSpPr>
        <p:spPr>
          <a:xfrm>
            <a:off x="658368" y="2811780"/>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AZ Status</a:t>
            </a:r>
            <a:endParaRPr lang="en-US" sz="950" dirty="0"/>
          </a:p>
        </p:txBody>
      </p:sp>
      <p:sp>
        <p:nvSpPr>
          <p:cNvPr id="13" name="Text 11"/>
          <p:cNvSpPr/>
          <p:nvPr/>
        </p:nvSpPr>
        <p:spPr>
          <a:xfrm>
            <a:off x="2103120" y="2811780"/>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a:t>
            </a:r>
            <a:endParaRPr lang="en-US" sz="1050" dirty="0"/>
          </a:p>
        </p:txBody>
      </p:sp>
      <p:sp>
        <p:nvSpPr>
          <p:cNvPr id="14" name="Shape 12"/>
          <p:cNvSpPr/>
          <p:nvPr/>
        </p:nvSpPr>
        <p:spPr>
          <a:xfrm>
            <a:off x="658368" y="3360420"/>
            <a:ext cx="2743200" cy="0"/>
          </a:xfrm>
          <a:prstGeom prst="line">
            <a:avLst/>
          </a:prstGeom>
          <a:noFill/>
          <a:ln w="9525">
            <a:solidFill>
              <a:srgbClr val="ECF1F2"/>
            </a:solidFill>
            <a:prstDash val="solid"/>
          </a:ln>
        </p:spPr>
      </p:sp>
      <p:sp>
        <p:nvSpPr>
          <p:cNvPr id="15" name="Text 13"/>
          <p:cNvSpPr/>
          <p:nvPr/>
        </p:nvSpPr>
        <p:spPr>
          <a:xfrm>
            <a:off x="658368" y="3465576"/>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Failover Mode</a:t>
            </a:r>
            <a:endParaRPr lang="en-US" sz="950" dirty="0"/>
          </a:p>
        </p:txBody>
      </p:sp>
      <p:sp>
        <p:nvSpPr>
          <p:cNvPr id="16" name="Text 14"/>
          <p:cNvSpPr/>
          <p:nvPr/>
        </p:nvSpPr>
        <p:spPr>
          <a:xfrm>
            <a:off x="2103120" y="3465576"/>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M:Cold</a:t>
            </a:r>
            <a:endParaRPr lang="en-US" sz="1050" dirty="0"/>
          </a:p>
        </p:txBody>
      </p:sp>
      <p:sp>
        <p:nvSpPr>
          <p:cNvPr id="17" name="Shape 15"/>
          <p:cNvSpPr/>
          <p:nvPr/>
        </p:nvSpPr>
        <p:spPr>
          <a:xfrm>
            <a:off x="658368" y="4014216"/>
            <a:ext cx="2743200" cy="0"/>
          </a:xfrm>
          <a:prstGeom prst="line">
            <a:avLst/>
          </a:prstGeom>
          <a:noFill/>
          <a:ln w="9525">
            <a:solidFill>
              <a:srgbClr val="ECF1F2"/>
            </a:solidFill>
            <a:prstDash val="solid"/>
          </a:ln>
        </p:spPr>
      </p:sp>
      <p:sp>
        <p:nvSpPr>
          <p:cNvPr id="18" name="Text 16"/>
          <p:cNvSpPr/>
          <p:nvPr/>
        </p:nvSpPr>
        <p:spPr>
          <a:xfrm>
            <a:off x="658368" y="4119372"/>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Data Distribution</a:t>
            </a:r>
            <a:endParaRPr lang="en-US" sz="950" dirty="0"/>
          </a:p>
        </p:txBody>
      </p:sp>
      <p:sp>
        <p:nvSpPr>
          <p:cNvPr id="19" name="Text 17"/>
          <p:cNvSpPr/>
          <p:nvPr/>
        </p:nvSpPr>
        <p:spPr>
          <a:xfrm>
            <a:off x="2103120" y="4119372"/>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M:Async/Batch</a:t>
            </a:r>
            <a:endParaRPr lang="en-US" sz="1050" dirty="0"/>
          </a:p>
        </p:txBody>
      </p:sp>
      <p:sp>
        <p:nvSpPr>
          <p:cNvPr id="20" name="Shape 18"/>
          <p:cNvSpPr/>
          <p:nvPr/>
        </p:nvSpPr>
        <p:spPr>
          <a:xfrm>
            <a:off x="658368" y="4668012"/>
            <a:ext cx="2743200" cy="0"/>
          </a:xfrm>
          <a:prstGeom prst="line">
            <a:avLst/>
          </a:prstGeom>
          <a:noFill/>
          <a:ln w="9525">
            <a:solidFill>
              <a:srgbClr val="ECF1F2"/>
            </a:solidFill>
            <a:prstDash val="solid"/>
          </a:ln>
        </p:spPr>
      </p:sp>
      <p:sp>
        <p:nvSpPr>
          <p:cNvPr id="21" name="Text 19"/>
          <p:cNvSpPr/>
          <p:nvPr/>
        </p:nvSpPr>
        <p:spPr>
          <a:xfrm>
            <a:off x="658368" y="4773168"/>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Backup Distribution</a:t>
            </a:r>
            <a:endParaRPr lang="en-US" sz="950" dirty="0"/>
          </a:p>
        </p:txBody>
      </p:sp>
      <p:sp>
        <p:nvSpPr>
          <p:cNvPr id="22" name="Text 20"/>
          <p:cNvSpPr/>
          <p:nvPr/>
        </p:nvSpPr>
        <p:spPr>
          <a:xfrm>
            <a:off x="2103120" y="4773168"/>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M:Two</a:t>
            </a:r>
            <a:endParaRPr lang="en-US" sz="1050" dirty="0"/>
          </a:p>
        </p:txBody>
      </p:sp>
      <p:sp>
        <p:nvSpPr>
          <p:cNvPr id="23" name="Shape 21"/>
          <p:cNvSpPr/>
          <p:nvPr/>
        </p:nvSpPr>
        <p:spPr>
          <a:xfrm>
            <a:off x="658368" y="5321808"/>
            <a:ext cx="2743200" cy="0"/>
          </a:xfrm>
          <a:prstGeom prst="line">
            <a:avLst/>
          </a:prstGeom>
          <a:noFill/>
          <a:ln w="9525">
            <a:solidFill>
              <a:srgbClr val="ECF1F2"/>
            </a:solidFill>
            <a:prstDash val="solid"/>
          </a:ln>
        </p:spPr>
      </p:sp>
      <p:sp>
        <p:nvSpPr>
          <p:cNvPr id="24" name="Text 22"/>
          <p:cNvSpPr/>
          <p:nvPr/>
        </p:nvSpPr>
        <p:spPr>
          <a:xfrm>
            <a:off x="658368" y="5426964"/>
            <a:ext cx="1600200" cy="502920"/>
          </a:xfrm>
          <a:prstGeom prst="rect">
            <a:avLst/>
          </a:prstGeom>
          <a:noFill/>
          <a:ln/>
        </p:spPr>
        <p:txBody>
          <a:bodyPr wrap="square" lIns="0" tIns="0" rIns="0" bIns="0" rtlCol="0" anchor="ctr"/>
          <a:lstStyle/>
          <a:p>
            <a:pPr indent="0" marL="0">
              <a:buNone/>
            </a:pPr>
            <a:r>
              <a:rPr lang="en-US" sz="950" dirty="0">
                <a:solidFill>
                  <a:srgbClr val="7C8A80"/>
                </a:solidFill>
                <a:latin typeface="Calibri" pitchFamily="34" charset="0"/>
                <a:ea typeface="Calibri" pitchFamily="34" charset="-122"/>
                <a:cs typeface="Calibri" pitchFamily="34" charset="-120"/>
              </a:rPr>
              <a:t>Rebuild Mechanism</a:t>
            </a:r>
            <a:endParaRPr lang="en-US" sz="950" dirty="0"/>
          </a:p>
        </p:txBody>
      </p:sp>
      <p:sp>
        <p:nvSpPr>
          <p:cNvPr id="25" name="Text 23"/>
          <p:cNvSpPr/>
          <p:nvPr/>
        </p:nvSpPr>
        <p:spPr>
          <a:xfrm>
            <a:off x="2103120" y="5426964"/>
            <a:ext cx="1298448" cy="502920"/>
          </a:xfrm>
          <a:prstGeom prst="rect">
            <a:avLst/>
          </a:prstGeom>
          <a:noFill/>
          <a:ln/>
        </p:spPr>
        <p:txBody>
          <a:bodyPr wrap="square" lIns="0" tIns="0" rIns="0" bIns="0" rtlCol="0" anchor="ctr"/>
          <a:lstStyle/>
          <a:p>
            <a:pPr algn="r" indent="0" marL="0">
              <a:buNone/>
            </a:pPr>
            <a:r>
              <a:rPr lang="en-US" sz="1050" b="1" dirty="0">
                <a:solidFill>
                  <a:srgbClr val="26352C"/>
                </a:solidFill>
                <a:latin typeface="Calibri" pitchFamily="34" charset="0"/>
                <a:ea typeface="Calibri" pitchFamily="34" charset="-122"/>
                <a:cs typeface="Calibri" pitchFamily="34" charset="-120"/>
              </a:rPr>
              <a:t>COULD</a:t>
            </a:r>
            <a:endParaRPr lang="en-US" sz="1050" dirty="0"/>
          </a:p>
        </p:txBody>
      </p:sp>
      <p:sp>
        <p:nvSpPr>
          <p:cNvPr id="26" name="Shape 24"/>
          <p:cNvSpPr/>
          <p:nvPr/>
        </p:nvSpPr>
        <p:spPr>
          <a:xfrm>
            <a:off x="3703320" y="1481328"/>
            <a:ext cx="79827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27" name="Text 25"/>
          <p:cNvSpPr/>
          <p:nvPr/>
        </p:nvSpPr>
        <p:spPr>
          <a:xfrm>
            <a:off x="3867912" y="1609344"/>
            <a:ext cx="7653528" cy="4434840"/>
          </a:xfrm>
          <a:prstGeom prst="rect">
            <a:avLst/>
          </a:prstGeom>
          <a:noFill/>
          <a:ln/>
        </p:spPr>
        <p:txBody>
          <a:bodyPr wrap="square" lIns="0" tIns="0" rIns="0" bIns="0" rtlCol="0" anchor="t"/>
          <a:lstStyle/>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Classe Low — 1 AZ · Cold Failover · Rebuild COULD</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apps/v1</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Deployment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svc-low</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ns002i014490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resilience/classification: low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spec:</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1                 # = AZ Hosting M:One (plancher)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strategy:</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Recreate            # Cold : reprise par redeploiement</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selector:</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matchLabels: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svc-low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template: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metadata:</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labels: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app: svc-low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spec:</a:t>
            </a:r>
            <a:endParaRPr lang="en-US" sz="670" dirty="0"/>
          </a:p>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 1 seule AZ : topologySpreadConstraints non requis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containers: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 name: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app</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image:</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harbor/svc-low:1.0.0</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resources:</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requests:</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cpu: 250m, memory: 256Mi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readinessProbe: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/health/ready, port: 8080 }</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livenessProbe:</a:t>
            </a:r>
            <a:endParaRPr lang="en-US" sz="670" dirty="0"/>
          </a:p>
          <a:p>
            <a:pPr algn="l" indent="0" marL="0">
              <a:lnSpc>
                <a:spcPct val="106000"/>
              </a:lnSpc>
              <a:buNone/>
            </a:pPr>
            <a:r>
              <a:rPr lang="en-US" sz="670" dirty="0">
                <a:solidFill>
                  <a:srgbClr val="73C9A0"/>
                </a:solidFill>
                <a:latin typeface="Consolas" pitchFamily="34" charset="0"/>
                <a:ea typeface="Consolas" pitchFamily="34" charset="-122"/>
                <a:cs typeface="Consolas" pitchFamily="34" charset="-120"/>
              </a:rPr>
              <a:t>            httpGet:</a:t>
            </a:r>
            <a:pPr algn="l" indent="0" marL="0">
              <a:lnSpc>
                <a:spcPct val="106000"/>
              </a:lnSpc>
              <a:buNone/>
            </a:pPr>
            <a:r>
              <a:rPr lang="en-US" sz="670" dirty="0">
                <a:solidFill>
                  <a:srgbClr val="DCE6EC"/>
                </a:solidFill>
                <a:latin typeface="Consolas" pitchFamily="34" charset="0"/>
                <a:ea typeface="Consolas" pitchFamily="34" charset="-122"/>
                <a:cs typeface="Consolas" pitchFamily="34" charset="-120"/>
              </a:rPr>
              <a:t> { path: /health/live, port: 8080 }</a:t>
            </a:r>
            <a:endParaRPr lang="en-US" sz="670" dirty="0"/>
          </a:p>
          <a:p>
            <a:pPr algn="l" indent="0" marL="0">
              <a:lnSpc>
                <a:spcPct val="106000"/>
              </a:lnSpc>
              <a:buNone/>
            </a:pPr>
            <a:r>
              <a:rPr lang="en-US" sz="670" dirty="0">
                <a:solidFill>
                  <a:srgbClr val="000000"/>
                </a:solidFill>
                <a:latin typeface="Consolas" pitchFamily="34" charset="0"/>
                <a:ea typeface="Consolas" pitchFamily="34" charset="-122"/>
                <a:cs typeface="Consolas" pitchFamily="34" charset="-120"/>
              </a:rPr>
              <a:t> </a:t>
            </a:r>
            <a:endParaRPr lang="en-US" sz="670" dirty="0"/>
          </a:p>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PodDisruptionBudget : optionnel pour la classe Low</a:t>
            </a:r>
            <a:endParaRPr lang="en-US" sz="670" dirty="0"/>
          </a:p>
          <a:p>
            <a:pPr algn="l" indent="0" marL="0">
              <a:lnSpc>
                <a:spcPct val="106000"/>
              </a:lnSpc>
              <a:buNone/>
            </a:pPr>
            <a:r>
              <a:rPr lang="en-US" sz="670" i="1" dirty="0">
                <a:solidFill>
                  <a:srgbClr val="7E9788"/>
                </a:solidFill>
                <a:latin typeface="Consolas" pitchFamily="34" charset="0"/>
                <a:ea typeface="Consolas" pitchFamily="34" charset="-122"/>
                <a:cs typeface="Consolas" pitchFamily="34" charset="-120"/>
              </a:rPr>
              <a:t># Sauvegarde des objets cluster : cf. slide Donnees &amp; sauvegarde</a:t>
            </a:r>
            <a:endParaRPr lang="en-US" sz="670" dirty="0"/>
          </a:p>
        </p:txBody>
      </p:sp>
      <p:sp>
        <p:nvSpPr>
          <p:cNvPr id="29" name="Text 26"/>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30" name="Text 27"/>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57200" cy="457200"/>
          </a:xfrm>
          <a:prstGeom prst="roundRect">
            <a:avLst>
              <a:gd name="adj" fmla="val 18000"/>
            </a:avLst>
          </a:prstGeom>
          <a:solidFill>
            <a:srgbClr val="00925F"/>
          </a:solidFill>
          <a:ln/>
          <a:effectLst>
            <a:outerShdw sx="100000" sy="100000" kx="0" ky="0" algn="bl" rotWithShape="0" blurRad="88900" dist="38100" dir="8100000">
              <a:srgbClr val="0B1419">
                <a:alpha val="22000"/>
              </a:srgbClr>
            </a:outerShdw>
          </a:effectLst>
        </p:spPr>
      </p:sp>
      <p:sp>
        <p:nvSpPr>
          <p:cNvPr id="3" name="Shape 1"/>
          <p:cNvSpPr/>
          <p:nvPr/>
        </p:nvSpPr>
        <p:spPr>
          <a:xfrm>
            <a:off x="658368" y="539496"/>
            <a:ext cx="146304" cy="146304"/>
          </a:xfrm>
          <a:prstGeom prst="ellipse">
            <a:avLst/>
          </a:prstGeom>
          <a:solidFill>
            <a:srgbClr val="FFFFFF"/>
          </a:solidFill>
          <a:ln/>
        </p:spPr>
      </p:sp>
      <p:sp>
        <p:nvSpPr>
          <p:cNvPr id="4" name="Text 2"/>
          <p:cNvSpPr/>
          <p:nvPr/>
        </p:nvSpPr>
        <p:spPr>
          <a:xfrm>
            <a:off x="1143000" y="347472"/>
            <a:ext cx="1042416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COMPLÉMENT DE RÉSILIENCE — INTRA-AZ</a:t>
            </a:r>
            <a:endParaRPr lang="en-US" sz="1150" dirty="0"/>
          </a:p>
        </p:txBody>
      </p:sp>
      <p:sp>
        <p:nvSpPr>
          <p:cNvPr id="5" name="Text 3"/>
          <p:cNvSpPr/>
          <p:nvPr/>
        </p:nvSpPr>
        <p:spPr>
          <a:xfrm>
            <a:off x="1143000" y="566928"/>
            <a:ext cx="10515600" cy="548640"/>
          </a:xfrm>
          <a:prstGeom prst="rect">
            <a:avLst/>
          </a:prstGeom>
          <a:noFill/>
          <a:ln/>
        </p:spPr>
        <p:txBody>
          <a:bodyPr wrap="square" lIns="0" tIns="0" rIns="0" bIns="0" rtlCol="0" anchor="ctr"/>
          <a:lstStyle/>
          <a:p>
            <a:pPr indent="0" marL="0">
              <a:buNone/>
            </a:pPr>
            <a:r>
              <a:rPr lang="en-US" sz="2300" b="1" dirty="0">
                <a:solidFill>
                  <a:srgbClr val="0C2A1E"/>
                </a:solidFill>
                <a:latin typeface="Georgia" pitchFamily="34" charset="0"/>
                <a:ea typeface="Georgia" pitchFamily="34" charset="-122"/>
                <a:cs typeface="Georgia" pitchFamily="34" charset="-120"/>
              </a:rPr>
              <a:t>Résilience intra-AZ — panne de nœud &amp; maintenance</a:t>
            </a:r>
            <a:endParaRPr lang="en-US" sz="23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ENJEU</a:t>
            </a:r>
            <a:endParaRPr lang="en-US" sz="1100" dirty="0"/>
          </a:p>
        </p:txBody>
      </p:sp>
      <p:sp>
        <p:nvSpPr>
          <p:cNvPr id="7" name="Text 5"/>
          <p:cNvSpPr/>
          <p:nvPr/>
        </p:nvSpPr>
        <p:spPr>
          <a:xfrm>
            <a:off x="502920" y="1737360"/>
            <a:ext cx="4343400" cy="1280160"/>
          </a:xfrm>
          <a:prstGeom prst="rect">
            <a:avLst/>
          </a:prstGeom>
          <a:noFill/>
          <a:ln/>
        </p:spPr>
        <p:txBody>
          <a:bodyPr wrap="square" lIns="0" tIns="0" rIns="0" bIns="0" rtlCol="0" anchor="ctr"/>
          <a:lstStyle/>
          <a:p>
            <a:pPr indent="0" marL="0">
              <a:lnSpc>
                <a:spcPct val="113000"/>
              </a:lnSpc>
              <a:buNone/>
            </a:pPr>
            <a:r>
              <a:rPr lang="en-US" sz="1250" dirty="0">
                <a:solidFill>
                  <a:srgbClr val="26352C"/>
                </a:solidFill>
                <a:latin typeface="Calibri" pitchFamily="34" charset="0"/>
                <a:ea typeface="Calibri" pitchFamily="34" charset="-122"/>
                <a:cs typeface="Calibri" pitchFamily="34" charset="-120"/>
              </a:rPr>
              <a:t>topologySpreadConstraints équilibre la répartition, mais n'interdit pas la colocalisation. Pour une garantie stricte — exigée en audit bancaire — il faut une anti-affinité required sur le hostname.</a:t>
            </a:r>
            <a:endParaRPr lang="en-US" sz="1250" dirty="0"/>
          </a:p>
        </p:txBody>
      </p:sp>
      <p:sp>
        <p:nvSpPr>
          <p:cNvPr id="8" name="Text 6"/>
          <p:cNvSpPr/>
          <p:nvPr/>
        </p:nvSpPr>
        <p:spPr>
          <a:xfrm>
            <a:off x="502920" y="3063240"/>
            <a:ext cx="4343400" cy="1783080"/>
          </a:xfrm>
          <a:prstGeom prst="rect">
            <a:avLst/>
          </a:prstGeom>
          <a:noFill/>
          <a:ln/>
        </p:spPr>
        <p:txBody>
          <a:bodyPr wrap="square" lIns="0" tIns="0" rIns="0" bIns="0" rtlCol="0" anchor="ctr"/>
          <a:lstStyle/>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podAntiAffinity required : deux pods d'un même service ne peuvent jamais partager un worker.</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Drain de nœud (maintenance, upgrade) : le PDB bloque l'éviction du dernier pod sain.</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Cluster Autoscaler : conserver la capacité de réordonnancement sur les nœuds restants.</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Sur 2 workers / AZ : au plus 2 pods par service et par zone.</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Déployer avec anti-affinité sur plusieurs AZ et plusieurs nœuds, pour éviter la défaillance simultanée de tous les conteneurs.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Deployment &gt; spec.template.spec</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affinity:</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podAntiAffinity:</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requiredDuringSchedulingIgnoredDuringExecution:</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 labelSelector:</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matchLabels:</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app:</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paiement-api</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topologyKey:</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kubernetes.io/hostname</a:t>
            </a:r>
            <a:endParaRPr lang="en-US" sz="1050" dirty="0"/>
          </a:p>
          <a:p>
            <a:pPr algn="l" indent="0" marL="0">
              <a:lnSpc>
                <a:spcPct val="106000"/>
              </a:lnSpc>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topologySpread (zone)  -&gt; etalement sur 3 AZ</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podAntiAffinity (host) -&gt; interdiction stricte</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de colocalisation sur un meme worker</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Les deux contraintes sont complementaires.</a:t>
            </a:r>
            <a:endParaRPr lang="en-US" sz="1050" dirty="0"/>
          </a:p>
          <a:p>
            <a:pPr algn="l" indent="0" marL="0">
              <a:lnSpc>
                <a:spcPct val="106000"/>
              </a:lnSpc>
              <a:buNone/>
            </a:pPr>
            <a:r>
              <a:rPr lang="en-US" sz="1050" dirty="0">
                <a:solidFill>
                  <a:srgbClr val="7E9788"/>
                </a:solidFill>
                <a:latin typeface="Consolas" pitchFamily="34" charset="0"/>
                <a:ea typeface="Consolas" pitchFamily="34" charset="-122"/>
                <a:cs typeface="Consolas" pitchFamily="34" charset="-120"/>
              </a:rPr>
              <a:t>---</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Maintenance : drain controle d'un worker</a:t>
            </a:r>
            <a:endParaRPr lang="en-US" sz="1050" dirty="0"/>
          </a:p>
          <a:p>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oc adm drain &lt;node&gt; \</a:t>
            </a:r>
            <a:endParaRPr lang="en-US" sz="1050" dirty="0"/>
          </a:p>
          <a:p>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--ignore-daemonsets \</a:t>
            </a:r>
            <a:endParaRPr lang="en-US" sz="1050" dirty="0"/>
          </a:p>
          <a:p>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--delete-emptydir-data \</a:t>
            </a:r>
            <a:endParaRPr lang="en-US" sz="1050" dirty="0"/>
          </a:p>
          <a:p>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--pod-selector app=paiement-api</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-&gt; le PodDisruptionBudget bloque l'eviction</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du dernier pod et garantit la continuite</a:t>
            </a:r>
            <a:endParaRPr lang="en-US" sz="10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57200" cy="457200"/>
          </a:xfrm>
          <a:prstGeom prst="roundRect">
            <a:avLst>
              <a:gd name="adj" fmla="val 18000"/>
            </a:avLst>
          </a:prstGeom>
          <a:solidFill>
            <a:srgbClr val="00925F"/>
          </a:solidFill>
          <a:ln/>
          <a:effectLst>
            <a:outerShdw sx="100000" sy="100000" kx="0" ky="0" algn="bl" rotWithShape="0" blurRad="88900" dist="38100" dir="8100000">
              <a:srgbClr val="0B1419">
                <a:alpha val="22000"/>
              </a:srgbClr>
            </a:outerShdw>
          </a:effectLst>
        </p:spPr>
      </p:sp>
      <p:sp>
        <p:nvSpPr>
          <p:cNvPr id="3" name="Shape 1"/>
          <p:cNvSpPr/>
          <p:nvPr/>
        </p:nvSpPr>
        <p:spPr>
          <a:xfrm>
            <a:off x="658368" y="539496"/>
            <a:ext cx="146304" cy="146304"/>
          </a:xfrm>
          <a:prstGeom prst="ellipse">
            <a:avLst/>
          </a:prstGeom>
          <a:solidFill>
            <a:srgbClr val="FFFFFF"/>
          </a:solidFill>
          <a:ln/>
        </p:spPr>
      </p:sp>
      <p:sp>
        <p:nvSpPr>
          <p:cNvPr id="4" name="Text 2"/>
          <p:cNvSpPr/>
          <p:nvPr/>
        </p:nvSpPr>
        <p:spPr>
          <a:xfrm>
            <a:off x="1143000" y="347472"/>
            <a:ext cx="1042416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COMPLÉMENT DE RÉSILIENCE — TRAFIC ENTRANT</a:t>
            </a:r>
            <a:endParaRPr lang="en-US" sz="1150" dirty="0"/>
          </a:p>
        </p:txBody>
      </p:sp>
      <p:sp>
        <p:nvSpPr>
          <p:cNvPr id="5" name="Text 3"/>
          <p:cNvSpPr/>
          <p:nvPr/>
        </p:nvSpPr>
        <p:spPr>
          <a:xfrm>
            <a:off x="1143000" y="566928"/>
            <a:ext cx="10515600" cy="548640"/>
          </a:xfrm>
          <a:prstGeom prst="rect">
            <a:avLst/>
          </a:prstGeom>
          <a:noFill/>
          <a:ln/>
        </p:spPr>
        <p:txBody>
          <a:bodyPr wrap="square" lIns="0" tIns="0" rIns="0" bIns="0" rtlCol="0" anchor="ctr"/>
          <a:lstStyle/>
          <a:p>
            <a:pPr indent="0" marL="0">
              <a:buNone/>
            </a:pPr>
            <a:r>
              <a:rPr lang="en-US" sz="2300" b="1" dirty="0">
                <a:solidFill>
                  <a:srgbClr val="0C2A1E"/>
                </a:solidFill>
                <a:latin typeface="Georgia" pitchFamily="34" charset="0"/>
                <a:ea typeface="Georgia" pitchFamily="34" charset="-122"/>
                <a:cs typeface="Georgia" pitchFamily="34" charset="-120"/>
              </a:rPr>
              <a:t>Résilience du trafic entrant — Router &amp; Routes</a:t>
            </a:r>
            <a:endParaRPr lang="en-US" sz="23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ENJEU</a:t>
            </a:r>
            <a:endParaRPr lang="en-US" sz="1100" dirty="0"/>
          </a:p>
        </p:txBody>
      </p:sp>
      <p:sp>
        <p:nvSpPr>
          <p:cNvPr id="7" name="Text 5"/>
          <p:cNvSpPr/>
          <p:nvPr/>
        </p:nvSpPr>
        <p:spPr>
          <a:xfrm>
            <a:off x="502920" y="1737360"/>
            <a:ext cx="4343400" cy="1280160"/>
          </a:xfrm>
          <a:prstGeom prst="rect">
            <a:avLst/>
          </a:prstGeom>
          <a:noFill/>
          <a:ln/>
        </p:spPr>
        <p:txBody>
          <a:bodyPr wrap="square" lIns="0" tIns="0" rIns="0" bIns="0" rtlCol="0" anchor="ctr"/>
          <a:lstStyle/>
          <a:p>
            <a:pPr indent="0" marL="0">
              <a:lnSpc>
                <a:spcPct val="113000"/>
              </a:lnSpc>
              <a:buNone/>
            </a:pPr>
            <a:r>
              <a:rPr lang="en-US" sz="1250" dirty="0">
                <a:solidFill>
                  <a:srgbClr val="26352C"/>
                </a:solidFill>
                <a:latin typeface="Calibri" pitchFamily="34" charset="0"/>
                <a:ea typeface="Calibri" pitchFamily="34" charset="-122"/>
                <a:cs typeface="Calibri" pitchFamily="34" charset="-120"/>
              </a:rPr>
              <a:t>Une application HA derrière un point d'entrée unique reste un PRA cassé. Le routeur HAProxy d'OpenShift doit lui-même être réparti sur les 3 AZ.</a:t>
            </a:r>
            <a:endParaRPr lang="en-US" sz="1250" dirty="0"/>
          </a:p>
        </p:txBody>
      </p:sp>
      <p:sp>
        <p:nvSpPr>
          <p:cNvPr id="8" name="Text 6"/>
          <p:cNvSpPr/>
          <p:nvPr/>
        </p:nvSpPr>
        <p:spPr>
          <a:xfrm>
            <a:off x="502920" y="3063240"/>
            <a:ext cx="4343400" cy="1783080"/>
          </a:xfrm>
          <a:prstGeom prst="rect">
            <a:avLst/>
          </a:prstGeom>
          <a:noFill/>
          <a:ln/>
        </p:spPr>
        <p:txBody>
          <a:bodyPr wrap="square" lIns="0" tIns="0" rIns="0" bIns="0" rtlCol="0" anchor="ctr"/>
          <a:lstStyle/>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IngressController : plusieurs réplicas de routeur étalés sur les zones.</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Route reencrypt : terminaison TLS maîtrisée au plus près du service.</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externalTrafficPolicy: Local préserve l'IP source — à coupler avec des réplicas par nœud.</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En amont : GSLB / F5 et bascule DNS entre régions.</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Le Load Balancing s'appuie sur les LB amont pour distribuer les flux applicatifs, voire via DNS / GSLB.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operator.openshift.io/v1</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IngressController</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metadata:</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default</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openshift-ingress-operator</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spec:</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replicas:</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3                  # routeur reparti 3 AZ</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endpointPublishingStrategy:</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type: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LoadBalancerService</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nodePlacement:</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nodeSelector:</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matchLabels:</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node-role.kubernetes.io/worker:</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a:t>
            </a:r>
            <a:endParaRPr lang="en-US" sz="1050" dirty="0"/>
          </a:p>
          <a:p>
            <a:pPr algn="l" indent="0" marL="0">
              <a:lnSpc>
                <a:spcPct val="106000"/>
              </a:lnSpc>
              <a:buNone/>
            </a:pPr>
            <a:r>
              <a:rPr lang="en-US" sz="1050" dirty="0">
                <a:solidFill>
                  <a:srgbClr val="7E9788"/>
                </a:solidFill>
                <a:latin typeface="Consolas" pitchFamily="34" charset="0"/>
                <a:ea typeface="Consolas" pitchFamily="34" charset="-122"/>
                <a:cs typeface="Consolas" pitchFamily="34" charset="-120"/>
              </a:rPr>
              <a:t>---</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route.openshift.io/v1</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Route</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metadata:</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paiement-api</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ns002i014490</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spec:</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to:</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 kind: Service, name: paiement-api }</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port:</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 targetPort: 8080 }</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tls:</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 termination: reencrypt }</a:t>
            </a:r>
            <a:endParaRPr lang="en-US" sz="1050" dirty="0"/>
          </a:p>
          <a:p>
            <a:pPr algn="l" indent="0" marL="0">
              <a:lnSpc>
                <a:spcPct val="106000"/>
              </a:lnSpc>
              <a:buNone/>
            </a:pPr>
            <a:r>
              <a:rPr lang="en-US" sz="1050" dirty="0">
                <a:solidFill>
                  <a:srgbClr val="7E9788"/>
                </a:solidFill>
                <a:latin typeface="Consolas" pitchFamily="34" charset="0"/>
                <a:ea typeface="Consolas" pitchFamily="34" charset="-122"/>
                <a:cs typeface="Consolas" pitchFamily="34" charset="-120"/>
              </a:rPr>
              <a:t>---</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Service : conservation de l'IP source</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spec.externalTrafficPolicy: Local</a:t>
            </a:r>
            <a:endParaRPr lang="en-US" sz="10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57200" cy="457200"/>
          </a:xfrm>
          <a:prstGeom prst="roundRect">
            <a:avLst>
              <a:gd name="adj" fmla="val 18000"/>
            </a:avLst>
          </a:prstGeom>
          <a:solidFill>
            <a:srgbClr val="00925F"/>
          </a:solidFill>
          <a:ln/>
          <a:effectLst>
            <a:outerShdw sx="100000" sy="100000" kx="0" ky="0" algn="bl" rotWithShape="0" blurRad="88900" dist="38100" dir="8100000">
              <a:srgbClr val="0B1419">
                <a:alpha val="22000"/>
              </a:srgbClr>
            </a:outerShdw>
          </a:effectLst>
        </p:spPr>
      </p:sp>
      <p:sp>
        <p:nvSpPr>
          <p:cNvPr id="3" name="Shape 1"/>
          <p:cNvSpPr/>
          <p:nvPr/>
        </p:nvSpPr>
        <p:spPr>
          <a:xfrm>
            <a:off x="658368" y="539496"/>
            <a:ext cx="146304" cy="146304"/>
          </a:xfrm>
          <a:prstGeom prst="ellipse">
            <a:avLst/>
          </a:prstGeom>
          <a:solidFill>
            <a:srgbClr val="FFFFFF"/>
          </a:solidFill>
          <a:ln/>
        </p:spPr>
      </p:sp>
      <p:sp>
        <p:nvSpPr>
          <p:cNvPr id="4" name="Text 2"/>
          <p:cNvSpPr/>
          <p:nvPr/>
        </p:nvSpPr>
        <p:spPr>
          <a:xfrm>
            <a:off x="1143000" y="347472"/>
            <a:ext cx="1042416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COMPLÉMENT DE RÉSILIENCE — RECOVERY GITOPS</a:t>
            </a:r>
            <a:endParaRPr lang="en-US" sz="1150" dirty="0"/>
          </a:p>
        </p:txBody>
      </p:sp>
      <p:sp>
        <p:nvSpPr>
          <p:cNvPr id="5" name="Text 3"/>
          <p:cNvSpPr/>
          <p:nvPr/>
        </p:nvSpPr>
        <p:spPr>
          <a:xfrm>
            <a:off x="1143000" y="566928"/>
            <a:ext cx="10515600" cy="548640"/>
          </a:xfrm>
          <a:prstGeom prst="rect">
            <a:avLst/>
          </a:prstGeom>
          <a:noFill/>
          <a:ln/>
        </p:spPr>
        <p:txBody>
          <a:bodyPr wrap="square" lIns="0" tIns="0" rIns="0" bIns="0" rtlCol="0" anchor="ctr"/>
          <a:lstStyle/>
          <a:p>
            <a:pPr indent="0" marL="0">
              <a:buNone/>
            </a:pPr>
            <a:r>
              <a:rPr lang="en-US" sz="2300" b="1" dirty="0">
                <a:solidFill>
                  <a:srgbClr val="0C2A1E"/>
                </a:solidFill>
                <a:latin typeface="Georgia" pitchFamily="34" charset="0"/>
                <a:ea typeface="Georgia" pitchFamily="34" charset="-122"/>
                <a:cs typeface="Georgia" pitchFamily="34" charset="-120"/>
              </a:rPr>
              <a:t>Recovery par GitOps — reconstruction via ArgoCD</a:t>
            </a:r>
            <a:endParaRPr lang="en-US" sz="2300" dirty="0"/>
          </a:p>
        </p:txBody>
      </p:sp>
      <p:sp>
        <p:nvSpPr>
          <p:cNvPr id="6" name="Text 4"/>
          <p:cNvSpPr/>
          <p:nvPr/>
        </p:nvSpPr>
        <p:spPr>
          <a:xfrm>
            <a:off x="502920" y="1481328"/>
            <a:ext cx="4297680" cy="274320"/>
          </a:xfrm>
          <a:prstGeom prst="rect">
            <a:avLst/>
          </a:prstGeom>
          <a:noFill/>
          <a:ln/>
        </p:spPr>
        <p:txBody>
          <a:bodyPr wrap="square" lIns="0" tIns="0" rIns="0" bIns="0" rtlCol="0" anchor="ctr"/>
          <a:lstStyle/>
          <a:p>
            <a:pPr indent="0" marL="0">
              <a:buNone/>
            </a:pPr>
            <a:r>
              <a:rPr lang="en-US" sz="1100" b="1" spc="200" kern="0" dirty="0">
                <a:solidFill>
                  <a:srgbClr val="00684A"/>
                </a:solidFill>
                <a:latin typeface="Calibri" pitchFamily="34" charset="0"/>
                <a:ea typeface="Calibri" pitchFamily="34" charset="-122"/>
                <a:cs typeface="Calibri" pitchFamily="34" charset="-120"/>
              </a:rPr>
              <a:t>ENJEU</a:t>
            </a:r>
            <a:endParaRPr lang="en-US" sz="1100" dirty="0"/>
          </a:p>
        </p:txBody>
      </p:sp>
      <p:sp>
        <p:nvSpPr>
          <p:cNvPr id="7" name="Text 5"/>
          <p:cNvSpPr/>
          <p:nvPr/>
        </p:nvSpPr>
        <p:spPr>
          <a:xfrm>
            <a:off x="502920" y="1737360"/>
            <a:ext cx="4343400" cy="1280160"/>
          </a:xfrm>
          <a:prstGeom prst="rect">
            <a:avLst/>
          </a:prstGeom>
          <a:noFill/>
          <a:ln/>
        </p:spPr>
        <p:txBody>
          <a:bodyPr wrap="square" lIns="0" tIns="0" rIns="0" bIns="0" rtlCol="0" anchor="ctr"/>
          <a:lstStyle/>
          <a:p>
            <a:pPr indent="0" marL="0">
              <a:lnSpc>
                <a:spcPct val="113000"/>
              </a:lnSpc>
              <a:buNone/>
            </a:pPr>
            <a:r>
              <a:rPr lang="en-US" sz="1250" dirty="0">
                <a:solidFill>
                  <a:srgbClr val="26352C"/>
                </a:solidFill>
                <a:latin typeface="Calibri" pitchFamily="34" charset="0"/>
                <a:ea typeface="Calibri" pitchFamily="34" charset="-122"/>
                <a:cs typeface="Calibri" pitchFamily="34" charset="-120"/>
              </a:rPr>
              <a:t>Le référentiel impose un « rebuild mechanism ». Avec GitOps, Git est la source de vérité : un cluster reconstruit resynchronise tout son état de façon déclarative.</a:t>
            </a:r>
            <a:endParaRPr lang="en-US" sz="1250" dirty="0"/>
          </a:p>
        </p:txBody>
      </p:sp>
      <p:sp>
        <p:nvSpPr>
          <p:cNvPr id="8" name="Text 6"/>
          <p:cNvSpPr/>
          <p:nvPr/>
        </p:nvSpPr>
        <p:spPr>
          <a:xfrm>
            <a:off x="502920" y="3063240"/>
            <a:ext cx="4343400" cy="1783080"/>
          </a:xfrm>
          <a:prstGeom prst="rect">
            <a:avLst/>
          </a:prstGeom>
          <a:noFill/>
          <a:ln/>
        </p:spPr>
        <p:txBody>
          <a:bodyPr wrap="square" lIns="0" tIns="0" rIns="0" bIns="0" rtlCol="0" anchor="ctr"/>
          <a:lstStyle/>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Git = source de vérité unique et versionnée (manifestes, Helm, Kustomize).</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ArgoCD bootstrap (App-of-Apps) : redéploiement complet d'un namespace.</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OADP / Velero restaure les données (PV, secrets) ; ArgoCD restaure la configuration.</a:t>
            </a:r>
            <a:endParaRPr lang="en-US" sz="1150" dirty="0"/>
          </a:p>
          <a:p>
            <a:pPr marL="152400" indent="-152400">
              <a:spcAft>
                <a:spcPts val="800"/>
              </a:spcAft>
              <a:buSzPct val="100000"/>
              <a:buChar char="•"/>
            </a:pPr>
            <a:r>
              <a:rPr lang="en-US" sz="1150" dirty="0">
                <a:solidFill>
                  <a:srgbClr val="26352C"/>
                </a:solidFill>
                <a:latin typeface="Calibri" pitchFamily="34" charset="0"/>
                <a:ea typeface="Calibri" pitchFamily="34" charset="-122"/>
                <a:cs typeface="Calibri" pitchFamily="34" charset="-120"/>
              </a:rPr>
              <a:t>Reconstruction reproductible : un nouveau cluster ROKS resynchronisé en une opération.</a:t>
            </a:r>
            <a:endParaRPr lang="en-US" sz="1150" dirty="0"/>
          </a:p>
        </p:txBody>
      </p:sp>
      <p:sp>
        <p:nvSpPr>
          <p:cNvPr id="9" name="Shape 7"/>
          <p:cNvSpPr/>
          <p:nvPr/>
        </p:nvSpPr>
        <p:spPr>
          <a:xfrm>
            <a:off x="502920" y="4892040"/>
            <a:ext cx="4343400" cy="1280160"/>
          </a:xfrm>
          <a:prstGeom prst="roundRect">
            <a:avLst>
              <a:gd name="adj" fmla="val 5714"/>
            </a:avLst>
          </a:prstGeom>
          <a:solidFill>
            <a:srgbClr val="F4F2EA"/>
          </a:solidFill>
          <a:ln w="12700">
            <a:solidFill>
              <a:srgbClr val="DED8C8"/>
            </a:solidFill>
            <a:prstDash val="solid"/>
          </a:ln>
        </p:spPr>
      </p:sp>
      <p:sp>
        <p:nvSpPr>
          <p:cNvPr id="10" name="Shape 8"/>
          <p:cNvSpPr/>
          <p:nvPr/>
        </p:nvSpPr>
        <p:spPr>
          <a:xfrm>
            <a:off x="502920" y="4892040"/>
            <a:ext cx="82296" cy="1280160"/>
          </a:xfrm>
          <a:prstGeom prst="rect">
            <a:avLst/>
          </a:prstGeom>
          <a:solidFill>
            <a:srgbClr val="C2A24E"/>
          </a:solidFill>
          <a:ln/>
        </p:spPr>
      </p:sp>
      <p:sp>
        <p:nvSpPr>
          <p:cNvPr id="11" name="Text 9"/>
          <p:cNvSpPr/>
          <p:nvPr/>
        </p:nvSpPr>
        <p:spPr>
          <a:xfrm>
            <a:off x="713232" y="4892040"/>
            <a:ext cx="4023360" cy="1280160"/>
          </a:xfrm>
          <a:prstGeom prst="rect">
            <a:avLst/>
          </a:prstGeom>
          <a:noFill/>
          <a:ln/>
        </p:spPr>
        <p:txBody>
          <a:bodyPr wrap="square" lIns="0" tIns="0" rIns="0" bIns="0" rtlCol="0" anchor="ctr"/>
          <a:lstStyle/>
          <a:p>
            <a:pPr indent="0" marL="0">
              <a:lnSpc>
                <a:spcPct val="110000"/>
              </a:lnSpc>
              <a:buNone/>
            </a:pPr>
            <a:r>
              <a:rPr lang="en-US" sz="950" b="1" dirty="0">
                <a:solidFill>
                  <a:srgbClr val="C2A24E"/>
                </a:solidFill>
                <a:latin typeface="Calibri" pitchFamily="34" charset="0"/>
                <a:ea typeface="Calibri" pitchFamily="34" charset="-122"/>
                <a:cs typeface="Calibri" pitchFamily="34" charset="-120"/>
              </a:rPr>
              <a:t>RÉFÉRENTIEL   </a:t>
            </a:r>
            <a:pPr indent="0" marL="0">
              <a:lnSpc>
                <a:spcPct val="110000"/>
              </a:lnSpc>
              <a:buNone/>
            </a:pPr>
            <a:r>
              <a:rPr lang="en-US" sz="1050" i="1" dirty="0">
                <a:solidFill>
                  <a:srgbClr val="164032"/>
                </a:solidFill>
                <a:latin typeface="Calibri" pitchFamily="34" charset="0"/>
                <a:ea typeface="Calibri" pitchFamily="34" charset="-122"/>
                <a:cs typeface="Calibri" pitchFamily="34" charset="-120"/>
              </a:rPr>
              <a:t>« Toujours déployer via Infrastructure as Code : sans IaC, la restauration est complexe et peut dépasser le RTE. »</a:t>
            </a:r>
            <a:endParaRPr lang="en-US" sz="950" dirty="0"/>
          </a:p>
        </p:txBody>
      </p:sp>
      <p:sp>
        <p:nvSpPr>
          <p:cNvPr id="12" name="Shape 10"/>
          <p:cNvSpPr/>
          <p:nvPr/>
        </p:nvSpPr>
        <p:spPr>
          <a:xfrm>
            <a:off x="5074920" y="1481328"/>
            <a:ext cx="6611112" cy="4690872"/>
          </a:xfrm>
          <a:prstGeom prst="roundRect">
            <a:avLst>
              <a:gd name="adj" fmla="val 1365"/>
            </a:avLst>
          </a:prstGeom>
          <a:solidFill>
            <a:srgbClr val="0E2519"/>
          </a:solidFill>
          <a:ln w="9525">
            <a:solidFill>
              <a:srgbClr val="33454F"/>
            </a:solidFill>
            <a:prstDash val="solid"/>
          </a:ln>
          <a:effectLst>
            <a:outerShdw sx="100000" sy="100000" kx="0" ky="0" algn="bl" rotWithShape="0" blurRad="88900" dist="38100" dir="8100000">
              <a:srgbClr val="0B1419">
                <a:alpha val="22000"/>
              </a:srgbClr>
            </a:outerShdw>
          </a:effectLst>
        </p:spPr>
      </p:sp>
      <p:sp>
        <p:nvSpPr>
          <p:cNvPr id="13" name="Text 11"/>
          <p:cNvSpPr/>
          <p:nvPr/>
        </p:nvSpPr>
        <p:spPr>
          <a:xfrm>
            <a:off x="5239512" y="1609344"/>
            <a:ext cx="6281928" cy="4434840"/>
          </a:xfrm>
          <a:prstGeom prst="rect">
            <a:avLst/>
          </a:prstGeom>
          <a:noFill/>
          <a:ln/>
        </p:spPr>
        <p:txBody>
          <a:bodyPr wrap="square" lIns="0" tIns="0" rIns="0" bIns="0" rtlCol="0" anchor="t"/>
          <a:lstStyle/>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apiVersion:</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argoproj.io/v1alpha1</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kind:</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Application</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metadata:</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paiement-api</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argocd</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spec:</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project:</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card-production</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source:</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repoURL:</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https://gitlab.example.com/platform/paiement-api.git</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targetRevision:</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main</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path:</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deploy/overlays/prod</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destination:</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server:</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https://kubernetes.default.svc</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namespace: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ns002i014490</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syncPolicy:</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automated:</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prune:</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true</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selfHeal:</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true</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retry:</a:t>
            </a:r>
            <a:endParaRPr lang="en-US" sz="1050" dirty="0"/>
          </a:p>
          <a:p>
            <a:pPr algn="l" indent="0" marL="0">
              <a:lnSpc>
                <a:spcPct val="106000"/>
              </a:lnSpc>
              <a:buNone/>
            </a:pPr>
            <a:r>
              <a:rPr lang="en-US" sz="1050" dirty="0">
                <a:solidFill>
                  <a:srgbClr val="73C9A0"/>
                </a:solidFill>
                <a:latin typeface="Consolas" pitchFamily="34" charset="0"/>
                <a:ea typeface="Consolas" pitchFamily="34" charset="-122"/>
                <a:cs typeface="Consolas" pitchFamily="34" charset="-120"/>
              </a:rPr>
              <a:t>      limit:</a:t>
            </a:r>
            <a:pPr algn="l" indent="0" marL="0">
              <a:lnSpc>
                <a:spcPct val="106000"/>
              </a:lnSpc>
              <a:buNone/>
            </a:pPr>
            <a:r>
              <a:rPr lang="en-US" sz="1050" dirty="0">
                <a:solidFill>
                  <a:srgbClr val="DCE6EC"/>
                </a:solidFill>
                <a:latin typeface="Consolas" pitchFamily="34" charset="0"/>
                <a:ea typeface="Consolas" pitchFamily="34" charset="-122"/>
                <a:cs typeface="Consolas" pitchFamily="34" charset="-120"/>
              </a:rPr>
              <a:t> 5</a:t>
            </a:r>
            <a:endParaRPr lang="en-US" sz="1050" dirty="0"/>
          </a:p>
          <a:p>
            <a:pPr algn="l" indent="0" marL="0">
              <a:lnSpc>
                <a:spcPct val="106000"/>
              </a:lnSpc>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selfHeal -&gt; tout ecart avec Git est corrige</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Reconstruction : recreer le cluster, pointer</a:t>
            </a:r>
            <a:endParaRPr lang="en-US" sz="1050" dirty="0"/>
          </a:p>
          <a:p>
            <a:pPr algn="l" indent="0" marL="0">
              <a:lnSpc>
                <a:spcPct val="106000"/>
              </a:lnSpc>
              <a:buNone/>
            </a:pPr>
            <a:r>
              <a:rPr lang="en-US" sz="1050" i="1" dirty="0">
                <a:solidFill>
                  <a:srgbClr val="7E9788"/>
                </a:solidFill>
                <a:latin typeface="Consolas" pitchFamily="34" charset="0"/>
                <a:ea typeface="Consolas" pitchFamily="34" charset="-122"/>
                <a:cs typeface="Consolas" pitchFamily="34" charset="-120"/>
              </a:rPr>
              <a:t># ArgoCD sur le repo, l'etat cible est restaure</a:t>
            </a:r>
            <a:endParaRPr lang="en-US" sz="1050" dirty="0"/>
          </a:p>
        </p:txBody>
      </p:sp>
      <p:sp>
        <p:nvSpPr>
          <p:cNvPr id="15" name="Text 1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16" name="Text 1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457200" cy="457200"/>
          </a:xfrm>
          <a:prstGeom prst="roundRect">
            <a:avLst>
              <a:gd name="adj" fmla="val 18000"/>
            </a:avLst>
          </a:prstGeom>
          <a:solidFill>
            <a:srgbClr val="00925F"/>
          </a:solidFill>
          <a:ln/>
          <a:effectLst>
            <a:outerShdw sx="100000" sy="100000" kx="0" ky="0" algn="bl" rotWithShape="0" blurRad="88900" dist="38100" dir="8100000">
              <a:srgbClr val="0B1419">
                <a:alpha val="22000"/>
              </a:srgbClr>
            </a:outerShdw>
          </a:effectLst>
        </p:spPr>
      </p:sp>
      <p:sp>
        <p:nvSpPr>
          <p:cNvPr id="3" name="Shape 1"/>
          <p:cNvSpPr/>
          <p:nvPr/>
        </p:nvSpPr>
        <p:spPr>
          <a:xfrm>
            <a:off x="658368" y="539496"/>
            <a:ext cx="146304" cy="146304"/>
          </a:xfrm>
          <a:prstGeom prst="ellipse">
            <a:avLst/>
          </a:prstGeom>
          <a:solidFill>
            <a:srgbClr val="FFFFFF"/>
          </a:solidFill>
          <a:ln/>
        </p:spPr>
      </p:sp>
      <p:sp>
        <p:nvSpPr>
          <p:cNvPr id="4" name="Text 2"/>
          <p:cNvSpPr/>
          <p:nvPr/>
        </p:nvSpPr>
        <p:spPr>
          <a:xfrm>
            <a:off x="1143000" y="347472"/>
            <a:ext cx="10424160" cy="274320"/>
          </a:xfrm>
          <a:prstGeom prst="rect">
            <a:avLst/>
          </a:prstGeom>
          <a:noFill/>
          <a:ln/>
        </p:spPr>
        <p:txBody>
          <a:bodyPr wrap="square" lIns="0" tIns="0" rIns="0" bIns="0" rtlCol="0" anchor="ctr"/>
          <a:lstStyle/>
          <a:p>
            <a:pPr indent="0" marL="0">
              <a:buNone/>
            </a:pPr>
            <a:r>
              <a:rPr lang="en-US" sz="1150" b="1" spc="300" kern="0" dirty="0">
                <a:solidFill>
                  <a:srgbClr val="00925F"/>
                </a:solidFill>
                <a:latin typeface="Calibri" pitchFamily="34" charset="0"/>
                <a:ea typeface="Calibri" pitchFamily="34" charset="-122"/>
                <a:cs typeface="Calibri" pitchFamily="34" charset="-120"/>
              </a:rPr>
              <a:t>COMPLÉMENT DE RÉSILIENCE — VALIDATION</a:t>
            </a:r>
            <a:endParaRPr lang="en-US" sz="1150" dirty="0"/>
          </a:p>
        </p:txBody>
      </p:sp>
      <p:sp>
        <p:nvSpPr>
          <p:cNvPr id="5" name="Text 3"/>
          <p:cNvSpPr/>
          <p:nvPr/>
        </p:nvSpPr>
        <p:spPr>
          <a:xfrm>
            <a:off x="1143000" y="566928"/>
            <a:ext cx="10515600" cy="548640"/>
          </a:xfrm>
          <a:prstGeom prst="rect">
            <a:avLst/>
          </a:prstGeom>
          <a:noFill/>
          <a:ln/>
        </p:spPr>
        <p:txBody>
          <a:bodyPr wrap="square" lIns="0" tIns="0" rIns="0" bIns="0" rtlCol="0" anchor="ctr"/>
          <a:lstStyle/>
          <a:p>
            <a:pPr indent="0" marL="0">
              <a:buNone/>
            </a:pPr>
            <a:r>
              <a:rPr lang="en-US" sz="2300" b="1" dirty="0">
                <a:solidFill>
                  <a:srgbClr val="0C2A1E"/>
                </a:solidFill>
                <a:latin typeface="Georgia" pitchFamily="34" charset="0"/>
                <a:ea typeface="Georgia" pitchFamily="34" charset="-122"/>
                <a:cs typeface="Georgia" pitchFamily="34" charset="-120"/>
              </a:rPr>
              <a:t>Validation de résilience — exercices &amp; chaos</a:t>
            </a:r>
            <a:endParaRPr lang="en-US" sz="2300" dirty="0"/>
          </a:p>
        </p:txBody>
      </p:sp>
      <p:sp>
        <p:nvSpPr>
          <p:cNvPr id="6" name="Text 4"/>
          <p:cNvSpPr/>
          <p:nvPr/>
        </p:nvSpPr>
        <p:spPr>
          <a:xfrm>
            <a:off x="502920" y="1207008"/>
            <a:ext cx="11155680" cy="292608"/>
          </a:xfrm>
          <a:prstGeom prst="rect">
            <a:avLst/>
          </a:prstGeom>
          <a:noFill/>
          <a:ln/>
        </p:spPr>
        <p:txBody>
          <a:bodyPr wrap="square" lIns="0" tIns="0" rIns="0" bIns="0" rtlCol="0" anchor="ctr"/>
          <a:lstStyle/>
          <a:p>
            <a:pPr indent="0" marL="0">
              <a:buNone/>
            </a:pPr>
            <a:r>
              <a:rPr lang="en-US" sz="1250" dirty="0">
                <a:solidFill>
                  <a:srgbClr val="7C8A80"/>
                </a:solidFill>
                <a:latin typeface="Calibri" pitchFamily="34" charset="0"/>
                <a:ea typeface="Calibri" pitchFamily="34" charset="-122"/>
                <a:cs typeface="Calibri" pitchFamily="34" charset="-120"/>
              </a:rPr>
              <a:t>Chapitre IV du référentiel — la résilience se prouve par des exercices planifiés et réguliers.</a:t>
            </a:r>
            <a:endParaRPr lang="en-US" sz="1250" dirty="0"/>
          </a:p>
        </p:txBody>
      </p:sp>
      <p:sp>
        <p:nvSpPr>
          <p:cNvPr id="7" name="Shape 5"/>
          <p:cNvSpPr/>
          <p:nvPr/>
        </p:nvSpPr>
        <p:spPr>
          <a:xfrm>
            <a:off x="502920" y="162763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8" name="Shape 6"/>
          <p:cNvSpPr/>
          <p:nvPr/>
        </p:nvSpPr>
        <p:spPr>
          <a:xfrm>
            <a:off x="704088" y="1828800"/>
            <a:ext cx="475488" cy="475488"/>
          </a:xfrm>
          <a:prstGeom prst="ellipse">
            <a:avLst/>
          </a:prstGeom>
          <a:solidFill>
            <a:srgbClr val="00925F"/>
          </a:solidFill>
          <a:ln/>
        </p:spPr>
      </p:sp>
      <p:pic>
        <p:nvPicPr>
          <p:cNvPr id="9" name="Image 0" descr="preencoded.png">    </p:cNvPr>
          <p:cNvPicPr>
            <a:picLocks noChangeAspect="1"/>
          </p:cNvPicPr>
          <p:nvPr/>
        </p:nvPicPr>
        <p:blipFill>
          <a:blip r:embed="rId1"/>
          <a:stretch>
            <a:fillRect/>
          </a:stretch>
        </p:blipFill>
        <p:spPr>
          <a:xfrm>
            <a:off x="822960" y="1947672"/>
            <a:ext cx="237744" cy="237744"/>
          </a:xfrm>
          <a:prstGeom prst="rect">
            <a:avLst/>
          </a:prstGeom>
        </p:spPr>
      </p:pic>
      <p:sp>
        <p:nvSpPr>
          <p:cNvPr id="10" name="Text 7"/>
          <p:cNvSpPr/>
          <p:nvPr/>
        </p:nvSpPr>
        <p:spPr>
          <a:xfrm>
            <a:off x="1307592" y="182880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Simulation d'arrêt d'AZ</a:t>
            </a:r>
            <a:endParaRPr lang="en-US" sz="1300" dirty="0"/>
          </a:p>
        </p:txBody>
      </p:sp>
      <p:sp>
        <p:nvSpPr>
          <p:cNvPr id="11" name="Text 8"/>
          <p:cNvSpPr/>
          <p:nvPr/>
        </p:nvSpPr>
        <p:spPr>
          <a:xfrm>
            <a:off x="722376" y="235915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Couper une zone (Paris 1/2/3) et vérifier la reprise sur les 2 AZ restantes.</a:t>
            </a:r>
            <a:endParaRPr lang="en-US" sz="1030" dirty="0"/>
          </a:p>
        </p:txBody>
      </p:sp>
      <p:sp>
        <p:nvSpPr>
          <p:cNvPr id="12" name="Shape 9"/>
          <p:cNvSpPr/>
          <p:nvPr/>
        </p:nvSpPr>
        <p:spPr>
          <a:xfrm>
            <a:off x="4416552" y="162763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13" name="Shape 10"/>
          <p:cNvSpPr/>
          <p:nvPr/>
        </p:nvSpPr>
        <p:spPr>
          <a:xfrm>
            <a:off x="4617720" y="1828800"/>
            <a:ext cx="475488" cy="475488"/>
          </a:xfrm>
          <a:prstGeom prst="ellipse">
            <a:avLst/>
          </a:prstGeom>
          <a:solidFill>
            <a:srgbClr val="00925F"/>
          </a:solidFill>
          <a:ln/>
        </p:spPr>
      </p:sp>
      <p:pic>
        <p:nvPicPr>
          <p:cNvPr id="14" name="Image 1" descr="preencoded.png">    </p:cNvPr>
          <p:cNvPicPr>
            <a:picLocks noChangeAspect="1"/>
          </p:cNvPicPr>
          <p:nvPr/>
        </p:nvPicPr>
        <p:blipFill>
          <a:blip r:embed="rId2"/>
          <a:stretch>
            <a:fillRect/>
          </a:stretch>
        </p:blipFill>
        <p:spPr>
          <a:xfrm>
            <a:off x="4736592" y="1947672"/>
            <a:ext cx="237744" cy="237744"/>
          </a:xfrm>
          <a:prstGeom prst="rect">
            <a:avLst/>
          </a:prstGeom>
        </p:spPr>
      </p:pic>
      <p:sp>
        <p:nvSpPr>
          <p:cNvPr id="15" name="Text 11"/>
          <p:cNvSpPr/>
          <p:nvPr/>
        </p:nvSpPr>
        <p:spPr>
          <a:xfrm>
            <a:off x="5221224" y="182880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Drain de nœud</a:t>
            </a:r>
            <a:endParaRPr lang="en-US" sz="1300" dirty="0"/>
          </a:p>
        </p:txBody>
      </p:sp>
      <p:sp>
        <p:nvSpPr>
          <p:cNvPr id="16" name="Text 12"/>
          <p:cNvSpPr/>
          <p:nvPr/>
        </p:nvSpPr>
        <p:spPr>
          <a:xfrm>
            <a:off x="4636008" y="235915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oc adm drain : valider le PDB et le réordonnancement en maintenance.</a:t>
            </a:r>
            <a:endParaRPr lang="en-US" sz="1030" dirty="0"/>
          </a:p>
        </p:txBody>
      </p:sp>
      <p:sp>
        <p:nvSpPr>
          <p:cNvPr id="17" name="Shape 13"/>
          <p:cNvSpPr/>
          <p:nvPr/>
        </p:nvSpPr>
        <p:spPr>
          <a:xfrm>
            <a:off x="8330184" y="162763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18" name="Shape 14"/>
          <p:cNvSpPr/>
          <p:nvPr/>
        </p:nvSpPr>
        <p:spPr>
          <a:xfrm>
            <a:off x="8531352" y="1828800"/>
            <a:ext cx="475488" cy="475488"/>
          </a:xfrm>
          <a:prstGeom prst="ellipse">
            <a:avLst/>
          </a:prstGeom>
          <a:solidFill>
            <a:srgbClr val="00925F"/>
          </a:solidFill>
          <a:ln/>
        </p:spPr>
      </p:sp>
      <p:pic>
        <p:nvPicPr>
          <p:cNvPr id="19" name="Image 2" descr="preencoded.png">    </p:cNvPr>
          <p:cNvPicPr>
            <a:picLocks noChangeAspect="1"/>
          </p:cNvPicPr>
          <p:nvPr/>
        </p:nvPicPr>
        <p:blipFill>
          <a:blip r:embed="rId3"/>
          <a:stretch>
            <a:fillRect/>
          </a:stretch>
        </p:blipFill>
        <p:spPr>
          <a:xfrm>
            <a:off x="8650224" y="1947672"/>
            <a:ext cx="237744" cy="237744"/>
          </a:xfrm>
          <a:prstGeom prst="rect">
            <a:avLst/>
          </a:prstGeom>
        </p:spPr>
      </p:pic>
      <p:sp>
        <p:nvSpPr>
          <p:cNvPr id="20" name="Text 15"/>
          <p:cNvSpPr/>
          <p:nvPr/>
        </p:nvSpPr>
        <p:spPr>
          <a:xfrm>
            <a:off x="9134856" y="182880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Pod kill</a:t>
            </a:r>
            <a:endParaRPr lang="en-US" sz="1300" dirty="0"/>
          </a:p>
        </p:txBody>
      </p:sp>
      <p:sp>
        <p:nvSpPr>
          <p:cNvPr id="21" name="Text 16"/>
          <p:cNvSpPr/>
          <p:nvPr/>
        </p:nvSpPr>
        <p:spPr>
          <a:xfrm>
            <a:off x="8549640" y="235915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Suppression aléatoire de pods : contrôler le redéploiement automatique.</a:t>
            </a:r>
            <a:endParaRPr lang="en-US" sz="1030" dirty="0"/>
          </a:p>
        </p:txBody>
      </p:sp>
      <p:sp>
        <p:nvSpPr>
          <p:cNvPr id="22" name="Shape 17"/>
          <p:cNvSpPr/>
          <p:nvPr/>
        </p:nvSpPr>
        <p:spPr>
          <a:xfrm>
            <a:off x="502920" y="318211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23" name="Shape 18"/>
          <p:cNvSpPr/>
          <p:nvPr/>
        </p:nvSpPr>
        <p:spPr>
          <a:xfrm>
            <a:off x="704088" y="3383280"/>
            <a:ext cx="475488" cy="475488"/>
          </a:xfrm>
          <a:prstGeom prst="ellipse">
            <a:avLst/>
          </a:prstGeom>
          <a:solidFill>
            <a:srgbClr val="00925F"/>
          </a:solidFill>
          <a:ln/>
        </p:spPr>
      </p:sp>
      <p:pic>
        <p:nvPicPr>
          <p:cNvPr id="24" name="Image 3" descr="preencoded.png">    </p:cNvPr>
          <p:cNvPicPr>
            <a:picLocks noChangeAspect="1"/>
          </p:cNvPicPr>
          <p:nvPr/>
        </p:nvPicPr>
        <p:blipFill>
          <a:blip r:embed="rId4"/>
          <a:stretch>
            <a:fillRect/>
          </a:stretch>
        </p:blipFill>
        <p:spPr>
          <a:xfrm>
            <a:off x="822960" y="3502152"/>
            <a:ext cx="237744" cy="237744"/>
          </a:xfrm>
          <a:prstGeom prst="rect">
            <a:avLst/>
          </a:prstGeom>
        </p:spPr>
      </p:pic>
      <p:sp>
        <p:nvSpPr>
          <p:cNvPr id="25" name="Text 19"/>
          <p:cNvSpPr/>
          <p:nvPr/>
        </p:nvSpPr>
        <p:spPr>
          <a:xfrm>
            <a:off x="1307592" y="338328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Latence &amp; perte réseau</a:t>
            </a:r>
            <a:endParaRPr lang="en-US" sz="1300" dirty="0"/>
          </a:p>
        </p:txBody>
      </p:sp>
      <p:sp>
        <p:nvSpPr>
          <p:cNvPr id="26" name="Text 20"/>
          <p:cNvSpPr/>
          <p:nvPr/>
        </p:nvSpPr>
        <p:spPr>
          <a:xfrm>
            <a:off x="722376" y="391363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Injecter latence, jitter et packet loss entre AZ, mesurer l'impact.</a:t>
            </a:r>
            <a:endParaRPr lang="en-US" sz="1030" dirty="0"/>
          </a:p>
        </p:txBody>
      </p:sp>
      <p:sp>
        <p:nvSpPr>
          <p:cNvPr id="27" name="Shape 21"/>
          <p:cNvSpPr/>
          <p:nvPr/>
        </p:nvSpPr>
        <p:spPr>
          <a:xfrm>
            <a:off x="4416552" y="318211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28" name="Shape 22"/>
          <p:cNvSpPr/>
          <p:nvPr/>
        </p:nvSpPr>
        <p:spPr>
          <a:xfrm>
            <a:off x="4617720" y="3383280"/>
            <a:ext cx="475488" cy="475488"/>
          </a:xfrm>
          <a:prstGeom prst="ellipse">
            <a:avLst/>
          </a:prstGeom>
          <a:solidFill>
            <a:srgbClr val="00925F"/>
          </a:solidFill>
          <a:ln/>
        </p:spPr>
      </p:sp>
      <p:pic>
        <p:nvPicPr>
          <p:cNvPr id="29" name="Image 4" descr="preencoded.png">    </p:cNvPr>
          <p:cNvPicPr>
            <a:picLocks noChangeAspect="1"/>
          </p:cNvPicPr>
          <p:nvPr/>
        </p:nvPicPr>
        <p:blipFill>
          <a:blip r:embed="rId5"/>
          <a:stretch>
            <a:fillRect/>
          </a:stretch>
        </p:blipFill>
        <p:spPr>
          <a:xfrm>
            <a:off x="4736592" y="3502152"/>
            <a:ext cx="237744" cy="237744"/>
          </a:xfrm>
          <a:prstGeom prst="rect">
            <a:avLst/>
          </a:prstGeom>
        </p:spPr>
      </p:pic>
      <p:sp>
        <p:nvSpPr>
          <p:cNvPr id="30" name="Text 23"/>
          <p:cNvSpPr/>
          <p:nvPr/>
        </p:nvSpPr>
        <p:spPr>
          <a:xfrm>
            <a:off x="5221224" y="338328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Test de restauration</a:t>
            </a:r>
            <a:endParaRPr lang="en-US" sz="1300" dirty="0"/>
          </a:p>
        </p:txBody>
      </p:sp>
      <p:sp>
        <p:nvSpPr>
          <p:cNvPr id="31" name="Text 24"/>
          <p:cNvSpPr/>
          <p:nvPr/>
        </p:nvSpPr>
        <p:spPr>
          <a:xfrm>
            <a:off x="4636008" y="391363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Restaurer un namespace via Velero / OADP et chronométrer le RTE.</a:t>
            </a:r>
            <a:endParaRPr lang="en-US" sz="1030" dirty="0"/>
          </a:p>
        </p:txBody>
      </p:sp>
      <p:sp>
        <p:nvSpPr>
          <p:cNvPr id="32" name="Shape 25"/>
          <p:cNvSpPr/>
          <p:nvPr/>
        </p:nvSpPr>
        <p:spPr>
          <a:xfrm>
            <a:off x="8330184" y="3182112"/>
            <a:ext cx="3511296" cy="1408176"/>
          </a:xfrm>
          <a:prstGeom prst="roundRect">
            <a:avLst>
              <a:gd name="adj" fmla="val 5195"/>
            </a:avLst>
          </a:prstGeom>
          <a:solidFill>
            <a:srgbClr val="F4F2EA"/>
          </a:solidFill>
          <a:ln w="12700">
            <a:solidFill>
              <a:srgbClr val="DED8C8"/>
            </a:solidFill>
            <a:prstDash val="solid"/>
          </a:ln>
          <a:effectLst>
            <a:outerShdw sx="100000" sy="100000" kx="0" ky="0" algn="bl" rotWithShape="0" blurRad="88900" dist="38100" dir="8100000">
              <a:srgbClr val="0B1419">
                <a:alpha val="22000"/>
              </a:srgbClr>
            </a:outerShdw>
          </a:effectLst>
        </p:spPr>
      </p:sp>
      <p:sp>
        <p:nvSpPr>
          <p:cNvPr id="33" name="Shape 26"/>
          <p:cNvSpPr/>
          <p:nvPr/>
        </p:nvSpPr>
        <p:spPr>
          <a:xfrm>
            <a:off x="8531352" y="3383280"/>
            <a:ext cx="475488" cy="475488"/>
          </a:xfrm>
          <a:prstGeom prst="ellipse">
            <a:avLst/>
          </a:prstGeom>
          <a:solidFill>
            <a:srgbClr val="00925F"/>
          </a:solidFill>
          <a:ln/>
        </p:spPr>
      </p:sp>
      <p:pic>
        <p:nvPicPr>
          <p:cNvPr id="34" name="Image 5" descr="preencoded.png">    </p:cNvPr>
          <p:cNvPicPr>
            <a:picLocks noChangeAspect="1"/>
          </p:cNvPicPr>
          <p:nvPr/>
        </p:nvPicPr>
        <p:blipFill>
          <a:blip r:embed="rId6"/>
          <a:stretch>
            <a:fillRect/>
          </a:stretch>
        </p:blipFill>
        <p:spPr>
          <a:xfrm>
            <a:off x="8650224" y="3502152"/>
            <a:ext cx="237744" cy="237744"/>
          </a:xfrm>
          <a:prstGeom prst="rect">
            <a:avLst/>
          </a:prstGeom>
        </p:spPr>
      </p:pic>
      <p:sp>
        <p:nvSpPr>
          <p:cNvPr id="35" name="Text 27"/>
          <p:cNvSpPr/>
          <p:nvPr/>
        </p:nvSpPr>
        <p:spPr>
          <a:xfrm>
            <a:off x="9134856" y="3383280"/>
            <a:ext cx="2560320" cy="475488"/>
          </a:xfrm>
          <a:prstGeom prst="rect">
            <a:avLst/>
          </a:prstGeom>
          <a:noFill/>
          <a:ln/>
        </p:spPr>
        <p:txBody>
          <a:bodyPr wrap="square" lIns="0" tIns="0" rIns="0" bIns="0" rtlCol="0" anchor="ctr"/>
          <a:lstStyle/>
          <a:p>
            <a:pPr indent="0" marL="0">
              <a:buNone/>
            </a:pPr>
            <a:r>
              <a:rPr lang="en-US" sz="1300" b="1" dirty="0">
                <a:solidFill>
                  <a:srgbClr val="0C2A1E"/>
                </a:solidFill>
                <a:latin typeface="Calibri" pitchFamily="34" charset="0"/>
                <a:ea typeface="Calibri" pitchFamily="34" charset="-122"/>
                <a:cs typeface="Calibri" pitchFamily="34" charset="-120"/>
              </a:rPr>
              <a:t>Exercice de continuité</a:t>
            </a:r>
            <a:endParaRPr lang="en-US" sz="1300" dirty="0"/>
          </a:p>
        </p:txBody>
      </p:sp>
      <p:sp>
        <p:nvSpPr>
          <p:cNvPr id="36" name="Text 28"/>
          <p:cNvSpPr/>
          <p:nvPr/>
        </p:nvSpPr>
        <p:spPr>
          <a:xfrm>
            <a:off x="8549640" y="3913632"/>
            <a:ext cx="3108960" cy="603504"/>
          </a:xfrm>
          <a:prstGeom prst="rect">
            <a:avLst/>
          </a:prstGeom>
          <a:noFill/>
          <a:ln/>
        </p:spPr>
        <p:txBody>
          <a:bodyPr wrap="square" lIns="0" tIns="0" rIns="0" bIns="0" rtlCol="0" anchor="t"/>
          <a:lstStyle/>
          <a:p>
            <a:pPr indent="0" marL="0">
              <a:lnSpc>
                <a:spcPct val="110000"/>
              </a:lnSpc>
              <a:buNone/>
            </a:pPr>
            <a:r>
              <a:rPr lang="en-US" sz="1030" dirty="0">
                <a:solidFill>
                  <a:srgbClr val="26352C"/>
                </a:solidFill>
                <a:latin typeface="Calibri" pitchFamily="34" charset="0"/>
                <a:ea typeface="Calibri" pitchFamily="34" charset="-122"/>
                <a:cs typeface="Calibri" pitchFamily="34" charset="-120"/>
              </a:rPr>
              <a:t>Exercices planifiés réguliers, selon la politique de continuité IT.</a:t>
            </a:r>
            <a:endParaRPr lang="en-US" sz="1030" dirty="0"/>
          </a:p>
        </p:txBody>
      </p:sp>
      <p:sp>
        <p:nvSpPr>
          <p:cNvPr id="37" name="Shape 29"/>
          <p:cNvSpPr/>
          <p:nvPr/>
        </p:nvSpPr>
        <p:spPr>
          <a:xfrm>
            <a:off x="502920" y="4864608"/>
            <a:ext cx="11183112" cy="1280160"/>
          </a:xfrm>
          <a:prstGeom prst="roundRect">
            <a:avLst>
              <a:gd name="adj" fmla="val 5714"/>
            </a:avLst>
          </a:prstGeom>
          <a:solidFill>
            <a:srgbClr val="E7F2F1"/>
          </a:solidFill>
          <a:ln w="12700">
            <a:solidFill>
              <a:srgbClr val="00925F"/>
            </a:solidFill>
            <a:prstDash val="solid"/>
          </a:ln>
        </p:spPr>
      </p:sp>
      <p:sp>
        <p:nvSpPr>
          <p:cNvPr id="38" name="Shape 30"/>
          <p:cNvSpPr/>
          <p:nvPr/>
        </p:nvSpPr>
        <p:spPr>
          <a:xfrm>
            <a:off x="502920" y="4864608"/>
            <a:ext cx="91440" cy="1280160"/>
          </a:xfrm>
          <a:prstGeom prst="rect">
            <a:avLst/>
          </a:prstGeom>
          <a:solidFill>
            <a:srgbClr val="00925F"/>
          </a:solidFill>
          <a:ln/>
        </p:spPr>
      </p:sp>
      <p:sp>
        <p:nvSpPr>
          <p:cNvPr id="39" name="Text 31"/>
          <p:cNvSpPr/>
          <p:nvPr/>
        </p:nvSpPr>
        <p:spPr>
          <a:xfrm>
            <a:off x="777240" y="4864608"/>
            <a:ext cx="10698480" cy="1280160"/>
          </a:xfrm>
          <a:prstGeom prst="rect">
            <a:avLst/>
          </a:prstGeom>
          <a:noFill/>
          <a:ln/>
        </p:spPr>
        <p:txBody>
          <a:bodyPr wrap="square" lIns="0" tIns="0" rIns="0" bIns="0" rtlCol="0" anchor="ctr"/>
          <a:lstStyle/>
          <a:p>
            <a:pPr indent="0" marL="0">
              <a:lnSpc>
                <a:spcPct val="112000"/>
              </a:lnSpc>
              <a:buNone/>
            </a:pPr>
            <a:r>
              <a:rPr lang="en-US" sz="1200" b="1" dirty="0">
                <a:solidFill>
                  <a:srgbClr val="00684A"/>
                </a:solidFill>
                <a:latin typeface="Calibri" pitchFamily="34" charset="0"/>
                <a:ea typeface="Calibri" pitchFamily="34" charset="-122"/>
                <a:cs typeface="Calibri" pitchFamily="34" charset="-120"/>
              </a:rPr>
              <a:t>Deux natures d'épreuves à distinguer.   </a:t>
            </a:r>
            <a:pPr indent="0" marL="0">
              <a:lnSpc>
                <a:spcPct val="112000"/>
              </a:lnSpc>
              <a:buNone/>
            </a:pPr>
            <a:r>
              <a:rPr lang="en-US" sz="1200" dirty="0">
                <a:solidFill>
                  <a:srgbClr val="26352C"/>
                </a:solidFill>
                <a:latin typeface="Calibri" pitchFamily="34" charset="0"/>
                <a:ea typeface="Calibri" pitchFamily="34" charset="-122"/>
                <a:cs typeface="Calibri" pitchFamily="34" charset="-120"/>
              </a:rPr>
              <a:t>Les tests de fiabilité vérifient la robustesse de l'application face aux pannes potentielles. </a:t>
            </a:r>
            <a:pPr indent="0" marL="0">
              <a:lnSpc>
                <a:spcPct val="112000"/>
              </a:lnSpc>
              <a:buNone/>
            </a:pPr>
            <a:r>
              <a:rPr lang="en-US" sz="1200" dirty="0">
                <a:solidFill>
                  <a:srgbClr val="26352C"/>
                </a:solidFill>
                <a:latin typeface="Calibri" pitchFamily="34" charset="0"/>
                <a:ea typeface="Calibri" pitchFamily="34" charset="-122"/>
                <a:cs typeface="Calibri" pitchFamily="34" charset="-120"/>
              </a:rPr>
              <a:t>Les exercices de continuité rejouent les sinistres les plus impactants (panne PaaS, perte d'AZ) de façon planifiée — couvrant les 3 couches : application, middleware, infrastructure.</a:t>
            </a:r>
            <a:endParaRPr lang="en-US" sz="1200" dirty="0"/>
          </a:p>
        </p:txBody>
      </p:sp>
      <p:sp>
        <p:nvSpPr>
          <p:cNvPr id="41" name="Text 32"/>
          <p:cNvSpPr/>
          <p:nvPr/>
        </p:nvSpPr>
        <p:spPr>
          <a:xfrm>
            <a:off x="502920" y="6437376"/>
            <a:ext cx="7315200" cy="274320"/>
          </a:xfrm>
          <a:prstGeom prst="rect">
            <a:avLst/>
          </a:prstGeom>
          <a:noFill/>
          <a:ln/>
        </p:spPr>
        <p:txBody>
          <a:bodyPr wrap="square" lIns="0" tIns="0" rIns="0" bIns="0" rtlCol="0" anchor="ctr"/>
          <a:lstStyle/>
          <a:p>
            <a:pPr indent="0" marL="0">
              <a:buNone/>
            </a:pPr>
            <a:r>
              <a:rPr lang="en-US" sz="850" dirty="0">
                <a:solidFill>
                  <a:srgbClr val="7C8A80"/>
                </a:solidFill>
                <a:latin typeface="Calibri" pitchFamily="34" charset="0"/>
                <a:ea typeface="Calibri" pitchFamily="34" charset="-122"/>
                <a:cs typeface="Calibri" pitchFamily="34" charset="-120"/>
              </a:rPr>
              <a:t>Résilience &amp; Continuité IT  ·  Kubernetes ROKS</a:t>
            </a:r>
            <a:endParaRPr lang="en-US" sz="850" dirty="0"/>
          </a:p>
        </p:txBody>
      </p:sp>
      <p:sp>
        <p:nvSpPr>
          <p:cNvPr id="42" name="Text 33"/>
          <p:cNvSpPr/>
          <p:nvPr/>
        </p:nvSpPr>
        <p:spPr>
          <a:xfrm>
            <a:off x="11430000" y="6437376"/>
            <a:ext cx="274320" cy="274320"/>
          </a:xfrm>
          <a:prstGeom prst="rect">
            <a:avLst/>
          </a:prstGeom>
          <a:noFill/>
          <a:ln/>
        </p:spPr>
        <p:txBody>
          <a:bodyPr wrap="square" lIns="0" tIns="0" rIns="0" bIns="0" rtlCol="0" anchor="ctr"/>
          <a:lstStyle/>
          <a:p>
            <a:pPr algn="r" indent="0" marL="0">
              <a:buNone/>
            </a:pPr>
            <a:r>
              <a:rPr lang="en-US" sz="850" dirty="0">
                <a:solidFill>
                  <a:srgbClr val="7C8A80"/>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A1E"/>
        </a:solidFill>
      </p:bgPr>
    </p:bg>
    <p:spTree>
      <p:nvGrpSpPr>
        <p:cNvPr id="1" name=""/>
        <p:cNvGrpSpPr/>
        <p:nvPr/>
      </p:nvGrpSpPr>
      <p:grpSpPr>
        <a:xfrm>
          <a:off x="0" y="0"/>
          <a:ext cx="0" cy="0"/>
          <a:chOff x="0" y="0"/>
          <a:chExt cx="0" cy="0"/>
        </a:xfrm>
      </p:grpSpPr>
      <p:sp>
        <p:nvSpPr>
          <p:cNvPr id="2" name="Shape 0"/>
          <p:cNvSpPr/>
          <p:nvPr/>
        </p:nvSpPr>
        <p:spPr>
          <a:xfrm>
            <a:off x="9692640" y="-2194560"/>
            <a:ext cx="5120640" cy="5120640"/>
          </a:xfrm>
          <a:prstGeom prst="ellipse">
            <a:avLst/>
          </a:prstGeom>
          <a:solidFill>
            <a:srgbClr val="164032"/>
          </a:solidFill>
          <a:ln/>
        </p:spPr>
      </p:sp>
      <p:sp>
        <p:nvSpPr>
          <p:cNvPr id="3" name="Text 1"/>
          <p:cNvSpPr/>
          <p:nvPr/>
        </p:nvSpPr>
        <p:spPr>
          <a:xfrm>
            <a:off x="777240" y="566928"/>
            <a:ext cx="10058400" cy="292608"/>
          </a:xfrm>
          <a:prstGeom prst="rect">
            <a:avLst/>
          </a:prstGeom>
          <a:noFill/>
          <a:ln/>
        </p:spPr>
        <p:txBody>
          <a:bodyPr wrap="square" lIns="0" tIns="0" rIns="0" bIns="0" rtlCol="0" anchor="ctr"/>
          <a:lstStyle/>
          <a:p>
            <a:pPr indent="0" marL="0">
              <a:buNone/>
            </a:pPr>
            <a:r>
              <a:rPr lang="en-US" sz="1200" b="1" spc="300" kern="0" dirty="0">
                <a:solidFill>
                  <a:srgbClr val="00925F"/>
                </a:solidFill>
                <a:latin typeface="Calibri" pitchFamily="34" charset="0"/>
                <a:ea typeface="Calibri" pitchFamily="34" charset="-122"/>
                <a:cs typeface="Calibri" pitchFamily="34" charset="-120"/>
              </a:rPr>
              <a:t>SYNTHÈSE</a:t>
            </a:r>
            <a:endParaRPr lang="en-US" sz="1200" dirty="0"/>
          </a:p>
        </p:txBody>
      </p:sp>
      <p:sp>
        <p:nvSpPr>
          <p:cNvPr id="4" name="Text 2"/>
          <p:cNvSpPr/>
          <p:nvPr/>
        </p:nvSpPr>
        <p:spPr>
          <a:xfrm>
            <a:off x="777240" y="841248"/>
            <a:ext cx="1060704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Checklist de conformité — Deployment ROKS</a:t>
            </a:r>
            <a:endParaRPr lang="en-US" sz="2800" dirty="0"/>
          </a:p>
        </p:txBody>
      </p:sp>
      <p:sp>
        <p:nvSpPr>
          <p:cNvPr id="5" name="Shape 3"/>
          <p:cNvSpPr/>
          <p:nvPr/>
        </p:nvSpPr>
        <p:spPr>
          <a:xfrm>
            <a:off x="777240" y="1627632"/>
            <a:ext cx="292608" cy="292608"/>
          </a:xfrm>
          <a:prstGeom prst="roundRect">
            <a:avLst>
              <a:gd name="adj" fmla="val 18750"/>
            </a:avLst>
          </a:prstGeom>
          <a:solidFill>
            <a:srgbClr val="00925F"/>
          </a:solidFill>
          <a:ln/>
        </p:spPr>
      </p:sp>
      <p:sp>
        <p:nvSpPr>
          <p:cNvPr id="6" name="Text 4"/>
          <p:cNvSpPr/>
          <p:nvPr/>
        </p:nvSpPr>
        <p:spPr>
          <a:xfrm>
            <a:off x="777240" y="1609344"/>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216152" y="1572768"/>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replicas aligné sur la classe de service</a:t>
            </a:r>
            <a:endParaRPr lang="en-US" sz="1150" dirty="0"/>
          </a:p>
        </p:txBody>
      </p:sp>
      <p:sp>
        <p:nvSpPr>
          <p:cNvPr id="8" name="Shape 6"/>
          <p:cNvSpPr/>
          <p:nvPr/>
        </p:nvSpPr>
        <p:spPr>
          <a:xfrm>
            <a:off x="777240" y="2194560"/>
            <a:ext cx="292608" cy="292608"/>
          </a:xfrm>
          <a:prstGeom prst="roundRect">
            <a:avLst>
              <a:gd name="adj" fmla="val 18750"/>
            </a:avLst>
          </a:prstGeom>
          <a:solidFill>
            <a:srgbClr val="00925F"/>
          </a:solidFill>
          <a:ln/>
        </p:spPr>
      </p:sp>
      <p:sp>
        <p:nvSpPr>
          <p:cNvPr id="9" name="Text 7"/>
          <p:cNvSpPr/>
          <p:nvPr/>
        </p:nvSpPr>
        <p:spPr>
          <a:xfrm>
            <a:off x="777240" y="2176272"/>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1216152" y="2139696"/>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topologySpreadConstraints — clé zone</a:t>
            </a:r>
            <a:endParaRPr lang="en-US" sz="1150" dirty="0"/>
          </a:p>
        </p:txBody>
      </p:sp>
      <p:sp>
        <p:nvSpPr>
          <p:cNvPr id="11" name="Shape 9"/>
          <p:cNvSpPr/>
          <p:nvPr/>
        </p:nvSpPr>
        <p:spPr>
          <a:xfrm>
            <a:off x="777240" y="2761488"/>
            <a:ext cx="292608" cy="292608"/>
          </a:xfrm>
          <a:prstGeom prst="roundRect">
            <a:avLst>
              <a:gd name="adj" fmla="val 18750"/>
            </a:avLst>
          </a:prstGeom>
          <a:solidFill>
            <a:srgbClr val="00925F"/>
          </a:solidFill>
          <a:ln/>
        </p:spPr>
      </p:sp>
      <p:sp>
        <p:nvSpPr>
          <p:cNvPr id="12" name="Text 10"/>
          <p:cNvSpPr/>
          <p:nvPr/>
        </p:nvSpPr>
        <p:spPr>
          <a:xfrm>
            <a:off x="777240" y="2743200"/>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1216152" y="2706624"/>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podAntiAffinity required — clé hostname</a:t>
            </a:r>
            <a:endParaRPr lang="en-US" sz="1150" dirty="0"/>
          </a:p>
        </p:txBody>
      </p:sp>
      <p:sp>
        <p:nvSpPr>
          <p:cNvPr id="14" name="Shape 12"/>
          <p:cNvSpPr/>
          <p:nvPr/>
        </p:nvSpPr>
        <p:spPr>
          <a:xfrm>
            <a:off x="777240" y="3328416"/>
            <a:ext cx="292608" cy="292608"/>
          </a:xfrm>
          <a:prstGeom prst="roundRect">
            <a:avLst>
              <a:gd name="adj" fmla="val 18750"/>
            </a:avLst>
          </a:prstGeom>
          <a:solidFill>
            <a:srgbClr val="00925F"/>
          </a:solidFill>
          <a:ln/>
        </p:spPr>
      </p:sp>
      <p:sp>
        <p:nvSpPr>
          <p:cNvPr id="15" name="Text 13"/>
          <p:cNvSpPr/>
          <p:nvPr/>
        </p:nvSpPr>
        <p:spPr>
          <a:xfrm>
            <a:off x="777240" y="3310128"/>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1216152" y="3273552"/>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whenUnsatisfiable: DoNotSchedule (Extreme / Serious)</a:t>
            </a:r>
            <a:endParaRPr lang="en-US" sz="1150" dirty="0"/>
          </a:p>
        </p:txBody>
      </p:sp>
      <p:sp>
        <p:nvSpPr>
          <p:cNvPr id="17" name="Shape 15"/>
          <p:cNvSpPr/>
          <p:nvPr/>
        </p:nvSpPr>
        <p:spPr>
          <a:xfrm>
            <a:off x="777240" y="3895344"/>
            <a:ext cx="292608" cy="292608"/>
          </a:xfrm>
          <a:prstGeom prst="roundRect">
            <a:avLst>
              <a:gd name="adj" fmla="val 18750"/>
            </a:avLst>
          </a:prstGeom>
          <a:solidFill>
            <a:srgbClr val="00925F"/>
          </a:solidFill>
          <a:ln/>
        </p:spPr>
      </p:sp>
      <p:sp>
        <p:nvSpPr>
          <p:cNvPr id="18" name="Text 16"/>
          <p:cNvSpPr/>
          <p:nvPr/>
        </p:nvSpPr>
        <p:spPr>
          <a:xfrm>
            <a:off x="777240" y="3877056"/>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216152" y="3840480"/>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PodDisruptionBudget — maxUnavailable: 1</a:t>
            </a:r>
            <a:endParaRPr lang="en-US" sz="1150" dirty="0"/>
          </a:p>
        </p:txBody>
      </p:sp>
      <p:sp>
        <p:nvSpPr>
          <p:cNvPr id="20" name="Shape 18"/>
          <p:cNvSpPr/>
          <p:nvPr/>
        </p:nvSpPr>
        <p:spPr>
          <a:xfrm>
            <a:off x="777240" y="4462272"/>
            <a:ext cx="292608" cy="292608"/>
          </a:xfrm>
          <a:prstGeom prst="roundRect">
            <a:avLst>
              <a:gd name="adj" fmla="val 18750"/>
            </a:avLst>
          </a:prstGeom>
          <a:solidFill>
            <a:srgbClr val="00925F"/>
          </a:solidFill>
          <a:ln/>
        </p:spPr>
      </p:sp>
      <p:sp>
        <p:nvSpPr>
          <p:cNvPr id="21" name="Text 19"/>
          <p:cNvSpPr/>
          <p:nvPr/>
        </p:nvSpPr>
        <p:spPr>
          <a:xfrm>
            <a:off x="777240" y="4443984"/>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1216152" y="4407408"/>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requests et limits définis sur chaque conteneur</a:t>
            </a:r>
            <a:endParaRPr lang="en-US" sz="1150" dirty="0"/>
          </a:p>
        </p:txBody>
      </p:sp>
      <p:sp>
        <p:nvSpPr>
          <p:cNvPr id="23" name="Shape 21"/>
          <p:cNvSpPr/>
          <p:nvPr/>
        </p:nvSpPr>
        <p:spPr>
          <a:xfrm>
            <a:off x="777240" y="5029200"/>
            <a:ext cx="292608" cy="292608"/>
          </a:xfrm>
          <a:prstGeom prst="roundRect">
            <a:avLst>
              <a:gd name="adj" fmla="val 18750"/>
            </a:avLst>
          </a:prstGeom>
          <a:solidFill>
            <a:srgbClr val="00925F"/>
          </a:solidFill>
          <a:ln/>
        </p:spPr>
      </p:sp>
      <p:sp>
        <p:nvSpPr>
          <p:cNvPr id="24" name="Text 22"/>
          <p:cNvSpPr/>
          <p:nvPr/>
        </p:nvSpPr>
        <p:spPr>
          <a:xfrm>
            <a:off x="777240" y="5010912"/>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1216152" y="4974336"/>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3 sondes : startup / readiness / liveness</a:t>
            </a:r>
            <a:endParaRPr lang="en-US" sz="1150" dirty="0"/>
          </a:p>
        </p:txBody>
      </p:sp>
      <p:sp>
        <p:nvSpPr>
          <p:cNvPr id="26" name="Shape 24"/>
          <p:cNvSpPr/>
          <p:nvPr/>
        </p:nvSpPr>
        <p:spPr>
          <a:xfrm>
            <a:off x="6400800" y="1627632"/>
            <a:ext cx="292608" cy="292608"/>
          </a:xfrm>
          <a:prstGeom prst="roundRect">
            <a:avLst>
              <a:gd name="adj" fmla="val 18750"/>
            </a:avLst>
          </a:prstGeom>
          <a:solidFill>
            <a:srgbClr val="00925F"/>
          </a:solidFill>
          <a:ln/>
        </p:spPr>
      </p:sp>
      <p:sp>
        <p:nvSpPr>
          <p:cNvPr id="27" name="Text 25"/>
          <p:cNvSpPr/>
          <p:nvPr/>
        </p:nvSpPr>
        <p:spPr>
          <a:xfrm>
            <a:off x="6400800" y="1609344"/>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839712" y="1572768"/>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strategy RollingUpdate — maxUnavailable: 0</a:t>
            </a:r>
            <a:endParaRPr lang="en-US" sz="1150" dirty="0"/>
          </a:p>
        </p:txBody>
      </p:sp>
      <p:sp>
        <p:nvSpPr>
          <p:cNvPr id="29" name="Shape 27"/>
          <p:cNvSpPr/>
          <p:nvPr/>
        </p:nvSpPr>
        <p:spPr>
          <a:xfrm>
            <a:off x="6400800" y="2194560"/>
            <a:ext cx="292608" cy="292608"/>
          </a:xfrm>
          <a:prstGeom prst="roundRect">
            <a:avLst>
              <a:gd name="adj" fmla="val 18750"/>
            </a:avLst>
          </a:prstGeom>
          <a:solidFill>
            <a:srgbClr val="00925F"/>
          </a:solidFill>
          <a:ln/>
        </p:spPr>
      </p:sp>
      <p:sp>
        <p:nvSpPr>
          <p:cNvPr id="30" name="Text 28"/>
          <p:cNvSpPr/>
          <p:nvPr/>
        </p:nvSpPr>
        <p:spPr>
          <a:xfrm>
            <a:off x="6400800" y="2176272"/>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839712" y="2139696"/>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priorityClassName pour Extreme / Serious</a:t>
            </a:r>
            <a:endParaRPr lang="en-US" sz="1150" dirty="0"/>
          </a:p>
        </p:txBody>
      </p:sp>
      <p:sp>
        <p:nvSpPr>
          <p:cNvPr id="32" name="Shape 30"/>
          <p:cNvSpPr/>
          <p:nvPr/>
        </p:nvSpPr>
        <p:spPr>
          <a:xfrm>
            <a:off x="6400800" y="2761488"/>
            <a:ext cx="292608" cy="292608"/>
          </a:xfrm>
          <a:prstGeom prst="roundRect">
            <a:avLst>
              <a:gd name="adj" fmla="val 18750"/>
            </a:avLst>
          </a:prstGeom>
          <a:solidFill>
            <a:srgbClr val="00925F"/>
          </a:solidFill>
          <a:ln/>
        </p:spPr>
      </p:sp>
      <p:sp>
        <p:nvSpPr>
          <p:cNvPr id="33" name="Text 31"/>
          <p:cNvSpPr/>
          <p:nvPr/>
        </p:nvSpPr>
        <p:spPr>
          <a:xfrm>
            <a:off x="6400800" y="2743200"/>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6839712" y="2706624"/>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IngressController — réplicas de routeur multi-AZ</a:t>
            </a:r>
            <a:endParaRPr lang="en-US" sz="1150" dirty="0"/>
          </a:p>
        </p:txBody>
      </p:sp>
      <p:sp>
        <p:nvSpPr>
          <p:cNvPr id="35" name="Shape 33"/>
          <p:cNvSpPr/>
          <p:nvPr/>
        </p:nvSpPr>
        <p:spPr>
          <a:xfrm>
            <a:off x="6400800" y="3328416"/>
            <a:ext cx="292608" cy="292608"/>
          </a:xfrm>
          <a:prstGeom prst="roundRect">
            <a:avLst>
              <a:gd name="adj" fmla="val 18750"/>
            </a:avLst>
          </a:prstGeom>
          <a:solidFill>
            <a:srgbClr val="00925F"/>
          </a:solidFill>
          <a:ln/>
        </p:spPr>
      </p:sp>
      <p:sp>
        <p:nvSpPr>
          <p:cNvPr id="36" name="Text 34"/>
          <p:cNvSpPr/>
          <p:nvPr/>
        </p:nvSpPr>
        <p:spPr>
          <a:xfrm>
            <a:off x="6400800" y="3310128"/>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6839712" y="3273552"/>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Aucune donnée persistante dans les nœuds</a:t>
            </a:r>
            <a:endParaRPr lang="en-US" sz="1150" dirty="0"/>
          </a:p>
        </p:txBody>
      </p:sp>
      <p:sp>
        <p:nvSpPr>
          <p:cNvPr id="38" name="Shape 36"/>
          <p:cNvSpPr/>
          <p:nvPr/>
        </p:nvSpPr>
        <p:spPr>
          <a:xfrm>
            <a:off x="6400800" y="3895344"/>
            <a:ext cx="292608" cy="292608"/>
          </a:xfrm>
          <a:prstGeom prst="roundRect">
            <a:avLst>
              <a:gd name="adj" fmla="val 18750"/>
            </a:avLst>
          </a:prstGeom>
          <a:solidFill>
            <a:srgbClr val="00925F"/>
          </a:solidFill>
          <a:ln/>
        </p:spPr>
      </p:sp>
      <p:sp>
        <p:nvSpPr>
          <p:cNvPr id="39" name="Text 37"/>
          <p:cNvSpPr/>
          <p:nvPr/>
        </p:nvSpPr>
        <p:spPr>
          <a:xfrm>
            <a:off x="6400800" y="3877056"/>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0" name="Text 38"/>
          <p:cNvSpPr/>
          <p:nvPr/>
        </p:nvSpPr>
        <p:spPr>
          <a:xfrm>
            <a:off x="6839712" y="3840480"/>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Sauvegarde OADP des objets du namespace</a:t>
            </a:r>
            <a:endParaRPr lang="en-US" sz="1150" dirty="0"/>
          </a:p>
        </p:txBody>
      </p:sp>
      <p:sp>
        <p:nvSpPr>
          <p:cNvPr id="41" name="Shape 39"/>
          <p:cNvSpPr/>
          <p:nvPr/>
        </p:nvSpPr>
        <p:spPr>
          <a:xfrm>
            <a:off x="6400800" y="4462272"/>
            <a:ext cx="292608" cy="292608"/>
          </a:xfrm>
          <a:prstGeom prst="roundRect">
            <a:avLst>
              <a:gd name="adj" fmla="val 18750"/>
            </a:avLst>
          </a:prstGeom>
          <a:solidFill>
            <a:srgbClr val="00925F"/>
          </a:solidFill>
          <a:ln/>
        </p:spPr>
      </p:sp>
      <p:sp>
        <p:nvSpPr>
          <p:cNvPr id="42" name="Text 40"/>
          <p:cNvSpPr/>
          <p:nvPr/>
        </p:nvSpPr>
        <p:spPr>
          <a:xfrm>
            <a:off x="6400800" y="4443984"/>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3" name="Text 41"/>
          <p:cNvSpPr/>
          <p:nvPr/>
        </p:nvSpPr>
        <p:spPr>
          <a:xfrm>
            <a:off x="6839712" y="4407408"/>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Recovery déclaratif GitOps (ArgoCD)</a:t>
            </a:r>
            <a:endParaRPr lang="en-US" sz="1150" dirty="0"/>
          </a:p>
        </p:txBody>
      </p:sp>
      <p:sp>
        <p:nvSpPr>
          <p:cNvPr id="44" name="Shape 42"/>
          <p:cNvSpPr/>
          <p:nvPr/>
        </p:nvSpPr>
        <p:spPr>
          <a:xfrm>
            <a:off x="6400800" y="5029200"/>
            <a:ext cx="292608" cy="292608"/>
          </a:xfrm>
          <a:prstGeom prst="roundRect">
            <a:avLst>
              <a:gd name="adj" fmla="val 18750"/>
            </a:avLst>
          </a:prstGeom>
          <a:solidFill>
            <a:srgbClr val="00925F"/>
          </a:solidFill>
          <a:ln/>
        </p:spPr>
      </p:sp>
      <p:sp>
        <p:nvSpPr>
          <p:cNvPr id="45" name="Text 43"/>
          <p:cNvSpPr/>
          <p:nvPr/>
        </p:nvSpPr>
        <p:spPr>
          <a:xfrm>
            <a:off x="6400800" y="5010912"/>
            <a:ext cx="29260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6" name="Text 44"/>
          <p:cNvSpPr/>
          <p:nvPr/>
        </p:nvSpPr>
        <p:spPr>
          <a:xfrm>
            <a:off x="6839712" y="4974336"/>
            <a:ext cx="5029200" cy="402336"/>
          </a:xfrm>
          <a:prstGeom prst="rect">
            <a:avLst/>
          </a:prstGeom>
          <a:noFill/>
          <a:ln/>
        </p:spPr>
        <p:txBody>
          <a:bodyPr wrap="square" lIns="0" tIns="0" rIns="0" bIns="0" rtlCol="0" anchor="ctr"/>
          <a:lstStyle/>
          <a:p>
            <a:pPr indent="0" marL="0">
              <a:buNone/>
            </a:pPr>
            <a:r>
              <a:rPr lang="en-US" sz="1150" dirty="0">
                <a:solidFill>
                  <a:srgbClr val="D6E0E6"/>
                </a:solidFill>
                <a:latin typeface="Calibri" pitchFamily="34" charset="0"/>
                <a:ea typeface="Calibri" pitchFamily="34" charset="-122"/>
                <a:cs typeface="Calibri" pitchFamily="34" charset="-120"/>
              </a:rPr>
              <a:t>Exercices de continuité planifiés &amp; réguliers</a:t>
            </a:r>
            <a:endParaRPr lang="en-US" sz="1150" dirty="0"/>
          </a:p>
        </p:txBody>
      </p:sp>
      <p:sp>
        <p:nvSpPr>
          <p:cNvPr id="47" name="Shape 45"/>
          <p:cNvSpPr/>
          <p:nvPr/>
        </p:nvSpPr>
        <p:spPr>
          <a:xfrm>
            <a:off x="795528" y="5806440"/>
            <a:ext cx="10607040" cy="0"/>
          </a:xfrm>
          <a:prstGeom prst="line">
            <a:avLst/>
          </a:prstGeom>
          <a:noFill/>
          <a:ln w="12700">
            <a:solidFill>
              <a:srgbClr val="2A5240"/>
            </a:solidFill>
            <a:prstDash val="solid"/>
          </a:ln>
        </p:spPr>
      </p:sp>
      <p:sp>
        <p:nvSpPr>
          <p:cNvPr id="48" name="Text 46"/>
          <p:cNvSpPr/>
          <p:nvPr/>
        </p:nvSpPr>
        <p:spPr>
          <a:xfrm>
            <a:off x="777240" y="5943600"/>
            <a:ext cx="10698480" cy="640080"/>
          </a:xfrm>
          <a:prstGeom prst="rect">
            <a:avLst/>
          </a:prstGeom>
          <a:noFill/>
          <a:ln/>
        </p:spPr>
        <p:txBody>
          <a:bodyPr wrap="square" lIns="0" tIns="0" rIns="0" bIns="0" rtlCol="0" anchor="ctr"/>
          <a:lstStyle/>
          <a:p>
            <a:pPr indent="0" marL="0">
              <a:lnSpc>
                <a:spcPct val="110000"/>
              </a:lnSpc>
              <a:buNone/>
            </a:pPr>
            <a:r>
              <a:rPr lang="en-US" sz="1250" b="1" i="1" dirty="0">
                <a:solidFill>
                  <a:srgbClr val="00925F"/>
                </a:solidFill>
                <a:latin typeface="Calibri" pitchFamily="34" charset="0"/>
                <a:ea typeface="Calibri" pitchFamily="34" charset="-122"/>
                <a:cs typeface="Calibri" pitchFamily="34" charset="-120"/>
              </a:rPr>
              <a:t>L'objectif : </a:t>
            </a:r>
            <a:pPr indent="0" marL="0">
              <a:lnSpc>
                <a:spcPct val="110000"/>
              </a:lnSpc>
              <a:buNone/>
            </a:pPr>
            <a:r>
              <a:rPr lang="en-US" sz="1250" i="1" dirty="0">
                <a:solidFill>
                  <a:srgbClr val="9DB0BB"/>
                </a:solidFill>
                <a:latin typeface="Calibri" pitchFamily="34" charset="0"/>
                <a:ea typeface="Calibri" pitchFamily="34" charset="-122"/>
                <a:cs typeface="Calibri" pitchFamily="34" charset="-120"/>
              </a:rPr>
              <a:t>rendre la résilience explicite et versionnée dans le manifeste — chaque exigence de résilience devient une ligne de YAML auditable.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 &amp; Continuite Kubernetes ROKS</dc:title>
  <dc:subject>PptxGenJS Presentation</dc:subject>
  <dc:creator>Cloud Native Architecture</dc:creator>
  <cp:lastModifiedBy>Cloud Native Architecture</cp:lastModifiedBy>
  <cp:revision>1</cp:revision>
  <dcterms:created xsi:type="dcterms:W3CDTF">2026-05-20T22:44:29Z</dcterms:created>
  <dcterms:modified xsi:type="dcterms:W3CDTF">2026-05-20T22:44:29Z</dcterms:modified>
</cp:coreProperties>
</file>