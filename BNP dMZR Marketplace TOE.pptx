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(2 min)
• Accueillir les deux collègues italiens et les remercier de leur déplacement.
• Se présenter brièvement (rôle, équipe, ancienneté chez Cardif).
• Annoncer l'objectif de la session : donner une vue complète et partagée du socle technique Cardif avant leur prise de poste.
• Rappeler le cadre : 2 heures, questions bienvenues tout au long, pas de slides à retenir par cœur — l'important c'est de fixer les grandes notions.
• Insister sur le caractère confidentiel du contenu (usage interne BNP Paribas Cardif uniquement).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SOMMAIRE (2 min)
• Dérouler les 4 parties rapidement pour donner le fil rouge : contexte → dMZR (plateforme) → Marketplace (consommation) → TOE (organisation).
• Préciser que la partie dMZR est la plus technique et qu'elle conditionne la compréhension de la Marketplace.
• Annoncer qu'une proposition de déroulé 2h figure à la fin du deck — on peut adapter le rythme en fonction des questions.
• Demander s'il y a des sujets prioritaires pour eux dès maintenant (ajuster le focus si besoin).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CONTEXTE (3 min)
• Expliquer que leur rattachement fonctionnel à l'équipe implique qu'ils vont être amenés à consommer et opérer sur le socle.
• Préciser qu'ils viennent d'ITOPS/APS — donc déjà familiers des environnements de production, mais pas forcément du contexte BNP/Cardif.
• Insister sur les 3 piliers (Plateforme, Consommation, Organisation) : c'est ce qu'ils doivent retenir avant tout.
• Rappeler qu'ils ne sont pas censés maîtriser tout à la fin de la session — l'important est d'identifier qui appeler pour quoi (notion d'interlocuteurs).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VERS LA SECTION 1 (1 min)
• Annoncer : on commence par la plateforme — c'est ce qui porte tout le reste.
• Point clé à marteler dès l'ouverture : il y a DEUX infrastructures en production, pas une. La dMZR (historique, IKS) et la dMZR aS Code (nouvelle génération, ROKS).
• Les projets Cardif migrent progressivement de la première vers la seconde — aucune n'est encore décommissionnée.
• Les deux sont opérées par BP2I : ce sera un interlocuteur récurrent pour 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RÉGION, DEUX INFRASTRUCTURES (5 min)
• Slide fondamentale : bien prendre le temps. Tant que la distinction dMZR vs dMZR aS Code n'est pas claire, la suite ne passe pas.
À GAUCHE — dMZR (historique) :
• Runtime IKS (IBM Kubernetes Service), VSI classiques.
• Services managés : Kafka, Databases, COS — provisionnés de manière classique.
• Unité = l'écosystème (découpage métier, quotas, droits).
• Provisioning : portail Marketplace et API REST (Swagger). Insister sur 'Swagger' — si les collègues viennent d'environnements qui utilisent des outils équivalents, ça parle tout de suite.
À DROITE — dMZR aS Code (nouvelle génération) :
• Runtime ROKS (OpenShift managé), VSI aS Code.
• Services : Kafka aS Code, Databases aS Code — le pattern 'aS Code' est systématique.
• Unité = le realm (regroupement logique versionné).
• Provisioning : Terraform (pour l'IaC) + Marketplace (toujours présent).
MESSAGE CLÉ : les deux sont EN PRODUCTION. La dMZR aS Code est la cible de migration — les nouveaux projets y vont directement, les anciens sont migrés progressivement.
Laisser 1-2 minutes pour questions — c'est souvent ici que les collègues réagissent.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COMPOSITION DU SOCLE (4 min)
• L'intro en haut est le message clé : les MÊMES briques IBM Cloud sont utilisées des deux côtés, mais déclinées en version 'aS Code' côté dMZR aS Code.
COMPUTE : IKS + VSI côté dMZR, ROKS + VSI aS Code côté dMZR aS Code. Même rôle fonctionnel, runtime différent (K8s upstream vs OpenShift).
DATA : Kafka, PostgreSQL/MongoDB/Redis, COS — strictement identiques. Seuls le mode de provisioning et le nommage 'aS Code' changent.
NETWORK : VPC + Transit Gateway + DirectLink — couche réseau mutualisée, découpée par écosystème (dMZR) ou par realm (dMZR aS Code).
SECURITY : IAM, Key Protect (BYOK/KYOK), Activity Tracker — couche sécurité BNP mutualisée aussi.
• Conclure : l'infrastructure est opérée par BP2I. Eux, nos collègues, seront côté 'consommateurs' et 'producteurs' (à préciser selon leur rôle exact).
• Préparer la transition vers la slide suivante : « Maintenant, zoom sur comment on provisionne côté dMZR aS Code.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dMZR aS CODE — PROVISIONING TERRAFORM (6 min)
• Slide la plus technique de la section infra — prendre son temps.
LEAD : insister sur trois points :
  1) dMZR aS Code est bien EN PRODUCTION, pas un projet.
  2) BP2I opère l'infrastructure ET a développé l'orchestrateur Terraform.
  3) Les ressources (VSI, LB, ROKS, Kafka, Databases…) sont provisionnées aS Code — pas juste 'quelques trucs' : TOUT passe par l'orchestrateur.
WORKFLOW (5 étapes) :
  • GIT : les modules Terraform sont versionnés dans GitLab. Toute modification = une Merge Request revue par des pairs.
  • PLAN : 'terraform plan' est exécuté automatiquement dans la pipeline, avec des policy checks (conformité, tagging, segmentation).
  • REVIEW : la MR doit être approuvée — humain + policies OK — avant le déclenchement.
  • ORCHESTRATEUR BP2I (étape soulignée en doré — pièce centrale) : c'est l'orchestrateur maison qui gère le 'apply', s'interface avec les providers IBM Cloud, maintient l'état distant, détecte le drift. Son rôle : AGNOSTIFIER le cloud sous-jacent. Les équipes projet n'écrivent pas de code IBM-spécifique.
  • RESSOURCES : le résultat concret — un VSI, un LB, un cluster ROKS, un Kafka, une Database — tous provisionnés aS Code.
BANDEAU BAS (4 principes) :
  • Standardisation : tout passe par les mêmes modules validés.
  • Idempotence : rejouer = même résultat, pas de drift silencieux.
  • State distant : l'état Terraform est centralisé, pas sur un poste.
  • Drift detection : l'orchestrateur compare en continu l'état déclaré et l'état réel.
MESSAGE DE FIN : 'plus de ticketing manuel, plus d'appels API à la main — tout est code, versionné,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VERS LA SECTION 2 (1 min)
• On a vu 'comment on construit' — maintenant 'comment on consomme'.
• Annoncer le plan de la section : définition de la Marketplace et acteurs, puis écosystèmes IBM, puis cycle d'une commande, puis droits/gouvernance.
• Préciser que c'est LA partie où ils sont le plus direct en demande — dès leur arrivée, ils auront besoin de comprendre comment commander des ressources.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DÉFINITION &amp; ACTEURS (3 min)
• Définir simplement : c'est le portail interne BNP Paribas où des équipes produisent des offres IT et d'autres équipes les commandent.
DEUX USAGES :
  • Usage quotidien : ce qui revient souvent — accès, environnements, outils. Des commandes récurrentes.
  • Création d'applications : quand on monte une nouvelle appli business, on assemble les briques (runtime, bases, réseau, sécurité, obs) depuis la Marketplace.
TROIS ACTEURS — insister car c'est le vocabulaire commun :
  • Producteurs : équipes qui publient et maintiennent une offre (ex : l'équipe qui opère Kafka publie 'Kafka aS Code').
  • Consommateurs : équipes qui commandent (ex : une équipe applicative qui a besoin d'un topic Kafka).
  • Groupes d'employés : permettent à plusieurs personnes de commander au nom d'une même équipe.
• Préciser que la Marketplace est utilisée DES DEUX CÔTÉS (dMZR et dMZR aS Code) — ce n'est pas une techno réservée à l'ancien système.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ÉCOSYSTÈMES CLOUD IBM (4 min)
• Notion centrale à bien faire passer : un écosystème = un périmètre (métier/entité) avec ses propres règles, quotas et coûts.
TROIS DIMENSIONS :
  • Périmètre : un écosystème est défini par un métier, une entité ou une zone de conformité. Exemple concret à donner si possible (ex : écosystème 'Cardif Production').
  • Quotas &amp; coûts : chaque commande est facturée à l'écosystème demandeur. C'est un outil de FinOps important — le contrôle budgétaire se fait à cette granularité.
  • Droits d'accès : le rattachement à un écosystème détermine ce que le consommateur peut voir, commander, approuver.
À RETENIR (encart du bas, MESSAGE CLÉ) :
  • Première phrase : pas de rattachement = pas de commande. C'est le filtre initial.
  • Seconde phrase : les deux modes de provisioning (Swagger côté dMZR, Terraform côté dMZR aS Code) s'appuient tous deux sur les écosystèmes, avec l'émergence de la notion de realm côté cible.
• Si les collègues demandent 'à quel écosystème serai-je rattaché ?' — renvoyer à la suite de la session ou au manager direct.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CYCLE D'UNE COMMANDE (4 min)
• Dérouler les 5 étapes pas à pas — c'est le parcours qu'ils auront à emprunter eux-mêmes.
ÉTAPE 1 — Rattachement : préalable obligatoire. Si l'étape n'est pas faite, le catalogue est vide.
ÉTAPE 2 — Sélection : le consommateur choisit une offre dans le catalogue visible (filtré par ses droits).
ÉTAPE 3 — Approbation : workflow dématérialisé. Selon l'offre, impliquent propriétaire d'écosystème, sécurité, FinOps. Pas besoin d'imprimer un formulaire.
ÉTAPE 4 — Exécution : pipeline automatisée du producteur. Côté dMZR, c'est la chaîne historique (Swagger, scripts). Côté dMZR aS Code, c'est l'orchestrateur Terraform de BP2I.
ÉTAPE 5 — Droits &amp; facturation : RBAC/IAM provisionnés automatiquement, coût imputé à l'écosystème. Le consommateur n'a plus qu'à utiliser.
MESSAGE CLÉ : le workflow est orchestré de bout en bout. Pas de ping-pong avec des tickets manuels.
• Bon moment pour prendre des questions : souvent ils demandent 'combien de temps ça prend ?' — la réponse est variable selon l'offre (quelques minutes à quelques heures).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DROITS &amp; GOUVERNANCE (3 min)
• Deux axes à distinguer : qui peut commander vs qui peut publier. C'est une distinction fondamentale.
DROITS DE CONSOMMATION (côté gauche) : c'est ce qui concerne le plus de monde. Pour eux, ce sera probablement leur point d'entrée. Les 3 dimensions : rattachement, rôle dans le groupe (simple membre vs approbateur), quotas.
DROITS DE PUBLICATION (côté droit) : beaucoup plus restreints. Seules les équipes produit validées peuvent publier une offre. Obligation d'assurer qualité, conformité, support. Cycle de vie géré de bout en bout.
LES 4 RÔLES CLÉS (bandeau bas) — vocabulaire à maîtriser :
  • Consommateur : commande.
  • Approbateur : valide les commandes d'un écosystème.
  • Propriétaire d'écosystème : définit les règles, arbitre.
  • Producteur : publie les offres.
• Au-delà des rôles, insister que chaque rôle a des responsabilités. Être propriétaire d'écosystème n'est pas juste un titre — il y a des obligations (revue des droits, FinOps, conformité).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VERS LA SECTION 3 (1 min)
• Ils ont vu la plateforme et le mode de consommation. Il reste l'organisation.
• TOE = Technology Office Expertise. C'est nous — l'équipe qui les accueille.
• Cette section va leur donner : notre mission, nos domaines, comment on s'articule avec Marketplace et dMZR.
• Leur dire explicitement que c'est ici qu'ils vont comprendre à qui s'adresser au quotidien.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GLOBALE DU TOE (3 min)
• Trois missions à présenter dans l'ordre — elles répondent à une question : « pourquoi le TOE existe ? ».
01 — PILOTER LA TRANSFORMATION : le TOE est le moteur de la bascule PAAS V4 / FS Cloud. C'est nous qui industrialisons Kubernetes pour toute l'entité CARD (Production Cardif).
02 — FOURNIR UN SOCLE COMMUN : standards, toolchains, automatisation. L'idée = ne pas laisser chaque équipe applicative réinventer la roue. Qualité, fiabilité, maintenabilité à l'échelle des 450+ microservices.
03 — ACCOMPAGNER LES ÉQUIPES : le volet humain. Tech-buddies (binômage), formations, kits d'onboarding. Objectif = autonomie des équipes malgré le turnover et la multiplicité des projets.
MESSAGE CLÉ : le TOE n'est ni une équipe de run uniquement, ni une équipe d'expertise pure. C'est une équipe transverse qui combine build (outillage), run (support N2/N3) et accompagnement (formation).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DOMAINES D'INTERVENTION (4 min)
• Dérouler le tableau ligne par ligne — c'est notre catalogue d'activités quotidien.
SUPPORT &amp; EXPLOITATION : N2/N3, suivi SLA, dashboards via Bastion Server, automatisation des alertes. C'est la partie la plus visible pour les équipes applicatives.
DÉVELOPPEMENT &amp; OUTILLAGE : création et maintenance d'outils internes. Mentionner Adret et Iclés si les collègues sont amenés à y toucher. Scripts Ansible, pipelines CI/CD, gestion des assets TOE (VM, clusters).
CD &amp; TOOLCHAIN : standardisation des chaînes de déploiement. Accompagner les équipes à se conformer aux standards ODM. C'est le pont entre les équipes TOE et les équipes applicatives.
ACCULTURATION &amp; CONNAISSANCES : onboarding, tutoriels, knowledge base, désignation de tech-buddies. Important pour eux : ils vont probablement bénéficier d'un tech-buddy à leur arrivée.
AMÉLIORATION CONTINUE / AUDITS : audits de scripts, correction des vulnérabilités, optimisation des performances, revue des pratiques. Le volet 'qualité' transverse.
• Préciser qu'ils ne sont pas attendus sur tous les domaines — les responsabilités précises dépendent de leur périmètre fonctionnel.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INTERACTIONS TOE · MARKETPLACE · dMZR (3 min)
• Slide de synthèse — montrer le triangle et expliquer les 3 flèches.
TOE → MARKETPLACE (produit des offres) : nous publions des briques réutilisables (toolchains CI/CD, templates applicatifs, kits d'onboarding) qui sont consommées par les équipes applicatives.
TOE → dMZR (opère sur) : nous travaillons au quotidien sur la plateforme — support N2/N3, surveillance, correctifs, accompagnement des équipes applicatives qui y déploient.
MARKETPLACE → dMZR (déploie via) : toute commande Marketplace se concrétise en ressources sur la dMZR (ou dMZR aS Code). C'est la chaîne descendante que les collègues ont vue dans la section 2.
MESSAGE CLÉ : le TOE est à la fois CONSOMMATEUR (pour ses propres besoins), PRODUCTEUR (de briques outillées) et OPÉRATEUR (sur la plateforme). Cette triple casquette est ce qui fait notre valeur ajoutée — point de contact naturel entre les équipes applicatives et la plateforme.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DE DÉROULÉ 2H (2 min)
• Slide à présenter rapidement — c'est une proposition de trame si on rejoue la session avec un public plus large.
• Adapter le rythme selon les questions : si la partie dMZR génère beaucoup d'échanges, on peut réduire le bloc Marketplace et vice-versa.
• Insister sur le bloc Q/R en fin : c'est là qu'on capture les points de blocage et qu'on fixe les prochains RDV (tech-buddy, knowledge base, backlog commun).
• À la fin de la présentation, leur proposer :
  - Un tech-buddy identifié
  - Un accès à la knowledge base
  - Un point de suivi à J+15 pour voir ce qui reste à clarifier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CLÔTURE ET Q/R (durée libre, 15-20 min)
• Remercier les collègues pour leur attention et leur accueil dans l'équipe.
• Ouvrir largement les questions — c'est le moment où ils vont oser demander ce qu'ils n'ont pas voulu interrompre pendant la présentation.
POINTS À AMORCER SI SILENCE :
  • « Avez-vous déjà travaillé avec OpenShift / IKS / Terraform côté Italie ? » — évaluer leur niveau de familiarité.
  • « Quelle partie vous paraît la plus floue pour votre démarrage ? » — prioriser les approfondissements.
  • « Quels sont vos premiers sujets attendus dès la semaine prochaine ? » — aligner les attentes.
POUR TERMINER :
  • Leur partager les accès (knowledge base, portail Marketplace, GitLab).
  • Fixer le nom du tech-buddy et un créneau pour un 1:1 dans la semaine.
  • Proposer un point de suivi à J+15.
  • Leur donner le deck en version PDF et PowerPoint pour qu'ils puissent y revenir.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A2B"/>
        </a:solidFill>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lIns="0" tIns="0" rIns="0" bIns="0" rtlCol="0" anchor="ctr"/>
          <a:lstStyle/>
          <a:p>
            <a:pPr indent="0" marL="0">
              <a:buNone/>
            </a:pPr>
            <a:r>
              <a:rPr lang="en-US" sz="1100" b="1" spc="800" kern="0" dirty="0">
                <a:solidFill>
                  <a:srgbClr val="FFFFFF"/>
                </a:solidFill>
                <a:latin typeface="Calibri" pitchFamily="34" charset="0"/>
                <a:ea typeface="Calibri" pitchFamily="34" charset="-122"/>
                <a:cs typeface="Calibri" pitchFamily="34" charset="-120"/>
              </a:rPr>
              <a:t>BNP PARIBAS CARDIF</a:t>
            </a:r>
            <a:endParaRPr lang="en-US" sz="1100" dirty="0"/>
          </a:p>
        </p:txBody>
      </p:sp>
      <p:sp>
        <p:nvSpPr>
          <p:cNvPr id="3" name="Shape 1"/>
          <p:cNvSpPr/>
          <p:nvPr/>
        </p:nvSpPr>
        <p:spPr>
          <a:xfrm>
            <a:off x="548640" y="777240"/>
            <a:ext cx="457200" cy="36576"/>
          </a:xfrm>
          <a:prstGeom prst="rect">
            <a:avLst/>
          </a:prstGeom>
          <a:solidFill>
            <a:srgbClr val="D4A840"/>
          </a:solidFill>
          <a:ln w="12700">
            <a:solidFill>
              <a:srgbClr val="D4A840"/>
            </a:solidFill>
            <a:prstDash val="solid"/>
          </a:ln>
        </p:spPr>
      </p:sp>
      <p:sp>
        <p:nvSpPr>
          <p:cNvPr id="4" name="Text 2"/>
          <p:cNvSpPr/>
          <p:nvPr/>
        </p:nvSpPr>
        <p:spPr>
          <a:xfrm>
            <a:off x="548640" y="2194560"/>
            <a:ext cx="9144000" cy="320040"/>
          </a:xfrm>
          <a:prstGeom prst="rect">
            <a:avLst/>
          </a:prstGeom>
          <a:noFill/>
          <a:ln/>
        </p:spPr>
        <p:txBody>
          <a:bodyPr wrap="square" lIns="0" tIns="0" rIns="0" bIns="0" rtlCol="0" anchor="ctr"/>
          <a:lstStyle/>
          <a:p>
            <a:pPr indent="0" marL="0">
              <a:buNone/>
            </a:pPr>
            <a:r>
              <a:rPr lang="en-US" sz="1300" b="1" spc="600" kern="0" dirty="0">
                <a:solidFill>
                  <a:srgbClr val="D4A840"/>
                </a:solidFill>
                <a:latin typeface="Calibri" pitchFamily="34" charset="0"/>
                <a:ea typeface="Calibri" pitchFamily="34" charset="-122"/>
                <a:cs typeface="Calibri" pitchFamily="34" charset="-120"/>
              </a:rPr>
              <a:t>SESSION D'ONBOARDING · 2 HEURES</a:t>
            </a:r>
            <a:endParaRPr lang="en-US" sz="1300" dirty="0"/>
          </a:p>
        </p:txBody>
      </p:sp>
      <p:sp>
        <p:nvSpPr>
          <p:cNvPr id="5" name="Text 3"/>
          <p:cNvSpPr/>
          <p:nvPr/>
        </p:nvSpPr>
        <p:spPr>
          <a:xfrm>
            <a:off x="548640" y="2606040"/>
            <a:ext cx="10972800" cy="109728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dMZR · IT Marketplace · TOE</a:t>
            </a:r>
            <a:endParaRPr lang="en-US" sz="5400" dirty="0"/>
          </a:p>
        </p:txBody>
      </p:sp>
      <p:sp>
        <p:nvSpPr>
          <p:cNvPr id="6" name="Text 4"/>
          <p:cNvSpPr/>
          <p:nvPr/>
        </p:nvSpPr>
        <p:spPr>
          <a:xfrm>
            <a:off x="548640" y="3794760"/>
            <a:ext cx="10515600" cy="548640"/>
          </a:xfrm>
          <a:prstGeom prst="rect">
            <a:avLst/>
          </a:prstGeom>
          <a:noFill/>
          <a:ln/>
        </p:spPr>
        <p:txBody>
          <a:bodyPr wrap="square" lIns="0" tIns="0" rIns="0" bIns="0" rtlCol="0" anchor="ctr"/>
          <a:lstStyle/>
          <a:p>
            <a:pPr indent="0" marL="0">
              <a:buNone/>
            </a:pPr>
            <a:r>
              <a:rPr lang="en-US" sz="2200" i="1" dirty="0">
                <a:solidFill>
                  <a:srgbClr val="C9D6CF"/>
                </a:solidFill>
                <a:latin typeface="Georgia" pitchFamily="34" charset="0"/>
                <a:ea typeface="Georgia" pitchFamily="34" charset="-122"/>
                <a:cs typeface="Georgia" pitchFamily="34" charset="-120"/>
              </a:rPr>
              <a:t>Panorama technique et organisationnel pour les équipes ITOPS / APS</a:t>
            </a:r>
            <a:endParaRPr lang="en-US" sz="2200" dirty="0"/>
          </a:p>
        </p:txBody>
      </p:sp>
      <p:sp>
        <p:nvSpPr>
          <p:cNvPr id="7" name="Text 5"/>
          <p:cNvSpPr/>
          <p:nvPr/>
        </p:nvSpPr>
        <p:spPr>
          <a:xfrm>
            <a:off x="548640" y="4434840"/>
            <a:ext cx="10515600" cy="365760"/>
          </a:xfrm>
          <a:prstGeom prst="rect">
            <a:avLst/>
          </a:prstGeom>
          <a:noFill/>
          <a:ln/>
        </p:spPr>
        <p:txBody>
          <a:bodyPr wrap="square" lIns="0" tIns="0" rIns="0" bIns="0" rtlCol="0" anchor="ctr"/>
          <a:lstStyle/>
          <a:p>
            <a:pPr indent="0" marL="0">
              <a:buNone/>
            </a:pPr>
            <a:r>
              <a:rPr lang="en-US" sz="1400" dirty="0">
                <a:solidFill>
                  <a:srgbClr val="A7BAB0"/>
                </a:solidFill>
                <a:latin typeface="Calibri" pitchFamily="34" charset="0"/>
                <a:ea typeface="Calibri" pitchFamily="34" charset="-122"/>
                <a:cs typeface="Calibri" pitchFamily="34" charset="-120"/>
              </a:rPr>
              <a:t>Écosystème IBM Cloud · Marketplace &amp; Droits · Technology Office Expertise</a:t>
            </a:r>
            <a:endParaRPr lang="en-US" sz="1400" dirty="0"/>
          </a:p>
        </p:txBody>
      </p:sp>
      <p:sp>
        <p:nvSpPr>
          <p:cNvPr id="8" name="Text 6"/>
          <p:cNvSpPr/>
          <p:nvPr/>
        </p:nvSpPr>
        <p:spPr>
          <a:xfrm>
            <a:off x="548640" y="6172200"/>
            <a:ext cx="5486400" cy="274320"/>
          </a:xfrm>
          <a:prstGeom prst="rect">
            <a:avLst/>
          </a:prstGeom>
          <a:noFill/>
          <a:ln/>
        </p:spPr>
        <p:txBody>
          <a:bodyPr wrap="square" lIns="0" tIns="0" rIns="0" bIns="0" rtlCol="0" anchor="ctr"/>
          <a:lstStyle/>
          <a:p>
            <a:pPr indent="0" marL="0">
              <a:buNone/>
            </a:pPr>
            <a:r>
              <a:rPr lang="en-US" sz="1100" b="1" spc="400" kern="0" dirty="0">
                <a:solidFill>
                  <a:srgbClr val="FFFFFF"/>
                </a:solidFill>
                <a:latin typeface="Calibri" pitchFamily="34" charset="0"/>
                <a:ea typeface="Calibri" pitchFamily="34" charset="-122"/>
                <a:cs typeface="Calibri" pitchFamily="34" charset="-120"/>
              </a:rPr>
              <a:t>CARD — Production Cardif</a:t>
            </a:r>
            <a:endParaRPr lang="en-US" sz="1100" dirty="0"/>
          </a:p>
        </p:txBody>
      </p:sp>
      <p:sp>
        <p:nvSpPr>
          <p:cNvPr id="9" name="Text 7"/>
          <p:cNvSpPr/>
          <p:nvPr/>
        </p:nvSpPr>
        <p:spPr>
          <a:xfrm>
            <a:off x="6126480" y="6172200"/>
            <a:ext cx="5486400" cy="274320"/>
          </a:xfrm>
          <a:prstGeom prst="rect">
            <a:avLst/>
          </a:prstGeom>
          <a:noFill/>
          <a:ln/>
        </p:spPr>
        <p:txBody>
          <a:bodyPr wrap="square" lIns="0" tIns="0" rIns="0" bIns="0" rtlCol="0" anchor="ctr"/>
          <a:lstStyle/>
          <a:p>
            <a:pPr algn="r" indent="0" marL="0">
              <a:buNone/>
            </a:pPr>
            <a:r>
              <a:rPr lang="en-US" sz="1000" i="1" dirty="0">
                <a:solidFill>
                  <a:srgbClr val="8FA69C"/>
                </a:solidFill>
                <a:latin typeface="Calibri" pitchFamily="34" charset="0"/>
                <a:ea typeface="Calibri" pitchFamily="34" charset="-122"/>
                <a:cs typeface="Calibri" pitchFamily="34" charset="-120"/>
              </a:rPr>
              <a:t>Confidentiel · Usage interne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SOMMAIRE</a:t>
            </a:r>
            <a:endParaRPr lang="en-US" sz="1100" dirty="0"/>
          </a:p>
        </p:txBody>
      </p:sp>
      <p:sp>
        <p:nvSpPr>
          <p:cNvPr id="3" name="Text 1"/>
          <p:cNvSpPr/>
          <p:nvPr/>
        </p:nvSpPr>
        <p:spPr>
          <a:xfrm>
            <a:off x="640080" y="822960"/>
            <a:ext cx="10058400" cy="822960"/>
          </a:xfrm>
          <a:prstGeom prst="rect">
            <a:avLst/>
          </a:prstGeom>
          <a:noFill/>
          <a:ln/>
        </p:spPr>
        <p:txBody>
          <a:bodyPr wrap="square" lIns="0" tIns="0" rIns="0" bIns="0" rtlCol="0" anchor="ctr"/>
          <a:lstStyle/>
          <a:p>
            <a:pPr indent="0" marL="0">
              <a:buNone/>
            </a:pPr>
            <a:r>
              <a:rPr lang="en-US" sz="3600" b="1" dirty="0">
                <a:solidFill>
                  <a:srgbClr val="1A2E28"/>
                </a:solidFill>
                <a:latin typeface="Georgia" pitchFamily="34" charset="0"/>
                <a:ea typeface="Georgia" pitchFamily="34" charset="-122"/>
                <a:cs typeface="Georgia" pitchFamily="34" charset="-120"/>
              </a:rPr>
              <a:t>Déroulé de la session</a:t>
            </a:r>
            <a:endParaRPr lang="en-US" sz="3600" dirty="0"/>
          </a:p>
        </p:txBody>
      </p:sp>
      <p:sp>
        <p:nvSpPr>
          <p:cNvPr id="4" name="Shape 2"/>
          <p:cNvSpPr/>
          <p:nvPr/>
        </p:nvSpPr>
        <p:spPr>
          <a:xfrm>
            <a:off x="640080" y="2148840"/>
            <a:ext cx="5486400" cy="1920240"/>
          </a:xfrm>
          <a:prstGeom prst="rect">
            <a:avLst/>
          </a:prstGeom>
          <a:solidFill>
            <a:srgbClr val="F8F9FA"/>
          </a:solidFill>
          <a:ln w="6350">
            <a:solidFill>
              <a:srgbClr val="E2E8F0"/>
            </a:solidFill>
            <a:prstDash val="solid"/>
          </a:ln>
        </p:spPr>
      </p:sp>
      <p:sp>
        <p:nvSpPr>
          <p:cNvPr id="5" name="Text 3"/>
          <p:cNvSpPr/>
          <p:nvPr/>
        </p:nvSpPr>
        <p:spPr>
          <a:xfrm>
            <a:off x="960120" y="2377440"/>
            <a:ext cx="1645920" cy="1280160"/>
          </a:xfrm>
          <a:prstGeom prst="rect">
            <a:avLst/>
          </a:prstGeom>
          <a:noFill/>
          <a:ln/>
        </p:spPr>
        <p:txBody>
          <a:bodyPr wrap="square" lIns="0" tIns="0" rIns="0" bIns="0" rtlCol="0" anchor="ctr"/>
          <a:lstStyle/>
          <a:p>
            <a:pPr indent="0" marL="0">
              <a:buNone/>
            </a:pPr>
            <a:r>
              <a:rPr lang="en-US" sz="6600" b="1" dirty="0">
                <a:solidFill>
                  <a:srgbClr val="00915A"/>
                </a:solidFill>
                <a:latin typeface="Georgia" pitchFamily="34" charset="0"/>
                <a:ea typeface="Georgia" pitchFamily="34" charset="-122"/>
                <a:cs typeface="Georgia" pitchFamily="34" charset="-120"/>
              </a:rPr>
              <a:t>01</a:t>
            </a:r>
            <a:endParaRPr lang="en-US" sz="6600" dirty="0"/>
          </a:p>
        </p:txBody>
      </p:sp>
      <p:sp>
        <p:nvSpPr>
          <p:cNvPr id="6" name="Text 4"/>
          <p:cNvSpPr/>
          <p:nvPr/>
        </p:nvSpPr>
        <p:spPr>
          <a:xfrm>
            <a:off x="2651760" y="2514600"/>
            <a:ext cx="3291840" cy="640080"/>
          </a:xfrm>
          <a:prstGeom prst="rect">
            <a:avLst/>
          </a:prstGeom>
          <a:noFill/>
          <a:ln/>
        </p:spPr>
        <p:txBody>
          <a:bodyPr wrap="square" lIns="0" tIns="0" rIns="0" bIns="0" rtlCol="0" anchor="ctr"/>
          <a:lstStyle/>
          <a:p>
            <a:pPr indent="0" marL="0">
              <a:buNone/>
            </a:pPr>
            <a:r>
              <a:rPr lang="en-US" sz="2400" b="1" dirty="0">
                <a:solidFill>
                  <a:srgbClr val="1A2E28"/>
                </a:solidFill>
                <a:latin typeface="Georgia" pitchFamily="34" charset="0"/>
                <a:ea typeface="Georgia" pitchFamily="34" charset="-122"/>
                <a:cs typeface="Georgia" pitchFamily="34" charset="-120"/>
              </a:rPr>
              <a:t>Contexte</a:t>
            </a:r>
            <a:endParaRPr lang="en-US" sz="2400" dirty="0"/>
          </a:p>
        </p:txBody>
      </p:sp>
      <p:sp>
        <p:nvSpPr>
          <p:cNvPr id="7" name="Text 5"/>
          <p:cNvSpPr/>
          <p:nvPr/>
        </p:nvSpPr>
        <p:spPr>
          <a:xfrm>
            <a:off x="2651760" y="3108960"/>
            <a:ext cx="3291840" cy="822960"/>
          </a:xfrm>
          <a:prstGeom prst="rect">
            <a:avLst/>
          </a:prstGeom>
          <a:noFill/>
          <a:ln/>
        </p:spPr>
        <p:txBody>
          <a:bodyPr wrap="square" lIns="0" tIns="0" rIns="0" bIns="0" rtlCol="0" anchor="ctr"/>
          <a:lstStyle/>
          <a:p>
            <a:pPr indent="0" marL="0">
              <a:buNone/>
            </a:pPr>
            <a:r>
              <a:rPr lang="en-US" sz="1300" dirty="0">
                <a:solidFill>
                  <a:srgbClr val="6B7B78"/>
                </a:solidFill>
                <a:latin typeface="Calibri" pitchFamily="34" charset="0"/>
                <a:ea typeface="Calibri" pitchFamily="34" charset="-122"/>
                <a:cs typeface="Calibri" pitchFamily="34" charset="-120"/>
              </a:rPr>
              <a:t>Accueil, objectifs, périmètre de la session</a:t>
            </a:r>
            <a:endParaRPr lang="en-US" sz="1300" dirty="0"/>
          </a:p>
        </p:txBody>
      </p:sp>
      <p:sp>
        <p:nvSpPr>
          <p:cNvPr id="8" name="Shape 6"/>
          <p:cNvSpPr/>
          <p:nvPr/>
        </p:nvSpPr>
        <p:spPr>
          <a:xfrm>
            <a:off x="6355080" y="2148840"/>
            <a:ext cx="5486400" cy="1920240"/>
          </a:xfrm>
          <a:prstGeom prst="rect">
            <a:avLst/>
          </a:prstGeom>
          <a:solidFill>
            <a:srgbClr val="F8F9FA"/>
          </a:solidFill>
          <a:ln w="6350">
            <a:solidFill>
              <a:srgbClr val="E2E8F0"/>
            </a:solidFill>
            <a:prstDash val="solid"/>
          </a:ln>
        </p:spPr>
      </p:sp>
      <p:sp>
        <p:nvSpPr>
          <p:cNvPr id="9" name="Text 7"/>
          <p:cNvSpPr/>
          <p:nvPr/>
        </p:nvSpPr>
        <p:spPr>
          <a:xfrm>
            <a:off x="6675120" y="2377440"/>
            <a:ext cx="1645920" cy="1280160"/>
          </a:xfrm>
          <a:prstGeom prst="rect">
            <a:avLst/>
          </a:prstGeom>
          <a:noFill/>
          <a:ln/>
        </p:spPr>
        <p:txBody>
          <a:bodyPr wrap="square" lIns="0" tIns="0" rIns="0" bIns="0" rtlCol="0" anchor="ctr"/>
          <a:lstStyle/>
          <a:p>
            <a:pPr indent="0" marL="0">
              <a:buNone/>
            </a:pPr>
            <a:r>
              <a:rPr lang="en-US" sz="6600" b="1" dirty="0">
                <a:solidFill>
                  <a:srgbClr val="00915A"/>
                </a:solidFill>
                <a:latin typeface="Georgia" pitchFamily="34" charset="0"/>
                <a:ea typeface="Georgia" pitchFamily="34" charset="-122"/>
                <a:cs typeface="Georgia" pitchFamily="34" charset="-120"/>
              </a:rPr>
              <a:t>02</a:t>
            </a:r>
            <a:endParaRPr lang="en-US" sz="6600" dirty="0"/>
          </a:p>
        </p:txBody>
      </p:sp>
      <p:sp>
        <p:nvSpPr>
          <p:cNvPr id="10" name="Text 8"/>
          <p:cNvSpPr/>
          <p:nvPr/>
        </p:nvSpPr>
        <p:spPr>
          <a:xfrm>
            <a:off x="8366760" y="2514600"/>
            <a:ext cx="3291840" cy="640080"/>
          </a:xfrm>
          <a:prstGeom prst="rect">
            <a:avLst/>
          </a:prstGeom>
          <a:noFill/>
          <a:ln/>
        </p:spPr>
        <p:txBody>
          <a:bodyPr wrap="square" lIns="0" tIns="0" rIns="0" bIns="0" rtlCol="0" anchor="ctr"/>
          <a:lstStyle/>
          <a:p>
            <a:pPr indent="0" marL="0">
              <a:buNone/>
            </a:pPr>
            <a:r>
              <a:rPr lang="en-US" sz="2400" b="1" dirty="0">
                <a:solidFill>
                  <a:srgbClr val="1A2E28"/>
                </a:solidFill>
                <a:latin typeface="Georgia" pitchFamily="34" charset="0"/>
                <a:ea typeface="Georgia" pitchFamily="34" charset="-122"/>
                <a:cs typeface="Georgia" pitchFamily="34" charset="-120"/>
              </a:rPr>
              <a:t>dMZR</a:t>
            </a:r>
            <a:endParaRPr lang="en-US" sz="2400" dirty="0"/>
          </a:p>
        </p:txBody>
      </p:sp>
      <p:sp>
        <p:nvSpPr>
          <p:cNvPr id="11" name="Text 9"/>
          <p:cNvSpPr/>
          <p:nvPr/>
        </p:nvSpPr>
        <p:spPr>
          <a:xfrm>
            <a:off x="8366760" y="3108960"/>
            <a:ext cx="3291840" cy="822960"/>
          </a:xfrm>
          <a:prstGeom prst="rect">
            <a:avLst/>
          </a:prstGeom>
          <a:noFill/>
          <a:ln/>
        </p:spPr>
        <p:txBody>
          <a:bodyPr wrap="square" lIns="0" tIns="0" rIns="0" bIns="0" rtlCol="0" anchor="ctr"/>
          <a:lstStyle/>
          <a:p>
            <a:pPr indent="0" marL="0">
              <a:buNone/>
            </a:pPr>
            <a:r>
              <a:rPr lang="en-US" sz="1300" dirty="0">
                <a:solidFill>
                  <a:srgbClr val="6B7B78"/>
                </a:solidFill>
                <a:latin typeface="Calibri" pitchFamily="34" charset="0"/>
                <a:ea typeface="Calibri" pitchFamily="34" charset="-122"/>
                <a:cs typeface="Calibri" pitchFamily="34" charset="-120"/>
              </a:rPr>
              <a:t>dMZR (IKS, Marketplace) · dMZR aS Code (ROKS, Terraform)</a:t>
            </a:r>
            <a:endParaRPr lang="en-US" sz="1300" dirty="0"/>
          </a:p>
        </p:txBody>
      </p:sp>
      <p:sp>
        <p:nvSpPr>
          <p:cNvPr id="12" name="Shape 10"/>
          <p:cNvSpPr/>
          <p:nvPr/>
        </p:nvSpPr>
        <p:spPr>
          <a:xfrm>
            <a:off x="640080" y="4343400"/>
            <a:ext cx="5486400" cy="1920240"/>
          </a:xfrm>
          <a:prstGeom prst="rect">
            <a:avLst/>
          </a:prstGeom>
          <a:solidFill>
            <a:srgbClr val="F8F9FA"/>
          </a:solidFill>
          <a:ln w="6350">
            <a:solidFill>
              <a:srgbClr val="E2E8F0"/>
            </a:solidFill>
            <a:prstDash val="solid"/>
          </a:ln>
        </p:spPr>
      </p:sp>
      <p:sp>
        <p:nvSpPr>
          <p:cNvPr id="13" name="Text 11"/>
          <p:cNvSpPr/>
          <p:nvPr/>
        </p:nvSpPr>
        <p:spPr>
          <a:xfrm>
            <a:off x="960120" y="4572000"/>
            <a:ext cx="1645920" cy="1280160"/>
          </a:xfrm>
          <a:prstGeom prst="rect">
            <a:avLst/>
          </a:prstGeom>
          <a:noFill/>
          <a:ln/>
        </p:spPr>
        <p:txBody>
          <a:bodyPr wrap="square" lIns="0" tIns="0" rIns="0" bIns="0" rtlCol="0" anchor="ctr"/>
          <a:lstStyle/>
          <a:p>
            <a:pPr indent="0" marL="0">
              <a:buNone/>
            </a:pPr>
            <a:r>
              <a:rPr lang="en-US" sz="6600" b="1" dirty="0">
                <a:solidFill>
                  <a:srgbClr val="00915A"/>
                </a:solidFill>
                <a:latin typeface="Georgia" pitchFamily="34" charset="0"/>
                <a:ea typeface="Georgia" pitchFamily="34" charset="-122"/>
                <a:cs typeface="Georgia" pitchFamily="34" charset="-120"/>
              </a:rPr>
              <a:t>03</a:t>
            </a:r>
            <a:endParaRPr lang="en-US" sz="6600" dirty="0"/>
          </a:p>
        </p:txBody>
      </p:sp>
      <p:sp>
        <p:nvSpPr>
          <p:cNvPr id="14" name="Text 12"/>
          <p:cNvSpPr/>
          <p:nvPr/>
        </p:nvSpPr>
        <p:spPr>
          <a:xfrm>
            <a:off x="2651760" y="4709160"/>
            <a:ext cx="3291840" cy="640080"/>
          </a:xfrm>
          <a:prstGeom prst="rect">
            <a:avLst/>
          </a:prstGeom>
          <a:noFill/>
          <a:ln/>
        </p:spPr>
        <p:txBody>
          <a:bodyPr wrap="square" lIns="0" tIns="0" rIns="0" bIns="0" rtlCol="0" anchor="ctr"/>
          <a:lstStyle/>
          <a:p>
            <a:pPr indent="0" marL="0">
              <a:buNone/>
            </a:pPr>
            <a:r>
              <a:rPr lang="en-US" sz="2400" b="1" dirty="0">
                <a:solidFill>
                  <a:srgbClr val="1A2E28"/>
                </a:solidFill>
                <a:latin typeface="Georgia" pitchFamily="34" charset="0"/>
                <a:ea typeface="Georgia" pitchFamily="34" charset="-122"/>
                <a:cs typeface="Georgia" pitchFamily="34" charset="-120"/>
              </a:rPr>
              <a:t>IT Marketplace</a:t>
            </a:r>
            <a:endParaRPr lang="en-US" sz="2400" dirty="0"/>
          </a:p>
        </p:txBody>
      </p:sp>
      <p:sp>
        <p:nvSpPr>
          <p:cNvPr id="15" name="Text 13"/>
          <p:cNvSpPr/>
          <p:nvPr/>
        </p:nvSpPr>
        <p:spPr>
          <a:xfrm>
            <a:off x="2651760" y="5303520"/>
            <a:ext cx="3291840" cy="822960"/>
          </a:xfrm>
          <a:prstGeom prst="rect">
            <a:avLst/>
          </a:prstGeom>
          <a:noFill/>
          <a:ln/>
        </p:spPr>
        <p:txBody>
          <a:bodyPr wrap="square" lIns="0" tIns="0" rIns="0" bIns="0" rtlCol="0" anchor="ctr"/>
          <a:lstStyle/>
          <a:p>
            <a:pPr indent="0" marL="0">
              <a:buNone/>
            </a:pPr>
            <a:r>
              <a:rPr lang="en-US" sz="1300" dirty="0">
                <a:solidFill>
                  <a:srgbClr val="6B7B78"/>
                </a:solidFill>
                <a:latin typeface="Calibri" pitchFamily="34" charset="0"/>
                <a:ea typeface="Calibri" pitchFamily="34" charset="-122"/>
                <a:cs typeface="Calibri" pitchFamily="34" charset="-120"/>
              </a:rPr>
              <a:t>Écosystèmes IBM, commandes, droits, gouvernance</a:t>
            </a:r>
            <a:endParaRPr lang="en-US" sz="1300" dirty="0"/>
          </a:p>
        </p:txBody>
      </p:sp>
      <p:sp>
        <p:nvSpPr>
          <p:cNvPr id="16" name="Shape 14"/>
          <p:cNvSpPr/>
          <p:nvPr/>
        </p:nvSpPr>
        <p:spPr>
          <a:xfrm>
            <a:off x="6355080" y="4343400"/>
            <a:ext cx="5486400" cy="1920240"/>
          </a:xfrm>
          <a:prstGeom prst="rect">
            <a:avLst/>
          </a:prstGeom>
          <a:solidFill>
            <a:srgbClr val="F8F9FA"/>
          </a:solidFill>
          <a:ln w="6350">
            <a:solidFill>
              <a:srgbClr val="E2E8F0"/>
            </a:solidFill>
            <a:prstDash val="solid"/>
          </a:ln>
        </p:spPr>
      </p:sp>
      <p:sp>
        <p:nvSpPr>
          <p:cNvPr id="17" name="Text 15"/>
          <p:cNvSpPr/>
          <p:nvPr/>
        </p:nvSpPr>
        <p:spPr>
          <a:xfrm>
            <a:off x="6675120" y="4572000"/>
            <a:ext cx="1645920" cy="1280160"/>
          </a:xfrm>
          <a:prstGeom prst="rect">
            <a:avLst/>
          </a:prstGeom>
          <a:noFill/>
          <a:ln/>
        </p:spPr>
        <p:txBody>
          <a:bodyPr wrap="square" lIns="0" tIns="0" rIns="0" bIns="0" rtlCol="0" anchor="ctr"/>
          <a:lstStyle/>
          <a:p>
            <a:pPr indent="0" marL="0">
              <a:buNone/>
            </a:pPr>
            <a:r>
              <a:rPr lang="en-US" sz="6600" b="1" dirty="0">
                <a:solidFill>
                  <a:srgbClr val="00915A"/>
                </a:solidFill>
                <a:latin typeface="Georgia" pitchFamily="34" charset="0"/>
                <a:ea typeface="Georgia" pitchFamily="34" charset="-122"/>
                <a:cs typeface="Georgia" pitchFamily="34" charset="-120"/>
              </a:rPr>
              <a:t>04</a:t>
            </a:r>
            <a:endParaRPr lang="en-US" sz="6600" dirty="0"/>
          </a:p>
        </p:txBody>
      </p:sp>
      <p:sp>
        <p:nvSpPr>
          <p:cNvPr id="18" name="Text 16"/>
          <p:cNvSpPr/>
          <p:nvPr/>
        </p:nvSpPr>
        <p:spPr>
          <a:xfrm>
            <a:off x="8366760" y="4709160"/>
            <a:ext cx="3291840" cy="640080"/>
          </a:xfrm>
          <a:prstGeom prst="rect">
            <a:avLst/>
          </a:prstGeom>
          <a:noFill/>
          <a:ln/>
        </p:spPr>
        <p:txBody>
          <a:bodyPr wrap="square" lIns="0" tIns="0" rIns="0" bIns="0" rtlCol="0" anchor="ctr"/>
          <a:lstStyle/>
          <a:p>
            <a:pPr indent="0" marL="0">
              <a:buNone/>
            </a:pPr>
            <a:r>
              <a:rPr lang="en-US" sz="2400" b="1" dirty="0">
                <a:solidFill>
                  <a:srgbClr val="1A2E28"/>
                </a:solidFill>
                <a:latin typeface="Georgia" pitchFamily="34" charset="0"/>
                <a:ea typeface="Georgia" pitchFamily="34" charset="-122"/>
                <a:cs typeface="Georgia" pitchFamily="34" charset="-120"/>
              </a:rPr>
              <a:t>TOE</a:t>
            </a:r>
            <a:endParaRPr lang="en-US" sz="2400" dirty="0"/>
          </a:p>
        </p:txBody>
      </p:sp>
      <p:sp>
        <p:nvSpPr>
          <p:cNvPr id="19" name="Text 17"/>
          <p:cNvSpPr/>
          <p:nvPr/>
        </p:nvSpPr>
        <p:spPr>
          <a:xfrm>
            <a:off x="8366760" y="5303520"/>
            <a:ext cx="3291840" cy="822960"/>
          </a:xfrm>
          <a:prstGeom prst="rect">
            <a:avLst/>
          </a:prstGeom>
          <a:noFill/>
          <a:ln/>
        </p:spPr>
        <p:txBody>
          <a:bodyPr wrap="square" lIns="0" tIns="0" rIns="0" bIns="0" rtlCol="0" anchor="ctr"/>
          <a:lstStyle/>
          <a:p>
            <a:pPr indent="0" marL="0">
              <a:buNone/>
            </a:pPr>
            <a:r>
              <a:rPr lang="en-US" sz="1300" dirty="0">
                <a:solidFill>
                  <a:srgbClr val="6B7B78"/>
                </a:solidFill>
                <a:latin typeface="Calibri" pitchFamily="34" charset="0"/>
                <a:ea typeface="Calibri" pitchFamily="34" charset="-122"/>
                <a:cs typeface="Calibri" pitchFamily="34" charset="-120"/>
              </a:rPr>
              <a:t>Mission, domaines d'intervention, interactions</a:t>
            </a:r>
            <a:endParaRPr lang="en-US" sz="1300" dirty="0"/>
          </a:p>
        </p:txBody>
      </p:sp>
      <p:sp>
        <p:nvSpPr>
          <p:cNvPr id="20" name="Text 18"/>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6B7B78"/>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CONTEXTE</a:t>
            </a:r>
            <a:endParaRPr lang="en-US" sz="1100" dirty="0"/>
          </a:p>
        </p:txBody>
      </p:sp>
      <p:sp>
        <p:nvSpPr>
          <p:cNvPr id="3" name="Text 1"/>
          <p:cNvSpPr/>
          <p:nvPr/>
        </p:nvSpPr>
        <p:spPr>
          <a:xfrm>
            <a:off x="640080" y="822960"/>
            <a:ext cx="10058400" cy="822960"/>
          </a:xfrm>
          <a:prstGeom prst="rect">
            <a:avLst/>
          </a:prstGeom>
          <a:noFill/>
          <a:ln/>
        </p:spPr>
        <p:txBody>
          <a:bodyPr wrap="square" lIns="0" tIns="0" rIns="0" bIns="0" rtlCol="0" anchor="ctr"/>
          <a:lstStyle/>
          <a:p>
            <a:pPr indent="0" marL="0">
              <a:buNone/>
            </a:pPr>
            <a:r>
              <a:rPr lang="en-US" sz="3400" b="1" dirty="0">
                <a:solidFill>
                  <a:srgbClr val="1A2E28"/>
                </a:solidFill>
                <a:latin typeface="Georgia" pitchFamily="34" charset="0"/>
                <a:ea typeface="Georgia" pitchFamily="34" charset="-122"/>
                <a:cs typeface="Georgia" pitchFamily="34" charset="-120"/>
              </a:rPr>
              <a:t>Pourquoi cette session ?</a:t>
            </a:r>
            <a:endParaRPr lang="en-US" sz="3400" dirty="0"/>
          </a:p>
        </p:txBody>
      </p:sp>
      <p:sp>
        <p:nvSpPr>
          <p:cNvPr id="4" name="Text 2"/>
          <p:cNvSpPr/>
          <p:nvPr/>
        </p:nvSpPr>
        <p:spPr>
          <a:xfrm>
            <a:off x="640080" y="1920240"/>
            <a:ext cx="5303520" cy="1463040"/>
          </a:xfrm>
          <a:prstGeom prst="rect">
            <a:avLst/>
          </a:prstGeom>
          <a:noFill/>
          <a:ln/>
        </p:spPr>
        <p:txBody>
          <a:bodyPr wrap="square" lIns="0" tIns="0" rIns="0" bIns="0" rtlCol="0" anchor="ctr"/>
          <a:lstStyle/>
          <a:p>
            <a:pPr indent="0" marL="0">
              <a:lnSpc>
                <a:spcPct val="130000"/>
              </a:lnSpc>
              <a:buNone/>
            </a:pPr>
            <a:r>
              <a:rPr lang="en-US" sz="1700" i="1" dirty="0">
                <a:solidFill>
                  <a:srgbClr val="2C2C2C"/>
                </a:solidFill>
                <a:latin typeface="Georgia" pitchFamily="34" charset="0"/>
                <a:ea typeface="Georgia" pitchFamily="34" charset="-122"/>
                <a:cs typeface="Georgia" pitchFamily="34" charset="-120"/>
              </a:rPr>
              <a:t>Accueil de deux collègues ITOPS / APS italiens, rattachés fonctionnellement à l'équipe. Objectif : leur donner une vue complète du socle BNP Paribas Cardif et de son écosystème.</a:t>
            </a:r>
            <a:endParaRPr lang="en-US" sz="1700" dirty="0"/>
          </a:p>
        </p:txBody>
      </p:sp>
      <p:sp>
        <p:nvSpPr>
          <p:cNvPr id="5" name="Text 3"/>
          <p:cNvSpPr/>
          <p:nvPr/>
        </p:nvSpPr>
        <p:spPr>
          <a:xfrm>
            <a:off x="640080" y="3474720"/>
            <a:ext cx="5303520" cy="1645920"/>
          </a:xfrm>
          <a:prstGeom prst="rect">
            <a:avLst/>
          </a:prstGeom>
          <a:noFill/>
          <a:ln/>
        </p:spPr>
        <p:txBody>
          <a:bodyPr wrap="square" lIns="0" tIns="0" rIns="0" bIns="0" rtlCol="0" anchor="ctr"/>
          <a:lstStyle/>
          <a:p>
            <a:pPr indent="0" marL="0">
              <a:lnSpc>
                <a:spcPct val="135000"/>
              </a:lnSpc>
              <a:buNone/>
            </a:pPr>
            <a:r>
              <a:rPr lang="en-US" sz="1400" dirty="0">
                <a:solidFill>
                  <a:srgbClr val="6B7B78"/>
                </a:solidFill>
                <a:latin typeface="Calibri" pitchFamily="34" charset="0"/>
                <a:ea typeface="Calibri" pitchFamily="34" charset="-122"/>
                <a:cs typeface="Calibri" pitchFamily="34" charset="-120"/>
              </a:rPr>
              <a:t>La session couvre la plateforme cible (dMZR), la logique de commande via la Marketplace et les écosystèmes IBM Cloud, ainsi que le rôle et l'offre de service du Technology Office Expertise.</a:t>
            </a:r>
            <a:endParaRPr lang="en-US" sz="1400" dirty="0"/>
          </a:p>
        </p:txBody>
      </p:sp>
      <p:sp>
        <p:nvSpPr>
          <p:cNvPr id="6" name="Shape 4"/>
          <p:cNvSpPr/>
          <p:nvPr/>
        </p:nvSpPr>
        <p:spPr>
          <a:xfrm>
            <a:off x="6675120" y="1920240"/>
            <a:ext cx="4846320" cy="1371600"/>
          </a:xfrm>
          <a:prstGeom prst="rect">
            <a:avLst/>
          </a:prstGeom>
          <a:solidFill>
            <a:srgbClr val="FFFFFF"/>
          </a:solidFill>
          <a:ln w="9525">
            <a:solidFill>
              <a:srgbClr val="E2E8F0"/>
            </a:solidFill>
            <a:prstDash val="solid"/>
          </a:ln>
        </p:spPr>
      </p:sp>
      <p:sp>
        <p:nvSpPr>
          <p:cNvPr id="7" name="Shape 5"/>
          <p:cNvSpPr/>
          <p:nvPr/>
        </p:nvSpPr>
        <p:spPr>
          <a:xfrm>
            <a:off x="6949440" y="2286000"/>
            <a:ext cx="685800" cy="685800"/>
          </a:xfrm>
          <a:prstGeom prst="ellipse">
            <a:avLst/>
          </a:prstGeom>
          <a:solidFill>
            <a:srgbClr val="00915A"/>
          </a:solidFill>
          <a:ln w="12700">
            <a:solidFill>
              <a:srgbClr val="00915A"/>
            </a:solidFill>
            <a:prstDash val="solid"/>
          </a:ln>
        </p:spPr>
      </p:sp>
      <p:sp>
        <p:nvSpPr>
          <p:cNvPr id="8" name="Shape 6"/>
          <p:cNvSpPr/>
          <p:nvPr/>
        </p:nvSpPr>
        <p:spPr>
          <a:xfrm>
            <a:off x="6675120" y="3520440"/>
            <a:ext cx="4846320" cy="1371600"/>
          </a:xfrm>
          <a:prstGeom prst="rect">
            <a:avLst/>
          </a:prstGeom>
          <a:solidFill>
            <a:srgbClr val="FFFFFF"/>
          </a:solidFill>
          <a:ln w="9525">
            <a:solidFill>
              <a:srgbClr val="E2E8F0"/>
            </a:solidFill>
            <a:prstDash val="solid"/>
          </a:ln>
        </p:spPr>
      </p:sp>
      <p:sp>
        <p:nvSpPr>
          <p:cNvPr id="9" name="Shape 7"/>
          <p:cNvSpPr/>
          <p:nvPr/>
        </p:nvSpPr>
        <p:spPr>
          <a:xfrm>
            <a:off x="6949440" y="3886200"/>
            <a:ext cx="685800" cy="685800"/>
          </a:xfrm>
          <a:prstGeom prst="ellipse">
            <a:avLst/>
          </a:prstGeom>
          <a:solidFill>
            <a:srgbClr val="00915A"/>
          </a:solidFill>
          <a:ln w="12700">
            <a:solidFill>
              <a:srgbClr val="00915A"/>
            </a:solidFill>
            <a:prstDash val="solid"/>
          </a:ln>
        </p:spPr>
      </p:sp>
      <p:sp>
        <p:nvSpPr>
          <p:cNvPr id="10" name="Shape 8"/>
          <p:cNvSpPr/>
          <p:nvPr/>
        </p:nvSpPr>
        <p:spPr>
          <a:xfrm>
            <a:off x="6675120" y="5120640"/>
            <a:ext cx="4846320" cy="1371600"/>
          </a:xfrm>
          <a:prstGeom prst="rect">
            <a:avLst/>
          </a:prstGeom>
          <a:solidFill>
            <a:srgbClr val="FFFFFF"/>
          </a:solidFill>
          <a:ln w="9525">
            <a:solidFill>
              <a:srgbClr val="E2E8F0"/>
            </a:solidFill>
            <a:prstDash val="solid"/>
          </a:ln>
        </p:spPr>
      </p:sp>
      <p:sp>
        <p:nvSpPr>
          <p:cNvPr id="11" name="Shape 9"/>
          <p:cNvSpPr/>
          <p:nvPr/>
        </p:nvSpPr>
        <p:spPr>
          <a:xfrm>
            <a:off x="6949440" y="5486400"/>
            <a:ext cx="685800" cy="685800"/>
          </a:xfrm>
          <a:prstGeom prst="ellipse">
            <a:avLst/>
          </a:prstGeom>
          <a:solidFill>
            <a:srgbClr val="00915A"/>
          </a:solidFill>
          <a:ln w="12700">
            <a:solidFill>
              <a:srgbClr val="00915A"/>
            </a:solidFill>
            <a:prstDash val="solid"/>
          </a:ln>
        </p:spPr>
      </p:sp>
      <p:pic>
        <p:nvPicPr>
          <p:cNvPr id="12" name="Image 0" descr="preencoded.png">    </p:cNvPr>
          <p:cNvPicPr>
            <a:picLocks noChangeAspect="1"/>
          </p:cNvPicPr>
          <p:nvPr/>
        </p:nvPicPr>
        <p:blipFill>
          <a:blip r:embed="rId1"/>
          <a:stretch>
            <a:fillRect/>
          </a:stretch>
        </p:blipFill>
        <p:spPr>
          <a:xfrm>
            <a:off x="7086600" y="2423160"/>
            <a:ext cx="411480" cy="411480"/>
          </a:xfrm>
          <a:prstGeom prst="rect">
            <a:avLst/>
          </a:prstGeom>
        </p:spPr>
      </p:pic>
      <p:sp>
        <p:nvSpPr>
          <p:cNvPr id="13" name="Text 10"/>
          <p:cNvSpPr/>
          <p:nvPr/>
        </p:nvSpPr>
        <p:spPr>
          <a:xfrm>
            <a:off x="7909560" y="2194560"/>
            <a:ext cx="3474720" cy="411480"/>
          </a:xfrm>
          <a:prstGeom prst="rect">
            <a:avLst/>
          </a:prstGeom>
          <a:noFill/>
          <a:ln/>
        </p:spPr>
        <p:txBody>
          <a:bodyPr wrap="square" lIns="0" tIns="0" rIns="0" bIns="0" rtlCol="0" anchor="ctr"/>
          <a:lstStyle/>
          <a:p>
            <a:pPr indent="0" marL="0">
              <a:buNone/>
            </a:pPr>
            <a:r>
              <a:rPr lang="en-US" sz="1800" b="1" dirty="0">
                <a:solidFill>
                  <a:srgbClr val="1A2E28"/>
                </a:solidFill>
                <a:latin typeface="Georgia" pitchFamily="34" charset="0"/>
                <a:ea typeface="Georgia" pitchFamily="34" charset="-122"/>
                <a:cs typeface="Georgia" pitchFamily="34" charset="-120"/>
              </a:rPr>
              <a:t>Plateforme</a:t>
            </a:r>
            <a:endParaRPr lang="en-US" sz="1800" dirty="0"/>
          </a:p>
        </p:txBody>
      </p:sp>
      <p:sp>
        <p:nvSpPr>
          <p:cNvPr id="14" name="Text 11"/>
          <p:cNvSpPr/>
          <p:nvPr/>
        </p:nvSpPr>
        <p:spPr>
          <a:xfrm>
            <a:off x="7909560" y="2633472"/>
            <a:ext cx="3474720" cy="548640"/>
          </a:xfrm>
          <a:prstGeom prst="rect">
            <a:avLst/>
          </a:prstGeom>
          <a:noFill/>
          <a:ln/>
        </p:spPr>
        <p:txBody>
          <a:bodyPr wrap="square" lIns="0" tIns="0" rIns="0" bIns="0" rtlCol="0" anchor="ctr"/>
          <a:lstStyle/>
          <a:p>
            <a:pPr indent="0" marL="0">
              <a:buNone/>
            </a:pPr>
            <a:r>
              <a:rPr lang="en-US" sz="1200" dirty="0">
                <a:solidFill>
                  <a:srgbClr val="6B7B78"/>
                </a:solidFill>
                <a:latin typeface="Calibri" pitchFamily="34" charset="0"/>
                <a:ea typeface="Calibri" pitchFamily="34" charset="-122"/>
                <a:cs typeface="Calibri" pitchFamily="34" charset="-120"/>
              </a:rPr>
              <a:t>Comprendre la dMZR et l'écosystème IBM Cloud</a:t>
            </a:r>
            <a:endParaRPr lang="en-US" sz="1200" dirty="0"/>
          </a:p>
        </p:txBody>
      </p:sp>
      <p:pic>
        <p:nvPicPr>
          <p:cNvPr id="15" name="Image 1" descr="preencoded.png">    </p:cNvPr>
          <p:cNvPicPr>
            <a:picLocks noChangeAspect="1"/>
          </p:cNvPicPr>
          <p:nvPr/>
        </p:nvPicPr>
        <p:blipFill>
          <a:blip r:embed="rId2"/>
          <a:stretch>
            <a:fillRect/>
          </a:stretch>
        </p:blipFill>
        <p:spPr>
          <a:xfrm>
            <a:off x="7086600" y="4023360"/>
            <a:ext cx="411480" cy="411480"/>
          </a:xfrm>
          <a:prstGeom prst="rect">
            <a:avLst/>
          </a:prstGeom>
        </p:spPr>
      </p:pic>
      <p:sp>
        <p:nvSpPr>
          <p:cNvPr id="16" name="Text 12"/>
          <p:cNvSpPr/>
          <p:nvPr/>
        </p:nvSpPr>
        <p:spPr>
          <a:xfrm>
            <a:off x="7909560" y="3794760"/>
            <a:ext cx="3474720" cy="411480"/>
          </a:xfrm>
          <a:prstGeom prst="rect">
            <a:avLst/>
          </a:prstGeom>
          <a:noFill/>
          <a:ln/>
        </p:spPr>
        <p:txBody>
          <a:bodyPr wrap="square" lIns="0" tIns="0" rIns="0" bIns="0" rtlCol="0" anchor="ctr"/>
          <a:lstStyle/>
          <a:p>
            <a:pPr indent="0" marL="0">
              <a:buNone/>
            </a:pPr>
            <a:r>
              <a:rPr lang="en-US" sz="1800" b="1" dirty="0">
                <a:solidFill>
                  <a:srgbClr val="1A2E28"/>
                </a:solidFill>
                <a:latin typeface="Georgia" pitchFamily="34" charset="0"/>
                <a:ea typeface="Georgia" pitchFamily="34" charset="-122"/>
                <a:cs typeface="Georgia" pitchFamily="34" charset="-120"/>
              </a:rPr>
              <a:t>Consommation</a:t>
            </a:r>
            <a:endParaRPr lang="en-US" sz="1800" dirty="0"/>
          </a:p>
        </p:txBody>
      </p:sp>
      <p:sp>
        <p:nvSpPr>
          <p:cNvPr id="17" name="Text 13"/>
          <p:cNvSpPr/>
          <p:nvPr/>
        </p:nvSpPr>
        <p:spPr>
          <a:xfrm>
            <a:off x="7909560" y="4233672"/>
            <a:ext cx="3474720" cy="548640"/>
          </a:xfrm>
          <a:prstGeom prst="rect">
            <a:avLst/>
          </a:prstGeom>
          <a:noFill/>
          <a:ln/>
        </p:spPr>
        <p:txBody>
          <a:bodyPr wrap="square" lIns="0" tIns="0" rIns="0" bIns="0" rtlCol="0" anchor="ctr"/>
          <a:lstStyle/>
          <a:p>
            <a:pPr indent="0" marL="0">
              <a:buNone/>
            </a:pPr>
            <a:r>
              <a:rPr lang="en-US" sz="1200" dirty="0">
                <a:solidFill>
                  <a:srgbClr val="6B7B78"/>
                </a:solidFill>
                <a:latin typeface="Calibri" pitchFamily="34" charset="0"/>
                <a:ea typeface="Calibri" pitchFamily="34" charset="-122"/>
                <a:cs typeface="Calibri" pitchFamily="34" charset="-120"/>
              </a:rPr>
              <a:t>Maîtriser le cycle d'une commande Marketplace</a:t>
            </a:r>
            <a:endParaRPr lang="en-US" sz="1200" dirty="0"/>
          </a:p>
        </p:txBody>
      </p:sp>
      <p:pic>
        <p:nvPicPr>
          <p:cNvPr id="18" name="Image 2" descr="preencoded.png">    </p:cNvPr>
          <p:cNvPicPr>
            <a:picLocks noChangeAspect="1"/>
          </p:cNvPicPr>
          <p:nvPr/>
        </p:nvPicPr>
        <p:blipFill>
          <a:blip r:embed="rId3"/>
          <a:stretch>
            <a:fillRect/>
          </a:stretch>
        </p:blipFill>
        <p:spPr>
          <a:xfrm>
            <a:off x="7086600" y="5623560"/>
            <a:ext cx="411480" cy="411480"/>
          </a:xfrm>
          <a:prstGeom prst="rect">
            <a:avLst/>
          </a:prstGeom>
        </p:spPr>
      </p:pic>
      <p:sp>
        <p:nvSpPr>
          <p:cNvPr id="19" name="Text 14"/>
          <p:cNvSpPr/>
          <p:nvPr/>
        </p:nvSpPr>
        <p:spPr>
          <a:xfrm>
            <a:off x="7909560" y="5394960"/>
            <a:ext cx="3474720" cy="411480"/>
          </a:xfrm>
          <a:prstGeom prst="rect">
            <a:avLst/>
          </a:prstGeom>
          <a:noFill/>
          <a:ln/>
        </p:spPr>
        <p:txBody>
          <a:bodyPr wrap="square" lIns="0" tIns="0" rIns="0" bIns="0" rtlCol="0" anchor="ctr"/>
          <a:lstStyle/>
          <a:p>
            <a:pPr indent="0" marL="0">
              <a:buNone/>
            </a:pPr>
            <a:r>
              <a:rPr lang="en-US" sz="1800" b="1" dirty="0">
                <a:solidFill>
                  <a:srgbClr val="1A2E28"/>
                </a:solidFill>
                <a:latin typeface="Georgia" pitchFamily="34" charset="0"/>
                <a:ea typeface="Georgia" pitchFamily="34" charset="-122"/>
                <a:cs typeface="Georgia" pitchFamily="34" charset="-120"/>
              </a:rPr>
              <a:t>Organisation</a:t>
            </a:r>
            <a:endParaRPr lang="en-US" sz="1800" dirty="0"/>
          </a:p>
        </p:txBody>
      </p:sp>
      <p:sp>
        <p:nvSpPr>
          <p:cNvPr id="20" name="Text 15"/>
          <p:cNvSpPr/>
          <p:nvPr/>
        </p:nvSpPr>
        <p:spPr>
          <a:xfrm>
            <a:off x="7909560" y="5833872"/>
            <a:ext cx="3474720" cy="548640"/>
          </a:xfrm>
          <a:prstGeom prst="rect">
            <a:avLst/>
          </a:prstGeom>
          <a:noFill/>
          <a:ln/>
        </p:spPr>
        <p:txBody>
          <a:bodyPr wrap="square" lIns="0" tIns="0" rIns="0" bIns="0" rtlCol="0" anchor="ctr"/>
          <a:lstStyle/>
          <a:p>
            <a:pPr indent="0" marL="0">
              <a:buNone/>
            </a:pPr>
            <a:r>
              <a:rPr lang="en-US" sz="1200" dirty="0">
                <a:solidFill>
                  <a:srgbClr val="6B7B78"/>
                </a:solidFill>
                <a:latin typeface="Calibri" pitchFamily="34" charset="0"/>
                <a:ea typeface="Calibri" pitchFamily="34" charset="-122"/>
                <a:cs typeface="Calibri" pitchFamily="34" charset="-120"/>
              </a:rPr>
              <a:t>Identifier les interlocuteurs TOE et les appuis</a:t>
            </a:r>
            <a:endParaRPr lang="en-US" sz="1200" dirty="0"/>
          </a:p>
        </p:txBody>
      </p:sp>
      <p:sp>
        <p:nvSpPr>
          <p:cNvPr id="21" name="Text 16"/>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22" name="Text 17"/>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03 · Contexte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3A2B"/>
        </a:solidFill>
      </p:bgPr>
    </p:bg>
    <p:spTree>
      <p:nvGrpSpPr>
        <p:cNvPr id="1" name=""/>
        <p:cNvGrpSpPr/>
        <p:nvPr/>
      </p:nvGrpSpPr>
      <p:grpSpPr>
        <a:xfrm>
          <a:off x="0" y="0"/>
          <a:ext cx="0" cy="0"/>
          <a:chOff x="0" y="0"/>
          <a:chExt cx="0" cy="0"/>
        </a:xfrm>
      </p:grpSpPr>
      <p:sp>
        <p:nvSpPr>
          <p:cNvPr id="2" name="Text 0"/>
          <p:cNvSpPr/>
          <p:nvPr/>
        </p:nvSpPr>
        <p:spPr>
          <a:xfrm>
            <a:off x="9144000" y="731520"/>
            <a:ext cx="2743200" cy="5394960"/>
          </a:xfrm>
          <a:prstGeom prst="rect">
            <a:avLst/>
          </a:prstGeom>
          <a:noFill/>
          <a:ln/>
        </p:spPr>
        <p:txBody>
          <a:bodyPr wrap="square" lIns="0" tIns="0" rIns="0" bIns="0" rtlCol="0" anchor="ctr"/>
          <a:lstStyle/>
          <a:p>
            <a:pPr algn="ctr" indent="0" marL="0">
              <a:buNone/>
            </a:pPr>
            <a:r>
              <a:rPr lang="en-US" sz="30000" b="1" dirty="0">
                <a:solidFill>
                  <a:srgbClr val="0E5540"/>
                </a:solidFill>
                <a:latin typeface="Georgia" pitchFamily="34" charset="0"/>
                <a:ea typeface="Georgia" pitchFamily="34" charset="-122"/>
                <a:cs typeface="Georgia" pitchFamily="34" charset="-120"/>
              </a:rPr>
              <a:t>1</a:t>
            </a:r>
            <a:endParaRPr lang="en-US" sz="30000" dirty="0"/>
          </a:p>
        </p:txBody>
      </p:sp>
      <p:sp>
        <p:nvSpPr>
          <p:cNvPr id="3" name="Shape 1"/>
          <p:cNvSpPr/>
          <p:nvPr/>
        </p:nvSpPr>
        <p:spPr>
          <a:xfrm>
            <a:off x="640080" y="2286000"/>
            <a:ext cx="457200" cy="36576"/>
          </a:xfrm>
          <a:prstGeom prst="rect">
            <a:avLst/>
          </a:prstGeom>
          <a:solidFill>
            <a:srgbClr val="D4A840"/>
          </a:solidFill>
          <a:ln w="12700">
            <a:solidFill>
              <a:srgbClr val="D4A840"/>
            </a:solidFill>
            <a:prstDash val="solid"/>
          </a:ln>
        </p:spPr>
      </p:sp>
      <p:sp>
        <p:nvSpPr>
          <p:cNvPr id="4" name="Text 2"/>
          <p:cNvSpPr/>
          <p:nvPr/>
        </p:nvSpPr>
        <p:spPr>
          <a:xfrm>
            <a:off x="640080" y="2423160"/>
            <a:ext cx="5486400" cy="320040"/>
          </a:xfrm>
          <a:prstGeom prst="rect">
            <a:avLst/>
          </a:prstGeom>
          <a:noFill/>
          <a:ln/>
        </p:spPr>
        <p:txBody>
          <a:bodyPr wrap="square" lIns="0" tIns="0" rIns="0" bIns="0" rtlCol="0" anchor="ctr"/>
          <a:lstStyle/>
          <a:p>
            <a:pPr indent="0" marL="0">
              <a:buNone/>
            </a:pPr>
            <a:r>
              <a:rPr lang="en-US" sz="1200" b="1" spc="800" kern="0" dirty="0">
                <a:solidFill>
                  <a:srgbClr val="D4A840"/>
                </a:solidFill>
                <a:latin typeface="Calibri" pitchFamily="34" charset="0"/>
                <a:ea typeface="Calibri" pitchFamily="34" charset="-122"/>
                <a:cs typeface="Calibri" pitchFamily="34" charset="-120"/>
              </a:rPr>
              <a:t>SECTION 01</a:t>
            </a:r>
            <a:endParaRPr lang="en-US" sz="1200" dirty="0"/>
          </a:p>
        </p:txBody>
      </p:sp>
      <p:sp>
        <p:nvSpPr>
          <p:cNvPr id="5" name="Text 3"/>
          <p:cNvSpPr/>
          <p:nvPr/>
        </p:nvSpPr>
        <p:spPr>
          <a:xfrm>
            <a:off x="640080" y="2971800"/>
            <a:ext cx="8412480" cy="118872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dMZR</a:t>
            </a:r>
            <a:endParaRPr lang="en-US" sz="5400" dirty="0"/>
          </a:p>
        </p:txBody>
      </p:sp>
      <p:sp>
        <p:nvSpPr>
          <p:cNvPr id="6" name="Text 4"/>
          <p:cNvSpPr/>
          <p:nvPr/>
        </p:nvSpPr>
        <p:spPr>
          <a:xfrm>
            <a:off x="640080" y="4343400"/>
            <a:ext cx="8412480" cy="1005840"/>
          </a:xfrm>
          <a:prstGeom prst="rect">
            <a:avLst/>
          </a:prstGeom>
          <a:noFill/>
          <a:ln/>
        </p:spPr>
        <p:txBody>
          <a:bodyPr wrap="square" lIns="0" tIns="0" rIns="0" bIns="0" rtlCol="0" anchor="ctr"/>
          <a:lstStyle/>
          <a:p>
            <a:pPr indent="0" marL="0">
              <a:lnSpc>
                <a:spcPct val="130000"/>
              </a:lnSpc>
              <a:buNone/>
            </a:pPr>
            <a:r>
              <a:rPr lang="en-US" sz="1900" i="1" dirty="0">
                <a:solidFill>
                  <a:srgbClr val="C9D6CF"/>
                </a:solidFill>
                <a:latin typeface="Georgia" pitchFamily="34" charset="0"/>
                <a:ea typeface="Georgia" pitchFamily="34" charset="-122"/>
                <a:cs typeface="Georgia" pitchFamily="34" charset="-120"/>
              </a:rPr>
              <a:t>Deux infrastructures : dMZR (IKS) et dMZR aS Code (ROKS)</a:t>
            </a:r>
            <a:endParaRPr lang="en-US" sz="1900" dirty="0"/>
          </a:p>
        </p:txBody>
      </p:sp>
      <p:sp>
        <p:nvSpPr>
          <p:cNvPr id="7" name="Text 5"/>
          <p:cNvSpPr/>
          <p:nvPr/>
        </p:nvSpPr>
        <p:spPr>
          <a:xfrm>
            <a:off x="640080" y="6172200"/>
            <a:ext cx="5486400" cy="274320"/>
          </a:xfrm>
          <a:prstGeom prst="rect">
            <a:avLst/>
          </a:prstGeom>
          <a:noFill/>
          <a:ln/>
        </p:spPr>
        <p:txBody>
          <a:bodyPr wrap="square" lIns="0" tIns="0" rIns="0" bIns="0" rtlCol="0" anchor="ctr"/>
          <a:lstStyle/>
          <a:p>
            <a:pPr indent="0" marL="0">
              <a:buNone/>
            </a:pPr>
            <a:r>
              <a:rPr lang="en-US" sz="1100" b="1" spc="800" kern="0" dirty="0">
                <a:solidFill>
                  <a:srgbClr val="FFFFFF"/>
                </a:solidFill>
                <a:latin typeface="Calibri" pitchFamily="34" charset="0"/>
                <a:ea typeface="Calibri" pitchFamily="34" charset="-122"/>
                <a:cs typeface="Calibri" pitchFamily="34" charset="-120"/>
              </a:rPr>
              <a:t>BNP PARIBAS CARDIF</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01 · dMZR</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Une région IBM Cloud, deux infrastructures</a:t>
            </a:r>
            <a:endParaRPr lang="en-US" sz="3200" dirty="0"/>
          </a:p>
        </p:txBody>
      </p:sp>
      <p:sp>
        <p:nvSpPr>
          <p:cNvPr id="4" name="Text 2"/>
          <p:cNvSpPr/>
          <p:nvPr/>
        </p:nvSpPr>
        <p:spPr>
          <a:xfrm>
            <a:off x="640080" y="1828800"/>
            <a:ext cx="10972800" cy="822960"/>
          </a:xfrm>
          <a:prstGeom prst="rect">
            <a:avLst/>
          </a:prstGeom>
          <a:noFill/>
          <a:ln/>
        </p:spPr>
        <p:txBody>
          <a:bodyPr wrap="square" lIns="0" tIns="0" rIns="0" bIns="0" rtlCol="0" anchor="ctr"/>
          <a:lstStyle/>
          <a:p>
            <a:pPr indent="0" marL="0">
              <a:lnSpc>
                <a:spcPct val="130000"/>
              </a:lnSpc>
              <a:buNone/>
            </a:pPr>
            <a:r>
              <a:rPr lang="en-US" sz="1500" i="1" dirty="0">
                <a:solidFill>
                  <a:srgbClr val="2C2C2C"/>
                </a:solidFill>
                <a:latin typeface="Georgia" pitchFamily="34" charset="0"/>
                <a:ea typeface="Georgia" pitchFamily="34" charset="-122"/>
                <a:cs typeface="Georgia" pitchFamily="34" charset="-120"/>
              </a:rPr>
              <a:t>La région Cloud IBM dédiée à BNP Paribas héberge deux infrastructures distinctes, toutes deux en production et opérées par BP2I. Les projets hébergés sur la dMZR migrent progressivement vers la dMZR aS Code.</a:t>
            </a:r>
            <a:endParaRPr lang="en-US" sz="1500" dirty="0"/>
          </a:p>
        </p:txBody>
      </p:sp>
      <p:sp>
        <p:nvSpPr>
          <p:cNvPr id="5" name="Shape 3"/>
          <p:cNvSpPr/>
          <p:nvPr/>
        </p:nvSpPr>
        <p:spPr>
          <a:xfrm>
            <a:off x="640080" y="2743200"/>
            <a:ext cx="5440680" cy="338328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8000"/>
              </a:srgbClr>
            </a:outerShdw>
          </a:effectLst>
        </p:spPr>
      </p:sp>
      <p:sp>
        <p:nvSpPr>
          <p:cNvPr id="6" name="Shape 4"/>
          <p:cNvSpPr/>
          <p:nvPr/>
        </p:nvSpPr>
        <p:spPr>
          <a:xfrm>
            <a:off x="640080" y="2743200"/>
            <a:ext cx="5440680" cy="109728"/>
          </a:xfrm>
          <a:prstGeom prst="rect">
            <a:avLst/>
          </a:prstGeom>
          <a:solidFill>
            <a:srgbClr val="00915A"/>
          </a:solidFill>
          <a:ln w="12700">
            <a:solidFill>
              <a:srgbClr val="00915A"/>
            </a:solidFill>
            <a:prstDash val="solid"/>
          </a:ln>
        </p:spPr>
      </p:sp>
      <p:sp>
        <p:nvSpPr>
          <p:cNvPr id="7" name="Shape 5"/>
          <p:cNvSpPr/>
          <p:nvPr/>
        </p:nvSpPr>
        <p:spPr>
          <a:xfrm>
            <a:off x="914400" y="3063240"/>
            <a:ext cx="2468880" cy="320040"/>
          </a:xfrm>
          <a:prstGeom prst="rect">
            <a:avLst/>
          </a:prstGeom>
          <a:solidFill>
            <a:srgbClr val="00915A"/>
          </a:solidFill>
          <a:ln w="12700">
            <a:solidFill>
              <a:srgbClr val="00915A"/>
            </a:solidFill>
            <a:prstDash val="solid"/>
          </a:ln>
        </p:spPr>
      </p:sp>
      <p:sp>
        <p:nvSpPr>
          <p:cNvPr id="8" name="Text 6"/>
          <p:cNvSpPr/>
          <p:nvPr/>
        </p:nvSpPr>
        <p:spPr>
          <a:xfrm>
            <a:off x="914400" y="3063240"/>
            <a:ext cx="2468880" cy="320040"/>
          </a:xfrm>
          <a:prstGeom prst="rect">
            <a:avLst/>
          </a:prstGeom>
          <a:noFill/>
          <a:ln/>
        </p:spPr>
        <p:txBody>
          <a:bodyPr wrap="square" lIns="0" tIns="0" rIns="0" bIns="0" rtlCol="0" anchor="ctr"/>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EN PRODUCTION</a:t>
            </a:r>
            <a:endParaRPr lang="en-US" sz="1000" dirty="0"/>
          </a:p>
        </p:txBody>
      </p:sp>
      <p:sp>
        <p:nvSpPr>
          <p:cNvPr id="9" name="Text 7"/>
          <p:cNvSpPr/>
          <p:nvPr/>
        </p:nvSpPr>
        <p:spPr>
          <a:xfrm>
            <a:off x="914400" y="3520440"/>
            <a:ext cx="4892040" cy="548640"/>
          </a:xfrm>
          <a:prstGeom prst="rect">
            <a:avLst/>
          </a:prstGeom>
          <a:noFill/>
          <a:ln/>
        </p:spPr>
        <p:txBody>
          <a:bodyPr wrap="square" lIns="0" tIns="0" rIns="0" bIns="0" rtlCol="0" anchor="ctr"/>
          <a:lstStyle/>
          <a:p>
            <a:pPr indent="0" marL="0">
              <a:buNone/>
            </a:pPr>
            <a:r>
              <a:rPr lang="en-US" sz="3000" b="1" dirty="0">
                <a:solidFill>
                  <a:srgbClr val="1A2E28"/>
                </a:solidFill>
                <a:latin typeface="Georgia" pitchFamily="34" charset="0"/>
                <a:ea typeface="Georgia" pitchFamily="34" charset="-122"/>
                <a:cs typeface="Georgia" pitchFamily="34" charset="-120"/>
              </a:rPr>
              <a:t>dMZR</a:t>
            </a:r>
            <a:endParaRPr lang="en-US" sz="3000" dirty="0"/>
          </a:p>
        </p:txBody>
      </p:sp>
      <p:sp>
        <p:nvSpPr>
          <p:cNvPr id="10" name="Text 8"/>
          <p:cNvSpPr/>
          <p:nvPr/>
        </p:nvSpPr>
        <p:spPr>
          <a:xfrm>
            <a:off x="914400" y="4096512"/>
            <a:ext cx="4892040" cy="320040"/>
          </a:xfrm>
          <a:prstGeom prst="rect">
            <a:avLst/>
          </a:prstGeom>
          <a:noFill/>
          <a:ln/>
        </p:spPr>
        <p:txBody>
          <a:bodyPr wrap="square" lIns="0" tIns="0" rIns="0" bIns="0" rtlCol="0" anchor="ctr"/>
          <a:lstStyle/>
          <a:p>
            <a:pPr indent="0" marL="0">
              <a:buNone/>
            </a:pPr>
            <a:r>
              <a:rPr lang="en-US" sz="1300" i="1" dirty="0">
                <a:solidFill>
                  <a:srgbClr val="6B7B78"/>
                </a:solidFill>
                <a:latin typeface="Calibri" pitchFamily="34" charset="0"/>
                <a:ea typeface="Calibri" pitchFamily="34" charset="-122"/>
                <a:cs typeface="Calibri" pitchFamily="34" charset="-120"/>
              </a:rPr>
              <a:t>Infrastructure historique · migration en cours</a:t>
            </a:r>
            <a:endParaRPr lang="en-US" sz="1300" dirty="0"/>
          </a:p>
        </p:txBody>
      </p:sp>
      <p:sp>
        <p:nvSpPr>
          <p:cNvPr id="11" name="Text 9"/>
          <p:cNvSpPr/>
          <p:nvPr/>
        </p:nvSpPr>
        <p:spPr>
          <a:xfrm>
            <a:off x="914400" y="4526280"/>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COMPUTE</a:t>
            </a:r>
            <a:endParaRPr lang="en-US" sz="900" dirty="0"/>
          </a:p>
        </p:txBody>
      </p:sp>
      <p:sp>
        <p:nvSpPr>
          <p:cNvPr id="12" name="Text 10"/>
          <p:cNvSpPr/>
          <p:nvPr/>
        </p:nvSpPr>
        <p:spPr>
          <a:xfrm>
            <a:off x="2377440" y="4526280"/>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IKS · VSI</a:t>
            </a:r>
            <a:endParaRPr lang="en-US" sz="1100" dirty="0"/>
          </a:p>
        </p:txBody>
      </p:sp>
      <p:sp>
        <p:nvSpPr>
          <p:cNvPr id="13" name="Shape 11"/>
          <p:cNvSpPr/>
          <p:nvPr/>
        </p:nvSpPr>
        <p:spPr>
          <a:xfrm>
            <a:off x="914400" y="4837176"/>
            <a:ext cx="4892040" cy="0"/>
          </a:xfrm>
          <a:prstGeom prst="line">
            <a:avLst/>
          </a:prstGeom>
          <a:noFill/>
          <a:ln w="5080">
            <a:solidFill>
              <a:srgbClr val="E2E8F0"/>
            </a:solidFill>
            <a:prstDash val="solid"/>
          </a:ln>
        </p:spPr>
      </p:sp>
      <p:sp>
        <p:nvSpPr>
          <p:cNvPr id="14" name="Text 12"/>
          <p:cNvSpPr/>
          <p:nvPr/>
        </p:nvSpPr>
        <p:spPr>
          <a:xfrm>
            <a:off x="914400" y="4837176"/>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SERVICES</a:t>
            </a:r>
            <a:endParaRPr lang="en-US" sz="900" dirty="0"/>
          </a:p>
        </p:txBody>
      </p:sp>
      <p:sp>
        <p:nvSpPr>
          <p:cNvPr id="15" name="Text 13"/>
          <p:cNvSpPr/>
          <p:nvPr/>
        </p:nvSpPr>
        <p:spPr>
          <a:xfrm>
            <a:off x="2377440" y="4837176"/>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Kafka · Databases · COS</a:t>
            </a:r>
            <a:endParaRPr lang="en-US" sz="1100" dirty="0"/>
          </a:p>
        </p:txBody>
      </p:sp>
      <p:sp>
        <p:nvSpPr>
          <p:cNvPr id="16" name="Shape 14"/>
          <p:cNvSpPr/>
          <p:nvPr/>
        </p:nvSpPr>
        <p:spPr>
          <a:xfrm>
            <a:off x="914400" y="5148072"/>
            <a:ext cx="4892040" cy="0"/>
          </a:xfrm>
          <a:prstGeom prst="line">
            <a:avLst/>
          </a:prstGeom>
          <a:noFill/>
          <a:ln w="5080">
            <a:solidFill>
              <a:srgbClr val="E2E8F0"/>
            </a:solidFill>
            <a:prstDash val="solid"/>
          </a:ln>
        </p:spPr>
      </p:sp>
      <p:sp>
        <p:nvSpPr>
          <p:cNvPr id="17" name="Text 15"/>
          <p:cNvSpPr/>
          <p:nvPr/>
        </p:nvSpPr>
        <p:spPr>
          <a:xfrm>
            <a:off x="914400" y="5148072"/>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UNITÉ</a:t>
            </a:r>
            <a:endParaRPr lang="en-US" sz="900" dirty="0"/>
          </a:p>
        </p:txBody>
      </p:sp>
      <p:sp>
        <p:nvSpPr>
          <p:cNvPr id="18" name="Text 16"/>
          <p:cNvSpPr/>
          <p:nvPr/>
        </p:nvSpPr>
        <p:spPr>
          <a:xfrm>
            <a:off x="2377440" y="5148072"/>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Écosystème</a:t>
            </a:r>
            <a:endParaRPr lang="en-US" sz="1100" dirty="0"/>
          </a:p>
        </p:txBody>
      </p:sp>
      <p:sp>
        <p:nvSpPr>
          <p:cNvPr id="19" name="Shape 17"/>
          <p:cNvSpPr/>
          <p:nvPr/>
        </p:nvSpPr>
        <p:spPr>
          <a:xfrm>
            <a:off x="914400" y="5458968"/>
            <a:ext cx="4892040" cy="0"/>
          </a:xfrm>
          <a:prstGeom prst="line">
            <a:avLst/>
          </a:prstGeom>
          <a:noFill/>
          <a:ln w="5080">
            <a:solidFill>
              <a:srgbClr val="E2E8F0"/>
            </a:solidFill>
            <a:prstDash val="solid"/>
          </a:ln>
        </p:spPr>
      </p:sp>
      <p:sp>
        <p:nvSpPr>
          <p:cNvPr id="20" name="Text 18"/>
          <p:cNvSpPr/>
          <p:nvPr/>
        </p:nvSpPr>
        <p:spPr>
          <a:xfrm>
            <a:off x="914400" y="5458968"/>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PROVISIONING</a:t>
            </a:r>
            <a:endParaRPr lang="en-US" sz="900" dirty="0"/>
          </a:p>
        </p:txBody>
      </p:sp>
      <p:sp>
        <p:nvSpPr>
          <p:cNvPr id="21" name="Text 19"/>
          <p:cNvSpPr/>
          <p:nvPr/>
        </p:nvSpPr>
        <p:spPr>
          <a:xfrm>
            <a:off x="2377440" y="5458968"/>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Marketplace · API REST (Swagger)</a:t>
            </a:r>
            <a:endParaRPr lang="en-US" sz="1100" dirty="0"/>
          </a:p>
        </p:txBody>
      </p:sp>
      <p:sp>
        <p:nvSpPr>
          <p:cNvPr id="22" name="Shape 20"/>
          <p:cNvSpPr/>
          <p:nvPr/>
        </p:nvSpPr>
        <p:spPr>
          <a:xfrm>
            <a:off x="914400" y="5769864"/>
            <a:ext cx="4892040" cy="0"/>
          </a:xfrm>
          <a:prstGeom prst="line">
            <a:avLst/>
          </a:prstGeom>
          <a:noFill/>
          <a:ln w="5080">
            <a:solidFill>
              <a:srgbClr val="E2E8F0"/>
            </a:solidFill>
            <a:prstDash val="solid"/>
          </a:ln>
        </p:spPr>
      </p:sp>
      <p:sp>
        <p:nvSpPr>
          <p:cNvPr id="23" name="Text 21"/>
          <p:cNvSpPr/>
          <p:nvPr/>
        </p:nvSpPr>
        <p:spPr>
          <a:xfrm>
            <a:off x="914400" y="5769864"/>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ÉTAT</a:t>
            </a:r>
            <a:endParaRPr lang="en-US" sz="900" dirty="0"/>
          </a:p>
        </p:txBody>
      </p:sp>
      <p:sp>
        <p:nvSpPr>
          <p:cNvPr id="24" name="Text 22"/>
          <p:cNvSpPr/>
          <p:nvPr/>
        </p:nvSpPr>
        <p:spPr>
          <a:xfrm>
            <a:off x="2377440" y="5769864"/>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En production · projets en migration</a:t>
            </a:r>
            <a:endParaRPr lang="en-US" sz="1100" dirty="0"/>
          </a:p>
        </p:txBody>
      </p:sp>
      <p:sp>
        <p:nvSpPr>
          <p:cNvPr id="25" name="Shape 23"/>
          <p:cNvSpPr/>
          <p:nvPr/>
        </p:nvSpPr>
        <p:spPr>
          <a:xfrm>
            <a:off x="6309360" y="2743200"/>
            <a:ext cx="5440680" cy="338328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8000"/>
              </a:srgbClr>
            </a:outerShdw>
          </a:effectLst>
        </p:spPr>
      </p:sp>
      <p:sp>
        <p:nvSpPr>
          <p:cNvPr id="26" name="Shape 24"/>
          <p:cNvSpPr/>
          <p:nvPr/>
        </p:nvSpPr>
        <p:spPr>
          <a:xfrm>
            <a:off x="6309360" y="2743200"/>
            <a:ext cx="5440680" cy="109728"/>
          </a:xfrm>
          <a:prstGeom prst="rect">
            <a:avLst/>
          </a:prstGeom>
          <a:solidFill>
            <a:srgbClr val="D4A840"/>
          </a:solidFill>
          <a:ln w="12700">
            <a:solidFill>
              <a:srgbClr val="D4A840"/>
            </a:solidFill>
            <a:prstDash val="solid"/>
          </a:ln>
        </p:spPr>
      </p:sp>
      <p:sp>
        <p:nvSpPr>
          <p:cNvPr id="27" name="Shape 25"/>
          <p:cNvSpPr/>
          <p:nvPr/>
        </p:nvSpPr>
        <p:spPr>
          <a:xfrm>
            <a:off x="6583680" y="3063240"/>
            <a:ext cx="3931920" cy="320040"/>
          </a:xfrm>
          <a:prstGeom prst="rect">
            <a:avLst/>
          </a:prstGeom>
          <a:solidFill>
            <a:srgbClr val="D4A840"/>
          </a:solidFill>
          <a:ln w="12700">
            <a:solidFill>
              <a:srgbClr val="D4A840"/>
            </a:solidFill>
            <a:prstDash val="solid"/>
          </a:ln>
        </p:spPr>
      </p:sp>
      <p:sp>
        <p:nvSpPr>
          <p:cNvPr id="28" name="Text 26"/>
          <p:cNvSpPr/>
          <p:nvPr/>
        </p:nvSpPr>
        <p:spPr>
          <a:xfrm>
            <a:off x="6583680" y="3063240"/>
            <a:ext cx="3931920" cy="320040"/>
          </a:xfrm>
          <a:prstGeom prst="rect">
            <a:avLst/>
          </a:prstGeom>
          <a:noFill/>
          <a:ln/>
        </p:spPr>
        <p:txBody>
          <a:bodyPr wrap="square" lIns="0" tIns="0" rIns="0" bIns="0" rtlCol="0" anchor="ctr"/>
          <a:lstStyle/>
          <a:p>
            <a:pPr algn="ctr" indent="0" marL="0">
              <a:buNone/>
            </a:pPr>
            <a:r>
              <a:rPr lang="en-US" sz="900" b="1" spc="300" kern="0" dirty="0">
                <a:solidFill>
                  <a:srgbClr val="003A2B"/>
                </a:solidFill>
                <a:latin typeface="Calibri" pitchFamily="34" charset="0"/>
                <a:ea typeface="Calibri" pitchFamily="34" charset="-122"/>
                <a:cs typeface="Calibri" pitchFamily="34" charset="-120"/>
              </a:rPr>
              <a:t>EN PRODUCTION · CIBLE DE MIGRATION</a:t>
            </a:r>
            <a:endParaRPr lang="en-US" sz="900" dirty="0"/>
          </a:p>
        </p:txBody>
      </p:sp>
      <p:sp>
        <p:nvSpPr>
          <p:cNvPr id="29" name="Text 27"/>
          <p:cNvSpPr/>
          <p:nvPr/>
        </p:nvSpPr>
        <p:spPr>
          <a:xfrm>
            <a:off x="6583680" y="3520440"/>
            <a:ext cx="4892040" cy="548640"/>
          </a:xfrm>
          <a:prstGeom prst="rect">
            <a:avLst/>
          </a:prstGeom>
          <a:noFill/>
          <a:ln/>
        </p:spPr>
        <p:txBody>
          <a:bodyPr wrap="square" lIns="0" tIns="0" rIns="0" bIns="0" rtlCol="0" anchor="ctr"/>
          <a:lstStyle/>
          <a:p>
            <a:pPr indent="0" marL="0">
              <a:buNone/>
            </a:pPr>
            <a:r>
              <a:rPr lang="en-US" sz="3000" b="1" dirty="0">
                <a:solidFill>
                  <a:srgbClr val="1A2E28"/>
                </a:solidFill>
                <a:latin typeface="Georgia" pitchFamily="34" charset="0"/>
                <a:ea typeface="Georgia" pitchFamily="34" charset="-122"/>
                <a:cs typeface="Georgia" pitchFamily="34" charset="-120"/>
              </a:rPr>
              <a:t>dMZR aS Code</a:t>
            </a:r>
            <a:endParaRPr lang="en-US" sz="3000" dirty="0"/>
          </a:p>
        </p:txBody>
      </p:sp>
      <p:sp>
        <p:nvSpPr>
          <p:cNvPr id="30" name="Text 28"/>
          <p:cNvSpPr/>
          <p:nvPr/>
        </p:nvSpPr>
        <p:spPr>
          <a:xfrm>
            <a:off x="6583680" y="4096512"/>
            <a:ext cx="4892040" cy="320040"/>
          </a:xfrm>
          <a:prstGeom prst="rect">
            <a:avLst/>
          </a:prstGeom>
          <a:noFill/>
          <a:ln/>
        </p:spPr>
        <p:txBody>
          <a:bodyPr wrap="square" lIns="0" tIns="0" rIns="0" bIns="0" rtlCol="0" anchor="ctr"/>
          <a:lstStyle/>
          <a:p>
            <a:pPr indent="0" marL="0">
              <a:buNone/>
            </a:pPr>
            <a:r>
              <a:rPr lang="en-US" sz="1300" i="1" dirty="0">
                <a:solidFill>
                  <a:srgbClr val="6B7B78"/>
                </a:solidFill>
                <a:latin typeface="Calibri" pitchFamily="34" charset="0"/>
                <a:ea typeface="Calibri" pitchFamily="34" charset="-122"/>
                <a:cs typeface="Calibri" pitchFamily="34" charset="-120"/>
              </a:rPr>
              <a:t>Nouvelle génération · accueille les migrations</a:t>
            </a:r>
            <a:endParaRPr lang="en-US" sz="1300" dirty="0"/>
          </a:p>
        </p:txBody>
      </p:sp>
      <p:sp>
        <p:nvSpPr>
          <p:cNvPr id="31" name="Text 29"/>
          <p:cNvSpPr/>
          <p:nvPr/>
        </p:nvSpPr>
        <p:spPr>
          <a:xfrm>
            <a:off x="6583680" y="4526280"/>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COMPUTE</a:t>
            </a:r>
            <a:endParaRPr lang="en-US" sz="900" dirty="0"/>
          </a:p>
        </p:txBody>
      </p:sp>
      <p:sp>
        <p:nvSpPr>
          <p:cNvPr id="32" name="Text 30"/>
          <p:cNvSpPr/>
          <p:nvPr/>
        </p:nvSpPr>
        <p:spPr>
          <a:xfrm>
            <a:off x="8046720" y="4526280"/>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ROKS · VSI aS Code</a:t>
            </a:r>
            <a:endParaRPr lang="en-US" sz="1100" dirty="0"/>
          </a:p>
        </p:txBody>
      </p:sp>
      <p:sp>
        <p:nvSpPr>
          <p:cNvPr id="33" name="Shape 31"/>
          <p:cNvSpPr/>
          <p:nvPr/>
        </p:nvSpPr>
        <p:spPr>
          <a:xfrm>
            <a:off x="6583680" y="4837176"/>
            <a:ext cx="4892040" cy="0"/>
          </a:xfrm>
          <a:prstGeom prst="line">
            <a:avLst/>
          </a:prstGeom>
          <a:noFill/>
          <a:ln w="5080">
            <a:solidFill>
              <a:srgbClr val="E2E8F0"/>
            </a:solidFill>
            <a:prstDash val="solid"/>
          </a:ln>
        </p:spPr>
      </p:sp>
      <p:sp>
        <p:nvSpPr>
          <p:cNvPr id="34" name="Text 32"/>
          <p:cNvSpPr/>
          <p:nvPr/>
        </p:nvSpPr>
        <p:spPr>
          <a:xfrm>
            <a:off x="6583680" y="4837176"/>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SERVICES</a:t>
            </a:r>
            <a:endParaRPr lang="en-US" sz="900" dirty="0"/>
          </a:p>
        </p:txBody>
      </p:sp>
      <p:sp>
        <p:nvSpPr>
          <p:cNvPr id="35" name="Text 33"/>
          <p:cNvSpPr/>
          <p:nvPr/>
        </p:nvSpPr>
        <p:spPr>
          <a:xfrm>
            <a:off x="8046720" y="4837176"/>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Kafka aS Code · Databases aS Code</a:t>
            </a:r>
            <a:endParaRPr lang="en-US" sz="1100" dirty="0"/>
          </a:p>
        </p:txBody>
      </p:sp>
      <p:sp>
        <p:nvSpPr>
          <p:cNvPr id="36" name="Shape 34"/>
          <p:cNvSpPr/>
          <p:nvPr/>
        </p:nvSpPr>
        <p:spPr>
          <a:xfrm>
            <a:off x="6583680" y="5148072"/>
            <a:ext cx="4892040" cy="0"/>
          </a:xfrm>
          <a:prstGeom prst="line">
            <a:avLst/>
          </a:prstGeom>
          <a:noFill/>
          <a:ln w="5080">
            <a:solidFill>
              <a:srgbClr val="E2E8F0"/>
            </a:solidFill>
            <a:prstDash val="solid"/>
          </a:ln>
        </p:spPr>
      </p:sp>
      <p:sp>
        <p:nvSpPr>
          <p:cNvPr id="37" name="Text 35"/>
          <p:cNvSpPr/>
          <p:nvPr/>
        </p:nvSpPr>
        <p:spPr>
          <a:xfrm>
            <a:off x="6583680" y="5148072"/>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UNITÉ</a:t>
            </a:r>
            <a:endParaRPr lang="en-US" sz="900" dirty="0"/>
          </a:p>
        </p:txBody>
      </p:sp>
      <p:sp>
        <p:nvSpPr>
          <p:cNvPr id="38" name="Text 36"/>
          <p:cNvSpPr/>
          <p:nvPr/>
        </p:nvSpPr>
        <p:spPr>
          <a:xfrm>
            <a:off x="8046720" y="5148072"/>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Realm</a:t>
            </a:r>
            <a:endParaRPr lang="en-US" sz="1100" dirty="0"/>
          </a:p>
        </p:txBody>
      </p:sp>
      <p:sp>
        <p:nvSpPr>
          <p:cNvPr id="39" name="Shape 37"/>
          <p:cNvSpPr/>
          <p:nvPr/>
        </p:nvSpPr>
        <p:spPr>
          <a:xfrm>
            <a:off x="6583680" y="5458968"/>
            <a:ext cx="4892040" cy="0"/>
          </a:xfrm>
          <a:prstGeom prst="line">
            <a:avLst/>
          </a:prstGeom>
          <a:noFill/>
          <a:ln w="5080">
            <a:solidFill>
              <a:srgbClr val="E2E8F0"/>
            </a:solidFill>
            <a:prstDash val="solid"/>
          </a:ln>
        </p:spPr>
      </p:sp>
      <p:sp>
        <p:nvSpPr>
          <p:cNvPr id="40" name="Text 38"/>
          <p:cNvSpPr/>
          <p:nvPr/>
        </p:nvSpPr>
        <p:spPr>
          <a:xfrm>
            <a:off x="6583680" y="5458968"/>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PROVISIONING</a:t>
            </a:r>
            <a:endParaRPr lang="en-US" sz="900" dirty="0"/>
          </a:p>
        </p:txBody>
      </p:sp>
      <p:sp>
        <p:nvSpPr>
          <p:cNvPr id="41" name="Text 39"/>
          <p:cNvSpPr/>
          <p:nvPr/>
        </p:nvSpPr>
        <p:spPr>
          <a:xfrm>
            <a:off x="8046720" y="5458968"/>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Terraform · Marketplace</a:t>
            </a:r>
            <a:endParaRPr lang="en-US" sz="1100" dirty="0"/>
          </a:p>
        </p:txBody>
      </p:sp>
      <p:sp>
        <p:nvSpPr>
          <p:cNvPr id="42" name="Shape 40"/>
          <p:cNvSpPr/>
          <p:nvPr/>
        </p:nvSpPr>
        <p:spPr>
          <a:xfrm>
            <a:off x="6583680" y="5769864"/>
            <a:ext cx="4892040" cy="0"/>
          </a:xfrm>
          <a:prstGeom prst="line">
            <a:avLst/>
          </a:prstGeom>
          <a:noFill/>
          <a:ln w="5080">
            <a:solidFill>
              <a:srgbClr val="E2E8F0"/>
            </a:solidFill>
            <a:prstDash val="solid"/>
          </a:ln>
        </p:spPr>
      </p:sp>
      <p:sp>
        <p:nvSpPr>
          <p:cNvPr id="43" name="Text 41"/>
          <p:cNvSpPr/>
          <p:nvPr/>
        </p:nvSpPr>
        <p:spPr>
          <a:xfrm>
            <a:off x="6583680" y="5769864"/>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ÉTAT</a:t>
            </a:r>
            <a:endParaRPr lang="en-US" sz="900" dirty="0"/>
          </a:p>
        </p:txBody>
      </p:sp>
      <p:sp>
        <p:nvSpPr>
          <p:cNvPr id="44" name="Text 42"/>
          <p:cNvSpPr/>
          <p:nvPr/>
        </p:nvSpPr>
        <p:spPr>
          <a:xfrm>
            <a:off x="8046720" y="5769864"/>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En production · accueille les nouveaux projets</a:t>
            </a:r>
            <a:endParaRPr lang="en-US" sz="1100" dirty="0"/>
          </a:p>
        </p:txBody>
      </p:sp>
      <p:sp>
        <p:nvSpPr>
          <p:cNvPr id="45" name="Text 43"/>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46" name="Text 44"/>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05 · dMZR</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01 · dMZR</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Composition du socle</a:t>
            </a:r>
            <a:endParaRPr lang="en-US" sz="3200" dirty="0"/>
          </a:p>
        </p:txBody>
      </p:sp>
      <p:sp>
        <p:nvSpPr>
          <p:cNvPr id="4" name="Text 2"/>
          <p:cNvSpPr/>
          <p:nvPr/>
        </p:nvSpPr>
        <p:spPr>
          <a:xfrm>
            <a:off x="640080" y="1783080"/>
            <a:ext cx="10972800" cy="457200"/>
          </a:xfrm>
          <a:prstGeom prst="rect">
            <a:avLst/>
          </a:prstGeom>
          <a:noFill/>
          <a:ln/>
        </p:spPr>
        <p:txBody>
          <a:bodyPr wrap="square" lIns="0" tIns="0" rIns="0" bIns="0" rtlCol="0" anchor="ctr"/>
          <a:lstStyle/>
          <a:p>
            <a:pPr indent="0" marL="0">
              <a:lnSpc>
                <a:spcPct val="130000"/>
              </a:lnSpc>
              <a:buNone/>
            </a:pPr>
            <a:r>
              <a:rPr lang="en-US" sz="1300" i="1" dirty="0">
                <a:solidFill>
                  <a:srgbClr val="2C2C2C"/>
                </a:solidFill>
                <a:latin typeface="Georgia" pitchFamily="34" charset="0"/>
                <a:ea typeface="Georgia" pitchFamily="34" charset="-122"/>
                <a:cs typeface="Georgia" pitchFamily="34" charset="-120"/>
              </a:rPr>
              <a:t>Les deux infrastructures partagent les mêmes briques managées IBM Cloud. Sur la dMZR aS Code, toutes ces briques sont déclinées en version aS Code (VSI aS Code, Kafka aS Code, etc.).</a:t>
            </a:r>
            <a:endParaRPr lang="en-US" sz="1300" dirty="0"/>
          </a:p>
        </p:txBody>
      </p:sp>
      <p:sp>
        <p:nvSpPr>
          <p:cNvPr id="5" name="Shape 3"/>
          <p:cNvSpPr/>
          <p:nvPr/>
        </p:nvSpPr>
        <p:spPr>
          <a:xfrm>
            <a:off x="640080" y="2423160"/>
            <a:ext cx="10972800" cy="777240"/>
          </a:xfrm>
          <a:prstGeom prst="rect">
            <a:avLst/>
          </a:prstGeom>
          <a:solidFill>
            <a:srgbClr val="F8F9FA"/>
          </a:solidFill>
          <a:ln w="6350">
            <a:solidFill>
              <a:srgbClr val="E2E8F0"/>
            </a:solidFill>
            <a:prstDash val="solid"/>
          </a:ln>
        </p:spPr>
      </p:sp>
      <p:sp>
        <p:nvSpPr>
          <p:cNvPr id="6" name="Shape 4"/>
          <p:cNvSpPr/>
          <p:nvPr/>
        </p:nvSpPr>
        <p:spPr>
          <a:xfrm>
            <a:off x="640080" y="2423160"/>
            <a:ext cx="73152" cy="777240"/>
          </a:xfrm>
          <a:prstGeom prst="rect">
            <a:avLst/>
          </a:prstGeom>
          <a:solidFill>
            <a:srgbClr val="00915A"/>
          </a:solidFill>
          <a:ln w="12700">
            <a:solidFill>
              <a:srgbClr val="00915A"/>
            </a:solidFill>
            <a:prstDash val="solid"/>
          </a:ln>
        </p:spPr>
      </p:sp>
      <p:sp>
        <p:nvSpPr>
          <p:cNvPr id="7" name="Text 5"/>
          <p:cNvSpPr/>
          <p:nvPr/>
        </p:nvSpPr>
        <p:spPr>
          <a:xfrm>
            <a:off x="914400" y="2532888"/>
            <a:ext cx="1463040" cy="228600"/>
          </a:xfrm>
          <a:prstGeom prst="rect">
            <a:avLst/>
          </a:prstGeom>
          <a:noFill/>
          <a:ln/>
        </p:spPr>
        <p:txBody>
          <a:bodyPr wrap="square" lIns="0" tIns="0" rIns="0" bIns="0" rtlCol="0" anchor="ctr"/>
          <a:lstStyle/>
          <a:p>
            <a:pPr indent="0" marL="0">
              <a:buNone/>
            </a:pPr>
            <a:r>
              <a:rPr lang="en-US" sz="1000" b="1" spc="400" kern="0" dirty="0">
                <a:solidFill>
                  <a:srgbClr val="00915A"/>
                </a:solidFill>
                <a:latin typeface="Calibri" pitchFamily="34" charset="0"/>
                <a:ea typeface="Calibri" pitchFamily="34" charset="-122"/>
                <a:cs typeface="Calibri" pitchFamily="34" charset="-120"/>
              </a:rPr>
              <a:t>COMPUTE</a:t>
            </a:r>
            <a:endParaRPr lang="en-US" sz="1000" dirty="0"/>
          </a:p>
        </p:txBody>
      </p:sp>
      <p:sp>
        <p:nvSpPr>
          <p:cNvPr id="8" name="Text 6"/>
          <p:cNvSpPr/>
          <p:nvPr/>
        </p:nvSpPr>
        <p:spPr>
          <a:xfrm>
            <a:off x="914400" y="2761488"/>
            <a:ext cx="5029200" cy="438912"/>
          </a:xfrm>
          <a:prstGeom prst="rect">
            <a:avLst/>
          </a:prstGeom>
          <a:noFill/>
          <a:ln/>
        </p:spPr>
        <p:txBody>
          <a:bodyPr wrap="square" lIns="0" tIns="0" rIns="0" bIns="0" rtlCol="0" anchor="ctr"/>
          <a:lstStyle/>
          <a:p>
            <a:pPr indent="0" marL="0">
              <a:buNone/>
            </a:pPr>
            <a:r>
              <a:rPr lang="en-US" sz="1600" b="1" dirty="0">
                <a:solidFill>
                  <a:srgbClr val="1A2E28"/>
                </a:solidFill>
                <a:latin typeface="Georgia" pitchFamily="34" charset="0"/>
                <a:ea typeface="Georgia" pitchFamily="34" charset="-122"/>
                <a:cs typeface="Georgia" pitchFamily="34" charset="-120"/>
              </a:rPr>
              <a:t>Kubernetes + VSI</a:t>
            </a:r>
            <a:endParaRPr lang="en-US" sz="1600" dirty="0"/>
          </a:p>
        </p:txBody>
      </p:sp>
      <p:sp>
        <p:nvSpPr>
          <p:cNvPr id="9" name="Text 7"/>
          <p:cNvSpPr/>
          <p:nvPr/>
        </p:nvSpPr>
        <p:spPr>
          <a:xfrm>
            <a:off x="6217920" y="2587752"/>
            <a:ext cx="5212080" cy="594360"/>
          </a:xfrm>
          <a:prstGeom prst="rect">
            <a:avLst/>
          </a:prstGeom>
          <a:noFill/>
          <a:ln/>
        </p:spPr>
        <p:txBody>
          <a:bodyPr wrap="square" lIns="0" tIns="0" rIns="0" bIns="0" rtlCol="0" anchor="ctr"/>
          <a:lstStyle/>
          <a:p>
            <a:pPr indent="0" marL="0">
              <a:lnSpc>
                <a:spcPct val="125000"/>
              </a:lnSpc>
              <a:buNone/>
            </a:pPr>
            <a:r>
              <a:rPr lang="en-US" sz="1100" dirty="0">
                <a:solidFill>
                  <a:srgbClr val="2C2C2C"/>
                </a:solidFill>
                <a:latin typeface="Calibri" pitchFamily="34" charset="0"/>
                <a:ea typeface="Calibri" pitchFamily="34" charset="-122"/>
                <a:cs typeface="Calibri" pitchFamily="34" charset="-120"/>
              </a:rPr>
              <a:t>IKS + VSI côté dMZR · ROKS + VSI aS Code côté dMZR aS Code. 450+ microservices Cardif, GitOps (Argo CD), standards DevSecOps.</a:t>
            </a:r>
            <a:endParaRPr lang="en-US" sz="1100" dirty="0"/>
          </a:p>
        </p:txBody>
      </p:sp>
      <p:sp>
        <p:nvSpPr>
          <p:cNvPr id="10" name="Shape 8"/>
          <p:cNvSpPr/>
          <p:nvPr/>
        </p:nvSpPr>
        <p:spPr>
          <a:xfrm>
            <a:off x="640080" y="3310128"/>
            <a:ext cx="10972800" cy="777240"/>
          </a:xfrm>
          <a:prstGeom prst="rect">
            <a:avLst/>
          </a:prstGeom>
          <a:solidFill>
            <a:srgbClr val="F8F9FA"/>
          </a:solidFill>
          <a:ln w="6350">
            <a:solidFill>
              <a:srgbClr val="E2E8F0"/>
            </a:solidFill>
            <a:prstDash val="solid"/>
          </a:ln>
        </p:spPr>
      </p:sp>
      <p:sp>
        <p:nvSpPr>
          <p:cNvPr id="11" name="Shape 9"/>
          <p:cNvSpPr/>
          <p:nvPr/>
        </p:nvSpPr>
        <p:spPr>
          <a:xfrm>
            <a:off x="640080" y="3310128"/>
            <a:ext cx="73152" cy="777240"/>
          </a:xfrm>
          <a:prstGeom prst="rect">
            <a:avLst/>
          </a:prstGeom>
          <a:solidFill>
            <a:srgbClr val="00915A"/>
          </a:solidFill>
          <a:ln w="12700">
            <a:solidFill>
              <a:srgbClr val="00915A"/>
            </a:solidFill>
            <a:prstDash val="solid"/>
          </a:ln>
        </p:spPr>
      </p:sp>
      <p:sp>
        <p:nvSpPr>
          <p:cNvPr id="12" name="Text 10"/>
          <p:cNvSpPr/>
          <p:nvPr/>
        </p:nvSpPr>
        <p:spPr>
          <a:xfrm>
            <a:off x="914400" y="3419856"/>
            <a:ext cx="1463040" cy="228600"/>
          </a:xfrm>
          <a:prstGeom prst="rect">
            <a:avLst/>
          </a:prstGeom>
          <a:noFill/>
          <a:ln/>
        </p:spPr>
        <p:txBody>
          <a:bodyPr wrap="square" lIns="0" tIns="0" rIns="0" bIns="0" rtlCol="0" anchor="ctr"/>
          <a:lstStyle/>
          <a:p>
            <a:pPr indent="0" marL="0">
              <a:buNone/>
            </a:pPr>
            <a:r>
              <a:rPr lang="en-US" sz="1000" b="1" spc="400" kern="0" dirty="0">
                <a:solidFill>
                  <a:srgbClr val="00915A"/>
                </a:solidFill>
                <a:latin typeface="Calibri" pitchFamily="34" charset="0"/>
                <a:ea typeface="Calibri" pitchFamily="34" charset="-122"/>
                <a:cs typeface="Calibri" pitchFamily="34" charset="-120"/>
              </a:rPr>
              <a:t>DATA</a:t>
            </a:r>
            <a:endParaRPr lang="en-US" sz="1000" dirty="0"/>
          </a:p>
        </p:txBody>
      </p:sp>
      <p:sp>
        <p:nvSpPr>
          <p:cNvPr id="13" name="Text 11"/>
          <p:cNvSpPr/>
          <p:nvPr/>
        </p:nvSpPr>
        <p:spPr>
          <a:xfrm>
            <a:off x="914400" y="3648456"/>
            <a:ext cx="5029200" cy="438912"/>
          </a:xfrm>
          <a:prstGeom prst="rect">
            <a:avLst/>
          </a:prstGeom>
          <a:noFill/>
          <a:ln/>
        </p:spPr>
        <p:txBody>
          <a:bodyPr wrap="square" lIns="0" tIns="0" rIns="0" bIns="0" rtlCol="0" anchor="ctr"/>
          <a:lstStyle/>
          <a:p>
            <a:pPr indent="0" marL="0">
              <a:buNone/>
            </a:pPr>
            <a:r>
              <a:rPr lang="en-US" sz="1600" b="1" dirty="0">
                <a:solidFill>
                  <a:srgbClr val="1A2E28"/>
                </a:solidFill>
                <a:latin typeface="Georgia" pitchFamily="34" charset="0"/>
                <a:ea typeface="Georgia" pitchFamily="34" charset="-122"/>
                <a:cs typeface="Georgia" pitchFamily="34" charset="-120"/>
              </a:rPr>
              <a:t>Services managés</a:t>
            </a:r>
            <a:endParaRPr lang="en-US" sz="1600" dirty="0"/>
          </a:p>
        </p:txBody>
      </p:sp>
      <p:sp>
        <p:nvSpPr>
          <p:cNvPr id="14" name="Text 12"/>
          <p:cNvSpPr/>
          <p:nvPr/>
        </p:nvSpPr>
        <p:spPr>
          <a:xfrm>
            <a:off x="6217920" y="3474720"/>
            <a:ext cx="5212080" cy="594360"/>
          </a:xfrm>
          <a:prstGeom prst="rect">
            <a:avLst/>
          </a:prstGeom>
          <a:noFill/>
          <a:ln/>
        </p:spPr>
        <p:txBody>
          <a:bodyPr wrap="square" lIns="0" tIns="0" rIns="0" bIns="0" rtlCol="0" anchor="ctr"/>
          <a:lstStyle/>
          <a:p>
            <a:pPr indent="0" marL="0">
              <a:lnSpc>
                <a:spcPct val="125000"/>
              </a:lnSpc>
              <a:buNone/>
            </a:pPr>
            <a:r>
              <a:rPr lang="en-US" sz="1100" dirty="0">
                <a:solidFill>
                  <a:srgbClr val="2C2C2C"/>
                </a:solidFill>
                <a:latin typeface="Calibri" pitchFamily="34" charset="0"/>
                <a:ea typeface="Calibri" pitchFamily="34" charset="-122"/>
                <a:cs typeface="Calibri" pitchFamily="34" charset="-120"/>
              </a:rPr>
              <a:t>Event Streams (Kafka) · Databases for PostgreSQL, MongoDB, Redis · Cloud Object Storage. Déclinés en Kafka aS Code et Databases aS Code sur la dMZR aS Code.</a:t>
            </a:r>
            <a:endParaRPr lang="en-US" sz="1100" dirty="0"/>
          </a:p>
        </p:txBody>
      </p:sp>
      <p:sp>
        <p:nvSpPr>
          <p:cNvPr id="15" name="Shape 13"/>
          <p:cNvSpPr/>
          <p:nvPr/>
        </p:nvSpPr>
        <p:spPr>
          <a:xfrm>
            <a:off x="640080" y="4197096"/>
            <a:ext cx="10972800" cy="777240"/>
          </a:xfrm>
          <a:prstGeom prst="rect">
            <a:avLst/>
          </a:prstGeom>
          <a:solidFill>
            <a:srgbClr val="F8F9FA"/>
          </a:solidFill>
          <a:ln w="6350">
            <a:solidFill>
              <a:srgbClr val="E2E8F0"/>
            </a:solidFill>
            <a:prstDash val="solid"/>
          </a:ln>
        </p:spPr>
      </p:sp>
      <p:sp>
        <p:nvSpPr>
          <p:cNvPr id="16" name="Shape 14"/>
          <p:cNvSpPr/>
          <p:nvPr/>
        </p:nvSpPr>
        <p:spPr>
          <a:xfrm>
            <a:off x="640080" y="4197096"/>
            <a:ext cx="73152" cy="777240"/>
          </a:xfrm>
          <a:prstGeom prst="rect">
            <a:avLst/>
          </a:prstGeom>
          <a:solidFill>
            <a:srgbClr val="00915A"/>
          </a:solidFill>
          <a:ln w="12700">
            <a:solidFill>
              <a:srgbClr val="00915A"/>
            </a:solidFill>
            <a:prstDash val="solid"/>
          </a:ln>
        </p:spPr>
      </p:sp>
      <p:sp>
        <p:nvSpPr>
          <p:cNvPr id="17" name="Text 15"/>
          <p:cNvSpPr/>
          <p:nvPr/>
        </p:nvSpPr>
        <p:spPr>
          <a:xfrm>
            <a:off x="914400" y="4306824"/>
            <a:ext cx="1463040" cy="228600"/>
          </a:xfrm>
          <a:prstGeom prst="rect">
            <a:avLst/>
          </a:prstGeom>
          <a:noFill/>
          <a:ln/>
        </p:spPr>
        <p:txBody>
          <a:bodyPr wrap="square" lIns="0" tIns="0" rIns="0" bIns="0" rtlCol="0" anchor="ctr"/>
          <a:lstStyle/>
          <a:p>
            <a:pPr indent="0" marL="0">
              <a:buNone/>
            </a:pPr>
            <a:r>
              <a:rPr lang="en-US" sz="1000" b="1" spc="400" kern="0" dirty="0">
                <a:solidFill>
                  <a:srgbClr val="00915A"/>
                </a:solidFill>
                <a:latin typeface="Calibri" pitchFamily="34" charset="0"/>
                <a:ea typeface="Calibri" pitchFamily="34" charset="-122"/>
                <a:cs typeface="Calibri" pitchFamily="34" charset="-120"/>
              </a:rPr>
              <a:t>NETWORK</a:t>
            </a:r>
            <a:endParaRPr lang="en-US" sz="1000" dirty="0"/>
          </a:p>
        </p:txBody>
      </p:sp>
      <p:sp>
        <p:nvSpPr>
          <p:cNvPr id="18" name="Text 16"/>
          <p:cNvSpPr/>
          <p:nvPr/>
        </p:nvSpPr>
        <p:spPr>
          <a:xfrm>
            <a:off x="914400" y="4535424"/>
            <a:ext cx="5029200" cy="438912"/>
          </a:xfrm>
          <a:prstGeom prst="rect">
            <a:avLst/>
          </a:prstGeom>
          <a:noFill/>
          <a:ln/>
        </p:spPr>
        <p:txBody>
          <a:bodyPr wrap="square" lIns="0" tIns="0" rIns="0" bIns="0" rtlCol="0" anchor="ctr"/>
          <a:lstStyle/>
          <a:p>
            <a:pPr indent="0" marL="0">
              <a:buNone/>
            </a:pPr>
            <a:r>
              <a:rPr lang="en-US" sz="1600" b="1" dirty="0">
                <a:solidFill>
                  <a:srgbClr val="1A2E28"/>
                </a:solidFill>
                <a:latin typeface="Georgia" pitchFamily="34" charset="0"/>
                <a:ea typeface="Georgia" pitchFamily="34" charset="-122"/>
                <a:cs typeface="Georgia" pitchFamily="34" charset="-120"/>
              </a:rPr>
              <a:t>VPC · Transit Gateway · DirectLink</a:t>
            </a:r>
            <a:endParaRPr lang="en-US" sz="1600" dirty="0"/>
          </a:p>
        </p:txBody>
      </p:sp>
      <p:sp>
        <p:nvSpPr>
          <p:cNvPr id="19" name="Text 17"/>
          <p:cNvSpPr/>
          <p:nvPr/>
        </p:nvSpPr>
        <p:spPr>
          <a:xfrm>
            <a:off x="6217920" y="4361688"/>
            <a:ext cx="5212080" cy="594360"/>
          </a:xfrm>
          <a:prstGeom prst="rect">
            <a:avLst/>
          </a:prstGeom>
          <a:noFill/>
          <a:ln/>
        </p:spPr>
        <p:txBody>
          <a:bodyPr wrap="square" lIns="0" tIns="0" rIns="0" bIns="0" rtlCol="0" anchor="ctr"/>
          <a:lstStyle/>
          <a:p>
            <a:pPr indent="0" marL="0">
              <a:lnSpc>
                <a:spcPct val="125000"/>
              </a:lnSpc>
              <a:buNone/>
            </a:pPr>
            <a:r>
              <a:rPr lang="en-US" sz="1100" dirty="0">
                <a:solidFill>
                  <a:srgbClr val="2C2C2C"/>
                </a:solidFill>
                <a:latin typeface="Calibri" pitchFamily="34" charset="0"/>
                <a:ea typeface="Calibri" pitchFamily="34" charset="-122"/>
                <a:cs typeface="Calibri" pitchFamily="34" charset="-120"/>
              </a:rPr>
              <a:t>Segmentation par écosystème / realm, interconnexion intra-région, routage privé vers on-premise.</a:t>
            </a:r>
            <a:endParaRPr lang="en-US" sz="1100" dirty="0"/>
          </a:p>
        </p:txBody>
      </p:sp>
      <p:sp>
        <p:nvSpPr>
          <p:cNvPr id="20" name="Shape 18"/>
          <p:cNvSpPr/>
          <p:nvPr/>
        </p:nvSpPr>
        <p:spPr>
          <a:xfrm>
            <a:off x="640080" y="5084064"/>
            <a:ext cx="10972800" cy="777240"/>
          </a:xfrm>
          <a:prstGeom prst="rect">
            <a:avLst/>
          </a:prstGeom>
          <a:solidFill>
            <a:srgbClr val="F8F9FA"/>
          </a:solidFill>
          <a:ln w="6350">
            <a:solidFill>
              <a:srgbClr val="E2E8F0"/>
            </a:solidFill>
            <a:prstDash val="solid"/>
          </a:ln>
        </p:spPr>
      </p:sp>
      <p:sp>
        <p:nvSpPr>
          <p:cNvPr id="21" name="Shape 19"/>
          <p:cNvSpPr/>
          <p:nvPr/>
        </p:nvSpPr>
        <p:spPr>
          <a:xfrm>
            <a:off x="640080" y="5084064"/>
            <a:ext cx="73152" cy="777240"/>
          </a:xfrm>
          <a:prstGeom prst="rect">
            <a:avLst/>
          </a:prstGeom>
          <a:solidFill>
            <a:srgbClr val="00915A"/>
          </a:solidFill>
          <a:ln w="12700">
            <a:solidFill>
              <a:srgbClr val="00915A"/>
            </a:solidFill>
            <a:prstDash val="solid"/>
          </a:ln>
        </p:spPr>
      </p:sp>
      <p:sp>
        <p:nvSpPr>
          <p:cNvPr id="22" name="Text 20"/>
          <p:cNvSpPr/>
          <p:nvPr/>
        </p:nvSpPr>
        <p:spPr>
          <a:xfrm>
            <a:off x="914400" y="5193792"/>
            <a:ext cx="1463040" cy="228600"/>
          </a:xfrm>
          <a:prstGeom prst="rect">
            <a:avLst/>
          </a:prstGeom>
          <a:noFill/>
          <a:ln/>
        </p:spPr>
        <p:txBody>
          <a:bodyPr wrap="square" lIns="0" tIns="0" rIns="0" bIns="0" rtlCol="0" anchor="ctr"/>
          <a:lstStyle/>
          <a:p>
            <a:pPr indent="0" marL="0">
              <a:buNone/>
            </a:pPr>
            <a:r>
              <a:rPr lang="en-US" sz="1000" b="1" spc="400" kern="0" dirty="0">
                <a:solidFill>
                  <a:srgbClr val="00915A"/>
                </a:solidFill>
                <a:latin typeface="Calibri" pitchFamily="34" charset="0"/>
                <a:ea typeface="Calibri" pitchFamily="34" charset="-122"/>
                <a:cs typeface="Calibri" pitchFamily="34" charset="-120"/>
              </a:rPr>
              <a:t>SECURITY</a:t>
            </a:r>
            <a:endParaRPr lang="en-US" sz="1000" dirty="0"/>
          </a:p>
        </p:txBody>
      </p:sp>
      <p:sp>
        <p:nvSpPr>
          <p:cNvPr id="23" name="Text 21"/>
          <p:cNvSpPr/>
          <p:nvPr/>
        </p:nvSpPr>
        <p:spPr>
          <a:xfrm>
            <a:off x="914400" y="5422392"/>
            <a:ext cx="5029200" cy="438912"/>
          </a:xfrm>
          <a:prstGeom prst="rect">
            <a:avLst/>
          </a:prstGeom>
          <a:noFill/>
          <a:ln/>
        </p:spPr>
        <p:txBody>
          <a:bodyPr wrap="square" lIns="0" tIns="0" rIns="0" bIns="0" rtlCol="0" anchor="ctr"/>
          <a:lstStyle/>
          <a:p>
            <a:pPr indent="0" marL="0">
              <a:buNone/>
            </a:pPr>
            <a:r>
              <a:rPr lang="en-US" sz="1600" b="1" dirty="0">
                <a:solidFill>
                  <a:srgbClr val="1A2E28"/>
                </a:solidFill>
                <a:latin typeface="Georgia" pitchFamily="34" charset="0"/>
                <a:ea typeface="Georgia" pitchFamily="34" charset="-122"/>
                <a:cs typeface="Georgia" pitchFamily="34" charset="-120"/>
              </a:rPr>
              <a:t>IAM · Key Protect · Activity Tracker</a:t>
            </a:r>
            <a:endParaRPr lang="en-US" sz="1600" dirty="0"/>
          </a:p>
        </p:txBody>
      </p:sp>
      <p:sp>
        <p:nvSpPr>
          <p:cNvPr id="24" name="Text 22"/>
          <p:cNvSpPr/>
          <p:nvPr/>
        </p:nvSpPr>
        <p:spPr>
          <a:xfrm>
            <a:off x="6217920" y="5248656"/>
            <a:ext cx="5212080" cy="594360"/>
          </a:xfrm>
          <a:prstGeom prst="rect">
            <a:avLst/>
          </a:prstGeom>
          <a:noFill/>
          <a:ln/>
        </p:spPr>
        <p:txBody>
          <a:bodyPr wrap="square" lIns="0" tIns="0" rIns="0" bIns="0" rtlCol="0" anchor="ctr"/>
          <a:lstStyle/>
          <a:p>
            <a:pPr indent="0" marL="0">
              <a:lnSpc>
                <a:spcPct val="125000"/>
              </a:lnSpc>
              <a:buNone/>
            </a:pPr>
            <a:r>
              <a:rPr lang="en-US" sz="1100" dirty="0">
                <a:solidFill>
                  <a:srgbClr val="2C2C2C"/>
                </a:solidFill>
                <a:latin typeface="Calibri" pitchFamily="34" charset="0"/>
                <a:ea typeface="Calibri" pitchFamily="34" charset="-122"/>
                <a:cs typeface="Calibri" pitchFamily="34" charset="-120"/>
              </a:rPr>
              <a:t>Contrôles d'accès centralisés, gestion des clés (BYOK/KYOK), traçabilité complète.</a:t>
            </a:r>
            <a:endParaRPr lang="en-US" sz="1100" dirty="0"/>
          </a:p>
        </p:txBody>
      </p:sp>
      <p:sp>
        <p:nvSpPr>
          <p:cNvPr id="25" name="Text 23"/>
          <p:cNvSpPr/>
          <p:nvPr/>
        </p:nvSpPr>
        <p:spPr>
          <a:xfrm>
            <a:off x="640080" y="5989320"/>
            <a:ext cx="10972800" cy="320040"/>
          </a:xfrm>
          <a:prstGeom prst="rect">
            <a:avLst/>
          </a:prstGeom>
          <a:noFill/>
          <a:ln/>
        </p:spPr>
        <p:txBody>
          <a:bodyPr wrap="square" lIns="0" tIns="0" rIns="0" bIns="0" rtlCol="0" anchor="ctr"/>
          <a:lstStyle/>
          <a:p>
            <a:pPr indent="0" marL="0">
              <a:buNone/>
            </a:pPr>
            <a:r>
              <a:rPr lang="en-US" sz="1200" i="1" dirty="0">
                <a:solidFill>
                  <a:srgbClr val="6B7B78"/>
                </a:solidFill>
                <a:latin typeface="Georgia" pitchFamily="34" charset="0"/>
                <a:ea typeface="Georgia" pitchFamily="34" charset="-122"/>
                <a:cs typeface="Georgia" pitchFamily="34" charset="-120"/>
              </a:rPr>
              <a:t>L'infrastructure est opérée par BP2I au bénéfice des producteurs Marketplace et des équipes applicatives Cardif.</a:t>
            </a:r>
            <a:endParaRPr lang="en-US" sz="1200" dirty="0"/>
          </a:p>
        </p:txBody>
      </p:sp>
      <p:sp>
        <p:nvSpPr>
          <p:cNvPr id="26" name="Text 24"/>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27" name="Text 25"/>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06 · dMZR</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01 · dMZR</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dMZR aS Code — Provisioning via Terraform</a:t>
            </a:r>
            <a:endParaRPr lang="en-US" sz="3200" dirty="0"/>
          </a:p>
        </p:txBody>
      </p:sp>
      <p:sp>
        <p:nvSpPr>
          <p:cNvPr id="4" name="Shape 2"/>
          <p:cNvSpPr/>
          <p:nvPr/>
        </p:nvSpPr>
        <p:spPr>
          <a:xfrm>
            <a:off x="9326880" y="502920"/>
            <a:ext cx="2286000" cy="365760"/>
          </a:xfrm>
          <a:prstGeom prst="rect">
            <a:avLst/>
          </a:prstGeom>
          <a:solidFill>
            <a:srgbClr val="D4A840"/>
          </a:solidFill>
          <a:ln w="12700">
            <a:solidFill>
              <a:srgbClr val="D4A840"/>
            </a:solidFill>
            <a:prstDash val="solid"/>
          </a:ln>
        </p:spPr>
      </p:sp>
      <p:sp>
        <p:nvSpPr>
          <p:cNvPr id="5" name="Text 3"/>
          <p:cNvSpPr/>
          <p:nvPr/>
        </p:nvSpPr>
        <p:spPr>
          <a:xfrm>
            <a:off x="9326880" y="502920"/>
            <a:ext cx="2286000" cy="365760"/>
          </a:xfrm>
          <a:prstGeom prst="rect">
            <a:avLst/>
          </a:prstGeom>
          <a:noFill/>
          <a:ln/>
        </p:spPr>
        <p:txBody>
          <a:bodyPr wrap="square" lIns="0" tIns="0" rIns="0" bIns="0" rtlCol="0" anchor="ctr"/>
          <a:lstStyle/>
          <a:p>
            <a:pPr algn="ctr" indent="0" marL="0">
              <a:buNone/>
            </a:pPr>
            <a:r>
              <a:rPr lang="en-US" sz="1000" b="1" spc="500" kern="0" dirty="0">
                <a:solidFill>
                  <a:srgbClr val="003A2B"/>
                </a:solidFill>
                <a:latin typeface="Calibri" pitchFamily="34" charset="0"/>
                <a:ea typeface="Calibri" pitchFamily="34" charset="-122"/>
                <a:cs typeface="Calibri" pitchFamily="34" charset="-120"/>
              </a:rPr>
              <a:t>CIBLE DE MIGRATION</a:t>
            </a:r>
            <a:endParaRPr lang="en-US" sz="1000" dirty="0"/>
          </a:p>
        </p:txBody>
      </p:sp>
      <p:sp>
        <p:nvSpPr>
          <p:cNvPr id="6" name="Text 4"/>
          <p:cNvSpPr/>
          <p:nvPr/>
        </p:nvSpPr>
        <p:spPr>
          <a:xfrm>
            <a:off x="640080" y="1828800"/>
            <a:ext cx="10972800" cy="1143000"/>
          </a:xfrm>
          <a:prstGeom prst="rect">
            <a:avLst/>
          </a:prstGeom>
          <a:noFill/>
          <a:ln/>
        </p:spPr>
        <p:txBody>
          <a:bodyPr wrap="square" lIns="0" tIns="0" rIns="0" bIns="0" rtlCol="0" anchor="ctr"/>
          <a:lstStyle/>
          <a:p>
            <a:pPr indent="0" marL="0">
              <a:lnSpc>
                <a:spcPct val="135000"/>
              </a:lnSpc>
              <a:buNone/>
            </a:pPr>
            <a:r>
              <a:rPr lang="en-US" sz="1300" b="1" i="1" dirty="0">
                <a:solidFill>
                  <a:srgbClr val="00653F"/>
                </a:solidFill>
                <a:latin typeface="Georgia" pitchFamily="34" charset="0"/>
                <a:ea typeface="Georgia" pitchFamily="34" charset="-122"/>
                <a:cs typeface="Georgia" pitchFamily="34" charset="-120"/>
              </a:rPr>
              <a:t>dMZR aS Code</a:t>
            </a:r>
            <a:pPr indent="0" marL="0">
              <a:lnSpc>
                <a:spcPct val="135000"/>
              </a:lnSpc>
              <a:buNone/>
            </a:pPr>
            <a:r>
              <a:rPr lang="en-US" sz="1300" i="1" dirty="0">
                <a:solidFill>
                  <a:srgbClr val="2C2C2C"/>
                </a:solidFill>
                <a:latin typeface="Georgia" pitchFamily="34" charset="0"/>
                <a:ea typeface="Georgia" pitchFamily="34" charset="-122"/>
                <a:cs typeface="Georgia" pitchFamily="34" charset="-120"/>
              </a:rPr>
              <a:t> est l'infrastructure de nouvelle génération, en production, basée sur </a:t>
            </a:r>
            <a:pPr indent="0" marL="0">
              <a:lnSpc>
                <a:spcPct val="135000"/>
              </a:lnSpc>
              <a:buNone/>
            </a:pPr>
            <a:r>
              <a:rPr lang="en-US" sz="1300" b="1" i="1" dirty="0">
                <a:solidFill>
                  <a:srgbClr val="1A2E28"/>
                </a:solidFill>
                <a:latin typeface="Georgia" pitchFamily="34" charset="0"/>
                <a:ea typeface="Georgia" pitchFamily="34" charset="-122"/>
                <a:cs typeface="Georgia" pitchFamily="34" charset="-120"/>
              </a:rPr>
              <a:t>ROKS</a:t>
            </a:r>
            <a:pPr indent="0" marL="0">
              <a:lnSpc>
                <a:spcPct val="135000"/>
              </a:lnSpc>
              <a:buNone/>
            </a:pPr>
            <a:r>
              <a:rPr lang="en-US" sz="1300" i="1" dirty="0">
                <a:solidFill>
                  <a:srgbClr val="2C2C2C"/>
                </a:solidFill>
                <a:latin typeface="Georgia" pitchFamily="34" charset="0"/>
                <a:ea typeface="Georgia" pitchFamily="34" charset="-122"/>
                <a:cs typeface="Georgia" pitchFamily="34" charset="-120"/>
              </a:rPr>
              <a:t> et opérée par BP2I. Les ressources — </a:t>
            </a:r>
            <a:pPr indent="0" marL="0">
              <a:lnSpc>
                <a:spcPct val="135000"/>
              </a:lnSpc>
              <a:buNone/>
            </a:pPr>
            <a:r>
              <a:rPr lang="en-US" sz="1300" b="1" i="1" dirty="0">
                <a:solidFill>
                  <a:srgbClr val="1A2E28"/>
                </a:solidFill>
                <a:latin typeface="Georgia" pitchFamily="34" charset="0"/>
                <a:ea typeface="Georgia" pitchFamily="34" charset="-122"/>
                <a:cs typeface="Georgia" pitchFamily="34" charset="-120"/>
              </a:rPr>
              <a:t>VSI, LB, clusters ROKS, Kafka, Databases…</a:t>
            </a:r>
            <a:pPr indent="0" marL="0">
              <a:lnSpc>
                <a:spcPct val="135000"/>
              </a:lnSpc>
              <a:buNone/>
            </a:pPr>
            <a:r>
              <a:rPr lang="en-US" sz="1300" i="1" dirty="0">
                <a:solidFill>
                  <a:srgbClr val="2C2C2C"/>
                </a:solidFill>
                <a:latin typeface="Georgia" pitchFamily="34" charset="0"/>
                <a:ea typeface="Georgia" pitchFamily="34" charset="-122"/>
                <a:cs typeface="Georgia" pitchFamily="34" charset="-120"/>
              </a:rPr>
              <a:t> — sont provisionnées </a:t>
            </a:r>
            <a:pPr indent="0" marL="0">
              <a:lnSpc>
                <a:spcPct val="135000"/>
              </a:lnSpc>
              <a:buNone/>
            </a:pPr>
            <a:r>
              <a:rPr lang="en-US" sz="1300" b="1" i="1" dirty="0">
                <a:solidFill>
                  <a:srgbClr val="00653F"/>
                </a:solidFill>
                <a:latin typeface="Georgia" pitchFamily="34" charset="0"/>
                <a:ea typeface="Georgia" pitchFamily="34" charset="-122"/>
                <a:cs typeface="Georgia" pitchFamily="34" charset="-120"/>
              </a:rPr>
              <a:t>aS Code</a:t>
            </a:r>
            <a:pPr indent="0" marL="0">
              <a:lnSpc>
                <a:spcPct val="135000"/>
              </a:lnSpc>
              <a:buNone/>
            </a:pPr>
            <a:r>
              <a:rPr lang="en-US" sz="1300" i="1" dirty="0">
                <a:solidFill>
                  <a:srgbClr val="2C2C2C"/>
                </a:solidFill>
                <a:latin typeface="Georgia" pitchFamily="34" charset="0"/>
                <a:ea typeface="Georgia" pitchFamily="34" charset="-122"/>
                <a:cs typeface="Georgia" pitchFamily="34" charset="-120"/>
              </a:rPr>
              <a:t> via un </a:t>
            </a:r>
            <a:pPr indent="0" marL="0">
              <a:lnSpc>
                <a:spcPct val="135000"/>
              </a:lnSpc>
              <a:buNone/>
            </a:pPr>
            <a:r>
              <a:rPr lang="en-US" sz="1300" b="1" i="1" dirty="0">
                <a:solidFill>
                  <a:srgbClr val="00653F"/>
                </a:solidFill>
                <a:latin typeface="Georgia" pitchFamily="34" charset="0"/>
                <a:ea typeface="Georgia" pitchFamily="34" charset="-122"/>
                <a:cs typeface="Georgia" pitchFamily="34" charset="-120"/>
              </a:rPr>
              <a:t>orchestrateur Terraform développé par BP2I</a:t>
            </a:r>
            <a:pPr indent="0" marL="0">
              <a:lnSpc>
                <a:spcPct val="135000"/>
              </a:lnSpc>
              <a:buNone/>
            </a:pPr>
            <a:r>
              <a:rPr lang="en-US" sz="1300" i="1" dirty="0">
                <a:solidFill>
                  <a:srgbClr val="2C2C2C"/>
                </a:solidFill>
                <a:latin typeface="Georgia" pitchFamily="34" charset="0"/>
                <a:ea typeface="Georgia" pitchFamily="34" charset="-122"/>
                <a:cs typeface="Georgia" pitchFamily="34" charset="-120"/>
              </a:rPr>
              <a:t>, pièce centrale qui rend les équipes projet agnostiques du cloud sous-jacent.</a:t>
            </a:r>
            <a:endParaRPr lang="en-US" sz="1300" dirty="0"/>
          </a:p>
        </p:txBody>
      </p:sp>
      <p:sp>
        <p:nvSpPr>
          <p:cNvPr id="7" name="Shape 5"/>
          <p:cNvSpPr/>
          <p:nvPr/>
        </p:nvSpPr>
        <p:spPr>
          <a:xfrm>
            <a:off x="640080" y="3017520"/>
            <a:ext cx="2148840" cy="2194560"/>
          </a:xfrm>
          <a:prstGeom prst="rect">
            <a:avLst/>
          </a:prstGeom>
          <a:solidFill>
            <a:srgbClr val="F8F9FA"/>
          </a:solidFill>
          <a:ln w="6350">
            <a:solidFill>
              <a:srgbClr val="E2E8F0"/>
            </a:solidFill>
            <a:prstDash val="solid"/>
          </a:ln>
        </p:spPr>
      </p:sp>
      <p:sp>
        <p:nvSpPr>
          <p:cNvPr id="8" name="Shape 6"/>
          <p:cNvSpPr/>
          <p:nvPr/>
        </p:nvSpPr>
        <p:spPr>
          <a:xfrm>
            <a:off x="640080" y="3017520"/>
            <a:ext cx="2148840" cy="54864"/>
          </a:xfrm>
          <a:prstGeom prst="rect">
            <a:avLst/>
          </a:prstGeom>
          <a:solidFill>
            <a:srgbClr val="00915A"/>
          </a:solidFill>
          <a:ln w="12700">
            <a:solidFill>
              <a:srgbClr val="00915A"/>
            </a:solidFill>
            <a:prstDash val="solid"/>
          </a:ln>
        </p:spPr>
      </p:sp>
      <p:sp>
        <p:nvSpPr>
          <p:cNvPr id="9" name="Shape 7"/>
          <p:cNvSpPr/>
          <p:nvPr/>
        </p:nvSpPr>
        <p:spPr>
          <a:xfrm>
            <a:off x="1348740" y="3273552"/>
            <a:ext cx="731520" cy="731520"/>
          </a:xfrm>
          <a:prstGeom prst="ellipse">
            <a:avLst/>
          </a:prstGeom>
          <a:solidFill>
            <a:srgbClr val="00915A"/>
          </a:solidFill>
          <a:ln w="12700">
            <a:solidFill>
              <a:srgbClr val="00915A"/>
            </a:solidFill>
            <a:prstDash val="solid"/>
          </a:ln>
        </p:spPr>
      </p:sp>
      <p:pic>
        <p:nvPicPr>
          <p:cNvPr id="10" name="Image 0" descr="preencoded.png">    </p:cNvPr>
          <p:cNvPicPr>
            <a:picLocks noChangeAspect="1"/>
          </p:cNvPicPr>
          <p:nvPr/>
        </p:nvPicPr>
        <p:blipFill>
          <a:blip r:embed="rId1"/>
          <a:stretch>
            <a:fillRect/>
          </a:stretch>
        </p:blipFill>
        <p:spPr>
          <a:xfrm>
            <a:off x="1513332" y="3429000"/>
            <a:ext cx="411480" cy="411480"/>
          </a:xfrm>
          <a:prstGeom prst="rect">
            <a:avLst/>
          </a:prstGeom>
        </p:spPr>
      </p:pic>
      <p:sp>
        <p:nvSpPr>
          <p:cNvPr id="11" name="Text 8"/>
          <p:cNvSpPr/>
          <p:nvPr/>
        </p:nvSpPr>
        <p:spPr>
          <a:xfrm>
            <a:off x="822960" y="4114800"/>
            <a:ext cx="1783080" cy="256032"/>
          </a:xfrm>
          <a:prstGeom prst="rect">
            <a:avLst/>
          </a:prstGeom>
          <a:noFill/>
          <a:ln/>
        </p:spPr>
        <p:txBody>
          <a:bodyPr wrap="square" lIns="0" tIns="0" rIns="0" bIns="0" rtlCol="0" anchor="ctr"/>
          <a:lstStyle/>
          <a:p>
            <a:pPr algn="ctr" indent="0" marL="0">
              <a:buNone/>
            </a:pPr>
            <a:r>
              <a:rPr lang="en-US" sz="1000" b="1" spc="400" kern="0" dirty="0">
                <a:solidFill>
                  <a:srgbClr val="00915A"/>
                </a:solidFill>
                <a:latin typeface="Calibri" pitchFamily="34" charset="0"/>
                <a:ea typeface="Calibri" pitchFamily="34" charset="-122"/>
                <a:cs typeface="Calibri" pitchFamily="34" charset="-120"/>
              </a:rPr>
              <a:t>GIT</a:t>
            </a:r>
            <a:endParaRPr lang="en-US" sz="1000" dirty="0"/>
          </a:p>
        </p:txBody>
      </p:sp>
      <p:sp>
        <p:nvSpPr>
          <p:cNvPr id="12" name="Text 9"/>
          <p:cNvSpPr/>
          <p:nvPr/>
        </p:nvSpPr>
        <p:spPr>
          <a:xfrm>
            <a:off x="777240" y="4389120"/>
            <a:ext cx="1874520" cy="457200"/>
          </a:xfrm>
          <a:prstGeom prst="rect">
            <a:avLst/>
          </a:prstGeom>
          <a:noFill/>
          <a:ln/>
        </p:spPr>
        <p:txBody>
          <a:bodyPr wrap="square" lIns="0" tIns="0" rIns="0" bIns="0" rtlCol="0" anchor="ctr"/>
          <a:lstStyle/>
          <a:p>
            <a:pPr algn="ctr" indent="0" marL="0">
              <a:buNone/>
            </a:pPr>
            <a:r>
              <a:rPr lang="en-US" sz="1400" b="1" dirty="0">
                <a:solidFill>
                  <a:srgbClr val="1A2E28"/>
                </a:solidFill>
                <a:latin typeface="Georgia" pitchFamily="34" charset="0"/>
                <a:ea typeface="Georgia" pitchFamily="34" charset="-122"/>
                <a:cs typeface="Georgia" pitchFamily="34" charset="-120"/>
              </a:rPr>
              <a:t>Modules versionnés</a:t>
            </a:r>
            <a:endParaRPr lang="en-US" sz="1400" dirty="0"/>
          </a:p>
        </p:txBody>
      </p:sp>
      <p:sp>
        <p:nvSpPr>
          <p:cNvPr id="13" name="Text 10"/>
          <p:cNvSpPr/>
          <p:nvPr/>
        </p:nvSpPr>
        <p:spPr>
          <a:xfrm>
            <a:off x="777240" y="4800600"/>
            <a:ext cx="1874520" cy="365760"/>
          </a:xfrm>
          <a:prstGeom prst="rect">
            <a:avLst/>
          </a:prstGeom>
          <a:noFill/>
          <a:ln/>
        </p:spPr>
        <p:txBody>
          <a:bodyPr wrap="square" lIns="0" tIns="0" rIns="0" bIns="0" rtlCol="0" anchor="ctr"/>
          <a:lstStyle/>
          <a:p>
            <a:pPr algn="ctr" indent="0" marL="0">
              <a:lnSpc>
                <a:spcPct val="125000"/>
              </a:lnSpc>
              <a:buNone/>
            </a:pPr>
            <a:r>
              <a:rPr lang="en-US" sz="1000" dirty="0">
                <a:solidFill>
                  <a:srgbClr val="6B7B78"/>
                </a:solidFill>
                <a:latin typeface="Calibri" pitchFamily="34" charset="0"/>
                <a:ea typeface="Calibri" pitchFamily="34" charset="-122"/>
                <a:cs typeface="Calibri" pitchFamily="34" charset="-120"/>
              </a:rPr>
              <a:t>Repo GitLab, revue par MR</a:t>
            </a:r>
            <a:endParaRPr lang="en-US" sz="1000" dirty="0"/>
          </a:p>
        </p:txBody>
      </p:sp>
      <p:sp>
        <p:nvSpPr>
          <p:cNvPr id="14" name="Text 11"/>
          <p:cNvSpPr/>
          <p:nvPr/>
        </p:nvSpPr>
        <p:spPr>
          <a:xfrm>
            <a:off x="2798064" y="3383280"/>
            <a:ext cx="137160" cy="548640"/>
          </a:xfrm>
          <a:prstGeom prst="rect">
            <a:avLst/>
          </a:prstGeom>
          <a:noFill/>
          <a:ln/>
        </p:spPr>
        <p:txBody>
          <a:bodyPr wrap="square" lIns="0" tIns="0" rIns="0" bIns="0" rtlCol="0" anchor="ctr"/>
          <a:lstStyle/>
          <a:p>
            <a:pPr algn="ctr" indent="0" marL="0">
              <a:buNone/>
            </a:pPr>
            <a:r>
              <a:rPr lang="en-US" sz="3200" b="1" dirty="0">
                <a:solidFill>
                  <a:srgbClr val="D4A840"/>
                </a:solidFill>
                <a:latin typeface="Georgia" pitchFamily="34" charset="0"/>
                <a:ea typeface="Georgia" pitchFamily="34" charset="-122"/>
                <a:cs typeface="Georgia" pitchFamily="34" charset="-120"/>
              </a:rPr>
              <a:t>›</a:t>
            </a:r>
            <a:endParaRPr lang="en-US" sz="3200" dirty="0"/>
          </a:p>
        </p:txBody>
      </p:sp>
      <p:sp>
        <p:nvSpPr>
          <p:cNvPr id="15" name="Shape 12"/>
          <p:cNvSpPr/>
          <p:nvPr/>
        </p:nvSpPr>
        <p:spPr>
          <a:xfrm>
            <a:off x="2944368" y="3017520"/>
            <a:ext cx="2148840" cy="2194560"/>
          </a:xfrm>
          <a:prstGeom prst="rect">
            <a:avLst/>
          </a:prstGeom>
          <a:solidFill>
            <a:srgbClr val="F8F9FA"/>
          </a:solidFill>
          <a:ln w="6350">
            <a:solidFill>
              <a:srgbClr val="E2E8F0"/>
            </a:solidFill>
            <a:prstDash val="solid"/>
          </a:ln>
        </p:spPr>
      </p:sp>
      <p:sp>
        <p:nvSpPr>
          <p:cNvPr id="16" name="Shape 13"/>
          <p:cNvSpPr/>
          <p:nvPr/>
        </p:nvSpPr>
        <p:spPr>
          <a:xfrm>
            <a:off x="2944368" y="3017520"/>
            <a:ext cx="2148840" cy="54864"/>
          </a:xfrm>
          <a:prstGeom prst="rect">
            <a:avLst/>
          </a:prstGeom>
          <a:solidFill>
            <a:srgbClr val="00915A"/>
          </a:solidFill>
          <a:ln w="12700">
            <a:solidFill>
              <a:srgbClr val="00915A"/>
            </a:solidFill>
            <a:prstDash val="solid"/>
          </a:ln>
        </p:spPr>
      </p:sp>
      <p:sp>
        <p:nvSpPr>
          <p:cNvPr id="17" name="Shape 14"/>
          <p:cNvSpPr/>
          <p:nvPr/>
        </p:nvSpPr>
        <p:spPr>
          <a:xfrm>
            <a:off x="3653028" y="3273552"/>
            <a:ext cx="731520" cy="731520"/>
          </a:xfrm>
          <a:prstGeom prst="ellipse">
            <a:avLst/>
          </a:prstGeom>
          <a:solidFill>
            <a:srgbClr val="00915A"/>
          </a:solidFill>
          <a:ln w="12700">
            <a:solidFill>
              <a:srgbClr val="00915A"/>
            </a:solidFill>
            <a:prstDash val="solid"/>
          </a:ln>
        </p:spPr>
      </p:sp>
      <p:pic>
        <p:nvPicPr>
          <p:cNvPr id="18" name="Image 1" descr="preencoded.png">    </p:cNvPr>
          <p:cNvPicPr>
            <a:picLocks noChangeAspect="1"/>
          </p:cNvPicPr>
          <p:nvPr/>
        </p:nvPicPr>
        <p:blipFill>
          <a:blip r:embed="rId2"/>
          <a:stretch>
            <a:fillRect/>
          </a:stretch>
        </p:blipFill>
        <p:spPr>
          <a:xfrm>
            <a:off x="3817620" y="3429000"/>
            <a:ext cx="411480" cy="411480"/>
          </a:xfrm>
          <a:prstGeom prst="rect">
            <a:avLst/>
          </a:prstGeom>
        </p:spPr>
      </p:pic>
      <p:sp>
        <p:nvSpPr>
          <p:cNvPr id="19" name="Text 15"/>
          <p:cNvSpPr/>
          <p:nvPr/>
        </p:nvSpPr>
        <p:spPr>
          <a:xfrm>
            <a:off x="3127248" y="4114800"/>
            <a:ext cx="1783080" cy="256032"/>
          </a:xfrm>
          <a:prstGeom prst="rect">
            <a:avLst/>
          </a:prstGeom>
          <a:noFill/>
          <a:ln/>
        </p:spPr>
        <p:txBody>
          <a:bodyPr wrap="square" lIns="0" tIns="0" rIns="0" bIns="0" rtlCol="0" anchor="ctr"/>
          <a:lstStyle/>
          <a:p>
            <a:pPr algn="ctr" indent="0" marL="0">
              <a:buNone/>
            </a:pPr>
            <a:r>
              <a:rPr lang="en-US" sz="1000" b="1" spc="400" kern="0" dirty="0">
                <a:solidFill>
                  <a:srgbClr val="00915A"/>
                </a:solidFill>
                <a:latin typeface="Calibri" pitchFamily="34" charset="0"/>
                <a:ea typeface="Calibri" pitchFamily="34" charset="-122"/>
                <a:cs typeface="Calibri" pitchFamily="34" charset="-120"/>
              </a:rPr>
              <a:t>PLAN</a:t>
            </a:r>
            <a:endParaRPr lang="en-US" sz="1000" dirty="0"/>
          </a:p>
        </p:txBody>
      </p:sp>
      <p:sp>
        <p:nvSpPr>
          <p:cNvPr id="20" name="Text 16"/>
          <p:cNvSpPr/>
          <p:nvPr/>
        </p:nvSpPr>
        <p:spPr>
          <a:xfrm>
            <a:off x="3081528" y="4389120"/>
            <a:ext cx="1874520" cy="457200"/>
          </a:xfrm>
          <a:prstGeom prst="rect">
            <a:avLst/>
          </a:prstGeom>
          <a:noFill/>
          <a:ln/>
        </p:spPr>
        <p:txBody>
          <a:bodyPr wrap="square" lIns="0" tIns="0" rIns="0" bIns="0" rtlCol="0" anchor="ctr"/>
          <a:lstStyle/>
          <a:p>
            <a:pPr algn="ctr" indent="0" marL="0">
              <a:buNone/>
            </a:pPr>
            <a:r>
              <a:rPr lang="en-US" sz="1400" b="1" dirty="0">
                <a:solidFill>
                  <a:srgbClr val="1A2E28"/>
                </a:solidFill>
                <a:latin typeface="Georgia" pitchFamily="34" charset="0"/>
                <a:ea typeface="Georgia" pitchFamily="34" charset="-122"/>
                <a:cs typeface="Georgia" pitchFamily="34" charset="-120"/>
              </a:rPr>
              <a:t>terraform plan</a:t>
            </a:r>
            <a:endParaRPr lang="en-US" sz="1400" dirty="0"/>
          </a:p>
        </p:txBody>
      </p:sp>
      <p:sp>
        <p:nvSpPr>
          <p:cNvPr id="21" name="Text 17"/>
          <p:cNvSpPr/>
          <p:nvPr/>
        </p:nvSpPr>
        <p:spPr>
          <a:xfrm>
            <a:off x="3081528" y="4800600"/>
            <a:ext cx="1874520" cy="365760"/>
          </a:xfrm>
          <a:prstGeom prst="rect">
            <a:avLst/>
          </a:prstGeom>
          <a:noFill/>
          <a:ln/>
        </p:spPr>
        <p:txBody>
          <a:bodyPr wrap="square" lIns="0" tIns="0" rIns="0" bIns="0" rtlCol="0" anchor="ctr"/>
          <a:lstStyle/>
          <a:p>
            <a:pPr algn="ctr" indent="0" marL="0">
              <a:lnSpc>
                <a:spcPct val="125000"/>
              </a:lnSpc>
              <a:buNone/>
            </a:pPr>
            <a:r>
              <a:rPr lang="en-US" sz="1000" dirty="0">
                <a:solidFill>
                  <a:srgbClr val="6B7B78"/>
                </a:solidFill>
                <a:latin typeface="Calibri" pitchFamily="34" charset="0"/>
                <a:ea typeface="Calibri" pitchFamily="34" charset="-122"/>
                <a:cs typeface="Calibri" pitchFamily="34" charset="-120"/>
              </a:rPr>
              <a:t>Génération du plan, policy checks</a:t>
            </a:r>
            <a:endParaRPr lang="en-US" sz="1000" dirty="0"/>
          </a:p>
        </p:txBody>
      </p:sp>
      <p:sp>
        <p:nvSpPr>
          <p:cNvPr id="22" name="Text 18"/>
          <p:cNvSpPr/>
          <p:nvPr/>
        </p:nvSpPr>
        <p:spPr>
          <a:xfrm>
            <a:off x="5102352" y="3383280"/>
            <a:ext cx="137160" cy="548640"/>
          </a:xfrm>
          <a:prstGeom prst="rect">
            <a:avLst/>
          </a:prstGeom>
          <a:noFill/>
          <a:ln/>
        </p:spPr>
        <p:txBody>
          <a:bodyPr wrap="square" lIns="0" tIns="0" rIns="0" bIns="0" rtlCol="0" anchor="ctr"/>
          <a:lstStyle/>
          <a:p>
            <a:pPr algn="ctr" indent="0" marL="0">
              <a:buNone/>
            </a:pPr>
            <a:r>
              <a:rPr lang="en-US" sz="3200" b="1" dirty="0">
                <a:solidFill>
                  <a:srgbClr val="D4A840"/>
                </a:solidFill>
                <a:latin typeface="Georgia" pitchFamily="34" charset="0"/>
                <a:ea typeface="Georgia" pitchFamily="34" charset="-122"/>
                <a:cs typeface="Georgia" pitchFamily="34" charset="-120"/>
              </a:rPr>
              <a:t>›</a:t>
            </a:r>
            <a:endParaRPr lang="en-US" sz="3200" dirty="0"/>
          </a:p>
        </p:txBody>
      </p:sp>
      <p:sp>
        <p:nvSpPr>
          <p:cNvPr id="23" name="Shape 19"/>
          <p:cNvSpPr/>
          <p:nvPr/>
        </p:nvSpPr>
        <p:spPr>
          <a:xfrm>
            <a:off x="5248656" y="3017520"/>
            <a:ext cx="2148840" cy="2194560"/>
          </a:xfrm>
          <a:prstGeom prst="rect">
            <a:avLst/>
          </a:prstGeom>
          <a:solidFill>
            <a:srgbClr val="F8F9FA"/>
          </a:solidFill>
          <a:ln w="6350">
            <a:solidFill>
              <a:srgbClr val="E2E8F0"/>
            </a:solidFill>
            <a:prstDash val="solid"/>
          </a:ln>
        </p:spPr>
      </p:sp>
      <p:sp>
        <p:nvSpPr>
          <p:cNvPr id="24" name="Shape 20"/>
          <p:cNvSpPr/>
          <p:nvPr/>
        </p:nvSpPr>
        <p:spPr>
          <a:xfrm>
            <a:off x="5248656" y="3017520"/>
            <a:ext cx="2148840" cy="54864"/>
          </a:xfrm>
          <a:prstGeom prst="rect">
            <a:avLst/>
          </a:prstGeom>
          <a:solidFill>
            <a:srgbClr val="00915A"/>
          </a:solidFill>
          <a:ln w="12700">
            <a:solidFill>
              <a:srgbClr val="00915A"/>
            </a:solidFill>
            <a:prstDash val="solid"/>
          </a:ln>
        </p:spPr>
      </p:sp>
      <p:sp>
        <p:nvSpPr>
          <p:cNvPr id="25" name="Shape 21"/>
          <p:cNvSpPr/>
          <p:nvPr/>
        </p:nvSpPr>
        <p:spPr>
          <a:xfrm>
            <a:off x="5957316" y="3273552"/>
            <a:ext cx="731520" cy="731520"/>
          </a:xfrm>
          <a:prstGeom prst="ellipse">
            <a:avLst/>
          </a:prstGeom>
          <a:solidFill>
            <a:srgbClr val="00915A"/>
          </a:solidFill>
          <a:ln w="12700">
            <a:solidFill>
              <a:srgbClr val="00915A"/>
            </a:solidFill>
            <a:prstDash val="solid"/>
          </a:ln>
        </p:spPr>
      </p:sp>
      <p:pic>
        <p:nvPicPr>
          <p:cNvPr id="26" name="Image 2" descr="preencoded.png">    </p:cNvPr>
          <p:cNvPicPr>
            <a:picLocks noChangeAspect="1"/>
          </p:cNvPicPr>
          <p:nvPr/>
        </p:nvPicPr>
        <p:blipFill>
          <a:blip r:embed="rId3"/>
          <a:stretch>
            <a:fillRect/>
          </a:stretch>
        </p:blipFill>
        <p:spPr>
          <a:xfrm>
            <a:off x="6121908" y="3429000"/>
            <a:ext cx="411480" cy="411480"/>
          </a:xfrm>
          <a:prstGeom prst="rect">
            <a:avLst/>
          </a:prstGeom>
        </p:spPr>
      </p:pic>
      <p:sp>
        <p:nvSpPr>
          <p:cNvPr id="27" name="Text 22"/>
          <p:cNvSpPr/>
          <p:nvPr/>
        </p:nvSpPr>
        <p:spPr>
          <a:xfrm>
            <a:off x="5431536" y="4114800"/>
            <a:ext cx="1783080" cy="256032"/>
          </a:xfrm>
          <a:prstGeom prst="rect">
            <a:avLst/>
          </a:prstGeom>
          <a:noFill/>
          <a:ln/>
        </p:spPr>
        <p:txBody>
          <a:bodyPr wrap="square" lIns="0" tIns="0" rIns="0" bIns="0" rtlCol="0" anchor="ctr"/>
          <a:lstStyle/>
          <a:p>
            <a:pPr algn="ctr" indent="0" marL="0">
              <a:buNone/>
            </a:pPr>
            <a:r>
              <a:rPr lang="en-US" sz="1000" b="1" spc="400" kern="0" dirty="0">
                <a:solidFill>
                  <a:srgbClr val="00915A"/>
                </a:solidFill>
                <a:latin typeface="Calibri" pitchFamily="34" charset="0"/>
                <a:ea typeface="Calibri" pitchFamily="34" charset="-122"/>
                <a:cs typeface="Calibri" pitchFamily="34" charset="-120"/>
              </a:rPr>
              <a:t>REVIEW</a:t>
            </a:r>
            <a:endParaRPr lang="en-US" sz="1000" dirty="0"/>
          </a:p>
        </p:txBody>
      </p:sp>
      <p:sp>
        <p:nvSpPr>
          <p:cNvPr id="28" name="Text 23"/>
          <p:cNvSpPr/>
          <p:nvPr/>
        </p:nvSpPr>
        <p:spPr>
          <a:xfrm>
            <a:off x="5385816" y="4389120"/>
            <a:ext cx="1874520" cy="457200"/>
          </a:xfrm>
          <a:prstGeom prst="rect">
            <a:avLst/>
          </a:prstGeom>
          <a:noFill/>
          <a:ln/>
        </p:spPr>
        <p:txBody>
          <a:bodyPr wrap="square" lIns="0" tIns="0" rIns="0" bIns="0" rtlCol="0" anchor="ctr"/>
          <a:lstStyle/>
          <a:p>
            <a:pPr algn="ctr" indent="0" marL="0">
              <a:buNone/>
            </a:pPr>
            <a:r>
              <a:rPr lang="en-US" sz="1400" b="1" dirty="0">
                <a:solidFill>
                  <a:srgbClr val="1A2E28"/>
                </a:solidFill>
                <a:latin typeface="Georgia" pitchFamily="34" charset="0"/>
                <a:ea typeface="Georgia" pitchFamily="34" charset="-122"/>
                <a:cs typeface="Georgia" pitchFamily="34" charset="-120"/>
              </a:rPr>
              <a:t>Approbation</a:t>
            </a:r>
            <a:endParaRPr lang="en-US" sz="1400" dirty="0"/>
          </a:p>
        </p:txBody>
      </p:sp>
      <p:sp>
        <p:nvSpPr>
          <p:cNvPr id="29" name="Text 24"/>
          <p:cNvSpPr/>
          <p:nvPr/>
        </p:nvSpPr>
        <p:spPr>
          <a:xfrm>
            <a:off x="5385816" y="4800600"/>
            <a:ext cx="1874520" cy="365760"/>
          </a:xfrm>
          <a:prstGeom prst="rect">
            <a:avLst/>
          </a:prstGeom>
          <a:noFill/>
          <a:ln/>
        </p:spPr>
        <p:txBody>
          <a:bodyPr wrap="square" lIns="0" tIns="0" rIns="0" bIns="0" rtlCol="0" anchor="ctr"/>
          <a:lstStyle/>
          <a:p>
            <a:pPr algn="ctr" indent="0" marL="0">
              <a:lnSpc>
                <a:spcPct val="125000"/>
              </a:lnSpc>
              <a:buNone/>
            </a:pPr>
            <a:r>
              <a:rPr lang="en-US" sz="1000" dirty="0">
                <a:solidFill>
                  <a:srgbClr val="6B7B78"/>
                </a:solidFill>
                <a:latin typeface="Calibri" pitchFamily="34" charset="0"/>
                <a:ea typeface="Calibri" pitchFamily="34" charset="-122"/>
                <a:cs typeface="Calibri" pitchFamily="34" charset="-120"/>
              </a:rPr>
              <a:t>MR approuvée, policies OK</a:t>
            </a:r>
            <a:endParaRPr lang="en-US" sz="1000" dirty="0"/>
          </a:p>
        </p:txBody>
      </p:sp>
      <p:sp>
        <p:nvSpPr>
          <p:cNvPr id="30" name="Text 25"/>
          <p:cNvSpPr/>
          <p:nvPr/>
        </p:nvSpPr>
        <p:spPr>
          <a:xfrm>
            <a:off x="7406640" y="3383280"/>
            <a:ext cx="137160" cy="548640"/>
          </a:xfrm>
          <a:prstGeom prst="rect">
            <a:avLst/>
          </a:prstGeom>
          <a:noFill/>
          <a:ln/>
        </p:spPr>
        <p:txBody>
          <a:bodyPr wrap="square" lIns="0" tIns="0" rIns="0" bIns="0" rtlCol="0" anchor="ctr"/>
          <a:lstStyle/>
          <a:p>
            <a:pPr algn="ctr" indent="0" marL="0">
              <a:buNone/>
            </a:pPr>
            <a:r>
              <a:rPr lang="en-US" sz="3200" b="1" dirty="0">
                <a:solidFill>
                  <a:srgbClr val="D4A840"/>
                </a:solidFill>
                <a:latin typeface="Georgia" pitchFamily="34" charset="0"/>
                <a:ea typeface="Georgia" pitchFamily="34" charset="-122"/>
                <a:cs typeface="Georgia" pitchFamily="34" charset="-120"/>
              </a:rPr>
              <a:t>›</a:t>
            </a:r>
            <a:endParaRPr lang="en-US" sz="3200" dirty="0"/>
          </a:p>
        </p:txBody>
      </p:sp>
      <p:sp>
        <p:nvSpPr>
          <p:cNvPr id="31" name="Shape 26"/>
          <p:cNvSpPr/>
          <p:nvPr/>
        </p:nvSpPr>
        <p:spPr>
          <a:xfrm>
            <a:off x="7552944" y="3017520"/>
            <a:ext cx="2148840" cy="2194560"/>
          </a:xfrm>
          <a:prstGeom prst="rect">
            <a:avLst/>
          </a:prstGeom>
          <a:solidFill>
            <a:srgbClr val="F8F9FA"/>
          </a:solidFill>
          <a:ln w="6350">
            <a:solidFill>
              <a:srgbClr val="E2E8F0"/>
            </a:solidFill>
            <a:prstDash val="solid"/>
          </a:ln>
        </p:spPr>
      </p:sp>
      <p:sp>
        <p:nvSpPr>
          <p:cNvPr id="32" name="Shape 27"/>
          <p:cNvSpPr/>
          <p:nvPr/>
        </p:nvSpPr>
        <p:spPr>
          <a:xfrm>
            <a:off x="7552944" y="3017520"/>
            <a:ext cx="2148840" cy="54864"/>
          </a:xfrm>
          <a:prstGeom prst="rect">
            <a:avLst/>
          </a:prstGeom>
          <a:solidFill>
            <a:srgbClr val="D4A840"/>
          </a:solidFill>
          <a:ln w="12700">
            <a:solidFill>
              <a:srgbClr val="D4A840"/>
            </a:solidFill>
            <a:prstDash val="solid"/>
          </a:ln>
        </p:spPr>
      </p:sp>
      <p:sp>
        <p:nvSpPr>
          <p:cNvPr id="33" name="Shape 28"/>
          <p:cNvSpPr/>
          <p:nvPr/>
        </p:nvSpPr>
        <p:spPr>
          <a:xfrm>
            <a:off x="8261604" y="3273552"/>
            <a:ext cx="731520" cy="731520"/>
          </a:xfrm>
          <a:prstGeom prst="ellipse">
            <a:avLst/>
          </a:prstGeom>
          <a:solidFill>
            <a:srgbClr val="00653F"/>
          </a:solidFill>
          <a:ln w="12700">
            <a:solidFill>
              <a:srgbClr val="00653F"/>
            </a:solidFill>
            <a:prstDash val="solid"/>
          </a:ln>
        </p:spPr>
      </p:sp>
      <p:pic>
        <p:nvPicPr>
          <p:cNvPr id="34" name="Image 3" descr="preencoded.png">    </p:cNvPr>
          <p:cNvPicPr>
            <a:picLocks noChangeAspect="1"/>
          </p:cNvPicPr>
          <p:nvPr/>
        </p:nvPicPr>
        <p:blipFill>
          <a:blip r:embed="rId4"/>
          <a:stretch>
            <a:fillRect/>
          </a:stretch>
        </p:blipFill>
        <p:spPr>
          <a:xfrm>
            <a:off x="8426196" y="3429000"/>
            <a:ext cx="411480" cy="411480"/>
          </a:xfrm>
          <a:prstGeom prst="rect">
            <a:avLst/>
          </a:prstGeom>
        </p:spPr>
      </p:pic>
      <p:sp>
        <p:nvSpPr>
          <p:cNvPr id="35" name="Text 29"/>
          <p:cNvSpPr/>
          <p:nvPr/>
        </p:nvSpPr>
        <p:spPr>
          <a:xfrm>
            <a:off x="7735824" y="4114800"/>
            <a:ext cx="1783080" cy="256032"/>
          </a:xfrm>
          <a:prstGeom prst="rect">
            <a:avLst/>
          </a:prstGeom>
          <a:noFill/>
          <a:ln/>
        </p:spPr>
        <p:txBody>
          <a:bodyPr wrap="square" lIns="0" tIns="0" rIns="0" bIns="0" rtlCol="0" anchor="ctr"/>
          <a:lstStyle/>
          <a:p>
            <a:pPr algn="ctr" indent="0" marL="0">
              <a:buNone/>
            </a:pPr>
            <a:r>
              <a:rPr lang="en-US" sz="1000" b="1" spc="400" kern="0" dirty="0">
                <a:solidFill>
                  <a:srgbClr val="00653F"/>
                </a:solidFill>
                <a:latin typeface="Calibri" pitchFamily="34" charset="0"/>
                <a:ea typeface="Calibri" pitchFamily="34" charset="-122"/>
                <a:cs typeface="Calibri" pitchFamily="34" charset="-120"/>
              </a:rPr>
              <a:t>ORCHESTRATEUR</a:t>
            </a:r>
            <a:endParaRPr lang="en-US" sz="1000" dirty="0"/>
          </a:p>
        </p:txBody>
      </p:sp>
      <p:sp>
        <p:nvSpPr>
          <p:cNvPr id="36" name="Text 30"/>
          <p:cNvSpPr/>
          <p:nvPr/>
        </p:nvSpPr>
        <p:spPr>
          <a:xfrm>
            <a:off x="7690104" y="4389120"/>
            <a:ext cx="1874520" cy="457200"/>
          </a:xfrm>
          <a:prstGeom prst="rect">
            <a:avLst/>
          </a:prstGeom>
          <a:noFill/>
          <a:ln/>
        </p:spPr>
        <p:txBody>
          <a:bodyPr wrap="square" lIns="0" tIns="0" rIns="0" bIns="0" rtlCol="0" anchor="ctr"/>
          <a:lstStyle/>
          <a:p>
            <a:pPr algn="ctr" indent="0" marL="0">
              <a:buNone/>
            </a:pPr>
            <a:r>
              <a:rPr lang="en-US" sz="1400" b="1" dirty="0">
                <a:solidFill>
                  <a:srgbClr val="1A2E28"/>
                </a:solidFill>
                <a:latin typeface="Georgia" pitchFamily="34" charset="0"/>
                <a:ea typeface="Georgia" pitchFamily="34" charset="-122"/>
                <a:cs typeface="Georgia" pitchFamily="34" charset="-120"/>
              </a:rPr>
              <a:t>BP2I · Terraform</a:t>
            </a:r>
            <a:endParaRPr lang="en-US" sz="1400" dirty="0"/>
          </a:p>
        </p:txBody>
      </p:sp>
      <p:sp>
        <p:nvSpPr>
          <p:cNvPr id="37" name="Text 31"/>
          <p:cNvSpPr/>
          <p:nvPr/>
        </p:nvSpPr>
        <p:spPr>
          <a:xfrm>
            <a:off x="7690104" y="4800600"/>
            <a:ext cx="1874520" cy="365760"/>
          </a:xfrm>
          <a:prstGeom prst="rect">
            <a:avLst/>
          </a:prstGeom>
          <a:noFill/>
          <a:ln/>
        </p:spPr>
        <p:txBody>
          <a:bodyPr wrap="square" lIns="0" tIns="0" rIns="0" bIns="0" rtlCol="0" anchor="ctr"/>
          <a:lstStyle/>
          <a:p>
            <a:pPr algn="ctr" indent="0" marL="0">
              <a:lnSpc>
                <a:spcPct val="125000"/>
              </a:lnSpc>
              <a:buNone/>
            </a:pPr>
            <a:r>
              <a:rPr lang="en-US" sz="1000" dirty="0">
                <a:solidFill>
                  <a:srgbClr val="6B7B78"/>
                </a:solidFill>
                <a:latin typeface="Calibri" pitchFamily="34" charset="0"/>
                <a:ea typeface="Calibri" pitchFamily="34" charset="-122"/>
                <a:cs typeface="Calibri" pitchFamily="34" charset="-120"/>
              </a:rPr>
              <a:t>Pièce centrale · agnostique</a:t>
            </a:r>
            <a:endParaRPr lang="en-US" sz="1000" dirty="0"/>
          </a:p>
        </p:txBody>
      </p:sp>
      <p:sp>
        <p:nvSpPr>
          <p:cNvPr id="38" name="Text 32"/>
          <p:cNvSpPr/>
          <p:nvPr/>
        </p:nvSpPr>
        <p:spPr>
          <a:xfrm>
            <a:off x="9710928" y="3383280"/>
            <a:ext cx="137160" cy="548640"/>
          </a:xfrm>
          <a:prstGeom prst="rect">
            <a:avLst/>
          </a:prstGeom>
          <a:noFill/>
          <a:ln/>
        </p:spPr>
        <p:txBody>
          <a:bodyPr wrap="square" lIns="0" tIns="0" rIns="0" bIns="0" rtlCol="0" anchor="ctr"/>
          <a:lstStyle/>
          <a:p>
            <a:pPr algn="ctr" indent="0" marL="0">
              <a:buNone/>
            </a:pPr>
            <a:r>
              <a:rPr lang="en-US" sz="3200" b="1" dirty="0">
                <a:solidFill>
                  <a:srgbClr val="D4A840"/>
                </a:solidFill>
                <a:latin typeface="Georgia" pitchFamily="34" charset="0"/>
                <a:ea typeface="Georgia" pitchFamily="34" charset="-122"/>
                <a:cs typeface="Georgia" pitchFamily="34" charset="-120"/>
              </a:rPr>
              <a:t>›</a:t>
            </a:r>
            <a:endParaRPr lang="en-US" sz="3200" dirty="0"/>
          </a:p>
        </p:txBody>
      </p:sp>
      <p:sp>
        <p:nvSpPr>
          <p:cNvPr id="39" name="Shape 33"/>
          <p:cNvSpPr/>
          <p:nvPr/>
        </p:nvSpPr>
        <p:spPr>
          <a:xfrm>
            <a:off x="9857232" y="3017520"/>
            <a:ext cx="2148840" cy="2194560"/>
          </a:xfrm>
          <a:prstGeom prst="rect">
            <a:avLst/>
          </a:prstGeom>
          <a:solidFill>
            <a:srgbClr val="F8F9FA"/>
          </a:solidFill>
          <a:ln w="6350">
            <a:solidFill>
              <a:srgbClr val="E2E8F0"/>
            </a:solidFill>
            <a:prstDash val="solid"/>
          </a:ln>
        </p:spPr>
      </p:sp>
      <p:sp>
        <p:nvSpPr>
          <p:cNvPr id="40" name="Shape 34"/>
          <p:cNvSpPr/>
          <p:nvPr/>
        </p:nvSpPr>
        <p:spPr>
          <a:xfrm>
            <a:off x="9857232" y="3017520"/>
            <a:ext cx="2148840" cy="54864"/>
          </a:xfrm>
          <a:prstGeom prst="rect">
            <a:avLst/>
          </a:prstGeom>
          <a:solidFill>
            <a:srgbClr val="D4A840"/>
          </a:solidFill>
          <a:ln w="12700">
            <a:solidFill>
              <a:srgbClr val="D4A840"/>
            </a:solidFill>
            <a:prstDash val="solid"/>
          </a:ln>
        </p:spPr>
      </p:sp>
      <p:sp>
        <p:nvSpPr>
          <p:cNvPr id="41" name="Shape 35"/>
          <p:cNvSpPr/>
          <p:nvPr/>
        </p:nvSpPr>
        <p:spPr>
          <a:xfrm>
            <a:off x="10565892" y="3273552"/>
            <a:ext cx="731520" cy="731520"/>
          </a:xfrm>
          <a:prstGeom prst="ellipse">
            <a:avLst/>
          </a:prstGeom>
          <a:solidFill>
            <a:srgbClr val="00653F"/>
          </a:solidFill>
          <a:ln w="12700">
            <a:solidFill>
              <a:srgbClr val="00653F"/>
            </a:solidFill>
            <a:prstDash val="solid"/>
          </a:ln>
        </p:spPr>
      </p:sp>
      <p:pic>
        <p:nvPicPr>
          <p:cNvPr id="42" name="Image 4" descr="preencoded.png">    </p:cNvPr>
          <p:cNvPicPr>
            <a:picLocks noChangeAspect="1"/>
          </p:cNvPicPr>
          <p:nvPr/>
        </p:nvPicPr>
        <p:blipFill>
          <a:blip r:embed="rId5"/>
          <a:stretch>
            <a:fillRect/>
          </a:stretch>
        </p:blipFill>
        <p:spPr>
          <a:xfrm>
            <a:off x="10730484" y="3429000"/>
            <a:ext cx="411480" cy="411480"/>
          </a:xfrm>
          <a:prstGeom prst="rect">
            <a:avLst/>
          </a:prstGeom>
        </p:spPr>
      </p:pic>
      <p:sp>
        <p:nvSpPr>
          <p:cNvPr id="43" name="Text 36"/>
          <p:cNvSpPr/>
          <p:nvPr/>
        </p:nvSpPr>
        <p:spPr>
          <a:xfrm>
            <a:off x="10040112" y="4114800"/>
            <a:ext cx="1783080" cy="256032"/>
          </a:xfrm>
          <a:prstGeom prst="rect">
            <a:avLst/>
          </a:prstGeom>
          <a:noFill/>
          <a:ln/>
        </p:spPr>
        <p:txBody>
          <a:bodyPr wrap="square" lIns="0" tIns="0" rIns="0" bIns="0" rtlCol="0" anchor="ctr"/>
          <a:lstStyle/>
          <a:p>
            <a:pPr algn="ctr" indent="0" marL="0">
              <a:buNone/>
            </a:pPr>
            <a:r>
              <a:rPr lang="en-US" sz="1000" b="1" spc="400" kern="0" dirty="0">
                <a:solidFill>
                  <a:srgbClr val="00653F"/>
                </a:solidFill>
                <a:latin typeface="Calibri" pitchFamily="34" charset="0"/>
                <a:ea typeface="Calibri" pitchFamily="34" charset="-122"/>
                <a:cs typeface="Calibri" pitchFamily="34" charset="-120"/>
              </a:rPr>
              <a:t>RESSOURCES</a:t>
            </a:r>
            <a:endParaRPr lang="en-US" sz="1000" dirty="0"/>
          </a:p>
        </p:txBody>
      </p:sp>
      <p:sp>
        <p:nvSpPr>
          <p:cNvPr id="44" name="Text 37"/>
          <p:cNvSpPr/>
          <p:nvPr/>
        </p:nvSpPr>
        <p:spPr>
          <a:xfrm>
            <a:off x="9994392" y="4389120"/>
            <a:ext cx="1874520" cy="457200"/>
          </a:xfrm>
          <a:prstGeom prst="rect">
            <a:avLst/>
          </a:prstGeom>
          <a:noFill/>
          <a:ln/>
        </p:spPr>
        <p:txBody>
          <a:bodyPr wrap="square" lIns="0" tIns="0" rIns="0" bIns="0" rtlCol="0" anchor="ctr"/>
          <a:lstStyle/>
          <a:p>
            <a:pPr algn="ctr" indent="0" marL="0">
              <a:buNone/>
            </a:pPr>
            <a:r>
              <a:rPr lang="en-US" sz="1400" b="1" dirty="0">
                <a:solidFill>
                  <a:srgbClr val="1A2E28"/>
                </a:solidFill>
                <a:latin typeface="Georgia" pitchFamily="34" charset="0"/>
                <a:ea typeface="Georgia" pitchFamily="34" charset="-122"/>
                <a:cs typeface="Georgia" pitchFamily="34" charset="-120"/>
              </a:rPr>
              <a:t>VSI · LB · ROKS</a:t>
            </a:r>
            <a:endParaRPr lang="en-US" sz="1400" dirty="0"/>
          </a:p>
        </p:txBody>
      </p:sp>
      <p:sp>
        <p:nvSpPr>
          <p:cNvPr id="45" name="Text 38"/>
          <p:cNvSpPr/>
          <p:nvPr/>
        </p:nvSpPr>
        <p:spPr>
          <a:xfrm>
            <a:off x="9994392" y="4800600"/>
            <a:ext cx="1874520" cy="365760"/>
          </a:xfrm>
          <a:prstGeom prst="rect">
            <a:avLst/>
          </a:prstGeom>
          <a:noFill/>
          <a:ln/>
        </p:spPr>
        <p:txBody>
          <a:bodyPr wrap="square" lIns="0" tIns="0" rIns="0" bIns="0" rtlCol="0" anchor="ctr"/>
          <a:lstStyle/>
          <a:p>
            <a:pPr algn="ctr" indent="0" marL="0">
              <a:lnSpc>
                <a:spcPct val="125000"/>
              </a:lnSpc>
              <a:buNone/>
            </a:pPr>
            <a:r>
              <a:rPr lang="en-US" sz="1000" dirty="0">
                <a:solidFill>
                  <a:srgbClr val="6B7B78"/>
                </a:solidFill>
                <a:latin typeface="Calibri" pitchFamily="34" charset="0"/>
                <a:ea typeface="Calibri" pitchFamily="34" charset="-122"/>
                <a:cs typeface="Calibri" pitchFamily="34" charset="-120"/>
              </a:rPr>
              <a:t>Kafka · Databases aS Code</a:t>
            </a:r>
            <a:endParaRPr lang="en-US" sz="1000" dirty="0"/>
          </a:p>
        </p:txBody>
      </p:sp>
      <p:sp>
        <p:nvSpPr>
          <p:cNvPr id="46" name="Shape 39"/>
          <p:cNvSpPr/>
          <p:nvPr/>
        </p:nvSpPr>
        <p:spPr>
          <a:xfrm>
            <a:off x="640080" y="5486400"/>
            <a:ext cx="2606040" cy="457200"/>
          </a:xfrm>
          <a:prstGeom prst="rect">
            <a:avLst/>
          </a:prstGeom>
          <a:solidFill>
            <a:srgbClr val="E6F3EE"/>
          </a:solidFill>
          <a:ln w="12700">
            <a:solidFill>
              <a:srgbClr val="E6F3EE"/>
            </a:solidFill>
            <a:prstDash val="solid"/>
          </a:ln>
        </p:spPr>
      </p:sp>
      <p:sp>
        <p:nvSpPr>
          <p:cNvPr id="47" name="Text 40"/>
          <p:cNvSpPr/>
          <p:nvPr/>
        </p:nvSpPr>
        <p:spPr>
          <a:xfrm>
            <a:off x="640080" y="5486400"/>
            <a:ext cx="2606040" cy="457200"/>
          </a:xfrm>
          <a:prstGeom prst="rect">
            <a:avLst/>
          </a:prstGeom>
          <a:noFill/>
          <a:ln/>
        </p:spPr>
        <p:txBody>
          <a:bodyPr wrap="square" lIns="0" tIns="0" rIns="0" bIns="0" rtlCol="0" anchor="ctr"/>
          <a:lstStyle/>
          <a:p>
            <a:pPr algn="ctr" indent="0" marL="0">
              <a:buNone/>
            </a:pPr>
            <a:r>
              <a:rPr lang="en-US" sz="1200" b="1" dirty="0">
                <a:solidFill>
                  <a:srgbClr val="00653F"/>
                </a:solidFill>
                <a:latin typeface="Calibri" pitchFamily="34" charset="0"/>
                <a:ea typeface="Calibri" pitchFamily="34" charset="-122"/>
                <a:cs typeface="Calibri" pitchFamily="34" charset="-120"/>
              </a:rPr>
              <a:t>Standardisation</a:t>
            </a:r>
            <a:endParaRPr lang="en-US" sz="1200" dirty="0"/>
          </a:p>
        </p:txBody>
      </p:sp>
      <p:sp>
        <p:nvSpPr>
          <p:cNvPr id="48" name="Shape 41"/>
          <p:cNvSpPr/>
          <p:nvPr/>
        </p:nvSpPr>
        <p:spPr>
          <a:xfrm>
            <a:off x="3429000" y="5486400"/>
            <a:ext cx="2606040" cy="457200"/>
          </a:xfrm>
          <a:prstGeom prst="rect">
            <a:avLst/>
          </a:prstGeom>
          <a:solidFill>
            <a:srgbClr val="E6F3EE"/>
          </a:solidFill>
          <a:ln w="12700">
            <a:solidFill>
              <a:srgbClr val="E6F3EE"/>
            </a:solidFill>
            <a:prstDash val="solid"/>
          </a:ln>
        </p:spPr>
      </p:sp>
      <p:sp>
        <p:nvSpPr>
          <p:cNvPr id="49" name="Text 42"/>
          <p:cNvSpPr/>
          <p:nvPr/>
        </p:nvSpPr>
        <p:spPr>
          <a:xfrm>
            <a:off x="3429000" y="5486400"/>
            <a:ext cx="2606040" cy="457200"/>
          </a:xfrm>
          <a:prstGeom prst="rect">
            <a:avLst/>
          </a:prstGeom>
          <a:noFill/>
          <a:ln/>
        </p:spPr>
        <p:txBody>
          <a:bodyPr wrap="square" lIns="0" tIns="0" rIns="0" bIns="0" rtlCol="0" anchor="ctr"/>
          <a:lstStyle/>
          <a:p>
            <a:pPr algn="ctr" indent="0" marL="0">
              <a:buNone/>
            </a:pPr>
            <a:r>
              <a:rPr lang="en-US" sz="1200" b="1" dirty="0">
                <a:solidFill>
                  <a:srgbClr val="00653F"/>
                </a:solidFill>
                <a:latin typeface="Calibri" pitchFamily="34" charset="0"/>
                <a:ea typeface="Calibri" pitchFamily="34" charset="-122"/>
                <a:cs typeface="Calibri" pitchFamily="34" charset="-120"/>
              </a:rPr>
              <a:t>Idempotence</a:t>
            </a:r>
            <a:endParaRPr lang="en-US" sz="1200" dirty="0"/>
          </a:p>
        </p:txBody>
      </p:sp>
      <p:sp>
        <p:nvSpPr>
          <p:cNvPr id="50" name="Shape 43"/>
          <p:cNvSpPr/>
          <p:nvPr/>
        </p:nvSpPr>
        <p:spPr>
          <a:xfrm>
            <a:off x="6217920" y="5486400"/>
            <a:ext cx="2606040" cy="457200"/>
          </a:xfrm>
          <a:prstGeom prst="rect">
            <a:avLst/>
          </a:prstGeom>
          <a:solidFill>
            <a:srgbClr val="E6F3EE"/>
          </a:solidFill>
          <a:ln w="12700">
            <a:solidFill>
              <a:srgbClr val="E6F3EE"/>
            </a:solidFill>
            <a:prstDash val="solid"/>
          </a:ln>
        </p:spPr>
      </p:sp>
      <p:sp>
        <p:nvSpPr>
          <p:cNvPr id="51" name="Text 44"/>
          <p:cNvSpPr/>
          <p:nvPr/>
        </p:nvSpPr>
        <p:spPr>
          <a:xfrm>
            <a:off x="6217920" y="5486400"/>
            <a:ext cx="2606040" cy="457200"/>
          </a:xfrm>
          <a:prstGeom prst="rect">
            <a:avLst/>
          </a:prstGeom>
          <a:noFill/>
          <a:ln/>
        </p:spPr>
        <p:txBody>
          <a:bodyPr wrap="square" lIns="0" tIns="0" rIns="0" bIns="0" rtlCol="0" anchor="ctr"/>
          <a:lstStyle/>
          <a:p>
            <a:pPr algn="ctr" indent="0" marL="0">
              <a:buNone/>
            </a:pPr>
            <a:r>
              <a:rPr lang="en-US" sz="1200" b="1" dirty="0">
                <a:solidFill>
                  <a:srgbClr val="00653F"/>
                </a:solidFill>
                <a:latin typeface="Calibri" pitchFamily="34" charset="0"/>
                <a:ea typeface="Calibri" pitchFamily="34" charset="-122"/>
                <a:cs typeface="Calibri" pitchFamily="34" charset="-120"/>
              </a:rPr>
              <a:t>State distant</a:t>
            </a:r>
            <a:endParaRPr lang="en-US" sz="1200" dirty="0"/>
          </a:p>
        </p:txBody>
      </p:sp>
      <p:sp>
        <p:nvSpPr>
          <p:cNvPr id="52" name="Shape 45"/>
          <p:cNvSpPr/>
          <p:nvPr/>
        </p:nvSpPr>
        <p:spPr>
          <a:xfrm>
            <a:off x="9006840" y="5486400"/>
            <a:ext cx="2606040" cy="457200"/>
          </a:xfrm>
          <a:prstGeom prst="rect">
            <a:avLst/>
          </a:prstGeom>
          <a:solidFill>
            <a:srgbClr val="E6F3EE"/>
          </a:solidFill>
          <a:ln w="12700">
            <a:solidFill>
              <a:srgbClr val="E6F3EE"/>
            </a:solidFill>
            <a:prstDash val="solid"/>
          </a:ln>
        </p:spPr>
      </p:sp>
      <p:sp>
        <p:nvSpPr>
          <p:cNvPr id="53" name="Text 46"/>
          <p:cNvSpPr/>
          <p:nvPr/>
        </p:nvSpPr>
        <p:spPr>
          <a:xfrm>
            <a:off x="9006840" y="5486400"/>
            <a:ext cx="2606040" cy="457200"/>
          </a:xfrm>
          <a:prstGeom prst="rect">
            <a:avLst/>
          </a:prstGeom>
          <a:noFill/>
          <a:ln/>
        </p:spPr>
        <p:txBody>
          <a:bodyPr wrap="square" lIns="0" tIns="0" rIns="0" bIns="0" rtlCol="0" anchor="ctr"/>
          <a:lstStyle/>
          <a:p>
            <a:pPr algn="ctr" indent="0" marL="0">
              <a:buNone/>
            </a:pPr>
            <a:r>
              <a:rPr lang="en-US" sz="1200" b="1" dirty="0">
                <a:solidFill>
                  <a:srgbClr val="00653F"/>
                </a:solidFill>
                <a:latin typeface="Calibri" pitchFamily="34" charset="0"/>
                <a:ea typeface="Calibri" pitchFamily="34" charset="-122"/>
                <a:cs typeface="Calibri" pitchFamily="34" charset="-120"/>
              </a:rPr>
              <a:t>Drift detection</a:t>
            </a:r>
            <a:endParaRPr lang="en-US" sz="1200" dirty="0"/>
          </a:p>
        </p:txBody>
      </p:sp>
      <p:sp>
        <p:nvSpPr>
          <p:cNvPr id="54" name="Text 47"/>
          <p:cNvSpPr/>
          <p:nvPr/>
        </p:nvSpPr>
        <p:spPr>
          <a:xfrm>
            <a:off x="640080" y="6080760"/>
            <a:ext cx="10972800" cy="274320"/>
          </a:xfrm>
          <a:prstGeom prst="rect">
            <a:avLst/>
          </a:prstGeom>
          <a:noFill/>
          <a:ln/>
        </p:spPr>
        <p:txBody>
          <a:bodyPr wrap="square" lIns="0" tIns="0" rIns="0" bIns="0" rtlCol="0" anchor="ctr"/>
          <a:lstStyle/>
          <a:p>
            <a:pPr indent="0" marL="0">
              <a:buNone/>
            </a:pPr>
            <a:r>
              <a:rPr lang="en-US" sz="1000" i="1" dirty="0">
                <a:solidFill>
                  <a:srgbClr val="6B7B78"/>
                </a:solidFill>
                <a:latin typeface="Georgia" pitchFamily="34" charset="0"/>
                <a:ea typeface="Georgia" pitchFamily="34" charset="-122"/>
                <a:cs typeface="Georgia" pitchFamily="34" charset="-120"/>
              </a:rPr>
              <a:t>Chaque ressource (VSI, LB, ROKS, Kafka, Databases…) est provisionnée aS Code par l'orchestrateur BP2I, avec état distant et détection de drift.</a:t>
            </a:r>
            <a:endParaRPr lang="en-US" sz="1000" dirty="0"/>
          </a:p>
        </p:txBody>
      </p:sp>
      <p:sp>
        <p:nvSpPr>
          <p:cNvPr id="55" name="Text 48"/>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56" name="Text 49"/>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07 · dMZR</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3A2B"/>
        </a:solidFill>
      </p:bgPr>
    </p:bg>
    <p:spTree>
      <p:nvGrpSpPr>
        <p:cNvPr id="1" name=""/>
        <p:cNvGrpSpPr/>
        <p:nvPr/>
      </p:nvGrpSpPr>
      <p:grpSpPr>
        <a:xfrm>
          <a:off x="0" y="0"/>
          <a:ext cx="0" cy="0"/>
          <a:chOff x="0" y="0"/>
          <a:chExt cx="0" cy="0"/>
        </a:xfrm>
      </p:grpSpPr>
      <p:sp>
        <p:nvSpPr>
          <p:cNvPr id="2" name="Text 0"/>
          <p:cNvSpPr/>
          <p:nvPr/>
        </p:nvSpPr>
        <p:spPr>
          <a:xfrm>
            <a:off x="9144000" y="731520"/>
            <a:ext cx="2743200" cy="5394960"/>
          </a:xfrm>
          <a:prstGeom prst="rect">
            <a:avLst/>
          </a:prstGeom>
          <a:noFill/>
          <a:ln/>
        </p:spPr>
        <p:txBody>
          <a:bodyPr wrap="square" lIns="0" tIns="0" rIns="0" bIns="0" rtlCol="0" anchor="ctr"/>
          <a:lstStyle/>
          <a:p>
            <a:pPr algn="ctr" indent="0" marL="0">
              <a:buNone/>
            </a:pPr>
            <a:r>
              <a:rPr lang="en-US" sz="30000" b="1" dirty="0">
                <a:solidFill>
                  <a:srgbClr val="0E5540"/>
                </a:solidFill>
                <a:latin typeface="Georgia" pitchFamily="34" charset="0"/>
                <a:ea typeface="Georgia" pitchFamily="34" charset="-122"/>
                <a:cs typeface="Georgia" pitchFamily="34" charset="-120"/>
              </a:rPr>
              <a:t>2</a:t>
            </a:r>
            <a:endParaRPr lang="en-US" sz="30000" dirty="0"/>
          </a:p>
        </p:txBody>
      </p:sp>
      <p:sp>
        <p:nvSpPr>
          <p:cNvPr id="3" name="Shape 1"/>
          <p:cNvSpPr/>
          <p:nvPr/>
        </p:nvSpPr>
        <p:spPr>
          <a:xfrm>
            <a:off x="640080" y="2286000"/>
            <a:ext cx="457200" cy="36576"/>
          </a:xfrm>
          <a:prstGeom prst="rect">
            <a:avLst/>
          </a:prstGeom>
          <a:solidFill>
            <a:srgbClr val="D4A840"/>
          </a:solidFill>
          <a:ln w="12700">
            <a:solidFill>
              <a:srgbClr val="D4A840"/>
            </a:solidFill>
            <a:prstDash val="solid"/>
          </a:ln>
        </p:spPr>
      </p:sp>
      <p:sp>
        <p:nvSpPr>
          <p:cNvPr id="4" name="Text 2"/>
          <p:cNvSpPr/>
          <p:nvPr/>
        </p:nvSpPr>
        <p:spPr>
          <a:xfrm>
            <a:off x="640080" y="2423160"/>
            <a:ext cx="5486400" cy="320040"/>
          </a:xfrm>
          <a:prstGeom prst="rect">
            <a:avLst/>
          </a:prstGeom>
          <a:noFill/>
          <a:ln/>
        </p:spPr>
        <p:txBody>
          <a:bodyPr wrap="square" lIns="0" tIns="0" rIns="0" bIns="0" rtlCol="0" anchor="ctr"/>
          <a:lstStyle/>
          <a:p>
            <a:pPr indent="0" marL="0">
              <a:buNone/>
            </a:pPr>
            <a:r>
              <a:rPr lang="en-US" sz="1200" b="1" spc="800" kern="0" dirty="0">
                <a:solidFill>
                  <a:srgbClr val="D4A840"/>
                </a:solidFill>
                <a:latin typeface="Calibri" pitchFamily="34" charset="0"/>
                <a:ea typeface="Calibri" pitchFamily="34" charset="-122"/>
                <a:cs typeface="Calibri" pitchFamily="34" charset="-120"/>
              </a:rPr>
              <a:t>SECTION 02</a:t>
            </a:r>
            <a:endParaRPr lang="en-US" sz="1200" dirty="0"/>
          </a:p>
        </p:txBody>
      </p:sp>
      <p:sp>
        <p:nvSpPr>
          <p:cNvPr id="5" name="Text 3"/>
          <p:cNvSpPr/>
          <p:nvPr/>
        </p:nvSpPr>
        <p:spPr>
          <a:xfrm>
            <a:off x="640080" y="2971800"/>
            <a:ext cx="8412480" cy="118872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IT Marketplace</a:t>
            </a:r>
            <a:endParaRPr lang="en-US" sz="5400" dirty="0"/>
          </a:p>
        </p:txBody>
      </p:sp>
      <p:sp>
        <p:nvSpPr>
          <p:cNvPr id="6" name="Text 4"/>
          <p:cNvSpPr/>
          <p:nvPr/>
        </p:nvSpPr>
        <p:spPr>
          <a:xfrm>
            <a:off x="640080" y="4343400"/>
            <a:ext cx="8412480" cy="1005840"/>
          </a:xfrm>
          <a:prstGeom prst="rect">
            <a:avLst/>
          </a:prstGeom>
          <a:noFill/>
          <a:ln/>
        </p:spPr>
        <p:txBody>
          <a:bodyPr wrap="square" lIns="0" tIns="0" rIns="0" bIns="0" rtlCol="0" anchor="ctr"/>
          <a:lstStyle/>
          <a:p>
            <a:pPr indent="0" marL="0">
              <a:lnSpc>
                <a:spcPct val="130000"/>
              </a:lnSpc>
              <a:buNone/>
            </a:pPr>
            <a:r>
              <a:rPr lang="en-US" sz="1900" i="1" dirty="0">
                <a:solidFill>
                  <a:srgbClr val="C9D6CF"/>
                </a:solidFill>
                <a:latin typeface="Georgia" pitchFamily="34" charset="0"/>
                <a:ea typeface="Georgia" pitchFamily="34" charset="-122"/>
                <a:cs typeface="Georgia" pitchFamily="34" charset="-120"/>
              </a:rPr>
              <a:t>Écosystèmes IBM, commandes d'offres et droits</a:t>
            </a:r>
            <a:endParaRPr lang="en-US" sz="1900" dirty="0"/>
          </a:p>
        </p:txBody>
      </p:sp>
      <p:sp>
        <p:nvSpPr>
          <p:cNvPr id="7" name="Text 5"/>
          <p:cNvSpPr/>
          <p:nvPr/>
        </p:nvSpPr>
        <p:spPr>
          <a:xfrm>
            <a:off x="640080" y="6172200"/>
            <a:ext cx="5486400" cy="274320"/>
          </a:xfrm>
          <a:prstGeom prst="rect">
            <a:avLst/>
          </a:prstGeom>
          <a:noFill/>
          <a:ln/>
        </p:spPr>
        <p:txBody>
          <a:bodyPr wrap="square" lIns="0" tIns="0" rIns="0" bIns="0" rtlCol="0" anchor="ctr"/>
          <a:lstStyle/>
          <a:p>
            <a:pPr indent="0" marL="0">
              <a:buNone/>
            </a:pPr>
            <a:r>
              <a:rPr lang="en-US" sz="1100" b="1" spc="800" kern="0" dirty="0">
                <a:solidFill>
                  <a:srgbClr val="FFFFFF"/>
                </a:solidFill>
                <a:latin typeface="Calibri" pitchFamily="34" charset="0"/>
                <a:ea typeface="Calibri" pitchFamily="34" charset="-122"/>
                <a:cs typeface="Calibri" pitchFamily="34" charset="-120"/>
              </a:rPr>
              <a:t>BNP PARIBAS CARDIF</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02 · IT Marketplace</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Définition et acteurs</a:t>
            </a:r>
            <a:endParaRPr lang="en-US" sz="3200" dirty="0"/>
          </a:p>
        </p:txBody>
      </p:sp>
      <p:sp>
        <p:nvSpPr>
          <p:cNvPr id="4" name="Text 2"/>
          <p:cNvSpPr/>
          <p:nvPr/>
        </p:nvSpPr>
        <p:spPr>
          <a:xfrm>
            <a:off x="640080" y="1828800"/>
            <a:ext cx="10972800" cy="1097280"/>
          </a:xfrm>
          <a:prstGeom prst="rect">
            <a:avLst/>
          </a:prstGeom>
          <a:noFill/>
          <a:ln/>
        </p:spPr>
        <p:txBody>
          <a:bodyPr wrap="square" lIns="0" tIns="0" rIns="0" bIns="0" rtlCol="0" anchor="ctr"/>
          <a:lstStyle/>
          <a:p>
            <a:pPr indent="0" marL="0">
              <a:lnSpc>
                <a:spcPct val="130000"/>
              </a:lnSpc>
              <a:buNone/>
            </a:pPr>
            <a:r>
              <a:rPr lang="en-US" sz="1700" i="1" dirty="0">
                <a:solidFill>
                  <a:srgbClr val="2C2C2C"/>
                </a:solidFill>
                <a:latin typeface="Georgia" pitchFamily="34" charset="0"/>
                <a:ea typeface="Georgia" pitchFamily="34" charset="-122"/>
                <a:cs typeface="Georgia" pitchFamily="34" charset="-120"/>
              </a:rPr>
              <a:t>L'IT Marketplace est la plateforme en ligne qui permet aux producteurs IT de BNP Paribas de publier leurs produits et services à destination des consommateurs internes, pour un usage quotidien ou pour la création d'applications business.</a:t>
            </a:r>
            <a:endParaRPr lang="en-US" sz="1700" dirty="0"/>
          </a:p>
        </p:txBody>
      </p:sp>
      <p:sp>
        <p:nvSpPr>
          <p:cNvPr id="5" name="Shape 3"/>
          <p:cNvSpPr/>
          <p:nvPr/>
        </p:nvSpPr>
        <p:spPr>
          <a:xfrm>
            <a:off x="640080" y="3200400"/>
            <a:ext cx="5440680" cy="1828800"/>
          </a:xfrm>
          <a:prstGeom prst="rect">
            <a:avLst/>
          </a:prstGeom>
          <a:solidFill>
            <a:srgbClr val="F8F9FA"/>
          </a:solidFill>
          <a:ln w="6350">
            <a:solidFill>
              <a:srgbClr val="E2E8F0"/>
            </a:solidFill>
            <a:prstDash val="solid"/>
          </a:ln>
        </p:spPr>
      </p:sp>
      <p:sp>
        <p:nvSpPr>
          <p:cNvPr id="6" name="Shape 4"/>
          <p:cNvSpPr/>
          <p:nvPr/>
        </p:nvSpPr>
        <p:spPr>
          <a:xfrm>
            <a:off x="914400" y="3520440"/>
            <a:ext cx="640080" cy="640080"/>
          </a:xfrm>
          <a:prstGeom prst="ellipse">
            <a:avLst/>
          </a:prstGeom>
          <a:solidFill>
            <a:srgbClr val="00915A"/>
          </a:solidFill>
          <a:ln w="12700">
            <a:solidFill>
              <a:srgbClr val="00915A"/>
            </a:solidFill>
            <a:prstDash val="solid"/>
          </a:ln>
        </p:spPr>
      </p:sp>
      <p:sp>
        <p:nvSpPr>
          <p:cNvPr id="7" name="Shape 5"/>
          <p:cNvSpPr/>
          <p:nvPr/>
        </p:nvSpPr>
        <p:spPr>
          <a:xfrm>
            <a:off x="6263640" y="3200400"/>
            <a:ext cx="5440680" cy="1828800"/>
          </a:xfrm>
          <a:prstGeom prst="rect">
            <a:avLst/>
          </a:prstGeom>
          <a:solidFill>
            <a:srgbClr val="F8F9FA"/>
          </a:solidFill>
          <a:ln w="6350">
            <a:solidFill>
              <a:srgbClr val="E2E8F0"/>
            </a:solidFill>
            <a:prstDash val="solid"/>
          </a:ln>
        </p:spPr>
      </p:sp>
      <p:sp>
        <p:nvSpPr>
          <p:cNvPr id="8" name="Shape 6"/>
          <p:cNvSpPr/>
          <p:nvPr/>
        </p:nvSpPr>
        <p:spPr>
          <a:xfrm>
            <a:off x="6537960" y="3520440"/>
            <a:ext cx="640080" cy="640080"/>
          </a:xfrm>
          <a:prstGeom prst="ellipse">
            <a:avLst/>
          </a:prstGeom>
          <a:solidFill>
            <a:srgbClr val="00915A"/>
          </a:solidFill>
          <a:ln w="12700">
            <a:solidFill>
              <a:srgbClr val="00915A"/>
            </a:solidFill>
            <a:prstDash val="solid"/>
          </a:ln>
        </p:spPr>
      </p:sp>
      <p:pic>
        <p:nvPicPr>
          <p:cNvPr id="9" name="Image 0" descr="preencoded.png">    </p:cNvPr>
          <p:cNvPicPr>
            <a:picLocks noChangeAspect="1"/>
          </p:cNvPicPr>
          <p:nvPr/>
        </p:nvPicPr>
        <p:blipFill>
          <a:blip r:embed="rId1"/>
          <a:stretch>
            <a:fillRect/>
          </a:stretch>
        </p:blipFill>
        <p:spPr>
          <a:xfrm>
            <a:off x="1051560" y="3657600"/>
            <a:ext cx="365760" cy="365760"/>
          </a:xfrm>
          <a:prstGeom prst="rect">
            <a:avLst/>
          </a:prstGeom>
        </p:spPr>
      </p:pic>
      <p:sp>
        <p:nvSpPr>
          <p:cNvPr id="10" name="Text 7"/>
          <p:cNvSpPr/>
          <p:nvPr/>
        </p:nvSpPr>
        <p:spPr>
          <a:xfrm>
            <a:off x="1783080" y="3566160"/>
            <a:ext cx="4069080" cy="502920"/>
          </a:xfrm>
          <a:prstGeom prst="rect">
            <a:avLst/>
          </a:prstGeom>
          <a:noFill/>
          <a:ln/>
        </p:spPr>
        <p:txBody>
          <a:bodyPr wrap="square" lIns="0" tIns="0" rIns="0" bIns="0" rtlCol="0" anchor="ctr"/>
          <a:lstStyle/>
          <a:p>
            <a:pPr indent="0" marL="0">
              <a:buNone/>
            </a:pPr>
            <a:r>
              <a:rPr lang="en-US" sz="2000" b="1" dirty="0">
                <a:solidFill>
                  <a:srgbClr val="1A2E28"/>
                </a:solidFill>
                <a:latin typeface="Georgia" pitchFamily="34" charset="0"/>
                <a:ea typeface="Georgia" pitchFamily="34" charset="-122"/>
                <a:cs typeface="Georgia" pitchFamily="34" charset="-120"/>
              </a:rPr>
              <a:t>Usage quotidien</a:t>
            </a:r>
            <a:endParaRPr lang="en-US" sz="2000" dirty="0"/>
          </a:p>
        </p:txBody>
      </p:sp>
      <p:sp>
        <p:nvSpPr>
          <p:cNvPr id="11" name="Text 8"/>
          <p:cNvSpPr/>
          <p:nvPr/>
        </p:nvSpPr>
        <p:spPr>
          <a:xfrm>
            <a:off x="914400" y="4206240"/>
            <a:ext cx="4892040" cy="777240"/>
          </a:xfrm>
          <a:prstGeom prst="rect">
            <a:avLst/>
          </a:prstGeom>
          <a:noFill/>
          <a:ln/>
        </p:spPr>
        <p:txBody>
          <a:bodyPr wrap="square" lIns="0" tIns="0" rIns="0" bIns="0" rtlCol="0" anchor="ctr"/>
          <a:lstStyle/>
          <a:p>
            <a:pPr indent="0" marL="0">
              <a:lnSpc>
                <a:spcPct val="130000"/>
              </a:lnSpc>
              <a:buNone/>
            </a:pPr>
            <a:r>
              <a:rPr lang="en-US" sz="1300" dirty="0">
                <a:solidFill>
                  <a:srgbClr val="2C2C2C"/>
                </a:solidFill>
                <a:latin typeface="Calibri" pitchFamily="34" charset="0"/>
                <a:ea typeface="Calibri" pitchFamily="34" charset="-122"/>
                <a:cs typeface="Calibri" pitchFamily="34" charset="-120"/>
              </a:rPr>
              <a:t>Mise à disposition récurrente de ressources et services (accès, environnements, outils) consommés par les équipes.</a:t>
            </a:r>
            <a:endParaRPr lang="en-US" sz="1300" dirty="0"/>
          </a:p>
        </p:txBody>
      </p:sp>
      <p:pic>
        <p:nvPicPr>
          <p:cNvPr id="12" name="Image 1" descr="preencoded.png">    </p:cNvPr>
          <p:cNvPicPr>
            <a:picLocks noChangeAspect="1"/>
          </p:cNvPicPr>
          <p:nvPr/>
        </p:nvPicPr>
        <p:blipFill>
          <a:blip r:embed="rId2"/>
          <a:stretch>
            <a:fillRect/>
          </a:stretch>
        </p:blipFill>
        <p:spPr>
          <a:xfrm>
            <a:off x="6675120" y="3657600"/>
            <a:ext cx="365760" cy="365760"/>
          </a:xfrm>
          <a:prstGeom prst="rect">
            <a:avLst/>
          </a:prstGeom>
        </p:spPr>
      </p:pic>
      <p:sp>
        <p:nvSpPr>
          <p:cNvPr id="13" name="Text 9"/>
          <p:cNvSpPr/>
          <p:nvPr/>
        </p:nvSpPr>
        <p:spPr>
          <a:xfrm>
            <a:off x="7406640" y="3566160"/>
            <a:ext cx="4069080" cy="502920"/>
          </a:xfrm>
          <a:prstGeom prst="rect">
            <a:avLst/>
          </a:prstGeom>
          <a:noFill/>
          <a:ln/>
        </p:spPr>
        <p:txBody>
          <a:bodyPr wrap="square" lIns="0" tIns="0" rIns="0" bIns="0" rtlCol="0" anchor="ctr"/>
          <a:lstStyle/>
          <a:p>
            <a:pPr indent="0" marL="0">
              <a:buNone/>
            </a:pPr>
            <a:r>
              <a:rPr lang="en-US" sz="2000" b="1" dirty="0">
                <a:solidFill>
                  <a:srgbClr val="1A2E28"/>
                </a:solidFill>
                <a:latin typeface="Georgia" pitchFamily="34" charset="0"/>
                <a:ea typeface="Georgia" pitchFamily="34" charset="-122"/>
                <a:cs typeface="Georgia" pitchFamily="34" charset="-120"/>
              </a:rPr>
              <a:t>Création d'applications</a:t>
            </a:r>
            <a:endParaRPr lang="en-US" sz="2000" dirty="0"/>
          </a:p>
        </p:txBody>
      </p:sp>
      <p:sp>
        <p:nvSpPr>
          <p:cNvPr id="14" name="Text 10"/>
          <p:cNvSpPr/>
          <p:nvPr/>
        </p:nvSpPr>
        <p:spPr>
          <a:xfrm>
            <a:off x="6537960" y="4206240"/>
            <a:ext cx="4892040" cy="777240"/>
          </a:xfrm>
          <a:prstGeom prst="rect">
            <a:avLst/>
          </a:prstGeom>
          <a:noFill/>
          <a:ln/>
        </p:spPr>
        <p:txBody>
          <a:bodyPr wrap="square" lIns="0" tIns="0" rIns="0" bIns="0" rtlCol="0" anchor="ctr"/>
          <a:lstStyle/>
          <a:p>
            <a:pPr indent="0" marL="0">
              <a:lnSpc>
                <a:spcPct val="130000"/>
              </a:lnSpc>
              <a:buNone/>
            </a:pPr>
            <a:r>
              <a:rPr lang="en-US" sz="1300" dirty="0">
                <a:solidFill>
                  <a:srgbClr val="2C2C2C"/>
                </a:solidFill>
                <a:latin typeface="Calibri" pitchFamily="34" charset="0"/>
                <a:ea typeface="Calibri" pitchFamily="34" charset="-122"/>
                <a:cs typeface="Calibri" pitchFamily="34" charset="-120"/>
              </a:rPr>
              <a:t>Assemblage des briques nécessaires au build et au run d'une application business (runtime, bases, réseau, sécurité, observabilité).</a:t>
            </a:r>
            <a:endParaRPr lang="en-US" sz="1300" dirty="0"/>
          </a:p>
        </p:txBody>
      </p:sp>
      <p:sp>
        <p:nvSpPr>
          <p:cNvPr id="15" name="Text 11"/>
          <p:cNvSpPr/>
          <p:nvPr/>
        </p:nvSpPr>
        <p:spPr>
          <a:xfrm>
            <a:off x="640080" y="5303520"/>
            <a:ext cx="3657600" cy="274320"/>
          </a:xfrm>
          <a:prstGeom prst="rect">
            <a:avLst/>
          </a:prstGeom>
          <a:noFill/>
          <a:ln/>
        </p:spPr>
        <p:txBody>
          <a:bodyPr wrap="square" lIns="0" tIns="0" rIns="0" bIns="0" rtlCol="0" anchor="ctr"/>
          <a:lstStyle/>
          <a:p>
            <a:pPr indent="0" marL="0">
              <a:buNone/>
            </a:pPr>
            <a:r>
              <a:rPr lang="en-US" sz="1000" b="1" spc="600" kern="0" dirty="0">
                <a:solidFill>
                  <a:srgbClr val="00915A"/>
                </a:solidFill>
                <a:latin typeface="Calibri" pitchFamily="34" charset="0"/>
                <a:ea typeface="Calibri" pitchFamily="34" charset="-122"/>
                <a:cs typeface="Calibri" pitchFamily="34" charset="-120"/>
              </a:rPr>
              <a:t>TROIS ACTEURS</a:t>
            </a:r>
            <a:endParaRPr lang="en-US" sz="1000" dirty="0"/>
          </a:p>
        </p:txBody>
      </p:sp>
      <p:sp>
        <p:nvSpPr>
          <p:cNvPr id="16" name="Text 12"/>
          <p:cNvSpPr/>
          <p:nvPr/>
        </p:nvSpPr>
        <p:spPr>
          <a:xfrm>
            <a:off x="640080" y="5669280"/>
            <a:ext cx="3749040" cy="320040"/>
          </a:xfrm>
          <a:prstGeom prst="rect">
            <a:avLst/>
          </a:prstGeom>
          <a:noFill/>
          <a:ln/>
        </p:spPr>
        <p:txBody>
          <a:bodyPr wrap="square" lIns="0" tIns="0" rIns="0" bIns="0" rtlCol="0" anchor="ctr"/>
          <a:lstStyle/>
          <a:p>
            <a:pPr indent="0" marL="0">
              <a:buNone/>
            </a:pPr>
            <a:r>
              <a:rPr lang="en-US" sz="1300" b="1" dirty="0">
                <a:solidFill>
                  <a:srgbClr val="1A2E28"/>
                </a:solidFill>
                <a:latin typeface="Calibri" pitchFamily="34" charset="0"/>
                <a:ea typeface="Calibri" pitchFamily="34" charset="-122"/>
                <a:cs typeface="Calibri" pitchFamily="34" charset="-120"/>
              </a:rPr>
              <a:t>Producteurs · équipes qui publient une offre</a:t>
            </a:r>
            <a:endParaRPr lang="en-US" sz="1300" dirty="0"/>
          </a:p>
        </p:txBody>
      </p:sp>
      <p:sp>
        <p:nvSpPr>
          <p:cNvPr id="17" name="Text 13"/>
          <p:cNvSpPr/>
          <p:nvPr/>
        </p:nvSpPr>
        <p:spPr>
          <a:xfrm>
            <a:off x="4480560" y="5669280"/>
            <a:ext cx="3749040" cy="320040"/>
          </a:xfrm>
          <a:prstGeom prst="rect">
            <a:avLst/>
          </a:prstGeom>
          <a:noFill/>
          <a:ln/>
        </p:spPr>
        <p:txBody>
          <a:bodyPr wrap="square" lIns="0" tIns="0" rIns="0" bIns="0" rtlCol="0" anchor="ctr"/>
          <a:lstStyle/>
          <a:p>
            <a:pPr indent="0" marL="0">
              <a:buNone/>
            </a:pPr>
            <a:r>
              <a:rPr lang="en-US" sz="1300" b="1" dirty="0">
                <a:solidFill>
                  <a:srgbClr val="1A2E28"/>
                </a:solidFill>
                <a:latin typeface="Calibri" pitchFamily="34" charset="0"/>
                <a:ea typeface="Calibri" pitchFamily="34" charset="-122"/>
                <a:cs typeface="Calibri" pitchFamily="34" charset="-120"/>
              </a:rPr>
              <a:t>Consommateurs · équipes qui commandent</a:t>
            </a:r>
            <a:endParaRPr lang="en-US" sz="1300" dirty="0"/>
          </a:p>
        </p:txBody>
      </p:sp>
      <p:sp>
        <p:nvSpPr>
          <p:cNvPr id="18" name="Text 14"/>
          <p:cNvSpPr/>
          <p:nvPr/>
        </p:nvSpPr>
        <p:spPr>
          <a:xfrm>
            <a:off x="8321040" y="5669280"/>
            <a:ext cx="3749040" cy="320040"/>
          </a:xfrm>
          <a:prstGeom prst="rect">
            <a:avLst/>
          </a:prstGeom>
          <a:noFill/>
          <a:ln/>
        </p:spPr>
        <p:txBody>
          <a:bodyPr wrap="square" lIns="0" tIns="0" rIns="0" bIns="0" rtlCol="0" anchor="ctr"/>
          <a:lstStyle/>
          <a:p>
            <a:pPr indent="0" marL="0">
              <a:buNone/>
            </a:pPr>
            <a:r>
              <a:rPr lang="en-US" sz="1300" b="1" dirty="0">
                <a:solidFill>
                  <a:srgbClr val="1A2E28"/>
                </a:solidFill>
                <a:latin typeface="Calibri" pitchFamily="34" charset="0"/>
                <a:ea typeface="Calibri" pitchFamily="34" charset="-122"/>
                <a:cs typeface="Calibri" pitchFamily="34" charset="-120"/>
              </a:rPr>
              <a:t>Groupes d'employés · commandes mutualisées</a:t>
            </a:r>
            <a:endParaRPr lang="en-US" sz="1300" dirty="0"/>
          </a:p>
        </p:txBody>
      </p:sp>
      <p:sp>
        <p:nvSpPr>
          <p:cNvPr id="19" name="Text 15"/>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20" name="Text 16"/>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09 · Marketplace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02 · IT Marketplace</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Écosystèmes Cloud IBM</a:t>
            </a:r>
            <a:endParaRPr lang="en-US" sz="3200" dirty="0"/>
          </a:p>
        </p:txBody>
      </p:sp>
      <p:sp>
        <p:nvSpPr>
          <p:cNvPr id="4" name="Text 2"/>
          <p:cNvSpPr/>
          <p:nvPr/>
        </p:nvSpPr>
        <p:spPr>
          <a:xfrm>
            <a:off x="640080" y="1828800"/>
            <a:ext cx="10972800" cy="914400"/>
          </a:xfrm>
          <a:prstGeom prst="rect">
            <a:avLst/>
          </a:prstGeom>
          <a:noFill/>
          <a:ln/>
        </p:spPr>
        <p:txBody>
          <a:bodyPr wrap="square" lIns="0" tIns="0" rIns="0" bIns="0" rtlCol="0" anchor="ctr"/>
          <a:lstStyle/>
          <a:p>
            <a:pPr indent="0" marL="0">
              <a:lnSpc>
                <a:spcPct val="130000"/>
              </a:lnSpc>
              <a:buNone/>
            </a:pPr>
            <a:r>
              <a:rPr lang="en-US" sz="1600" i="1" dirty="0">
                <a:solidFill>
                  <a:srgbClr val="2C2C2C"/>
                </a:solidFill>
                <a:latin typeface="Georgia" pitchFamily="34" charset="0"/>
                <a:ea typeface="Georgia" pitchFamily="34" charset="-122"/>
                <a:cs typeface="Georgia" pitchFamily="34" charset="-120"/>
              </a:rPr>
              <a:t>Le Cloud IBM est segmenté en écosystèmes. Chaque écosystème est un périmètre fonctionnel et contractuel qui porte ses propres quotas, coûts refacturés et droits d'accès.</a:t>
            </a:r>
            <a:endParaRPr lang="en-US" sz="1600" dirty="0"/>
          </a:p>
        </p:txBody>
      </p:sp>
      <p:sp>
        <p:nvSpPr>
          <p:cNvPr id="5" name="Shape 3"/>
          <p:cNvSpPr/>
          <p:nvPr/>
        </p:nvSpPr>
        <p:spPr>
          <a:xfrm>
            <a:off x="640080" y="2926080"/>
            <a:ext cx="3703320" cy="2011680"/>
          </a:xfrm>
          <a:prstGeom prst="rect">
            <a:avLst/>
          </a:prstGeom>
          <a:solidFill>
            <a:srgbClr val="FFFFFF"/>
          </a:solidFill>
          <a:ln w="9525">
            <a:solidFill>
              <a:srgbClr val="E2E8F0"/>
            </a:solidFill>
            <a:prstDash val="solid"/>
          </a:ln>
          <a:effectLst>
            <a:outerShdw sx="100000" sy="100000" kx="0" ky="0" algn="bl" rotWithShape="0" blurRad="127000" dist="25400" dir="5400000">
              <a:srgbClr val="000000">
                <a:alpha val="6000"/>
              </a:srgbClr>
            </a:outerShdw>
          </a:effectLst>
        </p:spPr>
      </p:sp>
      <p:sp>
        <p:nvSpPr>
          <p:cNvPr id="6" name="Text 4"/>
          <p:cNvSpPr/>
          <p:nvPr/>
        </p:nvSpPr>
        <p:spPr>
          <a:xfrm>
            <a:off x="914400" y="3108960"/>
            <a:ext cx="1097280" cy="640080"/>
          </a:xfrm>
          <a:prstGeom prst="rect">
            <a:avLst/>
          </a:prstGeom>
          <a:noFill/>
          <a:ln/>
        </p:spPr>
        <p:txBody>
          <a:bodyPr wrap="square" lIns="0" tIns="0" rIns="0" bIns="0" rtlCol="0" anchor="ctr"/>
          <a:lstStyle/>
          <a:p>
            <a:pPr indent="0" marL="0">
              <a:buNone/>
            </a:pPr>
            <a:r>
              <a:rPr lang="en-US" sz="3400" b="1" dirty="0">
                <a:solidFill>
                  <a:srgbClr val="D4A840"/>
                </a:solidFill>
                <a:latin typeface="Georgia" pitchFamily="34" charset="0"/>
                <a:ea typeface="Georgia" pitchFamily="34" charset="-122"/>
                <a:cs typeface="Georgia" pitchFamily="34" charset="-120"/>
              </a:rPr>
              <a:t>01</a:t>
            </a:r>
            <a:endParaRPr lang="en-US" sz="3400" dirty="0"/>
          </a:p>
        </p:txBody>
      </p:sp>
      <p:sp>
        <p:nvSpPr>
          <p:cNvPr id="7" name="Text 5"/>
          <p:cNvSpPr/>
          <p:nvPr/>
        </p:nvSpPr>
        <p:spPr>
          <a:xfrm>
            <a:off x="914400" y="3794760"/>
            <a:ext cx="3154680" cy="457200"/>
          </a:xfrm>
          <a:prstGeom prst="rect">
            <a:avLst/>
          </a:prstGeom>
          <a:noFill/>
          <a:ln/>
        </p:spPr>
        <p:txBody>
          <a:bodyPr wrap="square" lIns="0" tIns="0" rIns="0" bIns="0" rtlCol="0" anchor="ctr"/>
          <a:lstStyle/>
          <a:p>
            <a:pPr indent="0" marL="0">
              <a:buNone/>
            </a:pPr>
            <a:r>
              <a:rPr lang="en-US" sz="2000" b="1" dirty="0">
                <a:solidFill>
                  <a:srgbClr val="1A2E28"/>
                </a:solidFill>
                <a:latin typeface="Georgia" pitchFamily="34" charset="0"/>
                <a:ea typeface="Georgia" pitchFamily="34" charset="-122"/>
                <a:cs typeface="Georgia" pitchFamily="34" charset="-120"/>
              </a:rPr>
              <a:t>Périmètre</a:t>
            </a:r>
            <a:endParaRPr lang="en-US" sz="2000" dirty="0"/>
          </a:p>
        </p:txBody>
      </p:sp>
      <p:sp>
        <p:nvSpPr>
          <p:cNvPr id="8" name="Text 6"/>
          <p:cNvSpPr/>
          <p:nvPr/>
        </p:nvSpPr>
        <p:spPr>
          <a:xfrm>
            <a:off x="914400" y="4297680"/>
            <a:ext cx="3154680" cy="594360"/>
          </a:xfrm>
          <a:prstGeom prst="rect">
            <a:avLst/>
          </a:prstGeom>
          <a:noFill/>
          <a:ln/>
        </p:spPr>
        <p:txBody>
          <a:bodyPr wrap="square" lIns="0" tIns="0" rIns="0" bIns="0" rtlCol="0" anchor="ctr"/>
          <a:lstStyle/>
          <a:p>
            <a:pPr indent="0" marL="0">
              <a:lnSpc>
                <a:spcPct val="130000"/>
              </a:lnSpc>
              <a:buNone/>
            </a:pPr>
            <a:r>
              <a:rPr lang="en-US" sz="1200" dirty="0">
                <a:solidFill>
                  <a:srgbClr val="6B7B78"/>
                </a:solidFill>
                <a:latin typeface="Calibri" pitchFamily="34" charset="0"/>
                <a:ea typeface="Calibri" pitchFamily="34" charset="-122"/>
                <a:cs typeface="Calibri" pitchFamily="34" charset="-120"/>
              </a:rPr>
              <a:t>Métier, entité, zone de conformité — un écosystème = un contrat interne</a:t>
            </a:r>
            <a:endParaRPr lang="en-US" sz="1200" dirty="0"/>
          </a:p>
        </p:txBody>
      </p:sp>
      <p:sp>
        <p:nvSpPr>
          <p:cNvPr id="9" name="Shape 7"/>
          <p:cNvSpPr/>
          <p:nvPr/>
        </p:nvSpPr>
        <p:spPr>
          <a:xfrm>
            <a:off x="4572000" y="2926080"/>
            <a:ext cx="3703320" cy="2011680"/>
          </a:xfrm>
          <a:prstGeom prst="rect">
            <a:avLst/>
          </a:prstGeom>
          <a:solidFill>
            <a:srgbClr val="FFFFFF"/>
          </a:solidFill>
          <a:ln w="9525">
            <a:solidFill>
              <a:srgbClr val="E2E8F0"/>
            </a:solidFill>
            <a:prstDash val="solid"/>
          </a:ln>
          <a:effectLst>
            <a:outerShdw sx="100000" sy="100000" kx="0" ky="0" algn="bl" rotWithShape="0" blurRad="127000" dist="25400" dir="5400000">
              <a:srgbClr val="000000">
                <a:alpha val="6000"/>
              </a:srgbClr>
            </a:outerShdw>
          </a:effectLst>
        </p:spPr>
      </p:sp>
      <p:sp>
        <p:nvSpPr>
          <p:cNvPr id="10" name="Text 8"/>
          <p:cNvSpPr/>
          <p:nvPr/>
        </p:nvSpPr>
        <p:spPr>
          <a:xfrm>
            <a:off x="4846320" y="3108960"/>
            <a:ext cx="1097280" cy="640080"/>
          </a:xfrm>
          <a:prstGeom prst="rect">
            <a:avLst/>
          </a:prstGeom>
          <a:noFill/>
          <a:ln/>
        </p:spPr>
        <p:txBody>
          <a:bodyPr wrap="square" lIns="0" tIns="0" rIns="0" bIns="0" rtlCol="0" anchor="ctr"/>
          <a:lstStyle/>
          <a:p>
            <a:pPr indent="0" marL="0">
              <a:buNone/>
            </a:pPr>
            <a:r>
              <a:rPr lang="en-US" sz="3400" b="1" dirty="0">
                <a:solidFill>
                  <a:srgbClr val="D4A840"/>
                </a:solidFill>
                <a:latin typeface="Georgia" pitchFamily="34" charset="0"/>
                <a:ea typeface="Georgia" pitchFamily="34" charset="-122"/>
                <a:cs typeface="Georgia" pitchFamily="34" charset="-120"/>
              </a:rPr>
              <a:t>02</a:t>
            </a:r>
            <a:endParaRPr lang="en-US" sz="3400" dirty="0"/>
          </a:p>
        </p:txBody>
      </p:sp>
      <p:sp>
        <p:nvSpPr>
          <p:cNvPr id="11" name="Text 9"/>
          <p:cNvSpPr/>
          <p:nvPr/>
        </p:nvSpPr>
        <p:spPr>
          <a:xfrm>
            <a:off x="4846320" y="3794760"/>
            <a:ext cx="3154680" cy="457200"/>
          </a:xfrm>
          <a:prstGeom prst="rect">
            <a:avLst/>
          </a:prstGeom>
          <a:noFill/>
          <a:ln/>
        </p:spPr>
        <p:txBody>
          <a:bodyPr wrap="square" lIns="0" tIns="0" rIns="0" bIns="0" rtlCol="0" anchor="ctr"/>
          <a:lstStyle/>
          <a:p>
            <a:pPr indent="0" marL="0">
              <a:buNone/>
            </a:pPr>
            <a:r>
              <a:rPr lang="en-US" sz="2000" b="1" dirty="0">
                <a:solidFill>
                  <a:srgbClr val="1A2E28"/>
                </a:solidFill>
                <a:latin typeface="Georgia" pitchFamily="34" charset="0"/>
                <a:ea typeface="Georgia" pitchFamily="34" charset="-122"/>
                <a:cs typeface="Georgia" pitchFamily="34" charset="-120"/>
              </a:rPr>
              <a:t>Quotas &amp; coûts</a:t>
            </a:r>
            <a:endParaRPr lang="en-US" sz="2000" dirty="0"/>
          </a:p>
        </p:txBody>
      </p:sp>
      <p:sp>
        <p:nvSpPr>
          <p:cNvPr id="12" name="Text 10"/>
          <p:cNvSpPr/>
          <p:nvPr/>
        </p:nvSpPr>
        <p:spPr>
          <a:xfrm>
            <a:off x="4846320" y="4297680"/>
            <a:ext cx="3154680" cy="594360"/>
          </a:xfrm>
          <a:prstGeom prst="rect">
            <a:avLst/>
          </a:prstGeom>
          <a:noFill/>
          <a:ln/>
        </p:spPr>
        <p:txBody>
          <a:bodyPr wrap="square" lIns="0" tIns="0" rIns="0" bIns="0" rtlCol="0" anchor="ctr"/>
          <a:lstStyle/>
          <a:p>
            <a:pPr indent="0" marL="0">
              <a:lnSpc>
                <a:spcPct val="130000"/>
              </a:lnSpc>
              <a:buNone/>
            </a:pPr>
            <a:r>
              <a:rPr lang="en-US" sz="1200" dirty="0">
                <a:solidFill>
                  <a:srgbClr val="6B7B78"/>
                </a:solidFill>
                <a:latin typeface="Calibri" pitchFamily="34" charset="0"/>
                <a:ea typeface="Calibri" pitchFamily="34" charset="-122"/>
                <a:cs typeface="Calibri" pitchFamily="34" charset="-120"/>
              </a:rPr>
              <a:t>Chaque commande est facturée à l'écosystème demandeur, avec des plafonds</a:t>
            </a:r>
            <a:endParaRPr lang="en-US" sz="1200" dirty="0"/>
          </a:p>
        </p:txBody>
      </p:sp>
      <p:sp>
        <p:nvSpPr>
          <p:cNvPr id="13" name="Shape 11"/>
          <p:cNvSpPr/>
          <p:nvPr/>
        </p:nvSpPr>
        <p:spPr>
          <a:xfrm>
            <a:off x="8503920" y="2926080"/>
            <a:ext cx="3703320" cy="2011680"/>
          </a:xfrm>
          <a:prstGeom prst="rect">
            <a:avLst/>
          </a:prstGeom>
          <a:solidFill>
            <a:srgbClr val="FFFFFF"/>
          </a:solidFill>
          <a:ln w="9525">
            <a:solidFill>
              <a:srgbClr val="E2E8F0"/>
            </a:solidFill>
            <a:prstDash val="solid"/>
          </a:ln>
          <a:effectLst>
            <a:outerShdw sx="100000" sy="100000" kx="0" ky="0" algn="bl" rotWithShape="0" blurRad="127000" dist="25400" dir="5400000">
              <a:srgbClr val="000000">
                <a:alpha val="6000"/>
              </a:srgbClr>
            </a:outerShdw>
          </a:effectLst>
        </p:spPr>
      </p:sp>
      <p:sp>
        <p:nvSpPr>
          <p:cNvPr id="14" name="Text 12"/>
          <p:cNvSpPr/>
          <p:nvPr/>
        </p:nvSpPr>
        <p:spPr>
          <a:xfrm>
            <a:off x="8778240" y="3108960"/>
            <a:ext cx="1097280" cy="640080"/>
          </a:xfrm>
          <a:prstGeom prst="rect">
            <a:avLst/>
          </a:prstGeom>
          <a:noFill/>
          <a:ln/>
        </p:spPr>
        <p:txBody>
          <a:bodyPr wrap="square" lIns="0" tIns="0" rIns="0" bIns="0" rtlCol="0" anchor="ctr"/>
          <a:lstStyle/>
          <a:p>
            <a:pPr indent="0" marL="0">
              <a:buNone/>
            </a:pPr>
            <a:r>
              <a:rPr lang="en-US" sz="3400" b="1" dirty="0">
                <a:solidFill>
                  <a:srgbClr val="D4A840"/>
                </a:solidFill>
                <a:latin typeface="Georgia" pitchFamily="34" charset="0"/>
                <a:ea typeface="Georgia" pitchFamily="34" charset="-122"/>
                <a:cs typeface="Georgia" pitchFamily="34" charset="-120"/>
              </a:rPr>
              <a:t>03</a:t>
            </a:r>
            <a:endParaRPr lang="en-US" sz="3400" dirty="0"/>
          </a:p>
        </p:txBody>
      </p:sp>
      <p:sp>
        <p:nvSpPr>
          <p:cNvPr id="15" name="Text 13"/>
          <p:cNvSpPr/>
          <p:nvPr/>
        </p:nvSpPr>
        <p:spPr>
          <a:xfrm>
            <a:off x="8778240" y="3794760"/>
            <a:ext cx="3154680" cy="457200"/>
          </a:xfrm>
          <a:prstGeom prst="rect">
            <a:avLst/>
          </a:prstGeom>
          <a:noFill/>
          <a:ln/>
        </p:spPr>
        <p:txBody>
          <a:bodyPr wrap="square" lIns="0" tIns="0" rIns="0" bIns="0" rtlCol="0" anchor="ctr"/>
          <a:lstStyle/>
          <a:p>
            <a:pPr indent="0" marL="0">
              <a:buNone/>
            </a:pPr>
            <a:r>
              <a:rPr lang="en-US" sz="2000" b="1" dirty="0">
                <a:solidFill>
                  <a:srgbClr val="1A2E28"/>
                </a:solidFill>
                <a:latin typeface="Georgia" pitchFamily="34" charset="0"/>
                <a:ea typeface="Georgia" pitchFamily="34" charset="-122"/>
                <a:cs typeface="Georgia" pitchFamily="34" charset="-120"/>
              </a:rPr>
              <a:t>Droits d'accès</a:t>
            </a:r>
            <a:endParaRPr lang="en-US" sz="2000" dirty="0"/>
          </a:p>
        </p:txBody>
      </p:sp>
      <p:sp>
        <p:nvSpPr>
          <p:cNvPr id="16" name="Text 14"/>
          <p:cNvSpPr/>
          <p:nvPr/>
        </p:nvSpPr>
        <p:spPr>
          <a:xfrm>
            <a:off x="8778240" y="4297680"/>
            <a:ext cx="3154680" cy="594360"/>
          </a:xfrm>
          <a:prstGeom prst="rect">
            <a:avLst/>
          </a:prstGeom>
          <a:noFill/>
          <a:ln/>
        </p:spPr>
        <p:txBody>
          <a:bodyPr wrap="square" lIns="0" tIns="0" rIns="0" bIns="0" rtlCol="0" anchor="ctr"/>
          <a:lstStyle/>
          <a:p>
            <a:pPr indent="0" marL="0">
              <a:lnSpc>
                <a:spcPct val="130000"/>
              </a:lnSpc>
              <a:buNone/>
            </a:pPr>
            <a:r>
              <a:rPr lang="en-US" sz="1200" dirty="0">
                <a:solidFill>
                  <a:srgbClr val="6B7B78"/>
                </a:solidFill>
                <a:latin typeface="Calibri" pitchFamily="34" charset="0"/>
                <a:ea typeface="Calibri" pitchFamily="34" charset="-122"/>
                <a:cs typeface="Calibri" pitchFamily="34" charset="-120"/>
              </a:rPr>
              <a:t>Rattachement = visibilité du catalogue, approbation, RBAC sur les ressources</a:t>
            </a:r>
            <a:endParaRPr lang="en-US" sz="1200" dirty="0"/>
          </a:p>
        </p:txBody>
      </p:sp>
      <p:sp>
        <p:nvSpPr>
          <p:cNvPr id="17" name="Shape 15"/>
          <p:cNvSpPr/>
          <p:nvPr/>
        </p:nvSpPr>
        <p:spPr>
          <a:xfrm>
            <a:off x="640080" y="5120640"/>
            <a:ext cx="10972800" cy="1005840"/>
          </a:xfrm>
          <a:prstGeom prst="rect">
            <a:avLst/>
          </a:prstGeom>
          <a:solidFill>
            <a:srgbClr val="E6F3EE"/>
          </a:solidFill>
          <a:ln w="12700">
            <a:solidFill>
              <a:srgbClr val="E6F3EE"/>
            </a:solidFill>
            <a:prstDash val="solid"/>
          </a:ln>
        </p:spPr>
      </p:sp>
      <p:sp>
        <p:nvSpPr>
          <p:cNvPr id="18" name="Shape 16"/>
          <p:cNvSpPr/>
          <p:nvPr/>
        </p:nvSpPr>
        <p:spPr>
          <a:xfrm>
            <a:off x="640080" y="5120640"/>
            <a:ext cx="73152" cy="1005840"/>
          </a:xfrm>
          <a:prstGeom prst="rect">
            <a:avLst/>
          </a:prstGeom>
          <a:solidFill>
            <a:srgbClr val="00915A"/>
          </a:solidFill>
          <a:ln w="12700">
            <a:solidFill>
              <a:srgbClr val="00915A"/>
            </a:solidFill>
            <a:prstDash val="solid"/>
          </a:ln>
        </p:spPr>
      </p:sp>
      <p:sp>
        <p:nvSpPr>
          <p:cNvPr id="19" name="Text 17"/>
          <p:cNvSpPr/>
          <p:nvPr/>
        </p:nvSpPr>
        <p:spPr>
          <a:xfrm>
            <a:off x="868680" y="5212080"/>
            <a:ext cx="1828800" cy="274320"/>
          </a:xfrm>
          <a:prstGeom prst="rect">
            <a:avLst/>
          </a:prstGeom>
          <a:noFill/>
          <a:ln/>
        </p:spPr>
        <p:txBody>
          <a:bodyPr wrap="square" lIns="0" tIns="0" rIns="0" bIns="0" rtlCol="0" anchor="ctr"/>
          <a:lstStyle/>
          <a:p>
            <a:pPr indent="0" marL="0">
              <a:buNone/>
            </a:pPr>
            <a:r>
              <a:rPr lang="en-US" sz="1000" b="1" spc="500" kern="0" dirty="0">
                <a:solidFill>
                  <a:srgbClr val="00915A"/>
                </a:solidFill>
                <a:latin typeface="Calibri" pitchFamily="34" charset="0"/>
                <a:ea typeface="Calibri" pitchFamily="34" charset="-122"/>
                <a:cs typeface="Calibri" pitchFamily="34" charset="-120"/>
              </a:rPr>
              <a:t>À RETENIR</a:t>
            </a:r>
            <a:endParaRPr lang="en-US" sz="1000" dirty="0"/>
          </a:p>
        </p:txBody>
      </p:sp>
      <p:sp>
        <p:nvSpPr>
          <p:cNvPr id="20" name="Text 18"/>
          <p:cNvSpPr/>
          <p:nvPr/>
        </p:nvSpPr>
        <p:spPr>
          <a:xfrm>
            <a:off x="868680" y="5486400"/>
            <a:ext cx="10515600" cy="320040"/>
          </a:xfrm>
          <a:prstGeom prst="rect">
            <a:avLst/>
          </a:prstGeom>
          <a:noFill/>
          <a:ln/>
        </p:spPr>
        <p:txBody>
          <a:bodyPr wrap="square" lIns="0" tIns="0" rIns="0" bIns="0" rtlCol="0" anchor="ctr"/>
          <a:lstStyle/>
          <a:p>
            <a:pPr indent="0" marL="0">
              <a:buNone/>
            </a:pPr>
            <a:r>
              <a:rPr lang="en-US" sz="1400" b="1" dirty="0">
                <a:solidFill>
                  <a:srgbClr val="1A2E28"/>
                </a:solidFill>
                <a:latin typeface="Georgia" pitchFamily="34" charset="0"/>
                <a:ea typeface="Georgia" pitchFamily="34" charset="-122"/>
                <a:cs typeface="Georgia" pitchFamily="34" charset="-120"/>
              </a:rPr>
              <a:t>Toute ressource consommée a un écosystème porteur — pas de rattachement, pas de commande.</a:t>
            </a:r>
            <a:endParaRPr lang="en-US" sz="1400" dirty="0"/>
          </a:p>
        </p:txBody>
      </p:sp>
      <p:sp>
        <p:nvSpPr>
          <p:cNvPr id="21" name="Text 19"/>
          <p:cNvSpPr/>
          <p:nvPr/>
        </p:nvSpPr>
        <p:spPr>
          <a:xfrm>
            <a:off x="868680" y="5788152"/>
            <a:ext cx="10515600" cy="274320"/>
          </a:xfrm>
          <a:prstGeom prst="rect">
            <a:avLst/>
          </a:prstGeom>
          <a:noFill/>
          <a:ln/>
        </p:spPr>
        <p:txBody>
          <a:bodyPr wrap="square" lIns="0" tIns="0" rIns="0" bIns="0" rtlCol="0" anchor="ctr"/>
          <a:lstStyle/>
          <a:p>
            <a:pPr indent="0" marL="0">
              <a:buNone/>
            </a:pPr>
            <a:r>
              <a:rPr lang="en-US" sz="1100" i="1" dirty="0">
                <a:solidFill>
                  <a:srgbClr val="6B7B78"/>
                </a:solidFill>
                <a:latin typeface="Georgia" pitchFamily="34" charset="0"/>
                <a:ea typeface="Georgia" pitchFamily="34" charset="-122"/>
                <a:cs typeface="Georgia" pitchFamily="34" charset="-120"/>
              </a:rPr>
              <a:t>Sur la dMZR : provisioning via Marketplace et API REST (Swagger). Sur la dMZR aS Code : provisioning via Terraform et Marketplace — l'unité est le realm. Les projets migrent progressivement de l'une vers l'autre.</a:t>
            </a:r>
            <a:endParaRPr lang="en-US" sz="1100" dirty="0"/>
          </a:p>
        </p:txBody>
      </p:sp>
      <p:sp>
        <p:nvSpPr>
          <p:cNvPr id="22" name="Text 20"/>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23" name="Text 21"/>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10 · Marketplace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02 · IT Marketplace</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Le cycle d'une commande</a:t>
            </a:r>
            <a:endParaRPr lang="en-US" sz="3200" dirty="0"/>
          </a:p>
        </p:txBody>
      </p:sp>
      <p:sp>
        <p:nvSpPr>
          <p:cNvPr id="4" name="Shape 2"/>
          <p:cNvSpPr/>
          <p:nvPr/>
        </p:nvSpPr>
        <p:spPr>
          <a:xfrm>
            <a:off x="548640" y="2194560"/>
            <a:ext cx="2212848" cy="3200400"/>
          </a:xfrm>
          <a:prstGeom prst="rect">
            <a:avLst/>
          </a:prstGeom>
          <a:solidFill>
            <a:srgbClr val="F8F9FA"/>
          </a:solidFill>
          <a:ln w="6350">
            <a:solidFill>
              <a:srgbClr val="E2E8F0"/>
            </a:solidFill>
            <a:prstDash val="solid"/>
          </a:ln>
        </p:spPr>
      </p:sp>
      <p:sp>
        <p:nvSpPr>
          <p:cNvPr id="5" name="Shape 3"/>
          <p:cNvSpPr/>
          <p:nvPr/>
        </p:nvSpPr>
        <p:spPr>
          <a:xfrm>
            <a:off x="1152144" y="2514600"/>
            <a:ext cx="1005840" cy="1005840"/>
          </a:xfrm>
          <a:prstGeom prst="ellipse">
            <a:avLst/>
          </a:prstGeom>
          <a:solidFill>
            <a:srgbClr val="00915A"/>
          </a:solidFill>
          <a:ln w="12700">
            <a:solidFill>
              <a:srgbClr val="00915A"/>
            </a:solidFill>
            <a:prstDash val="solid"/>
          </a:ln>
        </p:spPr>
      </p:sp>
      <p:sp>
        <p:nvSpPr>
          <p:cNvPr id="6" name="Text 4"/>
          <p:cNvSpPr/>
          <p:nvPr/>
        </p:nvSpPr>
        <p:spPr>
          <a:xfrm>
            <a:off x="1152144" y="2542032"/>
            <a:ext cx="1005840" cy="960120"/>
          </a:xfrm>
          <a:prstGeom prst="rect">
            <a:avLst/>
          </a:prstGeom>
          <a:noFill/>
          <a:ln/>
        </p:spPr>
        <p:txBody>
          <a:bodyPr wrap="square" lIns="0" tIns="0" rIns="0" bIns="0"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1</a:t>
            </a:r>
            <a:endParaRPr lang="en-US" sz="4200" dirty="0"/>
          </a:p>
        </p:txBody>
      </p:sp>
      <p:sp>
        <p:nvSpPr>
          <p:cNvPr id="7" name="Text 5"/>
          <p:cNvSpPr/>
          <p:nvPr/>
        </p:nvSpPr>
        <p:spPr>
          <a:xfrm>
            <a:off x="731520" y="3749040"/>
            <a:ext cx="1847088" cy="502920"/>
          </a:xfrm>
          <a:prstGeom prst="rect">
            <a:avLst/>
          </a:prstGeom>
          <a:noFill/>
          <a:ln/>
        </p:spPr>
        <p:txBody>
          <a:bodyPr wrap="square" lIns="0" tIns="0" rIns="0" bIns="0" rtlCol="0" anchor="ctr"/>
          <a:lstStyle/>
          <a:p>
            <a:pPr algn="ctr" indent="0" marL="0">
              <a:buNone/>
            </a:pPr>
            <a:r>
              <a:rPr lang="en-US" sz="1600" b="1" dirty="0">
                <a:solidFill>
                  <a:srgbClr val="1A2E28"/>
                </a:solidFill>
                <a:latin typeface="Georgia" pitchFamily="34" charset="0"/>
                <a:ea typeface="Georgia" pitchFamily="34" charset="-122"/>
                <a:cs typeface="Georgia" pitchFamily="34" charset="-120"/>
              </a:rPr>
              <a:t>Rattachement</a:t>
            </a:r>
            <a:endParaRPr lang="en-US" sz="1600" dirty="0"/>
          </a:p>
        </p:txBody>
      </p:sp>
      <p:sp>
        <p:nvSpPr>
          <p:cNvPr id="8" name="Text 6"/>
          <p:cNvSpPr/>
          <p:nvPr/>
        </p:nvSpPr>
        <p:spPr>
          <a:xfrm>
            <a:off x="731520" y="4297680"/>
            <a:ext cx="1847088" cy="1051560"/>
          </a:xfrm>
          <a:prstGeom prst="rect">
            <a:avLst/>
          </a:prstGeom>
          <a:noFill/>
          <a:ln/>
        </p:spPr>
        <p:txBody>
          <a:bodyPr wrap="square" lIns="0" tIns="0" rIns="0" bIns="0" rtlCol="0" anchor="ctr"/>
          <a:lstStyle/>
          <a:p>
            <a:pPr algn="ctr" indent="0" marL="0">
              <a:lnSpc>
                <a:spcPct val="130000"/>
              </a:lnSpc>
              <a:buNone/>
            </a:pPr>
            <a:r>
              <a:rPr lang="en-US" sz="1100" dirty="0">
                <a:solidFill>
                  <a:srgbClr val="6B7B78"/>
                </a:solidFill>
                <a:latin typeface="Calibri" pitchFamily="34" charset="0"/>
                <a:ea typeface="Calibri" pitchFamily="34" charset="-122"/>
                <a:cs typeface="Calibri" pitchFamily="34" charset="-120"/>
              </a:rPr>
              <a:t>Consommateur rattaché à un écosystème</a:t>
            </a:r>
            <a:endParaRPr lang="en-US" sz="1100" dirty="0"/>
          </a:p>
        </p:txBody>
      </p:sp>
      <p:sp>
        <p:nvSpPr>
          <p:cNvPr id="9" name="Text 7"/>
          <p:cNvSpPr/>
          <p:nvPr/>
        </p:nvSpPr>
        <p:spPr>
          <a:xfrm>
            <a:off x="2766060" y="3611880"/>
            <a:ext cx="128016" cy="457200"/>
          </a:xfrm>
          <a:prstGeom prst="rect">
            <a:avLst/>
          </a:prstGeom>
          <a:noFill/>
          <a:ln/>
        </p:spPr>
        <p:txBody>
          <a:bodyPr wrap="square" lIns="0" tIns="0" rIns="0" bIns="0" rtlCol="0" anchor="ctr"/>
          <a:lstStyle/>
          <a:p>
            <a:pPr algn="ctr" indent="0" marL="0">
              <a:buNone/>
            </a:pPr>
            <a:r>
              <a:rPr lang="en-US" sz="2800" b="1" dirty="0">
                <a:solidFill>
                  <a:srgbClr val="D4A840"/>
                </a:solidFill>
                <a:latin typeface="Georgia" pitchFamily="34" charset="0"/>
                <a:ea typeface="Georgia" pitchFamily="34" charset="-122"/>
                <a:cs typeface="Georgia" pitchFamily="34" charset="-120"/>
              </a:rPr>
              <a:t>›</a:t>
            </a:r>
            <a:endParaRPr lang="en-US" sz="2800" dirty="0"/>
          </a:p>
        </p:txBody>
      </p:sp>
      <p:sp>
        <p:nvSpPr>
          <p:cNvPr id="10" name="Shape 8"/>
          <p:cNvSpPr/>
          <p:nvPr/>
        </p:nvSpPr>
        <p:spPr>
          <a:xfrm>
            <a:off x="2898648" y="2194560"/>
            <a:ext cx="2212848" cy="3200400"/>
          </a:xfrm>
          <a:prstGeom prst="rect">
            <a:avLst/>
          </a:prstGeom>
          <a:solidFill>
            <a:srgbClr val="F8F9FA"/>
          </a:solidFill>
          <a:ln w="6350">
            <a:solidFill>
              <a:srgbClr val="E2E8F0"/>
            </a:solidFill>
            <a:prstDash val="solid"/>
          </a:ln>
        </p:spPr>
      </p:sp>
      <p:sp>
        <p:nvSpPr>
          <p:cNvPr id="11" name="Shape 9"/>
          <p:cNvSpPr/>
          <p:nvPr/>
        </p:nvSpPr>
        <p:spPr>
          <a:xfrm>
            <a:off x="3502152" y="2514600"/>
            <a:ext cx="1005840" cy="1005840"/>
          </a:xfrm>
          <a:prstGeom prst="ellipse">
            <a:avLst/>
          </a:prstGeom>
          <a:solidFill>
            <a:srgbClr val="00915A"/>
          </a:solidFill>
          <a:ln w="12700">
            <a:solidFill>
              <a:srgbClr val="00915A"/>
            </a:solidFill>
            <a:prstDash val="solid"/>
          </a:ln>
        </p:spPr>
      </p:sp>
      <p:sp>
        <p:nvSpPr>
          <p:cNvPr id="12" name="Text 10"/>
          <p:cNvSpPr/>
          <p:nvPr/>
        </p:nvSpPr>
        <p:spPr>
          <a:xfrm>
            <a:off x="3502152" y="2542032"/>
            <a:ext cx="1005840" cy="960120"/>
          </a:xfrm>
          <a:prstGeom prst="rect">
            <a:avLst/>
          </a:prstGeom>
          <a:noFill/>
          <a:ln/>
        </p:spPr>
        <p:txBody>
          <a:bodyPr wrap="square" lIns="0" tIns="0" rIns="0" bIns="0"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2</a:t>
            </a:r>
            <a:endParaRPr lang="en-US" sz="4200" dirty="0"/>
          </a:p>
        </p:txBody>
      </p:sp>
      <p:sp>
        <p:nvSpPr>
          <p:cNvPr id="13" name="Text 11"/>
          <p:cNvSpPr/>
          <p:nvPr/>
        </p:nvSpPr>
        <p:spPr>
          <a:xfrm>
            <a:off x="3081528" y="3749040"/>
            <a:ext cx="1847088" cy="502920"/>
          </a:xfrm>
          <a:prstGeom prst="rect">
            <a:avLst/>
          </a:prstGeom>
          <a:noFill/>
          <a:ln/>
        </p:spPr>
        <p:txBody>
          <a:bodyPr wrap="square" lIns="0" tIns="0" rIns="0" bIns="0" rtlCol="0" anchor="ctr"/>
          <a:lstStyle/>
          <a:p>
            <a:pPr algn="ctr" indent="0" marL="0">
              <a:buNone/>
            </a:pPr>
            <a:r>
              <a:rPr lang="en-US" sz="1600" b="1" dirty="0">
                <a:solidFill>
                  <a:srgbClr val="1A2E28"/>
                </a:solidFill>
                <a:latin typeface="Georgia" pitchFamily="34" charset="0"/>
                <a:ea typeface="Georgia" pitchFamily="34" charset="-122"/>
                <a:cs typeface="Georgia" pitchFamily="34" charset="-120"/>
              </a:rPr>
              <a:t>Sélection</a:t>
            </a:r>
            <a:endParaRPr lang="en-US" sz="1600" dirty="0"/>
          </a:p>
        </p:txBody>
      </p:sp>
      <p:sp>
        <p:nvSpPr>
          <p:cNvPr id="14" name="Text 12"/>
          <p:cNvSpPr/>
          <p:nvPr/>
        </p:nvSpPr>
        <p:spPr>
          <a:xfrm>
            <a:off x="3081528" y="4297680"/>
            <a:ext cx="1847088" cy="1051560"/>
          </a:xfrm>
          <a:prstGeom prst="rect">
            <a:avLst/>
          </a:prstGeom>
          <a:noFill/>
          <a:ln/>
        </p:spPr>
        <p:txBody>
          <a:bodyPr wrap="square" lIns="0" tIns="0" rIns="0" bIns="0" rtlCol="0" anchor="ctr"/>
          <a:lstStyle/>
          <a:p>
            <a:pPr algn="ctr" indent="0" marL="0">
              <a:lnSpc>
                <a:spcPct val="130000"/>
              </a:lnSpc>
              <a:buNone/>
            </a:pPr>
            <a:r>
              <a:rPr lang="en-US" sz="1100" dirty="0">
                <a:solidFill>
                  <a:srgbClr val="6B7B78"/>
                </a:solidFill>
                <a:latin typeface="Calibri" pitchFamily="34" charset="0"/>
                <a:ea typeface="Calibri" pitchFamily="34" charset="-122"/>
                <a:cs typeface="Calibri" pitchFamily="34" charset="-120"/>
              </a:rPr>
              <a:t>Offre choisie dans le catalogue visible</a:t>
            </a:r>
            <a:endParaRPr lang="en-US" sz="1100" dirty="0"/>
          </a:p>
        </p:txBody>
      </p:sp>
      <p:sp>
        <p:nvSpPr>
          <p:cNvPr id="15" name="Text 13"/>
          <p:cNvSpPr/>
          <p:nvPr/>
        </p:nvSpPr>
        <p:spPr>
          <a:xfrm>
            <a:off x="5116068" y="3611880"/>
            <a:ext cx="128016" cy="457200"/>
          </a:xfrm>
          <a:prstGeom prst="rect">
            <a:avLst/>
          </a:prstGeom>
          <a:noFill/>
          <a:ln/>
        </p:spPr>
        <p:txBody>
          <a:bodyPr wrap="square" lIns="0" tIns="0" rIns="0" bIns="0" rtlCol="0" anchor="ctr"/>
          <a:lstStyle/>
          <a:p>
            <a:pPr algn="ctr" indent="0" marL="0">
              <a:buNone/>
            </a:pPr>
            <a:r>
              <a:rPr lang="en-US" sz="2800" b="1" dirty="0">
                <a:solidFill>
                  <a:srgbClr val="D4A840"/>
                </a:solidFill>
                <a:latin typeface="Georgia" pitchFamily="34" charset="0"/>
                <a:ea typeface="Georgia" pitchFamily="34" charset="-122"/>
                <a:cs typeface="Georgia" pitchFamily="34" charset="-120"/>
              </a:rPr>
              <a:t>›</a:t>
            </a:r>
            <a:endParaRPr lang="en-US" sz="2800" dirty="0"/>
          </a:p>
        </p:txBody>
      </p:sp>
      <p:sp>
        <p:nvSpPr>
          <p:cNvPr id="16" name="Shape 14"/>
          <p:cNvSpPr/>
          <p:nvPr/>
        </p:nvSpPr>
        <p:spPr>
          <a:xfrm>
            <a:off x="5248656" y="2194560"/>
            <a:ext cx="2212848" cy="3200400"/>
          </a:xfrm>
          <a:prstGeom prst="rect">
            <a:avLst/>
          </a:prstGeom>
          <a:solidFill>
            <a:srgbClr val="F8F9FA"/>
          </a:solidFill>
          <a:ln w="6350">
            <a:solidFill>
              <a:srgbClr val="E2E8F0"/>
            </a:solidFill>
            <a:prstDash val="solid"/>
          </a:ln>
        </p:spPr>
      </p:sp>
      <p:sp>
        <p:nvSpPr>
          <p:cNvPr id="17" name="Shape 15"/>
          <p:cNvSpPr/>
          <p:nvPr/>
        </p:nvSpPr>
        <p:spPr>
          <a:xfrm>
            <a:off x="5852160" y="2514600"/>
            <a:ext cx="1005840" cy="1005840"/>
          </a:xfrm>
          <a:prstGeom prst="ellipse">
            <a:avLst/>
          </a:prstGeom>
          <a:solidFill>
            <a:srgbClr val="00915A"/>
          </a:solidFill>
          <a:ln w="12700">
            <a:solidFill>
              <a:srgbClr val="00915A"/>
            </a:solidFill>
            <a:prstDash val="solid"/>
          </a:ln>
        </p:spPr>
      </p:sp>
      <p:sp>
        <p:nvSpPr>
          <p:cNvPr id="18" name="Text 16"/>
          <p:cNvSpPr/>
          <p:nvPr/>
        </p:nvSpPr>
        <p:spPr>
          <a:xfrm>
            <a:off x="5852160" y="2542032"/>
            <a:ext cx="1005840" cy="960120"/>
          </a:xfrm>
          <a:prstGeom prst="rect">
            <a:avLst/>
          </a:prstGeom>
          <a:noFill/>
          <a:ln/>
        </p:spPr>
        <p:txBody>
          <a:bodyPr wrap="square" lIns="0" tIns="0" rIns="0" bIns="0"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3</a:t>
            </a:r>
            <a:endParaRPr lang="en-US" sz="4200" dirty="0"/>
          </a:p>
        </p:txBody>
      </p:sp>
      <p:sp>
        <p:nvSpPr>
          <p:cNvPr id="19" name="Text 17"/>
          <p:cNvSpPr/>
          <p:nvPr/>
        </p:nvSpPr>
        <p:spPr>
          <a:xfrm>
            <a:off x="5431536" y="3749040"/>
            <a:ext cx="1847088" cy="502920"/>
          </a:xfrm>
          <a:prstGeom prst="rect">
            <a:avLst/>
          </a:prstGeom>
          <a:noFill/>
          <a:ln/>
        </p:spPr>
        <p:txBody>
          <a:bodyPr wrap="square" lIns="0" tIns="0" rIns="0" bIns="0" rtlCol="0" anchor="ctr"/>
          <a:lstStyle/>
          <a:p>
            <a:pPr algn="ctr" indent="0" marL="0">
              <a:buNone/>
            </a:pPr>
            <a:r>
              <a:rPr lang="en-US" sz="1600" b="1" dirty="0">
                <a:solidFill>
                  <a:srgbClr val="1A2E28"/>
                </a:solidFill>
                <a:latin typeface="Georgia" pitchFamily="34" charset="0"/>
                <a:ea typeface="Georgia" pitchFamily="34" charset="-122"/>
                <a:cs typeface="Georgia" pitchFamily="34" charset="-120"/>
              </a:rPr>
              <a:t>Approbation</a:t>
            </a:r>
            <a:endParaRPr lang="en-US" sz="1600" dirty="0"/>
          </a:p>
        </p:txBody>
      </p:sp>
      <p:sp>
        <p:nvSpPr>
          <p:cNvPr id="20" name="Text 18"/>
          <p:cNvSpPr/>
          <p:nvPr/>
        </p:nvSpPr>
        <p:spPr>
          <a:xfrm>
            <a:off x="5431536" y="4297680"/>
            <a:ext cx="1847088" cy="1051560"/>
          </a:xfrm>
          <a:prstGeom prst="rect">
            <a:avLst/>
          </a:prstGeom>
          <a:noFill/>
          <a:ln/>
        </p:spPr>
        <p:txBody>
          <a:bodyPr wrap="square" lIns="0" tIns="0" rIns="0" bIns="0" rtlCol="0" anchor="ctr"/>
          <a:lstStyle/>
          <a:p>
            <a:pPr algn="ctr" indent="0" marL="0">
              <a:lnSpc>
                <a:spcPct val="130000"/>
              </a:lnSpc>
              <a:buNone/>
            </a:pPr>
            <a:r>
              <a:rPr lang="en-US" sz="1100" dirty="0">
                <a:solidFill>
                  <a:srgbClr val="6B7B78"/>
                </a:solidFill>
                <a:latin typeface="Calibri" pitchFamily="34" charset="0"/>
                <a:ea typeface="Calibri" pitchFamily="34" charset="-122"/>
                <a:cs typeface="Calibri" pitchFamily="34" charset="-120"/>
              </a:rPr>
              <a:t>Workflow : écosystème, sécurité, FinOps</a:t>
            </a:r>
            <a:endParaRPr lang="en-US" sz="1100" dirty="0"/>
          </a:p>
        </p:txBody>
      </p:sp>
      <p:sp>
        <p:nvSpPr>
          <p:cNvPr id="21" name="Text 19"/>
          <p:cNvSpPr/>
          <p:nvPr/>
        </p:nvSpPr>
        <p:spPr>
          <a:xfrm>
            <a:off x="7466076" y="3611880"/>
            <a:ext cx="128016" cy="457200"/>
          </a:xfrm>
          <a:prstGeom prst="rect">
            <a:avLst/>
          </a:prstGeom>
          <a:noFill/>
          <a:ln/>
        </p:spPr>
        <p:txBody>
          <a:bodyPr wrap="square" lIns="0" tIns="0" rIns="0" bIns="0" rtlCol="0" anchor="ctr"/>
          <a:lstStyle/>
          <a:p>
            <a:pPr algn="ctr" indent="0" marL="0">
              <a:buNone/>
            </a:pPr>
            <a:r>
              <a:rPr lang="en-US" sz="2800" b="1" dirty="0">
                <a:solidFill>
                  <a:srgbClr val="D4A840"/>
                </a:solidFill>
                <a:latin typeface="Georgia" pitchFamily="34" charset="0"/>
                <a:ea typeface="Georgia" pitchFamily="34" charset="-122"/>
                <a:cs typeface="Georgia" pitchFamily="34" charset="-120"/>
              </a:rPr>
              <a:t>›</a:t>
            </a:r>
            <a:endParaRPr lang="en-US" sz="2800" dirty="0"/>
          </a:p>
        </p:txBody>
      </p:sp>
      <p:sp>
        <p:nvSpPr>
          <p:cNvPr id="22" name="Shape 20"/>
          <p:cNvSpPr/>
          <p:nvPr/>
        </p:nvSpPr>
        <p:spPr>
          <a:xfrm>
            <a:off x="7598664" y="2194560"/>
            <a:ext cx="2212848" cy="3200400"/>
          </a:xfrm>
          <a:prstGeom prst="rect">
            <a:avLst/>
          </a:prstGeom>
          <a:solidFill>
            <a:srgbClr val="F8F9FA"/>
          </a:solidFill>
          <a:ln w="6350">
            <a:solidFill>
              <a:srgbClr val="E2E8F0"/>
            </a:solidFill>
            <a:prstDash val="solid"/>
          </a:ln>
        </p:spPr>
      </p:sp>
      <p:sp>
        <p:nvSpPr>
          <p:cNvPr id="23" name="Shape 21"/>
          <p:cNvSpPr/>
          <p:nvPr/>
        </p:nvSpPr>
        <p:spPr>
          <a:xfrm>
            <a:off x="8202168" y="2514600"/>
            <a:ext cx="1005840" cy="1005840"/>
          </a:xfrm>
          <a:prstGeom prst="ellipse">
            <a:avLst/>
          </a:prstGeom>
          <a:solidFill>
            <a:srgbClr val="00915A"/>
          </a:solidFill>
          <a:ln w="12700">
            <a:solidFill>
              <a:srgbClr val="00915A"/>
            </a:solidFill>
            <a:prstDash val="solid"/>
          </a:ln>
        </p:spPr>
      </p:sp>
      <p:sp>
        <p:nvSpPr>
          <p:cNvPr id="24" name="Text 22"/>
          <p:cNvSpPr/>
          <p:nvPr/>
        </p:nvSpPr>
        <p:spPr>
          <a:xfrm>
            <a:off x="8202168" y="2542032"/>
            <a:ext cx="1005840" cy="960120"/>
          </a:xfrm>
          <a:prstGeom prst="rect">
            <a:avLst/>
          </a:prstGeom>
          <a:noFill/>
          <a:ln/>
        </p:spPr>
        <p:txBody>
          <a:bodyPr wrap="square" lIns="0" tIns="0" rIns="0" bIns="0"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4</a:t>
            </a:r>
            <a:endParaRPr lang="en-US" sz="4200" dirty="0"/>
          </a:p>
        </p:txBody>
      </p:sp>
      <p:sp>
        <p:nvSpPr>
          <p:cNvPr id="25" name="Text 23"/>
          <p:cNvSpPr/>
          <p:nvPr/>
        </p:nvSpPr>
        <p:spPr>
          <a:xfrm>
            <a:off x="7781544" y="3749040"/>
            <a:ext cx="1847088" cy="502920"/>
          </a:xfrm>
          <a:prstGeom prst="rect">
            <a:avLst/>
          </a:prstGeom>
          <a:noFill/>
          <a:ln/>
        </p:spPr>
        <p:txBody>
          <a:bodyPr wrap="square" lIns="0" tIns="0" rIns="0" bIns="0" rtlCol="0" anchor="ctr"/>
          <a:lstStyle/>
          <a:p>
            <a:pPr algn="ctr" indent="0" marL="0">
              <a:buNone/>
            </a:pPr>
            <a:r>
              <a:rPr lang="en-US" sz="1600" b="1" dirty="0">
                <a:solidFill>
                  <a:srgbClr val="1A2E28"/>
                </a:solidFill>
                <a:latin typeface="Georgia" pitchFamily="34" charset="0"/>
                <a:ea typeface="Georgia" pitchFamily="34" charset="-122"/>
                <a:cs typeface="Georgia" pitchFamily="34" charset="-120"/>
              </a:rPr>
              <a:t>Exécution</a:t>
            </a:r>
            <a:endParaRPr lang="en-US" sz="1600" dirty="0"/>
          </a:p>
        </p:txBody>
      </p:sp>
      <p:sp>
        <p:nvSpPr>
          <p:cNvPr id="26" name="Text 24"/>
          <p:cNvSpPr/>
          <p:nvPr/>
        </p:nvSpPr>
        <p:spPr>
          <a:xfrm>
            <a:off x="7781544" y="4297680"/>
            <a:ext cx="1847088" cy="1051560"/>
          </a:xfrm>
          <a:prstGeom prst="rect">
            <a:avLst/>
          </a:prstGeom>
          <a:noFill/>
          <a:ln/>
        </p:spPr>
        <p:txBody>
          <a:bodyPr wrap="square" lIns="0" tIns="0" rIns="0" bIns="0" rtlCol="0" anchor="ctr"/>
          <a:lstStyle/>
          <a:p>
            <a:pPr algn="ctr" indent="0" marL="0">
              <a:lnSpc>
                <a:spcPct val="130000"/>
              </a:lnSpc>
              <a:buNone/>
            </a:pPr>
            <a:r>
              <a:rPr lang="en-US" sz="1100" dirty="0">
                <a:solidFill>
                  <a:srgbClr val="6B7B78"/>
                </a:solidFill>
                <a:latin typeface="Calibri" pitchFamily="34" charset="0"/>
                <a:ea typeface="Calibri" pitchFamily="34" charset="-122"/>
                <a:cs typeface="Calibri" pitchFamily="34" charset="-120"/>
              </a:rPr>
              <a:t>Pipelines IaC du producteur (Terraform, Ansible, GitOps)</a:t>
            </a:r>
            <a:endParaRPr lang="en-US" sz="1100" dirty="0"/>
          </a:p>
        </p:txBody>
      </p:sp>
      <p:sp>
        <p:nvSpPr>
          <p:cNvPr id="27" name="Text 25"/>
          <p:cNvSpPr/>
          <p:nvPr/>
        </p:nvSpPr>
        <p:spPr>
          <a:xfrm>
            <a:off x="9816084" y="3611880"/>
            <a:ext cx="128016" cy="457200"/>
          </a:xfrm>
          <a:prstGeom prst="rect">
            <a:avLst/>
          </a:prstGeom>
          <a:noFill/>
          <a:ln/>
        </p:spPr>
        <p:txBody>
          <a:bodyPr wrap="square" lIns="0" tIns="0" rIns="0" bIns="0" rtlCol="0" anchor="ctr"/>
          <a:lstStyle/>
          <a:p>
            <a:pPr algn="ctr" indent="0" marL="0">
              <a:buNone/>
            </a:pPr>
            <a:r>
              <a:rPr lang="en-US" sz="2800" b="1" dirty="0">
                <a:solidFill>
                  <a:srgbClr val="D4A840"/>
                </a:solidFill>
                <a:latin typeface="Georgia" pitchFamily="34" charset="0"/>
                <a:ea typeface="Georgia" pitchFamily="34" charset="-122"/>
                <a:cs typeface="Georgia" pitchFamily="34" charset="-120"/>
              </a:rPr>
              <a:t>›</a:t>
            </a:r>
            <a:endParaRPr lang="en-US" sz="2800" dirty="0"/>
          </a:p>
        </p:txBody>
      </p:sp>
      <p:sp>
        <p:nvSpPr>
          <p:cNvPr id="28" name="Shape 26"/>
          <p:cNvSpPr/>
          <p:nvPr/>
        </p:nvSpPr>
        <p:spPr>
          <a:xfrm>
            <a:off x="9948672" y="2194560"/>
            <a:ext cx="2212848" cy="3200400"/>
          </a:xfrm>
          <a:prstGeom prst="rect">
            <a:avLst/>
          </a:prstGeom>
          <a:solidFill>
            <a:srgbClr val="F8F9FA"/>
          </a:solidFill>
          <a:ln w="6350">
            <a:solidFill>
              <a:srgbClr val="E2E8F0"/>
            </a:solidFill>
            <a:prstDash val="solid"/>
          </a:ln>
        </p:spPr>
      </p:sp>
      <p:sp>
        <p:nvSpPr>
          <p:cNvPr id="29" name="Shape 27"/>
          <p:cNvSpPr/>
          <p:nvPr/>
        </p:nvSpPr>
        <p:spPr>
          <a:xfrm>
            <a:off x="10552176" y="2514600"/>
            <a:ext cx="1005840" cy="1005840"/>
          </a:xfrm>
          <a:prstGeom prst="ellipse">
            <a:avLst/>
          </a:prstGeom>
          <a:solidFill>
            <a:srgbClr val="00915A"/>
          </a:solidFill>
          <a:ln w="12700">
            <a:solidFill>
              <a:srgbClr val="00915A"/>
            </a:solidFill>
            <a:prstDash val="solid"/>
          </a:ln>
        </p:spPr>
      </p:sp>
      <p:sp>
        <p:nvSpPr>
          <p:cNvPr id="30" name="Text 28"/>
          <p:cNvSpPr/>
          <p:nvPr/>
        </p:nvSpPr>
        <p:spPr>
          <a:xfrm>
            <a:off x="10552176" y="2542032"/>
            <a:ext cx="1005840" cy="960120"/>
          </a:xfrm>
          <a:prstGeom prst="rect">
            <a:avLst/>
          </a:prstGeom>
          <a:noFill/>
          <a:ln/>
        </p:spPr>
        <p:txBody>
          <a:bodyPr wrap="square" lIns="0" tIns="0" rIns="0" bIns="0"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5</a:t>
            </a:r>
            <a:endParaRPr lang="en-US" sz="4200" dirty="0"/>
          </a:p>
        </p:txBody>
      </p:sp>
      <p:sp>
        <p:nvSpPr>
          <p:cNvPr id="31" name="Text 29"/>
          <p:cNvSpPr/>
          <p:nvPr/>
        </p:nvSpPr>
        <p:spPr>
          <a:xfrm>
            <a:off x="10131552" y="3749040"/>
            <a:ext cx="1847088" cy="502920"/>
          </a:xfrm>
          <a:prstGeom prst="rect">
            <a:avLst/>
          </a:prstGeom>
          <a:noFill/>
          <a:ln/>
        </p:spPr>
        <p:txBody>
          <a:bodyPr wrap="square" lIns="0" tIns="0" rIns="0" bIns="0" rtlCol="0" anchor="ctr"/>
          <a:lstStyle/>
          <a:p>
            <a:pPr algn="ctr" indent="0" marL="0">
              <a:buNone/>
            </a:pPr>
            <a:r>
              <a:rPr lang="en-US" sz="1600" b="1" dirty="0">
                <a:solidFill>
                  <a:srgbClr val="1A2E28"/>
                </a:solidFill>
                <a:latin typeface="Georgia" pitchFamily="34" charset="0"/>
                <a:ea typeface="Georgia" pitchFamily="34" charset="-122"/>
                <a:cs typeface="Georgia" pitchFamily="34" charset="-120"/>
              </a:rPr>
              <a:t>Droits &amp; facturation</a:t>
            </a:r>
            <a:endParaRPr lang="en-US" sz="1600" dirty="0"/>
          </a:p>
        </p:txBody>
      </p:sp>
      <p:sp>
        <p:nvSpPr>
          <p:cNvPr id="32" name="Text 30"/>
          <p:cNvSpPr/>
          <p:nvPr/>
        </p:nvSpPr>
        <p:spPr>
          <a:xfrm>
            <a:off x="10131552" y="4297680"/>
            <a:ext cx="1847088" cy="1051560"/>
          </a:xfrm>
          <a:prstGeom prst="rect">
            <a:avLst/>
          </a:prstGeom>
          <a:noFill/>
          <a:ln/>
        </p:spPr>
        <p:txBody>
          <a:bodyPr wrap="square" lIns="0" tIns="0" rIns="0" bIns="0" rtlCol="0" anchor="ctr"/>
          <a:lstStyle/>
          <a:p>
            <a:pPr algn="ctr" indent="0" marL="0">
              <a:lnSpc>
                <a:spcPct val="130000"/>
              </a:lnSpc>
              <a:buNone/>
            </a:pPr>
            <a:r>
              <a:rPr lang="en-US" sz="1100" dirty="0">
                <a:solidFill>
                  <a:srgbClr val="6B7B78"/>
                </a:solidFill>
                <a:latin typeface="Calibri" pitchFamily="34" charset="0"/>
                <a:ea typeface="Calibri" pitchFamily="34" charset="-122"/>
                <a:cs typeface="Calibri" pitchFamily="34" charset="-120"/>
              </a:rPr>
              <a:t>RBAC, IAM provisionnés · coût imputé à l'écosystème</a:t>
            </a:r>
            <a:endParaRPr lang="en-US" sz="1100" dirty="0"/>
          </a:p>
        </p:txBody>
      </p:sp>
      <p:sp>
        <p:nvSpPr>
          <p:cNvPr id="33" name="Text 31"/>
          <p:cNvSpPr/>
          <p:nvPr/>
        </p:nvSpPr>
        <p:spPr>
          <a:xfrm>
            <a:off x="640080" y="5715000"/>
            <a:ext cx="10972800" cy="548640"/>
          </a:xfrm>
          <a:prstGeom prst="rect">
            <a:avLst/>
          </a:prstGeom>
          <a:noFill/>
          <a:ln/>
        </p:spPr>
        <p:txBody>
          <a:bodyPr wrap="square" lIns="0" tIns="0" rIns="0" bIns="0" rtlCol="0" anchor="ctr"/>
          <a:lstStyle/>
          <a:p>
            <a:pPr indent="0" marL="0">
              <a:buNone/>
            </a:pPr>
            <a:r>
              <a:rPr lang="en-US" sz="1300" i="1" dirty="0">
                <a:solidFill>
                  <a:srgbClr val="6B7B78"/>
                </a:solidFill>
                <a:latin typeface="Georgia" pitchFamily="34" charset="0"/>
                <a:ea typeface="Georgia" pitchFamily="34" charset="-122"/>
                <a:cs typeface="Georgia" pitchFamily="34" charset="-120"/>
              </a:rPr>
              <a:t>Le workflow est orchestré de bout en bout : sélection via portail Marketplace → approbation dématérialisée → provisioning automatisé → visibilité opérationnelle.</a:t>
            </a:r>
            <a:endParaRPr lang="en-US" sz="1300" dirty="0"/>
          </a:p>
        </p:txBody>
      </p:sp>
      <p:sp>
        <p:nvSpPr>
          <p:cNvPr id="34" name="Text 32"/>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35" name="Text 33"/>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11 · Marketplace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02 · IT Marketplace</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Droits et gouvernance</a:t>
            </a:r>
            <a:endParaRPr lang="en-US" sz="3200" dirty="0"/>
          </a:p>
        </p:txBody>
      </p:sp>
      <p:sp>
        <p:nvSpPr>
          <p:cNvPr id="4" name="Shape 2"/>
          <p:cNvSpPr/>
          <p:nvPr/>
        </p:nvSpPr>
        <p:spPr>
          <a:xfrm>
            <a:off x="640080" y="1828800"/>
            <a:ext cx="5440680" cy="3200400"/>
          </a:xfrm>
          <a:prstGeom prst="rect">
            <a:avLst/>
          </a:prstGeom>
          <a:solidFill>
            <a:srgbClr val="FFFFFF"/>
          </a:solidFill>
          <a:ln w="9525">
            <a:solidFill>
              <a:srgbClr val="E2E8F0"/>
            </a:solidFill>
            <a:prstDash val="solid"/>
          </a:ln>
          <a:effectLst>
            <a:outerShdw sx="100000" sy="100000" kx="0" ky="0" algn="bl" rotWithShape="0" blurRad="127000" dist="25400" dir="5400000">
              <a:srgbClr val="000000">
                <a:alpha val="6000"/>
              </a:srgbClr>
            </a:outerShdw>
          </a:effectLst>
        </p:spPr>
      </p:sp>
      <p:sp>
        <p:nvSpPr>
          <p:cNvPr id="5" name="Text 3"/>
          <p:cNvSpPr/>
          <p:nvPr/>
        </p:nvSpPr>
        <p:spPr>
          <a:xfrm>
            <a:off x="1005840" y="2103120"/>
            <a:ext cx="4709160" cy="502920"/>
          </a:xfrm>
          <a:prstGeom prst="rect">
            <a:avLst/>
          </a:prstGeom>
          <a:noFill/>
          <a:ln/>
        </p:spPr>
        <p:txBody>
          <a:bodyPr wrap="square" lIns="0" tIns="0" rIns="0" bIns="0" rtlCol="0" anchor="ctr"/>
          <a:lstStyle/>
          <a:p>
            <a:pPr indent="0" marL="0">
              <a:buNone/>
            </a:pPr>
            <a:r>
              <a:rPr lang="en-US" sz="2200" b="1" dirty="0">
                <a:solidFill>
                  <a:srgbClr val="1A2E28"/>
                </a:solidFill>
                <a:latin typeface="Georgia" pitchFamily="34" charset="0"/>
                <a:ea typeface="Georgia" pitchFamily="34" charset="-122"/>
                <a:cs typeface="Georgia" pitchFamily="34" charset="-120"/>
              </a:rPr>
              <a:t>Droits de consommation</a:t>
            </a:r>
            <a:endParaRPr lang="en-US" sz="2200" dirty="0"/>
          </a:p>
        </p:txBody>
      </p:sp>
      <p:sp>
        <p:nvSpPr>
          <p:cNvPr id="6" name="Text 4"/>
          <p:cNvSpPr/>
          <p:nvPr/>
        </p:nvSpPr>
        <p:spPr>
          <a:xfrm>
            <a:off x="1005840" y="2651760"/>
            <a:ext cx="4709160" cy="365760"/>
          </a:xfrm>
          <a:prstGeom prst="rect">
            <a:avLst/>
          </a:prstGeom>
          <a:noFill/>
          <a:ln/>
        </p:spPr>
        <p:txBody>
          <a:bodyPr wrap="square" lIns="0" tIns="0" rIns="0" bIns="0" rtlCol="0" anchor="ctr"/>
          <a:lstStyle/>
          <a:p>
            <a:pPr indent="0" marL="0">
              <a:buNone/>
            </a:pPr>
            <a:r>
              <a:rPr lang="en-US" sz="1200" i="1" dirty="0">
                <a:solidFill>
                  <a:srgbClr val="00915A"/>
                </a:solidFill>
                <a:latin typeface="Calibri" pitchFamily="34" charset="0"/>
                <a:ea typeface="Calibri" pitchFamily="34" charset="-122"/>
                <a:cs typeface="Calibri" pitchFamily="34" charset="-120"/>
              </a:rPr>
              <a:t>Commander · voir le catalogue · approuver</a:t>
            </a:r>
            <a:endParaRPr lang="en-US" sz="1200" dirty="0"/>
          </a:p>
        </p:txBody>
      </p:sp>
      <p:sp>
        <p:nvSpPr>
          <p:cNvPr id="7" name="Text 5"/>
          <p:cNvSpPr/>
          <p:nvPr/>
        </p:nvSpPr>
        <p:spPr>
          <a:xfrm>
            <a:off x="1005840" y="3200400"/>
            <a:ext cx="4709160" cy="1645920"/>
          </a:xfrm>
          <a:prstGeom prst="rect">
            <a:avLst/>
          </a:prstGeom>
          <a:noFill/>
          <a:ln/>
        </p:spPr>
        <p:txBody>
          <a:bodyPr wrap="square" rtlCol="0" anchor="ctr"/>
          <a:lstStyle/>
          <a:p>
            <a:pPr marL="342900" indent="-342900">
              <a:spcAft>
                <a:spcPts val="600"/>
              </a:spcAft>
              <a:buSzPct val="100000"/>
              <a:buChar char="■"/>
            </a:pPr>
            <a:r>
              <a:rPr lang="en-US" sz="1300" dirty="0">
                <a:solidFill>
                  <a:srgbClr val="2C2C2C"/>
                </a:solidFill>
                <a:latin typeface="Calibri" pitchFamily="34" charset="0"/>
                <a:ea typeface="Calibri" pitchFamily="34" charset="-122"/>
                <a:cs typeface="Calibri" pitchFamily="34" charset="-120"/>
              </a:rPr>
              <a:t>Liés au rattachement à l'écosystème</a:t>
            </a:r>
            <a:endParaRPr lang="en-US" sz="1300" dirty="0"/>
          </a:p>
          <a:p>
            <a:pPr marL="342900" indent="-342900">
              <a:spcAft>
                <a:spcPts val="600"/>
              </a:spcAft>
              <a:buSzPct val="100000"/>
              <a:buChar char="■"/>
            </a:pPr>
            <a:r>
              <a:rPr lang="en-US" sz="1300" dirty="0">
                <a:solidFill>
                  <a:srgbClr val="2C2C2C"/>
                </a:solidFill>
                <a:latin typeface="Calibri" pitchFamily="34" charset="0"/>
                <a:ea typeface="Calibri" pitchFamily="34" charset="-122"/>
                <a:cs typeface="Calibri" pitchFamily="34" charset="-120"/>
              </a:rPr>
              <a:t>Rôle dans le groupe d'employés (simple membre ou approbateur)</a:t>
            </a:r>
            <a:endParaRPr lang="en-US" sz="1300" dirty="0"/>
          </a:p>
          <a:p>
            <a:pPr marL="342900" indent="-342900">
              <a:spcAft>
                <a:spcPts val="600"/>
              </a:spcAft>
              <a:buSzPct val="100000"/>
              <a:buChar char="■"/>
            </a:pPr>
            <a:r>
              <a:rPr lang="en-US" sz="1300" dirty="0">
                <a:solidFill>
                  <a:srgbClr val="2C2C2C"/>
                </a:solidFill>
                <a:latin typeface="Calibri" pitchFamily="34" charset="0"/>
                <a:ea typeface="Calibri" pitchFamily="34" charset="-122"/>
                <a:cs typeface="Calibri" pitchFamily="34" charset="-120"/>
              </a:rPr>
              <a:t>Quotas propres à l'écosystème</a:t>
            </a:r>
            <a:endParaRPr lang="en-US" sz="1300" dirty="0"/>
          </a:p>
        </p:txBody>
      </p:sp>
      <p:sp>
        <p:nvSpPr>
          <p:cNvPr id="8" name="Shape 6"/>
          <p:cNvSpPr/>
          <p:nvPr/>
        </p:nvSpPr>
        <p:spPr>
          <a:xfrm>
            <a:off x="6263640" y="1828800"/>
            <a:ext cx="5440680" cy="3200400"/>
          </a:xfrm>
          <a:prstGeom prst="rect">
            <a:avLst/>
          </a:prstGeom>
          <a:solidFill>
            <a:srgbClr val="FFFFFF"/>
          </a:solidFill>
          <a:ln w="9525">
            <a:solidFill>
              <a:srgbClr val="E2E8F0"/>
            </a:solidFill>
            <a:prstDash val="solid"/>
          </a:ln>
          <a:effectLst>
            <a:outerShdw sx="100000" sy="100000" kx="0" ky="0" algn="bl" rotWithShape="0" blurRad="127000" dist="25400" dir="5400000">
              <a:srgbClr val="000000">
                <a:alpha val="6000"/>
              </a:srgbClr>
            </a:outerShdw>
          </a:effectLst>
        </p:spPr>
      </p:sp>
      <p:sp>
        <p:nvSpPr>
          <p:cNvPr id="9" name="Text 7"/>
          <p:cNvSpPr/>
          <p:nvPr/>
        </p:nvSpPr>
        <p:spPr>
          <a:xfrm>
            <a:off x="6629400" y="2103120"/>
            <a:ext cx="4709160" cy="502920"/>
          </a:xfrm>
          <a:prstGeom prst="rect">
            <a:avLst/>
          </a:prstGeom>
          <a:noFill/>
          <a:ln/>
        </p:spPr>
        <p:txBody>
          <a:bodyPr wrap="square" lIns="0" tIns="0" rIns="0" bIns="0" rtlCol="0" anchor="ctr"/>
          <a:lstStyle/>
          <a:p>
            <a:pPr indent="0" marL="0">
              <a:buNone/>
            </a:pPr>
            <a:r>
              <a:rPr lang="en-US" sz="2200" b="1" dirty="0">
                <a:solidFill>
                  <a:srgbClr val="1A2E28"/>
                </a:solidFill>
                <a:latin typeface="Georgia" pitchFamily="34" charset="0"/>
                <a:ea typeface="Georgia" pitchFamily="34" charset="-122"/>
                <a:cs typeface="Georgia" pitchFamily="34" charset="-120"/>
              </a:rPr>
              <a:t>Droits de publication</a:t>
            </a:r>
            <a:endParaRPr lang="en-US" sz="2200" dirty="0"/>
          </a:p>
        </p:txBody>
      </p:sp>
      <p:sp>
        <p:nvSpPr>
          <p:cNvPr id="10" name="Text 8"/>
          <p:cNvSpPr/>
          <p:nvPr/>
        </p:nvSpPr>
        <p:spPr>
          <a:xfrm>
            <a:off x="6629400" y="2651760"/>
            <a:ext cx="4709160" cy="365760"/>
          </a:xfrm>
          <a:prstGeom prst="rect">
            <a:avLst/>
          </a:prstGeom>
          <a:noFill/>
          <a:ln/>
        </p:spPr>
        <p:txBody>
          <a:bodyPr wrap="square" lIns="0" tIns="0" rIns="0" bIns="0" rtlCol="0" anchor="ctr"/>
          <a:lstStyle/>
          <a:p>
            <a:pPr indent="0" marL="0">
              <a:buNone/>
            </a:pPr>
            <a:r>
              <a:rPr lang="en-US" sz="1200" i="1" dirty="0">
                <a:solidFill>
                  <a:srgbClr val="00915A"/>
                </a:solidFill>
                <a:latin typeface="Calibri" pitchFamily="34" charset="0"/>
                <a:ea typeface="Calibri" pitchFamily="34" charset="-122"/>
                <a:cs typeface="Calibri" pitchFamily="34" charset="-120"/>
              </a:rPr>
              <a:t>Produire et maintenir une offre</a:t>
            </a:r>
            <a:endParaRPr lang="en-US" sz="1200" dirty="0"/>
          </a:p>
        </p:txBody>
      </p:sp>
      <p:sp>
        <p:nvSpPr>
          <p:cNvPr id="11" name="Text 9"/>
          <p:cNvSpPr/>
          <p:nvPr/>
        </p:nvSpPr>
        <p:spPr>
          <a:xfrm>
            <a:off x="6629400" y="3200400"/>
            <a:ext cx="4709160" cy="1645920"/>
          </a:xfrm>
          <a:prstGeom prst="rect">
            <a:avLst/>
          </a:prstGeom>
          <a:noFill/>
          <a:ln/>
        </p:spPr>
        <p:txBody>
          <a:bodyPr wrap="square" rtlCol="0" anchor="ctr"/>
          <a:lstStyle/>
          <a:p>
            <a:pPr marL="342900" indent="-342900">
              <a:spcAft>
                <a:spcPts val="600"/>
              </a:spcAft>
              <a:buSzPct val="100000"/>
              <a:buChar char="■"/>
            </a:pPr>
            <a:r>
              <a:rPr lang="en-US" sz="1300" dirty="0">
                <a:solidFill>
                  <a:srgbClr val="2C2C2C"/>
                </a:solidFill>
                <a:latin typeface="Calibri" pitchFamily="34" charset="0"/>
                <a:ea typeface="Calibri" pitchFamily="34" charset="-122"/>
                <a:cs typeface="Calibri" pitchFamily="34" charset="-120"/>
              </a:rPr>
              <a:t>Périmètre restreint, réservé aux équipes produit validées</a:t>
            </a:r>
            <a:endParaRPr lang="en-US" sz="1300" dirty="0"/>
          </a:p>
          <a:p>
            <a:pPr marL="342900" indent="-342900">
              <a:spcAft>
                <a:spcPts val="600"/>
              </a:spcAft>
              <a:buSzPct val="100000"/>
              <a:buChar char="■"/>
            </a:pPr>
            <a:r>
              <a:rPr lang="en-US" sz="1300" dirty="0">
                <a:solidFill>
                  <a:srgbClr val="2C2C2C"/>
                </a:solidFill>
                <a:latin typeface="Calibri" pitchFamily="34" charset="0"/>
                <a:ea typeface="Calibri" pitchFamily="34" charset="-122"/>
                <a:cs typeface="Calibri" pitchFamily="34" charset="-120"/>
              </a:rPr>
              <a:t>Obligation de qualité, conformité, support</a:t>
            </a:r>
            <a:endParaRPr lang="en-US" sz="1300" dirty="0"/>
          </a:p>
          <a:p>
            <a:pPr marL="342900" indent="-342900">
              <a:spcAft>
                <a:spcPts val="600"/>
              </a:spcAft>
              <a:buSzPct val="100000"/>
              <a:buChar char="■"/>
            </a:pPr>
            <a:r>
              <a:rPr lang="en-US" sz="1300" dirty="0">
                <a:solidFill>
                  <a:srgbClr val="2C2C2C"/>
                </a:solidFill>
                <a:latin typeface="Calibri" pitchFamily="34" charset="0"/>
                <a:ea typeface="Calibri" pitchFamily="34" charset="-122"/>
                <a:cs typeface="Calibri" pitchFamily="34" charset="-120"/>
              </a:rPr>
              <a:t>Cycle de vie de l'offre géré par le producteur</a:t>
            </a:r>
            <a:endParaRPr lang="en-US" sz="1300" dirty="0"/>
          </a:p>
        </p:txBody>
      </p:sp>
      <p:sp>
        <p:nvSpPr>
          <p:cNvPr id="12" name="Text 10"/>
          <p:cNvSpPr/>
          <p:nvPr/>
        </p:nvSpPr>
        <p:spPr>
          <a:xfrm>
            <a:off x="640080" y="5257800"/>
            <a:ext cx="3657600" cy="274320"/>
          </a:xfrm>
          <a:prstGeom prst="rect">
            <a:avLst/>
          </a:prstGeom>
          <a:noFill/>
          <a:ln/>
        </p:spPr>
        <p:txBody>
          <a:bodyPr wrap="square" lIns="0" tIns="0" rIns="0" bIns="0" rtlCol="0" anchor="ctr"/>
          <a:lstStyle/>
          <a:p>
            <a:pPr indent="0" marL="0">
              <a:buNone/>
            </a:pPr>
            <a:r>
              <a:rPr lang="en-US" sz="1000" b="1" spc="600" kern="0" dirty="0">
                <a:solidFill>
                  <a:srgbClr val="00915A"/>
                </a:solidFill>
                <a:latin typeface="Calibri" pitchFamily="34" charset="0"/>
                <a:ea typeface="Calibri" pitchFamily="34" charset="-122"/>
                <a:cs typeface="Calibri" pitchFamily="34" charset="-120"/>
              </a:rPr>
              <a:t>LES RÔLES CLÉS</a:t>
            </a:r>
            <a:endParaRPr lang="en-US" sz="1000" dirty="0"/>
          </a:p>
        </p:txBody>
      </p:sp>
      <p:sp>
        <p:nvSpPr>
          <p:cNvPr id="13" name="Shape 11"/>
          <p:cNvSpPr/>
          <p:nvPr/>
        </p:nvSpPr>
        <p:spPr>
          <a:xfrm>
            <a:off x="640080" y="5623560"/>
            <a:ext cx="2697480" cy="502920"/>
          </a:xfrm>
          <a:prstGeom prst="rect">
            <a:avLst/>
          </a:prstGeom>
          <a:solidFill>
            <a:srgbClr val="E6F3EE"/>
          </a:solidFill>
          <a:ln w="12700">
            <a:solidFill>
              <a:srgbClr val="E6F3EE"/>
            </a:solidFill>
            <a:prstDash val="solid"/>
          </a:ln>
        </p:spPr>
      </p:sp>
      <p:sp>
        <p:nvSpPr>
          <p:cNvPr id="14" name="Text 12"/>
          <p:cNvSpPr/>
          <p:nvPr/>
        </p:nvSpPr>
        <p:spPr>
          <a:xfrm>
            <a:off x="640080" y="5623560"/>
            <a:ext cx="2697480" cy="502920"/>
          </a:xfrm>
          <a:prstGeom prst="rect">
            <a:avLst/>
          </a:prstGeom>
          <a:noFill/>
          <a:ln/>
        </p:spPr>
        <p:txBody>
          <a:bodyPr wrap="square" lIns="0" tIns="0" rIns="0" bIns="0" rtlCol="0" anchor="ctr"/>
          <a:lstStyle/>
          <a:p>
            <a:pPr algn="ctr" indent="0" marL="0">
              <a:buNone/>
            </a:pPr>
            <a:r>
              <a:rPr lang="en-US" sz="1200" b="1" dirty="0">
                <a:solidFill>
                  <a:srgbClr val="00653F"/>
                </a:solidFill>
                <a:latin typeface="Calibri" pitchFamily="34" charset="0"/>
                <a:ea typeface="Calibri" pitchFamily="34" charset="-122"/>
                <a:cs typeface="Calibri" pitchFamily="34" charset="-120"/>
              </a:rPr>
              <a:t>Consommateur</a:t>
            </a:r>
            <a:endParaRPr lang="en-US" sz="1200" dirty="0"/>
          </a:p>
        </p:txBody>
      </p:sp>
      <p:sp>
        <p:nvSpPr>
          <p:cNvPr id="15" name="Shape 13"/>
          <p:cNvSpPr/>
          <p:nvPr/>
        </p:nvSpPr>
        <p:spPr>
          <a:xfrm>
            <a:off x="3429000" y="5623560"/>
            <a:ext cx="2697480" cy="502920"/>
          </a:xfrm>
          <a:prstGeom prst="rect">
            <a:avLst/>
          </a:prstGeom>
          <a:solidFill>
            <a:srgbClr val="E6F3EE"/>
          </a:solidFill>
          <a:ln w="12700">
            <a:solidFill>
              <a:srgbClr val="E6F3EE"/>
            </a:solidFill>
            <a:prstDash val="solid"/>
          </a:ln>
        </p:spPr>
      </p:sp>
      <p:sp>
        <p:nvSpPr>
          <p:cNvPr id="16" name="Text 14"/>
          <p:cNvSpPr/>
          <p:nvPr/>
        </p:nvSpPr>
        <p:spPr>
          <a:xfrm>
            <a:off x="3429000" y="5623560"/>
            <a:ext cx="2697480" cy="502920"/>
          </a:xfrm>
          <a:prstGeom prst="rect">
            <a:avLst/>
          </a:prstGeom>
          <a:noFill/>
          <a:ln/>
        </p:spPr>
        <p:txBody>
          <a:bodyPr wrap="square" lIns="0" tIns="0" rIns="0" bIns="0" rtlCol="0" anchor="ctr"/>
          <a:lstStyle/>
          <a:p>
            <a:pPr algn="ctr" indent="0" marL="0">
              <a:buNone/>
            </a:pPr>
            <a:r>
              <a:rPr lang="en-US" sz="1200" b="1" dirty="0">
                <a:solidFill>
                  <a:srgbClr val="00653F"/>
                </a:solidFill>
                <a:latin typeface="Calibri" pitchFamily="34" charset="0"/>
                <a:ea typeface="Calibri" pitchFamily="34" charset="-122"/>
                <a:cs typeface="Calibri" pitchFamily="34" charset="-120"/>
              </a:rPr>
              <a:t>Approbateur</a:t>
            </a:r>
            <a:endParaRPr lang="en-US" sz="1200" dirty="0"/>
          </a:p>
        </p:txBody>
      </p:sp>
      <p:sp>
        <p:nvSpPr>
          <p:cNvPr id="17" name="Shape 15"/>
          <p:cNvSpPr/>
          <p:nvPr/>
        </p:nvSpPr>
        <p:spPr>
          <a:xfrm>
            <a:off x="6217920" y="5623560"/>
            <a:ext cx="2697480" cy="502920"/>
          </a:xfrm>
          <a:prstGeom prst="rect">
            <a:avLst/>
          </a:prstGeom>
          <a:solidFill>
            <a:srgbClr val="E6F3EE"/>
          </a:solidFill>
          <a:ln w="12700">
            <a:solidFill>
              <a:srgbClr val="E6F3EE"/>
            </a:solidFill>
            <a:prstDash val="solid"/>
          </a:ln>
        </p:spPr>
      </p:sp>
      <p:sp>
        <p:nvSpPr>
          <p:cNvPr id="18" name="Text 16"/>
          <p:cNvSpPr/>
          <p:nvPr/>
        </p:nvSpPr>
        <p:spPr>
          <a:xfrm>
            <a:off x="6217920" y="5623560"/>
            <a:ext cx="2697480" cy="502920"/>
          </a:xfrm>
          <a:prstGeom prst="rect">
            <a:avLst/>
          </a:prstGeom>
          <a:noFill/>
          <a:ln/>
        </p:spPr>
        <p:txBody>
          <a:bodyPr wrap="square" lIns="0" tIns="0" rIns="0" bIns="0" rtlCol="0" anchor="ctr"/>
          <a:lstStyle/>
          <a:p>
            <a:pPr algn="ctr" indent="0" marL="0">
              <a:buNone/>
            </a:pPr>
            <a:r>
              <a:rPr lang="en-US" sz="1200" b="1" dirty="0">
                <a:solidFill>
                  <a:srgbClr val="00653F"/>
                </a:solidFill>
                <a:latin typeface="Calibri" pitchFamily="34" charset="0"/>
                <a:ea typeface="Calibri" pitchFamily="34" charset="-122"/>
                <a:cs typeface="Calibri" pitchFamily="34" charset="-120"/>
              </a:rPr>
              <a:t>Propriétaire d'écosystème</a:t>
            </a:r>
            <a:endParaRPr lang="en-US" sz="1200" dirty="0"/>
          </a:p>
        </p:txBody>
      </p:sp>
      <p:sp>
        <p:nvSpPr>
          <p:cNvPr id="19" name="Shape 17"/>
          <p:cNvSpPr/>
          <p:nvPr/>
        </p:nvSpPr>
        <p:spPr>
          <a:xfrm>
            <a:off x="9006840" y="5623560"/>
            <a:ext cx="2697480" cy="502920"/>
          </a:xfrm>
          <a:prstGeom prst="rect">
            <a:avLst/>
          </a:prstGeom>
          <a:solidFill>
            <a:srgbClr val="E6F3EE"/>
          </a:solidFill>
          <a:ln w="12700">
            <a:solidFill>
              <a:srgbClr val="E6F3EE"/>
            </a:solidFill>
            <a:prstDash val="solid"/>
          </a:ln>
        </p:spPr>
      </p:sp>
      <p:sp>
        <p:nvSpPr>
          <p:cNvPr id="20" name="Text 18"/>
          <p:cNvSpPr/>
          <p:nvPr/>
        </p:nvSpPr>
        <p:spPr>
          <a:xfrm>
            <a:off x="9006840" y="5623560"/>
            <a:ext cx="2697480" cy="502920"/>
          </a:xfrm>
          <a:prstGeom prst="rect">
            <a:avLst/>
          </a:prstGeom>
          <a:noFill/>
          <a:ln/>
        </p:spPr>
        <p:txBody>
          <a:bodyPr wrap="square" lIns="0" tIns="0" rIns="0" bIns="0" rtlCol="0" anchor="ctr"/>
          <a:lstStyle/>
          <a:p>
            <a:pPr algn="ctr" indent="0" marL="0">
              <a:buNone/>
            </a:pPr>
            <a:r>
              <a:rPr lang="en-US" sz="1200" b="1" dirty="0">
                <a:solidFill>
                  <a:srgbClr val="00653F"/>
                </a:solidFill>
                <a:latin typeface="Calibri" pitchFamily="34" charset="0"/>
                <a:ea typeface="Calibri" pitchFamily="34" charset="-122"/>
                <a:cs typeface="Calibri" pitchFamily="34" charset="-120"/>
              </a:rPr>
              <a:t>Producteur</a:t>
            </a:r>
            <a:endParaRPr lang="en-US" sz="1200" dirty="0"/>
          </a:p>
        </p:txBody>
      </p:sp>
      <p:sp>
        <p:nvSpPr>
          <p:cNvPr id="21" name="Text 19"/>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22" name="Text 20"/>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12 · Marketplace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3A2B"/>
        </a:solidFill>
      </p:bgPr>
    </p:bg>
    <p:spTree>
      <p:nvGrpSpPr>
        <p:cNvPr id="1" name=""/>
        <p:cNvGrpSpPr/>
        <p:nvPr/>
      </p:nvGrpSpPr>
      <p:grpSpPr>
        <a:xfrm>
          <a:off x="0" y="0"/>
          <a:ext cx="0" cy="0"/>
          <a:chOff x="0" y="0"/>
          <a:chExt cx="0" cy="0"/>
        </a:xfrm>
      </p:grpSpPr>
      <p:sp>
        <p:nvSpPr>
          <p:cNvPr id="2" name="Text 0"/>
          <p:cNvSpPr/>
          <p:nvPr/>
        </p:nvSpPr>
        <p:spPr>
          <a:xfrm>
            <a:off x="9144000" y="731520"/>
            <a:ext cx="2743200" cy="5394960"/>
          </a:xfrm>
          <a:prstGeom prst="rect">
            <a:avLst/>
          </a:prstGeom>
          <a:noFill/>
          <a:ln/>
        </p:spPr>
        <p:txBody>
          <a:bodyPr wrap="square" lIns="0" tIns="0" rIns="0" bIns="0" rtlCol="0" anchor="ctr"/>
          <a:lstStyle/>
          <a:p>
            <a:pPr algn="ctr" indent="0" marL="0">
              <a:buNone/>
            </a:pPr>
            <a:r>
              <a:rPr lang="en-US" sz="30000" b="1" dirty="0">
                <a:solidFill>
                  <a:srgbClr val="0E5540"/>
                </a:solidFill>
                <a:latin typeface="Georgia" pitchFamily="34" charset="0"/>
                <a:ea typeface="Georgia" pitchFamily="34" charset="-122"/>
                <a:cs typeface="Georgia" pitchFamily="34" charset="-120"/>
              </a:rPr>
              <a:t>3</a:t>
            </a:r>
            <a:endParaRPr lang="en-US" sz="30000" dirty="0"/>
          </a:p>
        </p:txBody>
      </p:sp>
      <p:sp>
        <p:nvSpPr>
          <p:cNvPr id="3" name="Shape 1"/>
          <p:cNvSpPr/>
          <p:nvPr/>
        </p:nvSpPr>
        <p:spPr>
          <a:xfrm>
            <a:off x="640080" y="2286000"/>
            <a:ext cx="457200" cy="36576"/>
          </a:xfrm>
          <a:prstGeom prst="rect">
            <a:avLst/>
          </a:prstGeom>
          <a:solidFill>
            <a:srgbClr val="D4A840"/>
          </a:solidFill>
          <a:ln w="12700">
            <a:solidFill>
              <a:srgbClr val="D4A840"/>
            </a:solidFill>
            <a:prstDash val="solid"/>
          </a:ln>
        </p:spPr>
      </p:sp>
      <p:sp>
        <p:nvSpPr>
          <p:cNvPr id="4" name="Text 2"/>
          <p:cNvSpPr/>
          <p:nvPr/>
        </p:nvSpPr>
        <p:spPr>
          <a:xfrm>
            <a:off x="640080" y="2423160"/>
            <a:ext cx="5486400" cy="320040"/>
          </a:xfrm>
          <a:prstGeom prst="rect">
            <a:avLst/>
          </a:prstGeom>
          <a:noFill/>
          <a:ln/>
        </p:spPr>
        <p:txBody>
          <a:bodyPr wrap="square" lIns="0" tIns="0" rIns="0" bIns="0" rtlCol="0" anchor="ctr"/>
          <a:lstStyle/>
          <a:p>
            <a:pPr indent="0" marL="0">
              <a:buNone/>
            </a:pPr>
            <a:r>
              <a:rPr lang="en-US" sz="1200" b="1" spc="800" kern="0" dirty="0">
                <a:solidFill>
                  <a:srgbClr val="D4A840"/>
                </a:solidFill>
                <a:latin typeface="Calibri" pitchFamily="34" charset="0"/>
                <a:ea typeface="Calibri" pitchFamily="34" charset="-122"/>
                <a:cs typeface="Calibri" pitchFamily="34" charset="-120"/>
              </a:rPr>
              <a:t>SECTION 03</a:t>
            </a:r>
            <a:endParaRPr lang="en-US" sz="1200" dirty="0"/>
          </a:p>
        </p:txBody>
      </p:sp>
      <p:sp>
        <p:nvSpPr>
          <p:cNvPr id="5" name="Text 3"/>
          <p:cNvSpPr/>
          <p:nvPr/>
        </p:nvSpPr>
        <p:spPr>
          <a:xfrm>
            <a:off x="640080" y="2971800"/>
            <a:ext cx="8412480" cy="118872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TOE</a:t>
            </a:r>
            <a:endParaRPr lang="en-US" sz="5400" dirty="0"/>
          </a:p>
        </p:txBody>
      </p:sp>
      <p:sp>
        <p:nvSpPr>
          <p:cNvPr id="6" name="Text 4"/>
          <p:cNvSpPr/>
          <p:nvPr/>
        </p:nvSpPr>
        <p:spPr>
          <a:xfrm>
            <a:off x="640080" y="4343400"/>
            <a:ext cx="8412480" cy="1005840"/>
          </a:xfrm>
          <a:prstGeom prst="rect">
            <a:avLst/>
          </a:prstGeom>
          <a:noFill/>
          <a:ln/>
        </p:spPr>
        <p:txBody>
          <a:bodyPr wrap="square" lIns="0" tIns="0" rIns="0" bIns="0" rtlCol="0" anchor="ctr"/>
          <a:lstStyle/>
          <a:p>
            <a:pPr indent="0" marL="0">
              <a:lnSpc>
                <a:spcPct val="130000"/>
              </a:lnSpc>
              <a:buNone/>
            </a:pPr>
            <a:r>
              <a:rPr lang="en-US" sz="1900" i="1" dirty="0">
                <a:solidFill>
                  <a:srgbClr val="C9D6CF"/>
                </a:solidFill>
                <a:latin typeface="Georgia" pitchFamily="34" charset="0"/>
                <a:ea typeface="Georgia" pitchFamily="34" charset="-122"/>
                <a:cs typeface="Georgia" pitchFamily="34" charset="-120"/>
              </a:rPr>
              <a:t>Technology Office Expertise — la mission et l'offre de service</a:t>
            </a:r>
            <a:endParaRPr lang="en-US" sz="1900" dirty="0"/>
          </a:p>
        </p:txBody>
      </p:sp>
      <p:sp>
        <p:nvSpPr>
          <p:cNvPr id="7" name="Text 5"/>
          <p:cNvSpPr/>
          <p:nvPr/>
        </p:nvSpPr>
        <p:spPr>
          <a:xfrm>
            <a:off x="640080" y="6172200"/>
            <a:ext cx="5486400" cy="274320"/>
          </a:xfrm>
          <a:prstGeom prst="rect">
            <a:avLst/>
          </a:prstGeom>
          <a:noFill/>
          <a:ln/>
        </p:spPr>
        <p:txBody>
          <a:bodyPr wrap="square" lIns="0" tIns="0" rIns="0" bIns="0" rtlCol="0" anchor="ctr"/>
          <a:lstStyle/>
          <a:p>
            <a:pPr indent="0" marL="0">
              <a:buNone/>
            </a:pPr>
            <a:r>
              <a:rPr lang="en-US" sz="1100" b="1" spc="800" kern="0" dirty="0">
                <a:solidFill>
                  <a:srgbClr val="FFFFFF"/>
                </a:solidFill>
                <a:latin typeface="Calibri" pitchFamily="34" charset="0"/>
                <a:ea typeface="Calibri" pitchFamily="34" charset="-122"/>
                <a:cs typeface="Calibri" pitchFamily="34" charset="-120"/>
              </a:rPr>
              <a:t>BNP PARIBAS CARDIF</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03 · TOE</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Mission globale</a:t>
            </a:r>
            <a:endParaRPr lang="en-US" sz="3200" dirty="0"/>
          </a:p>
        </p:txBody>
      </p:sp>
      <p:sp>
        <p:nvSpPr>
          <p:cNvPr id="4" name="Shape 2"/>
          <p:cNvSpPr/>
          <p:nvPr/>
        </p:nvSpPr>
        <p:spPr>
          <a:xfrm>
            <a:off x="640080" y="1828800"/>
            <a:ext cx="3703320" cy="393192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8000"/>
              </a:srgbClr>
            </a:outerShdw>
          </a:effectLst>
        </p:spPr>
      </p:sp>
      <p:sp>
        <p:nvSpPr>
          <p:cNvPr id="5" name="Shape 3"/>
          <p:cNvSpPr/>
          <p:nvPr/>
        </p:nvSpPr>
        <p:spPr>
          <a:xfrm>
            <a:off x="640080" y="1828800"/>
            <a:ext cx="3703320" cy="137160"/>
          </a:xfrm>
          <a:prstGeom prst="rect">
            <a:avLst/>
          </a:prstGeom>
          <a:solidFill>
            <a:srgbClr val="00915A"/>
          </a:solidFill>
          <a:ln w="12700">
            <a:solidFill>
              <a:srgbClr val="00915A"/>
            </a:solidFill>
            <a:prstDash val="solid"/>
          </a:ln>
        </p:spPr>
      </p:sp>
      <p:sp>
        <p:nvSpPr>
          <p:cNvPr id="6" name="Text 4"/>
          <p:cNvSpPr/>
          <p:nvPr/>
        </p:nvSpPr>
        <p:spPr>
          <a:xfrm>
            <a:off x="1005840" y="2286000"/>
            <a:ext cx="1371600" cy="914400"/>
          </a:xfrm>
          <a:prstGeom prst="rect">
            <a:avLst/>
          </a:prstGeom>
          <a:noFill/>
          <a:ln/>
        </p:spPr>
        <p:txBody>
          <a:bodyPr wrap="square" lIns="0" tIns="0" rIns="0" bIns="0" rtlCol="0" anchor="ctr"/>
          <a:lstStyle/>
          <a:p>
            <a:pPr indent="0" marL="0">
              <a:buNone/>
            </a:pPr>
            <a:r>
              <a:rPr lang="en-US" sz="5400" b="1" dirty="0">
                <a:solidFill>
                  <a:srgbClr val="D4A840"/>
                </a:solidFill>
                <a:latin typeface="Georgia" pitchFamily="34" charset="0"/>
                <a:ea typeface="Georgia" pitchFamily="34" charset="-122"/>
                <a:cs typeface="Georgia" pitchFamily="34" charset="-120"/>
              </a:rPr>
              <a:t>01</a:t>
            </a:r>
            <a:endParaRPr lang="en-US" sz="5400" dirty="0"/>
          </a:p>
        </p:txBody>
      </p:sp>
      <p:sp>
        <p:nvSpPr>
          <p:cNvPr id="7" name="Text 5"/>
          <p:cNvSpPr/>
          <p:nvPr/>
        </p:nvSpPr>
        <p:spPr>
          <a:xfrm>
            <a:off x="1005840" y="3291840"/>
            <a:ext cx="2971800" cy="914400"/>
          </a:xfrm>
          <a:prstGeom prst="rect">
            <a:avLst/>
          </a:prstGeom>
          <a:noFill/>
          <a:ln/>
        </p:spPr>
        <p:txBody>
          <a:bodyPr wrap="square" lIns="0" tIns="0" rIns="0" bIns="0" rtlCol="0" anchor="ctr"/>
          <a:lstStyle/>
          <a:p>
            <a:pPr indent="0" marL="0">
              <a:lnSpc>
                <a:spcPct val="115000"/>
              </a:lnSpc>
              <a:buNone/>
            </a:pPr>
            <a:r>
              <a:rPr lang="en-US" sz="2200" b="1" dirty="0">
                <a:solidFill>
                  <a:srgbClr val="1A2E28"/>
                </a:solidFill>
                <a:latin typeface="Georgia" pitchFamily="34" charset="0"/>
                <a:ea typeface="Georgia" pitchFamily="34" charset="-122"/>
                <a:cs typeface="Georgia" pitchFamily="34" charset="-120"/>
              </a:rPr>
              <a:t>Piloter la transformation</a:t>
            </a:r>
            <a:endParaRPr lang="en-US" sz="2200" dirty="0"/>
          </a:p>
        </p:txBody>
      </p:sp>
      <p:sp>
        <p:nvSpPr>
          <p:cNvPr id="8" name="Text 6"/>
          <p:cNvSpPr/>
          <p:nvPr/>
        </p:nvSpPr>
        <p:spPr>
          <a:xfrm>
            <a:off x="1005840" y="4297680"/>
            <a:ext cx="2971800" cy="1371600"/>
          </a:xfrm>
          <a:prstGeom prst="rect">
            <a:avLst/>
          </a:prstGeom>
          <a:noFill/>
          <a:ln/>
        </p:spPr>
        <p:txBody>
          <a:bodyPr wrap="square" lIns="0" tIns="0" rIns="0" bIns="0" rtlCol="0" anchor="ctr"/>
          <a:lstStyle/>
          <a:p>
            <a:pPr indent="0" marL="0">
              <a:lnSpc>
                <a:spcPct val="140000"/>
              </a:lnSpc>
              <a:buNone/>
            </a:pPr>
            <a:r>
              <a:rPr lang="en-US" sz="1300" dirty="0">
                <a:solidFill>
                  <a:srgbClr val="2C2C2C"/>
                </a:solidFill>
                <a:latin typeface="Calibri" pitchFamily="34" charset="0"/>
                <a:ea typeface="Calibri" pitchFamily="34" charset="-122"/>
                <a:cs typeface="Calibri" pitchFamily="34" charset="-120"/>
              </a:rPr>
              <a:t>PAAS V4 / FS Cloud et industrialisation de Kubernetes pour l'entité CARD — Production Cardif.</a:t>
            </a:r>
            <a:endParaRPr lang="en-US" sz="1300" dirty="0"/>
          </a:p>
        </p:txBody>
      </p:sp>
      <p:sp>
        <p:nvSpPr>
          <p:cNvPr id="9" name="Shape 7"/>
          <p:cNvSpPr/>
          <p:nvPr/>
        </p:nvSpPr>
        <p:spPr>
          <a:xfrm>
            <a:off x="4572000" y="1828800"/>
            <a:ext cx="3703320" cy="393192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8000"/>
              </a:srgbClr>
            </a:outerShdw>
          </a:effectLst>
        </p:spPr>
      </p:sp>
      <p:sp>
        <p:nvSpPr>
          <p:cNvPr id="10" name="Shape 8"/>
          <p:cNvSpPr/>
          <p:nvPr/>
        </p:nvSpPr>
        <p:spPr>
          <a:xfrm>
            <a:off x="4572000" y="1828800"/>
            <a:ext cx="3703320" cy="137160"/>
          </a:xfrm>
          <a:prstGeom prst="rect">
            <a:avLst/>
          </a:prstGeom>
          <a:solidFill>
            <a:srgbClr val="00915A"/>
          </a:solidFill>
          <a:ln w="12700">
            <a:solidFill>
              <a:srgbClr val="00915A"/>
            </a:solidFill>
            <a:prstDash val="solid"/>
          </a:ln>
        </p:spPr>
      </p:sp>
      <p:sp>
        <p:nvSpPr>
          <p:cNvPr id="11" name="Text 9"/>
          <p:cNvSpPr/>
          <p:nvPr/>
        </p:nvSpPr>
        <p:spPr>
          <a:xfrm>
            <a:off x="4937760" y="2286000"/>
            <a:ext cx="1371600" cy="914400"/>
          </a:xfrm>
          <a:prstGeom prst="rect">
            <a:avLst/>
          </a:prstGeom>
          <a:noFill/>
          <a:ln/>
        </p:spPr>
        <p:txBody>
          <a:bodyPr wrap="square" lIns="0" tIns="0" rIns="0" bIns="0" rtlCol="0" anchor="ctr"/>
          <a:lstStyle/>
          <a:p>
            <a:pPr indent="0" marL="0">
              <a:buNone/>
            </a:pPr>
            <a:r>
              <a:rPr lang="en-US" sz="5400" b="1" dirty="0">
                <a:solidFill>
                  <a:srgbClr val="D4A840"/>
                </a:solidFill>
                <a:latin typeface="Georgia" pitchFamily="34" charset="0"/>
                <a:ea typeface="Georgia" pitchFamily="34" charset="-122"/>
                <a:cs typeface="Georgia" pitchFamily="34" charset="-120"/>
              </a:rPr>
              <a:t>02</a:t>
            </a:r>
            <a:endParaRPr lang="en-US" sz="5400" dirty="0"/>
          </a:p>
        </p:txBody>
      </p:sp>
      <p:sp>
        <p:nvSpPr>
          <p:cNvPr id="12" name="Text 10"/>
          <p:cNvSpPr/>
          <p:nvPr/>
        </p:nvSpPr>
        <p:spPr>
          <a:xfrm>
            <a:off x="4937760" y="3291840"/>
            <a:ext cx="2971800" cy="914400"/>
          </a:xfrm>
          <a:prstGeom prst="rect">
            <a:avLst/>
          </a:prstGeom>
          <a:noFill/>
          <a:ln/>
        </p:spPr>
        <p:txBody>
          <a:bodyPr wrap="square" lIns="0" tIns="0" rIns="0" bIns="0" rtlCol="0" anchor="ctr"/>
          <a:lstStyle/>
          <a:p>
            <a:pPr indent="0" marL="0">
              <a:lnSpc>
                <a:spcPct val="115000"/>
              </a:lnSpc>
              <a:buNone/>
            </a:pPr>
            <a:r>
              <a:rPr lang="en-US" sz="2200" b="1" dirty="0">
                <a:solidFill>
                  <a:srgbClr val="1A2E28"/>
                </a:solidFill>
                <a:latin typeface="Georgia" pitchFamily="34" charset="0"/>
                <a:ea typeface="Georgia" pitchFamily="34" charset="-122"/>
                <a:cs typeface="Georgia" pitchFamily="34" charset="-120"/>
              </a:rPr>
              <a:t>Fournir un socle commun</a:t>
            </a:r>
            <a:endParaRPr lang="en-US" sz="2200" dirty="0"/>
          </a:p>
        </p:txBody>
      </p:sp>
      <p:sp>
        <p:nvSpPr>
          <p:cNvPr id="13" name="Text 11"/>
          <p:cNvSpPr/>
          <p:nvPr/>
        </p:nvSpPr>
        <p:spPr>
          <a:xfrm>
            <a:off x="4937760" y="4297680"/>
            <a:ext cx="2971800" cy="1371600"/>
          </a:xfrm>
          <a:prstGeom prst="rect">
            <a:avLst/>
          </a:prstGeom>
          <a:noFill/>
          <a:ln/>
        </p:spPr>
        <p:txBody>
          <a:bodyPr wrap="square" lIns="0" tIns="0" rIns="0" bIns="0" rtlCol="0" anchor="ctr"/>
          <a:lstStyle/>
          <a:p>
            <a:pPr indent="0" marL="0">
              <a:lnSpc>
                <a:spcPct val="140000"/>
              </a:lnSpc>
              <a:buNone/>
            </a:pPr>
            <a:r>
              <a:rPr lang="en-US" sz="1300" dirty="0">
                <a:solidFill>
                  <a:srgbClr val="2C2C2C"/>
                </a:solidFill>
                <a:latin typeface="Calibri" pitchFamily="34" charset="0"/>
                <a:ea typeface="Calibri" pitchFamily="34" charset="-122"/>
                <a:cs typeface="Calibri" pitchFamily="34" charset="-120"/>
              </a:rPr>
              <a:t>Standards, toolchains, automatisation : qualité, fiabilité et maintenabilité des applications transverses.</a:t>
            </a:r>
            <a:endParaRPr lang="en-US" sz="1300" dirty="0"/>
          </a:p>
        </p:txBody>
      </p:sp>
      <p:sp>
        <p:nvSpPr>
          <p:cNvPr id="14" name="Shape 12"/>
          <p:cNvSpPr/>
          <p:nvPr/>
        </p:nvSpPr>
        <p:spPr>
          <a:xfrm>
            <a:off x="8503920" y="1828800"/>
            <a:ext cx="3703320" cy="393192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8000"/>
              </a:srgbClr>
            </a:outerShdw>
          </a:effectLst>
        </p:spPr>
      </p:sp>
      <p:sp>
        <p:nvSpPr>
          <p:cNvPr id="15" name="Shape 13"/>
          <p:cNvSpPr/>
          <p:nvPr/>
        </p:nvSpPr>
        <p:spPr>
          <a:xfrm>
            <a:off x="8503920" y="1828800"/>
            <a:ext cx="3703320" cy="137160"/>
          </a:xfrm>
          <a:prstGeom prst="rect">
            <a:avLst/>
          </a:prstGeom>
          <a:solidFill>
            <a:srgbClr val="00915A"/>
          </a:solidFill>
          <a:ln w="12700">
            <a:solidFill>
              <a:srgbClr val="00915A"/>
            </a:solidFill>
            <a:prstDash val="solid"/>
          </a:ln>
        </p:spPr>
      </p:sp>
      <p:sp>
        <p:nvSpPr>
          <p:cNvPr id="16" name="Text 14"/>
          <p:cNvSpPr/>
          <p:nvPr/>
        </p:nvSpPr>
        <p:spPr>
          <a:xfrm>
            <a:off x="8869680" y="2286000"/>
            <a:ext cx="1371600" cy="914400"/>
          </a:xfrm>
          <a:prstGeom prst="rect">
            <a:avLst/>
          </a:prstGeom>
          <a:noFill/>
          <a:ln/>
        </p:spPr>
        <p:txBody>
          <a:bodyPr wrap="square" lIns="0" tIns="0" rIns="0" bIns="0" rtlCol="0" anchor="ctr"/>
          <a:lstStyle/>
          <a:p>
            <a:pPr indent="0" marL="0">
              <a:buNone/>
            </a:pPr>
            <a:r>
              <a:rPr lang="en-US" sz="5400" b="1" dirty="0">
                <a:solidFill>
                  <a:srgbClr val="D4A840"/>
                </a:solidFill>
                <a:latin typeface="Georgia" pitchFamily="34" charset="0"/>
                <a:ea typeface="Georgia" pitchFamily="34" charset="-122"/>
                <a:cs typeface="Georgia" pitchFamily="34" charset="-120"/>
              </a:rPr>
              <a:t>03</a:t>
            </a:r>
            <a:endParaRPr lang="en-US" sz="5400" dirty="0"/>
          </a:p>
        </p:txBody>
      </p:sp>
      <p:sp>
        <p:nvSpPr>
          <p:cNvPr id="17" name="Text 15"/>
          <p:cNvSpPr/>
          <p:nvPr/>
        </p:nvSpPr>
        <p:spPr>
          <a:xfrm>
            <a:off x="8869680" y="3291840"/>
            <a:ext cx="2971800" cy="914400"/>
          </a:xfrm>
          <a:prstGeom prst="rect">
            <a:avLst/>
          </a:prstGeom>
          <a:noFill/>
          <a:ln/>
        </p:spPr>
        <p:txBody>
          <a:bodyPr wrap="square" lIns="0" tIns="0" rIns="0" bIns="0" rtlCol="0" anchor="ctr"/>
          <a:lstStyle/>
          <a:p>
            <a:pPr indent="0" marL="0">
              <a:lnSpc>
                <a:spcPct val="115000"/>
              </a:lnSpc>
              <a:buNone/>
            </a:pPr>
            <a:r>
              <a:rPr lang="en-US" sz="2200" b="1" dirty="0">
                <a:solidFill>
                  <a:srgbClr val="1A2E28"/>
                </a:solidFill>
                <a:latin typeface="Georgia" pitchFamily="34" charset="0"/>
                <a:ea typeface="Georgia" pitchFamily="34" charset="-122"/>
                <a:cs typeface="Georgia" pitchFamily="34" charset="-120"/>
              </a:rPr>
              <a:t>Accompagner les équipes</a:t>
            </a:r>
            <a:endParaRPr lang="en-US" sz="2200" dirty="0"/>
          </a:p>
        </p:txBody>
      </p:sp>
      <p:sp>
        <p:nvSpPr>
          <p:cNvPr id="18" name="Text 16"/>
          <p:cNvSpPr/>
          <p:nvPr/>
        </p:nvSpPr>
        <p:spPr>
          <a:xfrm>
            <a:off x="8869680" y="4297680"/>
            <a:ext cx="2971800" cy="1371600"/>
          </a:xfrm>
          <a:prstGeom prst="rect">
            <a:avLst/>
          </a:prstGeom>
          <a:noFill/>
          <a:ln/>
        </p:spPr>
        <p:txBody>
          <a:bodyPr wrap="square" lIns="0" tIns="0" rIns="0" bIns="0" rtlCol="0" anchor="ctr"/>
          <a:lstStyle/>
          <a:p>
            <a:pPr indent="0" marL="0">
              <a:lnSpc>
                <a:spcPct val="140000"/>
              </a:lnSpc>
              <a:buNone/>
            </a:pPr>
            <a:r>
              <a:rPr lang="en-US" sz="1300" dirty="0">
                <a:solidFill>
                  <a:srgbClr val="2C2C2C"/>
                </a:solidFill>
                <a:latin typeface="Calibri" pitchFamily="34" charset="0"/>
                <a:ea typeface="Calibri" pitchFamily="34" charset="-122"/>
                <a:cs typeface="Calibri" pitchFamily="34" charset="-120"/>
              </a:rPr>
              <a:t>Tech-buddies, formations, kits : garantir l'autonomie malgré le turnover et les projets multiples.</a:t>
            </a:r>
            <a:endParaRPr lang="en-US" sz="1300" dirty="0"/>
          </a:p>
        </p:txBody>
      </p:sp>
      <p:sp>
        <p:nvSpPr>
          <p:cNvPr id="19" name="Text 17"/>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20" name="Text 18"/>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14 · TOE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03 · TOE</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Domaines d'intervention</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972800" cy="914400"/>
        </p:xfrm>
        <a:graphic>
          <a:graphicData uri="http://schemas.openxmlformats.org/drawingml/2006/table">
            <a:tbl>
              <a:tblPr/>
              <a:tblGrid>
                <a:gridCol w="3474720"/>
                <a:gridCol w="7498080"/>
              </a:tblGrid>
              <a:tr h="502920">
                <a:tc>
                  <a:txBody>
                    <a:bodyPr/>
                    <a:lstStyle/>
                    <a:p>
                      <a:pPr algn="l" indent="0" marL="0">
                        <a:buNone/>
                      </a:pPr>
                      <a:r>
                        <a:rPr lang="en-US" sz="1200" b="1" spc="400" kern="0" dirty="0">
                          <a:solidFill>
                            <a:srgbClr val="FFFFFF"/>
                          </a:solidFill>
                          <a:latin typeface="Calibri" pitchFamily="34" charset="0"/>
                          <a:ea typeface="Calibri" pitchFamily="34" charset="-122"/>
                          <a:cs typeface="Calibri" pitchFamily="34" charset="-120"/>
                        </a:rPr>
                        <a:t>DOMAINE</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0915A"/>
                    </a:solidFill>
                  </a:tcPr>
                </a:tc>
                <a:tc>
                  <a:txBody>
                    <a:bodyPr/>
                    <a:lstStyle/>
                    <a:p>
                      <a:pPr algn="l" indent="0" marL="0">
                        <a:buNone/>
                      </a:pPr>
                      <a:r>
                        <a:rPr lang="en-US" sz="1200" b="1" spc="400" kern="0" dirty="0">
                          <a:solidFill>
                            <a:srgbClr val="FFFFFF"/>
                          </a:solidFill>
                          <a:latin typeface="Calibri" pitchFamily="34" charset="0"/>
                          <a:ea typeface="Calibri" pitchFamily="34" charset="-122"/>
                          <a:cs typeface="Calibri" pitchFamily="34" charset="-120"/>
                        </a:rPr>
                        <a:t>PRINCIPALES ACTIONS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0915A"/>
                    </a:solidFill>
                  </a:tcPr>
                </a:tc>
              </a:tr>
              <a:tr h="685800">
                <a:tc>
                  <a:txBody>
                    <a:bodyPr/>
                    <a:lstStyle/>
                    <a:p>
                      <a:pPr indent="0" marL="0">
                        <a:buNone/>
                      </a:pPr>
                      <a:r>
                        <a:rPr lang="en-US" sz="1400" b="1" dirty="0">
                          <a:solidFill>
                            <a:srgbClr val="1A2E28"/>
                          </a:solidFill>
                          <a:latin typeface="Georgia" pitchFamily="34" charset="0"/>
                          <a:ea typeface="Georgia" pitchFamily="34" charset="-122"/>
                          <a:cs typeface="Georgia" pitchFamily="34" charset="-120"/>
                        </a:rPr>
                        <a:t>Support &amp; Exploitation</a:t>
                      </a:r>
                      <a:endParaRPr lang="en-US" sz="1400" dirty="0">
                        <a:latin typeface="Georgia" charset="0"/>
                        <a:ea typeface="Georgia" charset="0"/>
                        <a:cs typeface="Georg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2C2C2C"/>
                          </a:solidFill>
                          <a:latin typeface="Calibri" pitchFamily="34" charset="0"/>
                          <a:ea typeface="Calibri" pitchFamily="34" charset="-122"/>
                          <a:cs typeface="Calibri" pitchFamily="34" charset="-120"/>
                        </a:rPr>
                        <a:t>Gestion des incidents N2 / N3 · suivi SLA · dashboards (Bastion Server) · automatisation des alertes.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685800">
                <a:tc>
                  <a:txBody>
                    <a:bodyPr/>
                    <a:lstStyle/>
                    <a:p>
                      <a:pPr indent="0" marL="0">
                        <a:buNone/>
                      </a:pPr>
                      <a:r>
                        <a:rPr lang="en-US" sz="1400" b="1" dirty="0">
                          <a:solidFill>
                            <a:srgbClr val="1A2E28"/>
                          </a:solidFill>
                          <a:latin typeface="Georgia" pitchFamily="34" charset="0"/>
                          <a:ea typeface="Georgia" pitchFamily="34" charset="-122"/>
                          <a:cs typeface="Georgia" pitchFamily="34" charset="-120"/>
                        </a:rPr>
                        <a:t>Développement &amp; Outillage</a:t>
                      </a:r>
                      <a:endParaRPr lang="en-US" sz="1400" dirty="0">
                        <a:latin typeface="Georgia" charset="0"/>
                        <a:ea typeface="Georgia" charset="0"/>
                        <a:cs typeface="Georg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2C2C2C"/>
                          </a:solidFill>
                          <a:latin typeface="Calibri" pitchFamily="34" charset="0"/>
                          <a:ea typeface="Calibri" pitchFamily="34" charset="-122"/>
                          <a:cs typeface="Calibri" pitchFamily="34" charset="-120"/>
                        </a:rPr>
                        <a:t>Outils internes (Adret, Iclés) · scripts Ansible · pipelines CI/CD · gestion des assets TOE (VM, clusters).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685800">
                <a:tc>
                  <a:txBody>
                    <a:bodyPr/>
                    <a:lstStyle/>
                    <a:p>
                      <a:pPr indent="0" marL="0">
                        <a:buNone/>
                      </a:pPr>
                      <a:r>
                        <a:rPr lang="en-US" sz="1400" b="1" dirty="0">
                          <a:solidFill>
                            <a:srgbClr val="1A2E28"/>
                          </a:solidFill>
                          <a:latin typeface="Georgia" pitchFamily="34" charset="0"/>
                          <a:ea typeface="Georgia" pitchFamily="34" charset="-122"/>
                          <a:cs typeface="Georgia" pitchFamily="34" charset="-120"/>
                        </a:rPr>
                        <a:t>CD &amp; Toolchain</a:t>
                      </a:r>
                      <a:endParaRPr lang="en-US" sz="1400" dirty="0">
                        <a:latin typeface="Georgia" charset="0"/>
                        <a:ea typeface="Georgia" charset="0"/>
                        <a:cs typeface="Georg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2C2C2C"/>
                          </a:solidFill>
                          <a:latin typeface="Calibri" pitchFamily="34" charset="0"/>
                          <a:ea typeface="Calibri" pitchFamily="34" charset="-122"/>
                          <a:cs typeface="Calibri" pitchFamily="34" charset="-120"/>
                        </a:rPr>
                        <a:t>Standardisation des chaînes de déploiement · accompagnement à la mise en place · conformité aux standards ODM.</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685800">
                <a:tc>
                  <a:txBody>
                    <a:bodyPr/>
                    <a:lstStyle/>
                    <a:p>
                      <a:pPr indent="0" marL="0">
                        <a:buNone/>
                      </a:pPr>
                      <a:r>
                        <a:rPr lang="en-US" sz="1400" b="1" dirty="0">
                          <a:solidFill>
                            <a:srgbClr val="1A2E28"/>
                          </a:solidFill>
                          <a:latin typeface="Georgia" pitchFamily="34" charset="0"/>
                          <a:ea typeface="Georgia" pitchFamily="34" charset="-122"/>
                          <a:cs typeface="Georgia" pitchFamily="34" charset="-120"/>
                        </a:rPr>
                        <a:t>Acculturation &amp; Connaissances</a:t>
                      </a:r>
                      <a:endParaRPr lang="en-US" sz="1400" dirty="0">
                        <a:latin typeface="Georgia" charset="0"/>
                        <a:ea typeface="Georgia" charset="0"/>
                        <a:cs typeface="Georg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2C2C2C"/>
                          </a:solidFill>
                          <a:latin typeface="Calibri" pitchFamily="34" charset="0"/>
                          <a:ea typeface="Calibri" pitchFamily="34" charset="-122"/>
                          <a:cs typeface="Calibri" pitchFamily="34" charset="-120"/>
                        </a:rPr>
                        <a:t>Ateliers · onboarding · tutoriels vidéo · knowledge base · désignation de tech-buddies.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685800">
                <a:tc>
                  <a:txBody>
                    <a:bodyPr/>
                    <a:lstStyle/>
                    <a:p>
                      <a:pPr indent="0" marL="0">
                        <a:buNone/>
                      </a:pPr>
                      <a:r>
                        <a:rPr lang="en-US" sz="1400" b="1" dirty="0">
                          <a:solidFill>
                            <a:srgbClr val="1A2E28"/>
                          </a:solidFill>
                          <a:latin typeface="Georgia" pitchFamily="34" charset="0"/>
                          <a:ea typeface="Georgia" pitchFamily="34" charset="-122"/>
                          <a:cs typeface="Georgia" pitchFamily="34" charset="-120"/>
                        </a:rPr>
                        <a:t>Amélioration continue / Audits</a:t>
                      </a:r>
                      <a:endParaRPr lang="en-US" sz="1400" dirty="0">
                        <a:latin typeface="Georgia" charset="0"/>
                        <a:ea typeface="Georgia" charset="0"/>
                        <a:cs typeface="Georg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2C2C2C"/>
                          </a:solidFill>
                          <a:latin typeface="Calibri" pitchFamily="34" charset="0"/>
                          <a:ea typeface="Calibri" pitchFamily="34" charset="-122"/>
                          <a:cs typeface="Calibri" pitchFamily="34" charset="-120"/>
                        </a:rPr>
                        <a:t>Audits de scripts et chaînes · correction des vulnérabilités · optimisation des performances · revue des pratiques.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5" name="Text 2"/>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6" name="Text 3"/>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15 · TOE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03 · TOE</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Interactions TOE · Marketplace · dMZR</a:t>
            </a:r>
            <a:endParaRPr lang="en-US" sz="3200" dirty="0"/>
          </a:p>
        </p:txBody>
      </p:sp>
      <p:sp>
        <p:nvSpPr>
          <p:cNvPr id="4" name="Shape 2"/>
          <p:cNvSpPr/>
          <p:nvPr/>
        </p:nvSpPr>
        <p:spPr>
          <a:xfrm>
            <a:off x="5180076" y="1645920"/>
            <a:ext cx="1828800" cy="1828800"/>
          </a:xfrm>
          <a:prstGeom prst="ellipse">
            <a:avLst/>
          </a:prstGeom>
          <a:solidFill>
            <a:srgbClr val="00915A"/>
          </a:solidFill>
          <a:ln w="12700">
            <a:solidFill>
              <a:srgbClr val="00915A"/>
            </a:solidFill>
            <a:prstDash val="solid"/>
          </a:ln>
        </p:spPr>
      </p:sp>
      <p:sp>
        <p:nvSpPr>
          <p:cNvPr id="5" name="Text 3"/>
          <p:cNvSpPr/>
          <p:nvPr/>
        </p:nvSpPr>
        <p:spPr>
          <a:xfrm>
            <a:off x="5180076" y="2240280"/>
            <a:ext cx="18288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TOE</a:t>
            </a:r>
            <a:endParaRPr lang="en-US" sz="2000" dirty="0"/>
          </a:p>
        </p:txBody>
      </p:sp>
      <p:sp>
        <p:nvSpPr>
          <p:cNvPr id="6" name="Text 4"/>
          <p:cNvSpPr/>
          <p:nvPr/>
        </p:nvSpPr>
        <p:spPr>
          <a:xfrm>
            <a:off x="5180076" y="2651760"/>
            <a:ext cx="1828800" cy="320040"/>
          </a:xfrm>
          <a:prstGeom prst="rect">
            <a:avLst/>
          </a:prstGeom>
          <a:noFill/>
          <a:ln/>
        </p:spPr>
        <p:txBody>
          <a:bodyPr wrap="square" lIns="0" tIns="0" rIns="0" bIns="0" rtlCol="0" anchor="ctr"/>
          <a:lstStyle/>
          <a:p>
            <a:pPr algn="ctr" indent="0" marL="0">
              <a:buNone/>
            </a:pPr>
            <a:r>
              <a:rPr lang="en-US" sz="1000" i="1" dirty="0">
                <a:solidFill>
                  <a:srgbClr val="D9E8E1"/>
                </a:solidFill>
                <a:latin typeface="Calibri" pitchFamily="34" charset="0"/>
                <a:ea typeface="Calibri" pitchFamily="34" charset="-122"/>
                <a:cs typeface="Calibri" pitchFamily="34" charset="-120"/>
              </a:rPr>
              <a:t>Expertise &amp; socle</a:t>
            </a:r>
            <a:endParaRPr lang="en-US" sz="1000" dirty="0"/>
          </a:p>
        </p:txBody>
      </p:sp>
      <p:sp>
        <p:nvSpPr>
          <p:cNvPr id="7" name="Shape 5"/>
          <p:cNvSpPr/>
          <p:nvPr/>
        </p:nvSpPr>
        <p:spPr>
          <a:xfrm>
            <a:off x="2103120" y="4023360"/>
            <a:ext cx="1828800" cy="1828800"/>
          </a:xfrm>
          <a:prstGeom prst="ellipse">
            <a:avLst/>
          </a:prstGeom>
          <a:solidFill>
            <a:srgbClr val="00653F"/>
          </a:solidFill>
          <a:ln w="12700">
            <a:solidFill>
              <a:srgbClr val="00653F"/>
            </a:solidFill>
            <a:prstDash val="solid"/>
          </a:ln>
        </p:spPr>
      </p:sp>
      <p:sp>
        <p:nvSpPr>
          <p:cNvPr id="8" name="Text 6"/>
          <p:cNvSpPr/>
          <p:nvPr/>
        </p:nvSpPr>
        <p:spPr>
          <a:xfrm>
            <a:off x="2103120" y="4617720"/>
            <a:ext cx="18288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Marketplace</a:t>
            </a:r>
            <a:endParaRPr lang="en-US" sz="2000" dirty="0"/>
          </a:p>
        </p:txBody>
      </p:sp>
      <p:sp>
        <p:nvSpPr>
          <p:cNvPr id="9" name="Text 7"/>
          <p:cNvSpPr/>
          <p:nvPr/>
        </p:nvSpPr>
        <p:spPr>
          <a:xfrm>
            <a:off x="2103120" y="5029200"/>
            <a:ext cx="1828800" cy="320040"/>
          </a:xfrm>
          <a:prstGeom prst="rect">
            <a:avLst/>
          </a:prstGeom>
          <a:noFill/>
          <a:ln/>
        </p:spPr>
        <p:txBody>
          <a:bodyPr wrap="square" lIns="0" tIns="0" rIns="0" bIns="0" rtlCol="0" anchor="ctr"/>
          <a:lstStyle/>
          <a:p>
            <a:pPr algn="ctr" indent="0" marL="0">
              <a:buNone/>
            </a:pPr>
            <a:r>
              <a:rPr lang="en-US" sz="1000" i="1" dirty="0">
                <a:solidFill>
                  <a:srgbClr val="D9E8E1"/>
                </a:solidFill>
                <a:latin typeface="Calibri" pitchFamily="34" charset="0"/>
                <a:ea typeface="Calibri" pitchFamily="34" charset="-122"/>
                <a:cs typeface="Calibri" pitchFamily="34" charset="-120"/>
              </a:rPr>
              <a:t>Offres &amp; droits</a:t>
            </a:r>
            <a:endParaRPr lang="en-US" sz="1000" dirty="0"/>
          </a:p>
        </p:txBody>
      </p:sp>
      <p:sp>
        <p:nvSpPr>
          <p:cNvPr id="10" name="Shape 8"/>
          <p:cNvSpPr/>
          <p:nvPr/>
        </p:nvSpPr>
        <p:spPr>
          <a:xfrm>
            <a:off x="8257032" y="4023360"/>
            <a:ext cx="1828800" cy="1828800"/>
          </a:xfrm>
          <a:prstGeom prst="ellipse">
            <a:avLst/>
          </a:prstGeom>
          <a:solidFill>
            <a:srgbClr val="003A2B"/>
          </a:solidFill>
          <a:ln w="12700">
            <a:solidFill>
              <a:srgbClr val="003A2B"/>
            </a:solidFill>
            <a:prstDash val="solid"/>
          </a:ln>
        </p:spPr>
      </p:sp>
      <p:sp>
        <p:nvSpPr>
          <p:cNvPr id="11" name="Text 9"/>
          <p:cNvSpPr/>
          <p:nvPr/>
        </p:nvSpPr>
        <p:spPr>
          <a:xfrm>
            <a:off x="8257032" y="4617720"/>
            <a:ext cx="18288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dMZR</a:t>
            </a:r>
            <a:endParaRPr lang="en-US" sz="2000" dirty="0"/>
          </a:p>
        </p:txBody>
      </p:sp>
      <p:sp>
        <p:nvSpPr>
          <p:cNvPr id="12" name="Text 10"/>
          <p:cNvSpPr/>
          <p:nvPr/>
        </p:nvSpPr>
        <p:spPr>
          <a:xfrm>
            <a:off x="8257032" y="5029200"/>
            <a:ext cx="1828800" cy="320040"/>
          </a:xfrm>
          <a:prstGeom prst="rect">
            <a:avLst/>
          </a:prstGeom>
          <a:noFill/>
          <a:ln/>
        </p:spPr>
        <p:txBody>
          <a:bodyPr wrap="square" lIns="0" tIns="0" rIns="0" bIns="0" rtlCol="0" anchor="ctr"/>
          <a:lstStyle/>
          <a:p>
            <a:pPr algn="ctr" indent="0" marL="0">
              <a:buNone/>
            </a:pPr>
            <a:r>
              <a:rPr lang="en-US" sz="1000" i="1" dirty="0">
                <a:solidFill>
                  <a:srgbClr val="D9E8E1"/>
                </a:solidFill>
                <a:latin typeface="Calibri" pitchFamily="34" charset="0"/>
                <a:ea typeface="Calibri" pitchFamily="34" charset="-122"/>
                <a:cs typeface="Calibri" pitchFamily="34" charset="-120"/>
              </a:rPr>
              <a:t>Plateforme</a:t>
            </a:r>
            <a:endParaRPr lang="en-US" sz="1000" dirty="0"/>
          </a:p>
        </p:txBody>
      </p:sp>
      <p:sp>
        <p:nvSpPr>
          <p:cNvPr id="13" name="Shape 11"/>
          <p:cNvSpPr/>
          <p:nvPr/>
        </p:nvSpPr>
        <p:spPr>
          <a:xfrm>
            <a:off x="5317236" y="3063240"/>
            <a:ext cx="-1522476" cy="1371600"/>
          </a:xfrm>
          <a:prstGeom prst="line">
            <a:avLst/>
          </a:prstGeom>
          <a:noFill/>
          <a:ln w="25400">
            <a:solidFill>
              <a:srgbClr val="D4A840"/>
            </a:solidFill>
            <a:prstDash val="solid"/>
          </a:ln>
        </p:spPr>
      </p:sp>
      <p:sp>
        <p:nvSpPr>
          <p:cNvPr id="14" name="Shape 12"/>
          <p:cNvSpPr/>
          <p:nvPr/>
        </p:nvSpPr>
        <p:spPr>
          <a:xfrm>
            <a:off x="6871716" y="3063240"/>
            <a:ext cx="1522476" cy="1371600"/>
          </a:xfrm>
          <a:prstGeom prst="line">
            <a:avLst/>
          </a:prstGeom>
          <a:noFill/>
          <a:ln w="25400">
            <a:solidFill>
              <a:srgbClr val="D4A840"/>
            </a:solidFill>
            <a:prstDash val="solid"/>
          </a:ln>
        </p:spPr>
      </p:sp>
      <p:sp>
        <p:nvSpPr>
          <p:cNvPr id="15" name="Shape 13"/>
          <p:cNvSpPr/>
          <p:nvPr/>
        </p:nvSpPr>
        <p:spPr>
          <a:xfrm>
            <a:off x="3931920" y="4937760"/>
            <a:ext cx="4325112" cy="0"/>
          </a:xfrm>
          <a:prstGeom prst="line">
            <a:avLst/>
          </a:prstGeom>
          <a:noFill/>
          <a:ln w="25400">
            <a:solidFill>
              <a:srgbClr val="D4A840"/>
            </a:solidFill>
            <a:prstDash val="solid"/>
          </a:ln>
        </p:spPr>
      </p:sp>
      <p:sp>
        <p:nvSpPr>
          <p:cNvPr id="16" name="Text 14"/>
          <p:cNvSpPr/>
          <p:nvPr/>
        </p:nvSpPr>
        <p:spPr>
          <a:xfrm>
            <a:off x="3474720" y="3429000"/>
            <a:ext cx="2286000" cy="274320"/>
          </a:xfrm>
          <a:prstGeom prst="rect">
            <a:avLst/>
          </a:prstGeom>
          <a:noFill/>
          <a:ln/>
        </p:spPr>
        <p:txBody>
          <a:bodyPr wrap="square" lIns="0" tIns="0" rIns="0" bIns="0" rtlCol="0" anchor="ctr"/>
          <a:lstStyle/>
          <a:p>
            <a:pPr algn="ctr" indent="0" marL="0">
              <a:buNone/>
            </a:pPr>
            <a:r>
              <a:rPr lang="en-US" sz="1100" i="1" dirty="0">
                <a:solidFill>
                  <a:srgbClr val="6B7B78"/>
                </a:solidFill>
                <a:latin typeface="Calibri" pitchFamily="34" charset="0"/>
                <a:ea typeface="Calibri" pitchFamily="34" charset="-122"/>
                <a:cs typeface="Calibri" pitchFamily="34" charset="-120"/>
              </a:rPr>
              <a:t>produit des offres</a:t>
            </a:r>
            <a:endParaRPr lang="en-US" sz="1100" dirty="0"/>
          </a:p>
        </p:txBody>
      </p:sp>
      <p:sp>
        <p:nvSpPr>
          <p:cNvPr id="17" name="Text 15"/>
          <p:cNvSpPr/>
          <p:nvPr/>
        </p:nvSpPr>
        <p:spPr>
          <a:xfrm>
            <a:off x="6400800" y="3429000"/>
            <a:ext cx="2286000" cy="274320"/>
          </a:xfrm>
          <a:prstGeom prst="rect">
            <a:avLst/>
          </a:prstGeom>
          <a:noFill/>
          <a:ln/>
        </p:spPr>
        <p:txBody>
          <a:bodyPr wrap="square" lIns="0" tIns="0" rIns="0" bIns="0" rtlCol="0" anchor="ctr"/>
          <a:lstStyle/>
          <a:p>
            <a:pPr algn="ctr" indent="0" marL="0">
              <a:buNone/>
            </a:pPr>
            <a:r>
              <a:rPr lang="en-US" sz="1100" i="1" dirty="0">
                <a:solidFill>
                  <a:srgbClr val="6B7B78"/>
                </a:solidFill>
                <a:latin typeface="Calibri" pitchFamily="34" charset="0"/>
                <a:ea typeface="Calibri" pitchFamily="34" charset="-122"/>
                <a:cs typeface="Calibri" pitchFamily="34" charset="-120"/>
              </a:rPr>
              <a:t>opère sur</a:t>
            </a:r>
            <a:endParaRPr lang="en-US" sz="1100" dirty="0"/>
          </a:p>
        </p:txBody>
      </p:sp>
      <p:sp>
        <p:nvSpPr>
          <p:cNvPr id="18" name="Text 16"/>
          <p:cNvSpPr/>
          <p:nvPr/>
        </p:nvSpPr>
        <p:spPr>
          <a:xfrm>
            <a:off x="4846320" y="4773168"/>
            <a:ext cx="2468880" cy="274320"/>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déploie via</a:t>
            </a:r>
            <a:endParaRPr lang="en-US" sz="1100" dirty="0"/>
          </a:p>
        </p:txBody>
      </p:sp>
      <p:sp>
        <p:nvSpPr>
          <p:cNvPr id="19" name="Shape 17"/>
          <p:cNvSpPr/>
          <p:nvPr/>
        </p:nvSpPr>
        <p:spPr>
          <a:xfrm>
            <a:off x="5074920" y="4800600"/>
            <a:ext cx="2011680" cy="228600"/>
          </a:xfrm>
          <a:prstGeom prst="rect">
            <a:avLst/>
          </a:prstGeom>
          <a:solidFill>
            <a:srgbClr val="FFFFFF"/>
          </a:solidFill>
          <a:ln w="12700">
            <a:solidFill>
              <a:srgbClr val="FFFFFF"/>
            </a:solidFill>
            <a:prstDash val="solid"/>
          </a:ln>
        </p:spPr>
      </p:sp>
      <p:sp>
        <p:nvSpPr>
          <p:cNvPr id="20" name="Text 18"/>
          <p:cNvSpPr/>
          <p:nvPr/>
        </p:nvSpPr>
        <p:spPr>
          <a:xfrm>
            <a:off x="5074920" y="4773168"/>
            <a:ext cx="2011680" cy="274320"/>
          </a:xfrm>
          <a:prstGeom prst="rect">
            <a:avLst/>
          </a:prstGeom>
          <a:noFill/>
          <a:ln/>
        </p:spPr>
        <p:txBody>
          <a:bodyPr wrap="square" lIns="0" tIns="0" rIns="0" bIns="0" rtlCol="0" anchor="ctr"/>
          <a:lstStyle/>
          <a:p>
            <a:pPr algn="ctr" indent="0" marL="0">
              <a:buNone/>
            </a:pPr>
            <a:r>
              <a:rPr lang="en-US" sz="1100" i="1" dirty="0">
                <a:solidFill>
                  <a:srgbClr val="6B7B78"/>
                </a:solidFill>
                <a:latin typeface="Calibri" pitchFamily="34" charset="0"/>
                <a:ea typeface="Calibri" pitchFamily="34" charset="-122"/>
                <a:cs typeface="Calibri" pitchFamily="34" charset="-120"/>
              </a:rPr>
              <a:t>déploie via</a:t>
            </a:r>
            <a:endParaRPr lang="en-US" sz="1100" dirty="0"/>
          </a:p>
        </p:txBody>
      </p:sp>
      <p:sp>
        <p:nvSpPr>
          <p:cNvPr id="21" name="Text 19"/>
          <p:cNvSpPr/>
          <p:nvPr/>
        </p:nvSpPr>
        <p:spPr>
          <a:xfrm>
            <a:off x="640080" y="5989320"/>
            <a:ext cx="10972800" cy="457200"/>
          </a:xfrm>
          <a:prstGeom prst="rect">
            <a:avLst/>
          </a:prstGeom>
          <a:noFill/>
          <a:ln/>
        </p:spPr>
        <p:txBody>
          <a:bodyPr wrap="square" lIns="0" tIns="0" rIns="0" bIns="0" rtlCol="0" anchor="ctr"/>
          <a:lstStyle/>
          <a:p>
            <a:pPr algn="ctr" indent="0" marL="0">
              <a:lnSpc>
                <a:spcPct val="130000"/>
              </a:lnSpc>
              <a:buNone/>
            </a:pPr>
            <a:r>
              <a:rPr lang="en-US" sz="1100" i="1" dirty="0">
                <a:solidFill>
                  <a:srgbClr val="6B7B78"/>
                </a:solidFill>
                <a:latin typeface="Georgia" pitchFamily="34" charset="0"/>
                <a:ea typeface="Georgia" pitchFamily="34" charset="-122"/>
                <a:cs typeface="Georgia" pitchFamily="34" charset="-120"/>
              </a:rPr>
              <a:t>Le TOE consomme la Marketplace pour ses propres besoins et pour outiller les applications transverses. Il produit des briques (toolchains, templates, kits) qui y sont publiées. Il opère quotidiennement sur la dMZR, point de contact naturel entre équipes applicatives et plateforme.</a:t>
            </a:r>
            <a:endParaRPr lang="en-US" sz="1100" dirty="0"/>
          </a:p>
        </p:txBody>
      </p:sp>
      <p:sp>
        <p:nvSpPr>
          <p:cNvPr id="22" name="Text 20"/>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23" name="Text 21"/>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16 · TOE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Déroulé de la session · 2 heures</a:t>
            </a:r>
            <a:endParaRPr lang="en-US" sz="3200" dirty="0"/>
          </a:p>
        </p:txBody>
      </p:sp>
      <p:sp>
        <p:nvSpPr>
          <p:cNvPr id="4" name="Shape 2"/>
          <p:cNvSpPr/>
          <p:nvPr/>
        </p:nvSpPr>
        <p:spPr>
          <a:xfrm>
            <a:off x="640080" y="1984248"/>
            <a:ext cx="1737360" cy="457200"/>
          </a:xfrm>
          <a:prstGeom prst="rect">
            <a:avLst/>
          </a:prstGeom>
          <a:solidFill>
            <a:srgbClr val="00915A"/>
          </a:solidFill>
          <a:ln w="12700">
            <a:solidFill>
              <a:srgbClr val="00915A"/>
            </a:solidFill>
            <a:prstDash val="solid"/>
          </a:ln>
        </p:spPr>
      </p:sp>
      <p:sp>
        <p:nvSpPr>
          <p:cNvPr id="5" name="Text 3"/>
          <p:cNvSpPr/>
          <p:nvPr/>
        </p:nvSpPr>
        <p:spPr>
          <a:xfrm>
            <a:off x="640080" y="1984248"/>
            <a:ext cx="17373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0:00 – 0:20</a:t>
            </a:r>
            <a:endParaRPr lang="en-US" sz="1300" dirty="0"/>
          </a:p>
        </p:txBody>
      </p:sp>
      <p:sp>
        <p:nvSpPr>
          <p:cNvPr id="6" name="Text 4"/>
          <p:cNvSpPr/>
          <p:nvPr/>
        </p:nvSpPr>
        <p:spPr>
          <a:xfrm>
            <a:off x="2560320" y="1920240"/>
            <a:ext cx="8961120" cy="365760"/>
          </a:xfrm>
          <a:prstGeom prst="rect">
            <a:avLst/>
          </a:prstGeom>
          <a:noFill/>
          <a:ln/>
        </p:spPr>
        <p:txBody>
          <a:bodyPr wrap="square" lIns="0" tIns="0" rIns="0" bIns="0" rtlCol="0" anchor="ctr"/>
          <a:lstStyle/>
          <a:p>
            <a:pPr indent="0" marL="0">
              <a:buNone/>
            </a:pPr>
            <a:r>
              <a:rPr lang="en-US" sz="1800" b="1" dirty="0">
                <a:solidFill>
                  <a:srgbClr val="1A2E28"/>
                </a:solidFill>
                <a:latin typeface="Georgia" pitchFamily="34" charset="0"/>
                <a:ea typeface="Georgia" pitchFamily="34" charset="-122"/>
                <a:cs typeface="Georgia" pitchFamily="34" charset="-120"/>
              </a:rPr>
              <a:t>Tour d'horizon dMZR</a:t>
            </a:r>
            <a:endParaRPr lang="en-US" sz="1800" dirty="0"/>
          </a:p>
        </p:txBody>
      </p:sp>
      <p:sp>
        <p:nvSpPr>
          <p:cNvPr id="7" name="Text 5"/>
          <p:cNvSpPr/>
          <p:nvPr/>
        </p:nvSpPr>
        <p:spPr>
          <a:xfrm>
            <a:off x="2560320" y="2258568"/>
            <a:ext cx="8961120" cy="320040"/>
          </a:xfrm>
          <a:prstGeom prst="rect">
            <a:avLst/>
          </a:prstGeom>
          <a:noFill/>
          <a:ln/>
        </p:spPr>
        <p:txBody>
          <a:bodyPr wrap="square" lIns="0" tIns="0" rIns="0" bIns="0" rtlCol="0" anchor="ctr"/>
          <a:lstStyle/>
          <a:p>
            <a:pPr indent="0" marL="0">
              <a:buNone/>
            </a:pPr>
            <a:r>
              <a:rPr lang="en-US" sz="1200" dirty="0">
                <a:solidFill>
                  <a:srgbClr val="6B7B78"/>
                </a:solidFill>
                <a:latin typeface="Calibri" pitchFamily="34" charset="0"/>
                <a:ea typeface="Calibri" pitchFamily="34" charset="-122"/>
                <a:cs typeface="Calibri" pitchFamily="34" charset="-120"/>
              </a:rPr>
              <a:t>Architecture, zones, services managés, lien avec FS Cloud.</a:t>
            </a:r>
            <a:endParaRPr lang="en-US" sz="1200" dirty="0"/>
          </a:p>
        </p:txBody>
      </p:sp>
      <p:sp>
        <p:nvSpPr>
          <p:cNvPr id="8" name="Shape 6"/>
          <p:cNvSpPr/>
          <p:nvPr/>
        </p:nvSpPr>
        <p:spPr>
          <a:xfrm>
            <a:off x="640080" y="2679192"/>
            <a:ext cx="10972800" cy="0"/>
          </a:xfrm>
          <a:prstGeom prst="line">
            <a:avLst/>
          </a:prstGeom>
          <a:noFill/>
          <a:ln w="6350">
            <a:solidFill>
              <a:srgbClr val="E2E8F0"/>
            </a:solidFill>
            <a:prstDash val="solid"/>
          </a:ln>
        </p:spPr>
      </p:sp>
      <p:sp>
        <p:nvSpPr>
          <p:cNvPr id="9" name="Shape 7"/>
          <p:cNvSpPr/>
          <p:nvPr/>
        </p:nvSpPr>
        <p:spPr>
          <a:xfrm>
            <a:off x="640080" y="2788920"/>
            <a:ext cx="1737360" cy="457200"/>
          </a:xfrm>
          <a:prstGeom prst="rect">
            <a:avLst/>
          </a:prstGeom>
          <a:solidFill>
            <a:srgbClr val="00915A"/>
          </a:solidFill>
          <a:ln w="12700">
            <a:solidFill>
              <a:srgbClr val="00915A"/>
            </a:solidFill>
            <a:prstDash val="solid"/>
          </a:ln>
        </p:spPr>
      </p:sp>
      <p:sp>
        <p:nvSpPr>
          <p:cNvPr id="10" name="Text 8"/>
          <p:cNvSpPr/>
          <p:nvPr/>
        </p:nvSpPr>
        <p:spPr>
          <a:xfrm>
            <a:off x="640080" y="2788920"/>
            <a:ext cx="17373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0:20 – 0:50</a:t>
            </a:r>
            <a:endParaRPr lang="en-US" sz="1300" dirty="0"/>
          </a:p>
        </p:txBody>
      </p:sp>
      <p:sp>
        <p:nvSpPr>
          <p:cNvPr id="11" name="Text 9"/>
          <p:cNvSpPr/>
          <p:nvPr/>
        </p:nvSpPr>
        <p:spPr>
          <a:xfrm>
            <a:off x="2560320" y="2724912"/>
            <a:ext cx="8961120" cy="365760"/>
          </a:xfrm>
          <a:prstGeom prst="rect">
            <a:avLst/>
          </a:prstGeom>
          <a:noFill/>
          <a:ln/>
        </p:spPr>
        <p:txBody>
          <a:bodyPr wrap="square" lIns="0" tIns="0" rIns="0" bIns="0" rtlCol="0" anchor="ctr"/>
          <a:lstStyle/>
          <a:p>
            <a:pPr indent="0" marL="0">
              <a:buNone/>
            </a:pPr>
            <a:r>
              <a:rPr lang="en-US" sz="1800" b="1" dirty="0">
                <a:solidFill>
                  <a:srgbClr val="1A2E28"/>
                </a:solidFill>
                <a:latin typeface="Georgia" pitchFamily="34" charset="0"/>
                <a:ea typeface="Georgia" pitchFamily="34" charset="-122"/>
                <a:cs typeface="Georgia" pitchFamily="34" charset="-120"/>
              </a:rPr>
              <a:t>IT Marketplace</a:t>
            </a:r>
            <a:endParaRPr lang="en-US" sz="1800" dirty="0"/>
          </a:p>
        </p:txBody>
      </p:sp>
      <p:sp>
        <p:nvSpPr>
          <p:cNvPr id="12" name="Text 10"/>
          <p:cNvSpPr/>
          <p:nvPr/>
        </p:nvSpPr>
        <p:spPr>
          <a:xfrm>
            <a:off x="2560320" y="3063240"/>
            <a:ext cx="8961120" cy="320040"/>
          </a:xfrm>
          <a:prstGeom prst="rect">
            <a:avLst/>
          </a:prstGeom>
          <a:noFill/>
          <a:ln/>
        </p:spPr>
        <p:txBody>
          <a:bodyPr wrap="square" lIns="0" tIns="0" rIns="0" bIns="0" rtlCol="0" anchor="ctr"/>
          <a:lstStyle/>
          <a:p>
            <a:pPr indent="0" marL="0">
              <a:buNone/>
            </a:pPr>
            <a:r>
              <a:rPr lang="en-US" sz="1200" dirty="0">
                <a:solidFill>
                  <a:srgbClr val="6B7B78"/>
                </a:solidFill>
                <a:latin typeface="Calibri" pitchFamily="34" charset="0"/>
                <a:ea typeface="Calibri" pitchFamily="34" charset="-122"/>
                <a:cs typeface="Calibri" pitchFamily="34" charset="-120"/>
              </a:rPr>
              <a:t>Rôle, acteurs (producteurs / consommateurs), cycle d'une commande.</a:t>
            </a:r>
            <a:endParaRPr lang="en-US" sz="1200" dirty="0"/>
          </a:p>
        </p:txBody>
      </p:sp>
      <p:sp>
        <p:nvSpPr>
          <p:cNvPr id="13" name="Shape 11"/>
          <p:cNvSpPr/>
          <p:nvPr/>
        </p:nvSpPr>
        <p:spPr>
          <a:xfrm>
            <a:off x="640080" y="3483864"/>
            <a:ext cx="10972800" cy="0"/>
          </a:xfrm>
          <a:prstGeom prst="line">
            <a:avLst/>
          </a:prstGeom>
          <a:noFill/>
          <a:ln w="6350">
            <a:solidFill>
              <a:srgbClr val="E2E8F0"/>
            </a:solidFill>
            <a:prstDash val="solid"/>
          </a:ln>
        </p:spPr>
      </p:sp>
      <p:sp>
        <p:nvSpPr>
          <p:cNvPr id="14" name="Shape 12"/>
          <p:cNvSpPr/>
          <p:nvPr/>
        </p:nvSpPr>
        <p:spPr>
          <a:xfrm>
            <a:off x="640080" y="3593592"/>
            <a:ext cx="1737360" cy="457200"/>
          </a:xfrm>
          <a:prstGeom prst="rect">
            <a:avLst/>
          </a:prstGeom>
          <a:solidFill>
            <a:srgbClr val="00915A"/>
          </a:solidFill>
          <a:ln w="12700">
            <a:solidFill>
              <a:srgbClr val="00915A"/>
            </a:solidFill>
            <a:prstDash val="solid"/>
          </a:ln>
        </p:spPr>
      </p:sp>
      <p:sp>
        <p:nvSpPr>
          <p:cNvPr id="15" name="Text 13"/>
          <p:cNvSpPr/>
          <p:nvPr/>
        </p:nvSpPr>
        <p:spPr>
          <a:xfrm>
            <a:off x="640080" y="3593592"/>
            <a:ext cx="17373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0:50 – 1:20</a:t>
            </a:r>
            <a:endParaRPr lang="en-US" sz="1300" dirty="0"/>
          </a:p>
        </p:txBody>
      </p:sp>
      <p:sp>
        <p:nvSpPr>
          <p:cNvPr id="16" name="Text 14"/>
          <p:cNvSpPr/>
          <p:nvPr/>
        </p:nvSpPr>
        <p:spPr>
          <a:xfrm>
            <a:off x="2560320" y="3529584"/>
            <a:ext cx="8961120" cy="365760"/>
          </a:xfrm>
          <a:prstGeom prst="rect">
            <a:avLst/>
          </a:prstGeom>
          <a:noFill/>
          <a:ln/>
        </p:spPr>
        <p:txBody>
          <a:bodyPr wrap="square" lIns="0" tIns="0" rIns="0" bIns="0" rtlCol="0" anchor="ctr"/>
          <a:lstStyle/>
          <a:p>
            <a:pPr indent="0" marL="0">
              <a:buNone/>
            </a:pPr>
            <a:r>
              <a:rPr lang="en-US" sz="1800" b="1" dirty="0">
                <a:solidFill>
                  <a:srgbClr val="1A2E28"/>
                </a:solidFill>
                <a:latin typeface="Georgia" pitchFamily="34" charset="0"/>
                <a:ea typeface="Georgia" pitchFamily="34" charset="-122"/>
                <a:cs typeface="Georgia" pitchFamily="34" charset="-120"/>
              </a:rPr>
              <a:t>Écosystèmes IBM</a:t>
            </a:r>
            <a:endParaRPr lang="en-US" sz="1800" dirty="0"/>
          </a:p>
        </p:txBody>
      </p:sp>
      <p:sp>
        <p:nvSpPr>
          <p:cNvPr id="17" name="Text 15"/>
          <p:cNvSpPr/>
          <p:nvPr/>
        </p:nvSpPr>
        <p:spPr>
          <a:xfrm>
            <a:off x="2560320" y="3867912"/>
            <a:ext cx="8961120" cy="320040"/>
          </a:xfrm>
          <a:prstGeom prst="rect">
            <a:avLst/>
          </a:prstGeom>
          <a:noFill/>
          <a:ln/>
        </p:spPr>
        <p:txBody>
          <a:bodyPr wrap="square" lIns="0" tIns="0" rIns="0" bIns="0" rtlCol="0" anchor="ctr"/>
          <a:lstStyle/>
          <a:p>
            <a:pPr indent="0" marL="0">
              <a:buNone/>
            </a:pPr>
            <a:r>
              <a:rPr lang="en-US" sz="1200" dirty="0">
                <a:solidFill>
                  <a:srgbClr val="6B7B78"/>
                </a:solidFill>
                <a:latin typeface="Calibri" pitchFamily="34" charset="0"/>
                <a:ea typeface="Calibri" pitchFamily="34" charset="-122"/>
                <a:cs typeface="Calibri" pitchFamily="34" charset="-120"/>
              </a:rPr>
              <a:t>Découpage, rattachement, droits, gouvernance financière.</a:t>
            </a:r>
            <a:endParaRPr lang="en-US" sz="1200" dirty="0"/>
          </a:p>
        </p:txBody>
      </p:sp>
      <p:sp>
        <p:nvSpPr>
          <p:cNvPr id="18" name="Shape 16"/>
          <p:cNvSpPr/>
          <p:nvPr/>
        </p:nvSpPr>
        <p:spPr>
          <a:xfrm>
            <a:off x="640080" y="4288536"/>
            <a:ext cx="10972800" cy="0"/>
          </a:xfrm>
          <a:prstGeom prst="line">
            <a:avLst/>
          </a:prstGeom>
          <a:noFill/>
          <a:ln w="6350">
            <a:solidFill>
              <a:srgbClr val="E2E8F0"/>
            </a:solidFill>
            <a:prstDash val="solid"/>
          </a:ln>
        </p:spPr>
      </p:sp>
      <p:sp>
        <p:nvSpPr>
          <p:cNvPr id="19" name="Shape 17"/>
          <p:cNvSpPr/>
          <p:nvPr/>
        </p:nvSpPr>
        <p:spPr>
          <a:xfrm>
            <a:off x="640080" y="4398264"/>
            <a:ext cx="1737360" cy="457200"/>
          </a:xfrm>
          <a:prstGeom prst="rect">
            <a:avLst/>
          </a:prstGeom>
          <a:solidFill>
            <a:srgbClr val="00915A"/>
          </a:solidFill>
          <a:ln w="12700">
            <a:solidFill>
              <a:srgbClr val="00915A"/>
            </a:solidFill>
            <a:prstDash val="solid"/>
          </a:ln>
        </p:spPr>
      </p:sp>
      <p:sp>
        <p:nvSpPr>
          <p:cNvPr id="20" name="Text 18"/>
          <p:cNvSpPr/>
          <p:nvPr/>
        </p:nvSpPr>
        <p:spPr>
          <a:xfrm>
            <a:off x="640080" y="4398264"/>
            <a:ext cx="17373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1:20 – 1:45</a:t>
            </a:r>
            <a:endParaRPr lang="en-US" sz="1300" dirty="0"/>
          </a:p>
        </p:txBody>
      </p:sp>
      <p:sp>
        <p:nvSpPr>
          <p:cNvPr id="21" name="Text 19"/>
          <p:cNvSpPr/>
          <p:nvPr/>
        </p:nvSpPr>
        <p:spPr>
          <a:xfrm>
            <a:off x="2560320" y="4334256"/>
            <a:ext cx="8961120" cy="365760"/>
          </a:xfrm>
          <a:prstGeom prst="rect">
            <a:avLst/>
          </a:prstGeom>
          <a:noFill/>
          <a:ln/>
        </p:spPr>
        <p:txBody>
          <a:bodyPr wrap="square" lIns="0" tIns="0" rIns="0" bIns="0" rtlCol="0" anchor="ctr"/>
          <a:lstStyle/>
          <a:p>
            <a:pPr indent="0" marL="0">
              <a:buNone/>
            </a:pPr>
            <a:r>
              <a:rPr lang="en-US" sz="1800" b="1" dirty="0">
                <a:solidFill>
                  <a:srgbClr val="1A2E28"/>
                </a:solidFill>
                <a:latin typeface="Georgia" pitchFamily="34" charset="0"/>
                <a:ea typeface="Georgia" pitchFamily="34" charset="-122"/>
                <a:cs typeface="Georgia" pitchFamily="34" charset="-120"/>
              </a:rPr>
              <a:t>TOE</a:t>
            </a:r>
            <a:endParaRPr lang="en-US" sz="1800" dirty="0"/>
          </a:p>
        </p:txBody>
      </p:sp>
      <p:sp>
        <p:nvSpPr>
          <p:cNvPr id="22" name="Text 20"/>
          <p:cNvSpPr/>
          <p:nvPr/>
        </p:nvSpPr>
        <p:spPr>
          <a:xfrm>
            <a:off x="2560320" y="4672584"/>
            <a:ext cx="8961120" cy="320040"/>
          </a:xfrm>
          <a:prstGeom prst="rect">
            <a:avLst/>
          </a:prstGeom>
          <a:noFill/>
          <a:ln/>
        </p:spPr>
        <p:txBody>
          <a:bodyPr wrap="square" lIns="0" tIns="0" rIns="0" bIns="0" rtlCol="0" anchor="ctr"/>
          <a:lstStyle/>
          <a:p>
            <a:pPr indent="0" marL="0">
              <a:buNone/>
            </a:pPr>
            <a:r>
              <a:rPr lang="en-US" sz="1200" dirty="0">
                <a:solidFill>
                  <a:srgbClr val="6B7B78"/>
                </a:solidFill>
                <a:latin typeface="Calibri" pitchFamily="34" charset="0"/>
                <a:ea typeface="Calibri" pitchFamily="34" charset="-122"/>
                <a:cs typeface="Calibri" pitchFamily="34" charset="-120"/>
              </a:rPr>
              <a:t>Mission, domaines d'intervention, interactions avec Marketplace et dMZR.</a:t>
            </a:r>
            <a:endParaRPr lang="en-US" sz="1200" dirty="0"/>
          </a:p>
        </p:txBody>
      </p:sp>
      <p:sp>
        <p:nvSpPr>
          <p:cNvPr id="23" name="Shape 21"/>
          <p:cNvSpPr/>
          <p:nvPr/>
        </p:nvSpPr>
        <p:spPr>
          <a:xfrm>
            <a:off x="640080" y="5093208"/>
            <a:ext cx="10972800" cy="0"/>
          </a:xfrm>
          <a:prstGeom prst="line">
            <a:avLst/>
          </a:prstGeom>
          <a:noFill/>
          <a:ln w="6350">
            <a:solidFill>
              <a:srgbClr val="E2E8F0"/>
            </a:solidFill>
            <a:prstDash val="solid"/>
          </a:ln>
        </p:spPr>
      </p:sp>
      <p:sp>
        <p:nvSpPr>
          <p:cNvPr id="24" name="Shape 22"/>
          <p:cNvSpPr/>
          <p:nvPr/>
        </p:nvSpPr>
        <p:spPr>
          <a:xfrm>
            <a:off x="640080" y="5202936"/>
            <a:ext cx="1737360" cy="457200"/>
          </a:xfrm>
          <a:prstGeom prst="rect">
            <a:avLst/>
          </a:prstGeom>
          <a:solidFill>
            <a:srgbClr val="00915A"/>
          </a:solidFill>
          <a:ln w="12700">
            <a:solidFill>
              <a:srgbClr val="00915A"/>
            </a:solidFill>
            <a:prstDash val="solid"/>
          </a:ln>
        </p:spPr>
      </p:sp>
      <p:sp>
        <p:nvSpPr>
          <p:cNvPr id="25" name="Text 23"/>
          <p:cNvSpPr/>
          <p:nvPr/>
        </p:nvSpPr>
        <p:spPr>
          <a:xfrm>
            <a:off x="640080" y="5202936"/>
            <a:ext cx="17373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1:45 – 2:00</a:t>
            </a:r>
            <a:endParaRPr lang="en-US" sz="1300" dirty="0"/>
          </a:p>
        </p:txBody>
      </p:sp>
      <p:sp>
        <p:nvSpPr>
          <p:cNvPr id="26" name="Text 24"/>
          <p:cNvSpPr/>
          <p:nvPr/>
        </p:nvSpPr>
        <p:spPr>
          <a:xfrm>
            <a:off x="2560320" y="5138928"/>
            <a:ext cx="8961120" cy="365760"/>
          </a:xfrm>
          <a:prstGeom prst="rect">
            <a:avLst/>
          </a:prstGeom>
          <a:noFill/>
          <a:ln/>
        </p:spPr>
        <p:txBody>
          <a:bodyPr wrap="square" lIns="0" tIns="0" rIns="0" bIns="0" rtlCol="0" anchor="ctr"/>
          <a:lstStyle/>
          <a:p>
            <a:pPr indent="0" marL="0">
              <a:buNone/>
            </a:pPr>
            <a:r>
              <a:rPr lang="en-US" sz="1800" b="1" dirty="0">
                <a:solidFill>
                  <a:srgbClr val="1A2E28"/>
                </a:solidFill>
                <a:latin typeface="Georgia" pitchFamily="34" charset="0"/>
                <a:ea typeface="Georgia" pitchFamily="34" charset="-122"/>
                <a:cs typeface="Georgia" pitchFamily="34" charset="-120"/>
              </a:rPr>
              <a:t>Q/R &amp; next steps</a:t>
            </a:r>
            <a:endParaRPr lang="en-US" sz="1800" dirty="0"/>
          </a:p>
        </p:txBody>
      </p:sp>
      <p:sp>
        <p:nvSpPr>
          <p:cNvPr id="27" name="Text 25"/>
          <p:cNvSpPr/>
          <p:nvPr/>
        </p:nvSpPr>
        <p:spPr>
          <a:xfrm>
            <a:off x="2560320" y="5477256"/>
            <a:ext cx="8961120" cy="320040"/>
          </a:xfrm>
          <a:prstGeom prst="rect">
            <a:avLst/>
          </a:prstGeom>
          <a:noFill/>
          <a:ln/>
        </p:spPr>
        <p:txBody>
          <a:bodyPr wrap="square" lIns="0" tIns="0" rIns="0" bIns="0" rtlCol="0" anchor="ctr"/>
          <a:lstStyle/>
          <a:p>
            <a:pPr indent="0" marL="0">
              <a:buNone/>
            </a:pPr>
            <a:r>
              <a:rPr lang="en-US" sz="1200" dirty="0">
                <a:solidFill>
                  <a:srgbClr val="6B7B78"/>
                </a:solidFill>
                <a:latin typeface="Calibri" pitchFamily="34" charset="0"/>
                <a:ea typeface="Calibri" pitchFamily="34" charset="-122"/>
                <a:cs typeface="Calibri" pitchFamily="34" charset="-120"/>
              </a:rPr>
              <a:t>Points de contact, tech-buddies, knowledge base, backlog commun.</a:t>
            </a:r>
            <a:endParaRPr lang="en-US" sz="1200" dirty="0"/>
          </a:p>
        </p:txBody>
      </p:sp>
      <p:sp>
        <p:nvSpPr>
          <p:cNvPr id="28" name="Text 26"/>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29" name="Text 27"/>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17 · Agenda</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3A2B"/>
        </a:solidFill>
      </p:bgPr>
    </p:bg>
    <p:spTree>
      <p:nvGrpSpPr>
        <p:cNvPr id="1" name=""/>
        <p:cNvGrpSpPr/>
        <p:nvPr/>
      </p:nvGrpSpPr>
      <p:grpSpPr>
        <a:xfrm>
          <a:off x="0" y="0"/>
          <a:ext cx="0" cy="0"/>
          <a:chOff x="0" y="0"/>
          <a:chExt cx="0" cy="0"/>
        </a:xfrm>
      </p:grpSpPr>
      <p:sp>
        <p:nvSpPr>
          <p:cNvPr id="2" name="Shape 0"/>
          <p:cNvSpPr/>
          <p:nvPr/>
        </p:nvSpPr>
        <p:spPr>
          <a:xfrm>
            <a:off x="640080" y="2560320"/>
            <a:ext cx="548640" cy="36576"/>
          </a:xfrm>
          <a:prstGeom prst="rect">
            <a:avLst/>
          </a:prstGeom>
          <a:solidFill>
            <a:srgbClr val="D4A840"/>
          </a:solidFill>
          <a:ln w="12700">
            <a:solidFill>
              <a:srgbClr val="D4A840"/>
            </a:solidFill>
            <a:prstDash val="solid"/>
          </a:ln>
        </p:spPr>
      </p:sp>
      <p:sp>
        <p:nvSpPr>
          <p:cNvPr id="3" name="Text 1"/>
          <p:cNvSpPr/>
          <p:nvPr/>
        </p:nvSpPr>
        <p:spPr>
          <a:xfrm>
            <a:off x="640080" y="2743200"/>
            <a:ext cx="10972800" cy="1280160"/>
          </a:xfrm>
          <a:prstGeom prst="rect">
            <a:avLst/>
          </a:prstGeom>
          <a:noFill/>
          <a:ln/>
        </p:spPr>
        <p:txBody>
          <a:bodyPr wrap="square" lIns="0" tIns="0" rIns="0" bIns="0" rtlCol="0" anchor="ctr"/>
          <a:lstStyle/>
          <a:p>
            <a:pPr indent="0" marL="0">
              <a:buNone/>
            </a:pPr>
            <a:r>
              <a:rPr lang="en-US" sz="7200" b="1" dirty="0">
                <a:solidFill>
                  <a:srgbClr val="FFFFFF"/>
                </a:solidFill>
                <a:latin typeface="Georgia" pitchFamily="34" charset="0"/>
                <a:ea typeface="Georgia" pitchFamily="34" charset="-122"/>
                <a:cs typeface="Georgia" pitchFamily="34" charset="-120"/>
              </a:rPr>
              <a:t>Merci.</a:t>
            </a:r>
            <a:endParaRPr lang="en-US" sz="7200" dirty="0"/>
          </a:p>
        </p:txBody>
      </p:sp>
      <p:sp>
        <p:nvSpPr>
          <p:cNvPr id="4" name="Text 2"/>
          <p:cNvSpPr/>
          <p:nvPr/>
        </p:nvSpPr>
        <p:spPr>
          <a:xfrm>
            <a:off x="640080" y="4023360"/>
            <a:ext cx="10972800" cy="457200"/>
          </a:xfrm>
          <a:prstGeom prst="rect">
            <a:avLst/>
          </a:prstGeom>
          <a:noFill/>
          <a:ln/>
        </p:spPr>
        <p:txBody>
          <a:bodyPr wrap="square" lIns="0" tIns="0" rIns="0" bIns="0" rtlCol="0" anchor="ctr"/>
          <a:lstStyle/>
          <a:p>
            <a:pPr indent="0" marL="0">
              <a:buNone/>
            </a:pPr>
            <a:r>
              <a:rPr lang="en-US" sz="2000" i="1" dirty="0">
                <a:solidFill>
                  <a:srgbClr val="C9D6CF"/>
                </a:solidFill>
                <a:latin typeface="Georgia" pitchFamily="34" charset="0"/>
                <a:ea typeface="Georgia" pitchFamily="34" charset="-122"/>
                <a:cs typeface="Georgia" pitchFamily="34" charset="-120"/>
              </a:rPr>
              <a:t>Questions, retours, points d'approfondissement.</a:t>
            </a:r>
            <a:endParaRPr lang="en-US" sz="2000" dirty="0"/>
          </a:p>
        </p:txBody>
      </p:sp>
      <p:sp>
        <p:nvSpPr>
          <p:cNvPr id="5" name="Text 3"/>
          <p:cNvSpPr/>
          <p:nvPr/>
        </p:nvSpPr>
        <p:spPr>
          <a:xfrm>
            <a:off x="640080" y="4526280"/>
            <a:ext cx="10972800" cy="365760"/>
          </a:xfrm>
          <a:prstGeom prst="rect">
            <a:avLst/>
          </a:prstGeom>
          <a:noFill/>
          <a:ln/>
        </p:spPr>
        <p:txBody>
          <a:bodyPr wrap="square" lIns="0" tIns="0" rIns="0" bIns="0" rtlCol="0" anchor="ctr"/>
          <a:lstStyle/>
          <a:p>
            <a:pPr indent="0" marL="0">
              <a:buNone/>
            </a:pPr>
            <a:r>
              <a:rPr lang="en-US" sz="1400" dirty="0">
                <a:solidFill>
                  <a:srgbClr val="A7BAB0"/>
                </a:solidFill>
                <a:latin typeface="Calibri" pitchFamily="34" charset="0"/>
                <a:ea typeface="Calibri" pitchFamily="34" charset="-122"/>
                <a:cs typeface="Calibri" pitchFamily="34" charset="-120"/>
              </a:rPr>
              <a:t>Les équipes TOE restent à disposition pour des approfondissements thématiques.</a:t>
            </a:r>
            <a:endParaRPr lang="en-US" sz="1400" dirty="0"/>
          </a:p>
        </p:txBody>
      </p:sp>
      <p:sp>
        <p:nvSpPr>
          <p:cNvPr id="6" name="Text 4"/>
          <p:cNvSpPr/>
          <p:nvPr/>
        </p:nvSpPr>
        <p:spPr>
          <a:xfrm>
            <a:off x="640080" y="6172200"/>
            <a:ext cx="5486400" cy="274320"/>
          </a:xfrm>
          <a:prstGeom prst="rect">
            <a:avLst/>
          </a:prstGeom>
          <a:noFill/>
          <a:ln/>
        </p:spPr>
        <p:txBody>
          <a:bodyPr wrap="square" lIns="0" tIns="0" rIns="0" bIns="0" rtlCol="0" anchor="ctr"/>
          <a:lstStyle/>
          <a:p>
            <a:pPr indent="0" marL="0">
              <a:buNone/>
            </a:pPr>
            <a:r>
              <a:rPr lang="en-US" sz="1100" b="1" spc="800" kern="0" dirty="0">
                <a:solidFill>
                  <a:srgbClr val="FFFFFF"/>
                </a:solidFill>
                <a:latin typeface="Calibri" pitchFamily="34" charset="0"/>
                <a:ea typeface="Calibri" pitchFamily="34" charset="-122"/>
                <a:cs typeface="Calibri" pitchFamily="34" charset="-120"/>
              </a:rPr>
              <a:t>BNP PARIBAS CARDIF</a:t>
            </a:r>
            <a:endParaRPr lang="en-US" sz="1100" dirty="0"/>
          </a:p>
        </p:txBody>
      </p:sp>
      <p:sp>
        <p:nvSpPr>
          <p:cNvPr id="7" name="Text 5"/>
          <p:cNvSpPr/>
          <p:nvPr/>
        </p:nvSpPr>
        <p:spPr>
          <a:xfrm>
            <a:off x="5760720" y="6172200"/>
            <a:ext cx="5943600" cy="274320"/>
          </a:xfrm>
          <a:prstGeom prst="rect">
            <a:avLst/>
          </a:prstGeom>
          <a:noFill/>
          <a:ln/>
        </p:spPr>
        <p:txBody>
          <a:bodyPr wrap="square" lIns="0" tIns="0" rIns="0" bIns="0" rtlCol="0" anchor="ctr"/>
          <a:lstStyle/>
          <a:p>
            <a:pPr algn="r" indent="0" marL="0">
              <a:buNone/>
            </a:pPr>
            <a:r>
              <a:rPr lang="en-US" sz="1000" i="1" dirty="0">
                <a:solidFill>
                  <a:srgbClr val="8FA69C"/>
                </a:solidFill>
                <a:latin typeface="Calibri" pitchFamily="34" charset="0"/>
                <a:ea typeface="Calibri" pitchFamily="34" charset="-122"/>
                <a:cs typeface="Calibri" pitchFamily="34" charset="-120"/>
              </a:rPr>
              <a:t>CARD — Production Cardif · Technology Office Expertise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BNP Paribas Cardif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dMZR · IT Marketplace · TOE</dc:title>
  <dc:subject>PptxGenJS Presentation</dc:subject>
  <dc:creator>BNP Paribas Cardif — Production</dc:creator>
  <cp:lastModifiedBy>BNP Paribas Cardif — Production</cp:lastModifiedBy>
  <cp:revision>1</cp:revision>
  <dcterms:created xsi:type="dcterms:W3CDTF">2026-04-24T08:21:13Z</dcterms:created>
  <dcterms:modified xsi:type="dcterms:W3CDTF">2026-04-24T08:21:13Z</dcterms:modified>
</cp:coreProperties>
</file>