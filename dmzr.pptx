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and thank you both for being here today. I'm really glad to have you with us.
Before we dive in, let me quickly introduce myself: I work as part of the team you'll be joining functionally for the next few weeks. I've been with Cardif for some time now, and my role is mostly around the Cloud platform we'll be talking about today.
The goal of this session is simple: I want to give you a complete view of the technical foundation we work on, and of the people you'll interact with. Two hours, divided into three main parts. Please feel free to interrupt me at any time — questions are welcome, and they're often the most useful part of these sessions.
One quick note before we start: everything you'll see today is internal BNP Paribas Cardif content. So please treat it as confidential.
Shall we get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I'd like to walk you through today's session.
We'll start with a short context — why we're doing this session, what you can expect from it. Then we'll spend the most time on the dMZR platform, because everything else builds on top of it. We'll look at both the dMZR and the dMZR aS Code — that's the technical part. After that, we'll move to the IT Marketplace, which is how we actually order and consume resources from the platform. And finally, I'll talk about the TOE — that's our team, the people you'll be working with day to day.
Before I start: is there any specific topic you'd like me to focus on more than the others? I can adjust the pace if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this session?
You're joining us functionally for the coming weeks. That means you're going to use our platform every day — to deploy, to operate, to support applications. You already know how production environments work, that's clear. But the BNP Paribas and Cardif context is specific, and there are concepts here that I think will save you time if we go through them together now.
There are three things I'd like you to take away from today, and these are the three pillars I'll keep coming back to.
First, the platform itself — what the dMZR is, and what the dMZR aS Code is. Second, how we consume resources on these platforms — the Marketplace and the ordering flow. And third, how we're organized — who does what, and who you should talk to when you need something.
I don't expect you to remember every technical detail by the end of today. What matters most is that you know who to ask for 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platform — because everything we do at Cardif sits on top of it.
There's one thing I want to make very clear from the start, because it's the most common source of confusion when people arrive on our team: we don't have just one platform. We have two. They're called the dMZR and the dMZR aS Code.
Both are in production. Both are used by Cardif teams every day. The difference is that the dMZR is the legacy one — it's been with us for years — while the dMZR aS Code is the new generation, and that's where we're moving all our projects, step by step.
And both are operated by a partner called BP2I. You'll hear that name a lot — they're going to be one of your most frequent contacts.
Let me show you the two platforms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two platforms, side by side. I'll take you through them one by one — please don't hesitate to stop me if anything is unclear, because if this part isn't clear, the rest of the session won't make sense.
On the left, you have the dMZR. It's the legacy platform. The runtime is IKS — that's IBM Kubernetes Service, basically managed Kubernetes from IBM. We also have classic Virtual Server Instances on it. The managed services we use are Kafka, Databases, and Cloud Object Storage. The unit of organization here is what we call an 'ecosystem' — think of it as a business scope with its own quotas, its own rights. And to provision resources, we go through the Marketplace portal or REST APIs documented with Swagger. If you've used Swagger before, you already know what to expect.
On the right, you have the dMZR aS Code — that's our new-generation platform. The runtime here is ROKS, which is OpenShift managed by IBM. The compute is VSI aS Code. The services are Kafka aS Code, Databases aS Code — you'll notice the 'aS Code' pattern is everywhere. The unit of organization is no longer the ecosystem, it's the realm — a logical grouping that's versioned in code. And the way we provision is through Terraform, plus the Marketplace which is still there.
Important — and I want to repeat this: both platforms are in production. The dMZR aS Code isn't a future project. It's running today. New projects go directly there. Older projects are being migrated step by step.
Any questions on this before we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me zoom in on what's actually inside both platforms. The good news is that both share the same IBM Cloud building blocks — only the way we provision and name them changes on the dMZR aS Code, where everything gets the 'aS Code' suffix.
I've grouped the building blocks into four layers. Let me walk you through each one.
Compute. On the dMZR side, we have IKS plus classic VSI. On the dMZR aS Code, we have ROKS plus VSI aS Code. Same functional role, different runtime — Kubernetes upstream on one side, OpenShift on the other. We run more than 450 microservices across the two platforms, with GitOps using Argo CD, and our usual DevSecOps standards.
Data. Kafka, PostgreSQL, MongoDB, Redis, Cloud Object Storage. These are the same services on both sides. On the dMZR aS Code they become Kafka aS Code, Databases aS Code, but the underlying technology is identical.
Network. VPC, Transit Gateway, DirectLink. This is the network layer, shared across both platforms. On the dMZR we segment by ecosystem; on the dMZR aS Code we segment by realm.
Security. IAM for access control, Key Protect for key management with both BYOK and KYOK, and Activity Tracker for traceability. Same on both sides — these are BNP-level security standards.
And as I said earlier: all of this is operated by BP2I. You'll be on the consumer side, mostly — and we'll see how consumption works in the Marketplace section.
Now let me show you something that's specific to the dMZR aS Code: how we provision resources with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probably the most technical slide of the platform section, so I'll take my time.
The dMZR aS Code is in production today. It's not a research project, not a pilot — it runs real applications. BP2I operates it for us, and they've also built the Terraform orchestrator we use to provision resources.
And here's the thing I want you to remember: every resource we deploy here goes through this orchestrator. Every VSI, every load balancer, every ROKS cluster, every Kafka topic, every database. Nothing manual, nothing through a portal click. Everything is code.
Let me walk you through the workflow, step by step.
Step one — Git. Our Terraform modules live in GitLab, fully versioned. If you want to change something, you open a Merge Request, and your colleagues review it.
Step two — Plan. Once the MR is opened, the pipeline automatically runs 'terraform plan'. It also runs policy checks for us — compliance, tagging, network segmentation. So before anyone even reviews your code, you already know if it breaks any rule.
Step three — Review. A human approves the MR, the policies pass, and we're ready to apply.
Step four — and this is the central piece, that's why it's highlighted in gold — the BP2I orchestrator. This is the in-house tool that takes your validated code and applies it. It talks to IBM Cloud, it keeps the remote state, it detects drift over time. The big win for you, as a project team, is that you don't write IBM-specific code. The orchestrator makes the cloud agnostic. If tomorrow we changed cloud providers, your modules wouldn't change.
Step five — the resources. The concrete output. A VSI, a load balancer, a ROKS cluster, a Kafka, a database — all provisioned as code, with a remote state we can audit, and drift detection running continuously.
Down at the bottom you have the four principles that drive all of this: standardization — everything goes through the same validated modules; idempotence — running it twice gives you the same result; remote state — so we don't lose track of anything; and drift detection — so we know if someone changes something outside the pipeline.
The bottom line: no more manual tickets, no more API calls done by hand. Everything is code, versioned, auditable.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 we've seen how we build the platforms. Now let's talk about how we actually consume what's on them.
This is the IT Marketplace section. I expect this is the part you'll need to use most often, especially during your first weeks. So I'll spend some time walking through it carefully.
I'll start with what the Marketplace is and who the players are. Then we'll look at the IBM ecosystems — how the cloud is split for governance reasons. Then I'll walk you through the lifecycle of an order, step by step. And we'll close on the rights model and the four key roles you need to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basics. The IT Marketplace is the internal portal of BNP Paribas where some teams publish IT offers, and other teams order them. It's an internal catalog — like an app store for the company.
There are two main use cases. The first one is daily use — things like access requests, environments, tools that we order again and again. The second one is when you build a new business application: you go to the Marketplace and you assemble the building blocks you need — the runtime, the databases, the network, the security, the observability. Everything comes from the catalog.
Three actors to remember — and please remember these terms because we use them all the time on the team.
Producers are the teams that publish and maintain an offer. For example, the team operating Kafka publishes a 'Kafka aS Code' offer in the catalog. Consumers are the teams that order — for example, an application team that needs a new Kafka topic. And employee groups let several people on the same team order on behalf of that team, so it's not always tied to one individual.
One last point: the Marketplace is used for both platforms — the dMZR and the dMZR aS Code. It's not specific to either one. It's the universal entry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an important concept. The IBM Cloud isn't just one big shared space — it's split into what we call ecosystems. Each ecosystem is a functional and contractual scope, with its own rules, its own quotas, and its own costs.
Three things define an ecosystem.
First, the scope. An ecosystem is defined by a business line, an entity, or a compliance zone. Think of it as one internal contract.
Second, quotas and costs. Every order you place is billed back to the ecosystem you're attached to. So this is also our main FinOps tool — budget control happens at this level.
Third, access rights. Your attachment to an ecosystem is what determines what you can see in the catalog, what you can order, and what you can approve. No attachment, no order — that's the very first rule.
And one last thing — we're switching platforms here. On the dMZR, you provision through the Marketplace and the REST APIs documented with Swagger. On the dMZR aS Code, you provision through Terraform plus the Marketplace. The unit changes too — on the new platform, the unit is the realm. Projects move from one to the other gradually.
If you're wondering which ecosystem you'll be attached to specifically — let's check that with your direct manager later, it depends on your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you through what actually happens when you place an order on the Marketplace. Five steps, end to end.
Step one — attachment. As I just mentioned, this is the prerequisite. If you're not attached to an ecosystem, the catalog is empty. So before anything else, your team needs to be attached.
Step two — selection. You browse the catalog, but the catalog is filtered by your rights. You only see what you're allowed to order. You pick an offer.
Step three — approval. Behind the scenes, an approval workflow kicks in — fully digital. Depending on the offer, it can involve the ecosystem owner, security, FinOps. No paper, no email chains.
Step four — execution. Once approved, the producer's automated pipeline takes over. On the dMZR, it's the legacy chain — Swagger, scripts. On the dMZR aS Code, it's the BP2I Terraform orchestrator we just talked about.
Step five — rights and billing. The RBAC and IAM permissions are provisioned automatically, and the cost is billed to your ecosystem. From your point of view, you just need to start using the resource.
The whole thing is orchestrated end to end — no back-and-forth with manual tickets. A common question I get is 'how long does it take?' — and honestly, it depends on the offer. Some are minutes. Some take a few hours, especially if approval involves several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close the Marketplace section with the rights and governance model. There's one important distinction here — between the right to consume and the right to publish.
Consumption rights — that's on the left. This is what affects most people, and probably what will affect you directly. It boils down to three things: are you attached to an ecosystem, what's your role within the employee group — are you a regular member or are you an approver — and what are the quotas of your ecosystem.
Publication rights — that's on the right. Much more restricted. Only validated product teams can publish an offer. And when a team publishes, they take on real responsibilities — quality, compliance, support. They own the offer's full lifecycle.
And finally, the four key roles you need to know — they're at the bottom. The Consumer is the one who orders. The Approver validates orders inside an ecosystem. The Ecosystem Owner sets the rules and arbitrates. The Producer publishes the offers.
What I want you to take away from this is that each role comes with responsibilities, not just a title. Being an Ecosystem Owner, for instance, is real work — you do rights reviews, FinOps follow-up, compliance checks. Same for the Producer. So when we use these terms day to day, they have 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talked about the platforms, and we've talked about how we consume them. There's one piece left, and it's probably the most personal one for you — because we're going to talk about the team.
TOE stands for Technology Office Expertise. That's us. The team you're joining functionally. So in this last section I'll explain what we do, what our scope of work looks like day to day, and how we connect with the Marketplace and the platforms.
By the end of this section, you should know exactly who to come and see when you have a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mission, the way we describe it ourselves, has three parts.
The first one is that we drive the transformation. We're the engine behind the move to PAAS V4 and FS Cloud. We're the team industrializing Kubernetes for the entire CARD entity — that's Production Cardif. So when you see big shifts happening on the platform, more often than not, we're behind it.
The second one is that we provide a common foundation. Standards, toolchains, automation. The idea is that no application team should have to reinvent the wheel. We make sure quality, reliability, and maintainability stay consistent across the 450-plus microservices we have in production.
And the third one — which is the most personal — is that we empower the teams. We do tech-buddies, training, onboarding kits. The idea is to keep the application teams autonomous, even when there's turnover or when projects multiply. You'll likely benefit from a tech-buddy yourself in your first weeks.
What I want you to remember about us is that we're not a pure run team, and we're not a pure expertise team either. We do all three at once — we build tooling, we run support, and we enable the other teams. That's what makes our role unique.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day-to-day catalog — the five focus areas where you'll see us working most of the time.
Support and Operations. That's incident management at level two and three, SLA tracking, dashboards we run on Bastion Server, alert automation. It's the most visible part of what we do, especially for application teams.
Development and Tooling. We build and maintain internal tools — you'll hear names like Adret and Iclés, those are ours. We also write Ansible scripts, run CI/CD pipelines, and manage the TOE assets — the VMs and clusters we use ourselves.
CD and Toolchain. We standardize the delivery chains. We help teams roll them out. We make sure everything stays compliant with the ODM standards. This is really the bridge between us and the application teams.
Enablement and Knowledge. Workshops, onboarding sessions, video tutorials, the knowledge base, and we assign tech-buddies. As I mentioned, you'll probably get a tech-buddy yourself in your first weeks — someone you can ask anything, even silly questions.
And finally Continuous Improvement and Audits. We audit our scripts and chains, we fix vulnerabilities, we optimize performance, we review practices. It's the quality layer that runs across everything.
Just so we're clear: you're not expected to work on all five areas. Your specific responsibilities depend on the scope you'll be assigned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wrap up the TOE section with this picture, because it summarizes how we connect with everything we've covered today.
There are three arrows in this triangle, and each one represents a relationship.
From the TOE to the Marketplace — we publish offers. We package reusable building blocks: CI/CD toolchains, application templates, onboarding kits. Then the application teams consume them.
From the TOE to the dMZR — we operate on the platform. Day to day, we do support, we monitor, we patch, we help the application teams who deploy on the platform.
From the Marketplace to the dMZR — orders deploy resources on the platform. Every Marketplace order ends up creating real resources on the dMZR or the dMZR aS Code. That's the chain we walked through earlier.
What I want you to take away is this: the TOE is at the same time a consumer, a producer, and an operator. We use the platform for our own needs. We publish reusable blocks. And we operate on the platform daily. That triple role is exactly what makes us the natural contact point between the application teams and the platform — and that's why you'll be hearing from us a lot in your first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slide — this is the timing I had in mind for today, just so you have a sense of how I planned the two hours.
Twenty minutes on the platform overview, then thirty on the Marketplace, then thirty on the IBM ecosystems, twenty-five on the TOE, and we leave the last fifteen minutes for questions and next steps.
The exact timing matters less than making sure I cover what's most useful for you. So if there's a section where you have lots of questions, I'm happy to slow down. And if I'm taking too long on something obvious, please tell me to move on — it really helps.
After today, I want us to leave with three concrete things: a tech-buddy assigned to each of you, access to our knowledge base, and a follow-up meeting in about two weeks to see what's still unclear.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it on my side. Thank you both for your attention, and welcome to the team.
Now I'd like to open the floor — this is the moment where you can ask anything you didn't dare interrupt me for during the session. No silly questions, really.
If you're not sure where to start, here are a few things I'm curious about: have you already worked with OpenShift, IKS, or Terraform back in Italy? Which part of what we covered feels the most unclear for you to get started? And what topics are you expected to handle as soon as next week — so we can make sure you're ready?
Before we wrap up, three quick action points. I'll send you the access details — knowledge base, Marketplace portal, GitLab. I'll let you know who your tech-buddy is, and we'll set up a quick one-to-one this week. And let's plan a follow-up call in about two weeks to see where you stand.
I'll also share this deck with you in PowerPoint and PDF, so you can come back to it whenever you need.
Any questions to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A2B"/>
        </a:solidFill>
      </p:bgPr>
    </p:bg>
    <p:spTree>
      <p:nvGrpSpPr>
        <p:cNvPr id="1" name=""/>
        <p:cNvGrpSpPr/>
        <p:nvPr/>
      </p:nvGrpSpPr>
      <p:grpSpPr>
        <a:xfrm>
          <a:off x="0" y="0"/>
          <a:ext cx="0" cy="0"/>
          <a:chOff x="0" y="0"/>
          <a:chExt cx="0" cy="0"/>
        </a:xfrm>
      </p:grpSpPr>
      <p:sp>
        <p:nvSpPr>
          <p:cNvPr id="2" name="Text 0"/>
          <p:cNvSpPr/>
          <p:nvPr/>
        </p:nvSpPr>
        <p:spPr>
          <a:xfrm>
            <a:off x="548640" y="411480"/>
            <a:ext cx="5486400" cy="274320"/>
          </a:xfrm>
          <a:prstGeom prst="rect">
            <a:avLst/>
          </a:prstGeom>
          <a:noFill/>
          <a:ln/>
        </p:spPr>
        <p:txBody>
          <a:bodyPr wrap="square" lIns="0" tIns="0" rIns="0" bIns="0" rtlCol="0" anchor="ctr"/>
          <a:lstStyle/>
          <a:p>
            <a:pPr indent="0" marL="0">
              <a:buNone/>
            </a:pPr>
            <a:r>
              <a:rPr lang="en-US" sz="1100" b="1" spc="800" kern="0" dirty="0">
                <a:solidFill>
                  <a:srgbClr val="FFFFFF"/>
                </a:solidFill>
                <a:latin typeface="Calibri" pitchFamily="34" charset="0"/>
                <a:ea typeface="Calibri" pitchFamily="34" charset="-122"/>
                <a:cs typeface="Calibri" pitchFamily="34" charset="-120"/>
              </a:rPr>
              <a:t>BNP PARIBAS CARDIF</a:t>
            </a:r>
            <a:endParaRPr lang="en-US" sz="1100" dirty="0"/>
          </a:p>
        </p:txBody>
      </p:sp>
      <p:sp>
        <p:nvSpPr>
          <p:cNvPr id="3" name="Shape 1"/>
          <p:cNvSpPr/>
          <p:nvPr/>
        </p:nvSpPr>
        <p:spPr>
          <a:xfrm>
            <a:off x="548640" y="777240"/>
            <a:ext cx="457200" cy="36576"/>
          </a:xfrm>
          <a:prstGeom prst="rect">
            <a:avLst/>
          </a:prstGeom>
          <a:solidFill>
            <a:srgbClr val="D4A840"/>
          </a:solidFill>
          <a:ln w="12700">
            <a:solidFill>
              <a:srgbClr val="D4A840"/>
            </a:solidFill>
            <a:prstDash val="solid"/>
          </a:ln>
        </p:spPr>
      </p:sp>
      <p:sp>
        <p:nvSpPr>
          <p:cNvPr id="4" name="Text 2"/>
          <p:cNvSpPr/>
          <p:nvPr/>
        </p:nvSpPr>
        <p:spPr>
          <a:xfrm>
            <a:off x="548640" y="2194560"/>
            <a:ext cx="9144000" cy="320040"/>
          </a:xfrm>
          <a:prstGeom prst="rect">
            <a:avLst/>
          </a:prstGeom>
          <a:noFill/>
          <a:ln/>
        </p:spPr>
        <p:txBody>
          <a:bodyPr wrap="square" lIns="0" tIns="0" rIns="0" bIns="0" rtlCol="0" anchor="ctr"/>
          <a:lstStyle/>
          <a:p>
            <a:pPr indent="0" marL="0">
              <a:buNone/>
            </a:pPr>
            <a:r>
              <a:rPr lang="en-US" sz="1300" b="1" spc="600" kern="0" dirty="0">
                <a:solidFill>
                  <a:srgbClr val="D4A840"/>
                </a:solidFill>
                <a:latin typeface="Calibri" pitchFamily="34" charset="0"/>
                <a:ea typeface="Calibri" pitchFamily="34" charset="-122"/>
                <a:cs typeface="Calibri" pitchFamily="34" charset="-120"/>
              </a:rPr>
              <a:t>ONBOARDING SESSION · 2 HOURS</a:t>
            </a:r>
            <a:endParaRPr lang="en-US" sz="1300" dirty="0"/>
          </a:p>
        </p:txBody>
      </p:sp>
      <p:sp>
        <p:nvSpPr>
          <p:cNvPr id="5" name="Text 3"/>
          <p:cNvSpPr/>
          <p:nvPr/>
        </p:nvSpPr>
        <p:spPr>
          <a:xfrm>
            <a:off x="548640" y="2606040"/>
            <a:ext cx="10972800" cy="109728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dMZR · IT Marketplace · TOE</a:t>
            </a:r>
            <a:endParaRPr lang="en-US" sz="5400" dirty="0"/>
          </a:p>
        </p:txBody>
      </p:sp>
      <p:sp>
        <p:nvSpPr>
          <p:cNvPr id="6" name="Text 4"/>
          <p:cNvSpPr/>
          <p:nvPr/>
        </p:nvSpPr>
        <p:spPr>
          <a:xfrm>
            <a:off x="548640" y="3794760"/>
            <a:ext cx="10515600" cy="548640"/>
          </a:xfrm>
          <a:prstGeom prst="rect">
            <a:avLst/>
          </a:prstGeom>
          <a:noFill/>
          <a:ln/>
        </p:spPr>
        <p:txBody>
          <a:bodyPr wrap="square" lIns="0" tIns="0" rIns="0" bIns="0" rtlCol="0" anchor="ctr"/>
          <a:lstStyle/>
          <a:p>
            <a:pPr indent="0" marL="0">
              <a:buNone/>
            </a:pPr>
            <a:r>
              <a:rPr lang="en-US" sz="2200" i="1" dirty="0">
                <a:solidFill>
                  <a:srgbClr val="C9D6CF"/>
                </a:solidFill>
                <a:latin typeface="Georgia" pitchFamily="34" charset="0"/>
                <a:ea typeface="Georgia" pitchFamily="34" charset="-122"/>
                <a:cs typeface="Georgia" pitchFamily="34" charset="-120"/>
              </a:rPr>
              <a:t>Technical and organizational overview for ITOPS / APS teams</a:t>
            </a:r>
            <a:endParaRPr lang="en-US" sz="2200" dirty="0"/>
          </a:p>
        </p:txBody>
      </p:sp>
      <p:sp>
        <p:nvSpPr>
          <p:cNvPr id="7" name="Text 5"/>
          <p:cNvSpPr/>
          <p:nvPr/>
        </p:nvSpPr>
        <p:spPr>
          <a:xfrm>
            <a:off x="548640" y="4434840"/>
            <a:ext cx="10515600" cy="365760"/>
          </a:xfrm>
          <a:prstGeom prst="rect">
            <a:avLst/>
          </a:prstGeom>
          <a:noFill/>
          <a:ln/>
        </p:spPr>
        <p:txBody>
          <a:bodyPr wrap="square" lIns="0" tIns="0" rIns="0" bIns="0" rtlCol="0" anchor="ctr"/>
          <a:lstStyle/>
          <a:p>
            <a:pPr indent="0" marL="0">
              <a:buNone/>
            </a:pPr>
            <a:r>
              <a:rPr lang="en-US" sz="1400" dirty="0">
                <a:solidFill>
                  <a:srgbClr val="A7BAB0"/>
                </a:solidFill>
                <a:latin typeface="Calibri" pitchFamily="34" charset="0"/>
                <a:ea typeface="Calibri" pitchFamily="34" charset="-122"/>
                <a:cs typeface="Calibri" pitchFamily="34" charset="-120"/>
              </a:rPr>
              <a:t>IBM Cloud ecosystem · Marketplace &amp; Rights · Technology Office Expertise</a:t>
            </a:r>
            <a:endParaRPr lang="en-US" sz="1400" dirty="0"/>
          </a:p>
        </p:txBody>
      </p:sp>
      <p:sp>
        <p:nvSpPr>
          <p:cNvPr id="8" name="Text 6"/>
          <p:cNvSpPr/>
          <p:nvPr/>
        </p:nvSpPr>
        <p:spPr>
          <a:xfrm>
            <a:off x="548640" y="6172200"/>
            <a:ext cx="5486400" cy="274320"/>
          </a:xfrm>
          <a:prstGeom prst="rect">
            <a:avLst/>
          </a:prstGeom>
          <a:noFill/>
          <a:ln/>
        </p:spPr>
        <p:txBody>
          <a:bodyPr wrap="square" lIns="0" tIns="0" rIns="0" bIns="0" rtlCol="0" anchor="ctr"/>
          <a:lstStyle/>
          <a:p>
            <a:pPr indent="0" marL="0">
              <a:buNone/>
            </a:pPr>
            <a:r>
              <a:rPr lang="en-US" sz="1100" b="1" spc="400" kern="0" dirty="0">
                <a:solidFill>
                  <a:srgbClr val="FFFFFF"/>
                </a:solidFill>
                <a:latin typeface="Calibri" pitchFamily="34" charset="0"/>
                <a:ea typeface="Calibri" pitchFamily="34" charset="-122"/>
                <a:cs typeface="Calibri" pitchFamily="34" charset="-120"/>
              </a:rPr>
              <a:t>CARD — Production Cardif</a:t>
            </a:r>
            <a:endParaRPr lang="en-US" sz="1100" dirty="0"/>
          </a:p>
        </p:txBody>
      </p:sp>
      <p:sp>
        <p:nvSpPr>
          <p:cNvPr id="9" name="Text 7"/>
          <p:cNvSpPr/>
          <p:nvPr/>
        </p:nvSpPr>
        <p:spPr>
          <a:xfrm>
            <a:off x="6126480" y="6172200"/>
            <a:ext cx="5486400" cy="274320"/>
          </a:xfrm>
          <a:prstGeom prst="rect">
            <a:avLst/>
          </a:prstGeom>
          <a:noFill/>
          <a:ln/>
        </p:spPr>
        <p:txBody>
          <a:bodyPr wrap="square" lIns="0" tIns="0" rIns="0" bIns="0" rtlCol="0" anchor="ctr"/>
          <a:lstStyle/>
          <a:p>
            <a:pPr algn="r" indent="0" marL="0">
              <a:buNone/>
            </a:pPr>
            <a:r>
              <a:rPr lang="en-US" sz="1000" i="1" dirty="0">
                <a:solidFill>
                  <a:srgbClr val="8FA69C"/>
                </a:solidFill>
                <a:latin typeface="Calibri" pitchFamily="34" charset="0"/>
                <a:ea typeface="Calibri" pitchFamily="34" charset="-122"/>
                <a:cs typeface="Calibri" pitchFamily="34" charset="-120"/>
              </a:rPr>
              <a:t>Confidential · Internal use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5486400" cy="274320"/>
          </a:xfrm>
          <a:prstGeom prst="rect">
            <a:avLst/>
          </a:prstGeom>
          <a:noFill/>
          <a:ln/>
        </p:spPr>
        <p:txBody>
          <a:bodyPr wrap="square" lIns="0" tIns="0" rIns="0" bIns="0" rtlCol="0" anchor="ctr"/>
          <a:lstStyle/>
          <a:p>
            <a:pPr indent="0" marL="0">
              <a:buNone/>
            </a:pPr>
            <a:r>
              <a:rPr lang="en-US" sz="1100" b="1" spc="600" kern="0" dirty="0">
                <a:solidFill>
                  <a:srgbClr val="00915A"/>
                </a:solidFill>
                <a:latin typeface="Calibri" pitchFamily="34" charset="0"/>
                <a:ea typeface="Calibri" pitchFamily="34" charset="-122"/>
                <a:cs typeface="Calibri" pitchFamily="34" charset="-120"/>
              </a:rPr>
              <a:t>AGENDA</a:t>
            </a:r>
            <a:endParaRPr lang="en-US" sz="1100" dirty="0"/>
          </a:p>
        </p:txBody>
      </p:sp>
      <p:sp>
        <p:nvSpPr>
          <p:cNvPr id="3" name="Text 1"/>
          <p:cNvSpPr/>
          <p:nvPr/>
        </p:nvSpPr>
        <p:spPr>
          <a:xfrm>
            <a:off x="640080" y="822960"/>
            <a:ext cx="10058400" cy="822960"/>
          </a:xfrm>
          <a:prstGeom prst="rect">
            <a:avLst/>
          </a:prstGeom>
          <a:noFill/>
          <a:ln/>
        </p:spPr>
        <p:txBody>
          <a:bodyPr wrap="square" lIns="0" tIns="0" rIns="0" bIns="0" rtlCol="0" anchor="ctr"/>
          <a:lstStyle/>
          <a:p>
            <a:pPr indent="0" marL="0">
              <a:buNone/>
            </a:pPr>
            <a:r>
              <a:rPr lang="en-US" sz="3600" b="1" dirty="0">
                <a:solidFill>
                  <a:srgbClr val="1A2E28"/>
                </a:solidFill>
                <a:latin typeface="Georgia" pitchFamily="34" charset="0"/>
                <a:ea typeface="Georgia" pitchFamily="34" charset="-122"/>
                <a:cs typeface="Georgia" pitchFamily="34" charset="-120"/>
              </a:rPr>
              <a:t>Session outline</a:t>
            </a:r>
            <a:endParaRPr lang="en-US" sz="3600" dirty="0"/>
          </a:p>
        </p:txBody>
      </p:sp>
      <p:sp>
        <p:nvSpPr>
          <p:cNvPr id="4" name="Shape 2"/>
          <p:cNvSpPr/>
          <p:nvPr/>
        </p:nvSpPr>
        <p:spPr>
          <a:xfrm>
            <a:off x="640080" y="2148840"/>
            <a:ext cx="5486400" cy="1920240"/>
          </a:xfrm>
          <a:prstGeom prst="rect">
            <a:avLst/>
          </a:prstGeom>
          <a:solidFill>
            <a:srgbClr val="F8F9FA"/>
          </a:solidFill>
          <a:ln w="6350">
            <a:solidFill>
              <a:srgbClr val="E2E8F0"/>
            </a:solidFill>
            <a:prstDash val="solid"/>
          </a:ln>
        </p:spPr>
      </p:sp>
      <p:sp>
        <p:nvSpPr>
          <p:cNvPr id="5" name="Text 3"/>
          <p:cNvSpPr/>
          <p:nvPr/>
        </p:nvSpPr>
        <p:spPr>
          <a:xfrm>
            <a:off x="960120" y="2377440"/>
            <a:ext cx="1645920" cy="1280160"/>
          </a:xfrm>
          <a:prstGeom prst="rect">
            <a:avLst/>
          </a:prstGeom>
          <a:noFill/>
          <a:ln/>
        </p:spPr>
        <p:txBody>
          <a:bodyPr wrap="square" lIns="0" tIns="0" rIns="0" bIns="0" rtlCol="0" anchor="ctr"/>
          <a:lstStyle/>
          <a:p>
            <a:pPr indent="0" marL="0">
              <a:buNone/>
            </a:pPr>
            <a:r>
              <a:rPr lang="en-US" sz="6600" b="1" dirty="0">
                <a:solidFill>
                  <a:srgbClr val="00915A"/>
                </a:solidFill>
                <a:latin typeface="Georgia" pitchFamily="34" charset="0"/>
                <a:ea typeface="Georgia" pitchFamily="34" charset="-122"/>
                <a:cs typeface="Georgia" pitchFamily="34" charset="-120"/>
              </a:rPr>
              <a:t>01</a:t>
            </a:r>
            <a:endParaRPr lang="en-US" sz="6600" dirty="0"/>
          </a:p>
        </p:txBody>
      </p:sp>
      <p:sp>
        <p:nvSpPr>
          <p:cNvPr id="6" name="Text 4"/>
          <p:cNvSpPr/>
          <p:nvPr/>
        </p:nvSpPr>
        <p:spPr>
          <a:xfrm>
            <a:off x="2651760" y="2514600"/>
            <a:ext cx="3291840" cy="640080"/>
          </a:xfrm>
          <a:prstGeom prst="rect">
            <a:avLst/>
          </a:prstGeom>
          <a:noFill/>
          <a:ln/>
        </p:spPr>
        <p:txBody>
          <a:bodyPr wrap="square" lIns="0" tIns="0" rIns="0" bIns="0" rtlCol="0" anchor="ctr"/>
          <a:lstStyle/>
          <a:p>
            <a:pPr indent="0" marL="0">
              <a:buNone/>
            </a:pPr>
            <a:r>
              <a:rPr lang="en-US" sz="2400" b="1" dirty="0">
                <a:solidFill>
                  <a:srgbClr val="1A2E28"/>
                </a:solidFill>
                <a:latin typeface="Georgia" pitchFamily="34" charset="0"/>
                <a:ea typeface="Georgia" pitchFamily="34" charset="-122"/>
                <a:cs typeface="Georgia" pitchFamily="34" charset="-120"/>
              </a:rPr>
              <a:t>Context</a:t>
            </a:r>
            <a:endParaRPr lang="en-US" sz="2400" dirty="0"/>
          </a:p>
        </p:txBody>
      </p:sp>
      <p:sp>
        <p:nvSpPr>
          <p:cNvPr id="7" name="Text 5"/>
          <p:cNvSpPr/>
          <p:nvPr/>
        </p:nvSpPr>
        <p:spPr>
          <a:xfrm>
            <a:off x="2651760" y="3108960"/>
            <a:ext cx="3291840" cy="822960"/>
          </a:xfrm>
          <a:prstGeom prst="rect">
            <a:avLst/>
          </a:prstGeom>
          <a:noFill/>
          <a:ln/>
        </p:spPr>
        <p:txBody>
          <a:bodyPr wrap="square" lIns="0" tIns="0" rIns="0" bIns="0" rtlCol="0" anchor="ctr"/>
          <a:lstStyle/>
          <a:p>
            <a:pPr indent="0" marL="0">
              <a:buNone/>
            </a:pPr>
            <a:r>
              <a:rPr lang="en-US" sz="1300" dirty="0">
                <a:solidFill>
                  <a:srgbClr val="6B7B78"/>
                </a:solidFill>
                <a:latin typeface="Calibri" pitchFamily="34" charset="0"/>
                <a:ea typeface="Calibri" pitchFamily="34" charset="-122"/>
                <a:cs typeface="Calibri" pitchFamily="34" charset="-120"/>
              </a:rPr>
              <a:t>Welcome, goals, scope of the session</a:t>
            </a:r>
            <a:endParaRPr lang="en-US" sz="1300" dirty="0"/>
          </a:p>
        </p:txBody>
      </p:sp>
      <p:sp>
        <p:nvSpPr>
          <p:cNvPr id="8" name="Shape 6"/>
          <p:cNvSpPr/>
          <p:nvPr/>
        </p:nvSpPr>
        <p:spPr>
          <a:xfrm>
            <a:off x="6355080" y="2148840"/>
            <a:ext cx="5486400" cy="1920240"/>
          </a:xfrm>
          <a:prstGeom prst="rect">
            <a:avLst/>
          </a:prstGeom>
          <a:solidFill>
            <a:srgbClr val="F8F9FA"/>
          </a:solidFill>
          <a:ln w="6350">
            <a:solidFill>
              <a:srgbClr val="E2E8F0"/>
            </a:solidFill>
            <a:prstDash val="solid"/>
          </a:ln>
        </p:spPr>
      </p:sp>
      <p:sp>
        <p:nvSpPr>
          <p:cNvPr id="9" name="Text 7"/>
          <p:cNvSpPr/>
          <p:nvPr/>
        </p:nvSpPr>
        <p:spPr>
          <a:xfrm>
            <a:off x="6675120" y="2377440"/>
            <a:ext cx="1645920" cy="1280160"/>
          </a:xfrm>
          <a:prstGeom prst="rect">
            <a:avLst/>
          </a:prstGeom>
          <a:noFill/>
          <a:ln/>
        </p:spPr>
        <p:txBody>
          <a:bodyPr wrap="square" lIns="0" tIns="0" rIns="0" bIns="0" rtlCol="0" anchor="ctr"/>
          <a:lstStyle/>
          <a:p>
            <a:pPr indent="0" marL="0">
              <a:buNone/>
            </a:pPr>
            <a:r>
              <a:rPr lang="en-US" sz="6600" b="1" dirty="0">
                <a:solidFill>
                  <a:srgbClr val="00915A"/>
                </a:solidFill>
                <a:latin typeface="Georgia" pitchFamily="34" charset="0"/>
                <a:ea typeface="Georgia" pitchFamily="34" charset="-122"/>
                <a:cs typeface="Georgia" pitchFamily="34" charset="-120"/>
              </a:rPr>
              <a:t>02</a:t>
            </a:r>
            <a:endParaRPr lang="en-US" sz="6600" dirty="0"/>
          </a:p>
        </p:txBody>
      </p:sp>
      <p:sp>
        <p:nvSpPr>
          <p:cNvPr id="10" name="Text 8"/>
          <p:cNvSpPr/>
          <p:nvPr/>
        </p:nvSpPr>
        <p:spPr>
          <a:xfrm>
            <a:off x="8366760" y="2514600"/>
            <a:ext cx="3291840" cy="640080"/>
          </a:xfrm>
          <a:prstGeom prst="rect">
            <a:avLst/>
          </a:prstGeom>
          <a:noFill/>
          <a:ln/>
        </p:spPr>
        <p:txBody>
          <a:bodyPr wrap="square" lIns="0" tIns="0" rIns="0" bIns="0" rtlCol="0" anchor="ctr"/>
          <a:lstStyle/>
          <a:p>
            <a:pPr indent="0" marL="0">
              <a:buNone/>
            </a:pPr>
            <a:r>
              <a:rPr lang="en-US" sz="2400" b="1" dirty="0">
                <a:solidFill>
                  <a:srgbClr val="1A2E28"/>
                </a:solidFill>
                <a:latin typeface="Georgia" pitchFamily="34" charset="0"/>
                <a:ea typeface="Georgia" pitchFamily="34" charset="-122"/>
                <a:cs typeface="Georgia" pitchFamily="34" charset="-120"/>
              </a:rPr>
              <a:t>dMZR</a:t>
            </a:r>
            <a:endParaRPr lang="en-US" sz="2400" dirty="0"/>
          </a:p>
        </p:txBody>
      </p:sp>
      <p:sp>
        <p:nvSpPr>
          <p:cNvPr id="11" name="Text 9"/>
          <p:cNvSpPr/>
          <p:nvPr/>
        </p:nvSpPr>
        <p:spPr>
          <a:xfrm>
            <a:off x="8366760" y="3108960"/>
            <a:ext cx="3291840" cy="822960"/>
          </a:xfrm>
          <a:prstGeom prst="rect">
            <a:avLst/>
          </a:prstGeom>
          <a:noFill/>
          <a:ln/>
        </p:spPr>
        <p:txBody>
          <a:bodyPr wrap="square" lIns="0" tIns="0" rIns="0" bIns="0" rtlCol="0" anchor="ctr"/>
          <a:lstStyle/>
          <a:p>
            <a:pPr indent="0" marL="0">
              <a:buNone/>
            </a:pPr>
            <a:r>
              <a:rPr lang="en-US" sz="1300" dirty="0">
                <a:solidFill>
                  <a:srgbClr val="6B7B78"/>
                </a:solidFill>
                <a:latin typeface="Calibri" pitchFamily="34" charset="0"/>
                <a:ea typeface="Calibri" pitchFamily="34" charset="-122"/>
                <a:cs typeface="Calibri" pitchFamily="34" charset="-120"/>
              </a:rPr>
              <a:t>dMZR (IKS, Marketplace) · dMZR aS Code (ROKS, Terraform)</a:t>
            </a:r>
            <a:endParaRPr lang="en-US" sz="1300" dirty="0"/>
          </a:p>
        </p:txBody>
      </p:sp>
      <p:sp>
        <p:nvSpPr>
          <p:cNvPr id="12" name="Shape 10"/>
          <p:cNvSpPr/>
          <p:nvPr/>
        </p:nvSpPr>
        <p:spPr>
          <a:xfrm>
            <a:off x="640080" y="4343400"/>
            <a:ext cx="5486400" cy="1920240"/>
          </a:xfrm>
          <a:prstGeom prst="rect">
            <a:avLst/>
          </a:prstGeom>
          <a:solidFill>
            <a:srgbClr val="F8F9FA"/>
          </a:solidFill>
          <a:ln w="6350">
            <a:solidFill>
              <a:srgbClr val="E2E8F0"/>
            </a:solidFill>
            <a:prstDash val="solid"/>
          </a:ln>
        </p:spPr>
      </p:sp>
      <p:sp>
        <p:nvSpPr>
          <p:cNvPr id="13" name="Text 11"/>
          <p:cNvSpPr/>
          <p:nvPr/>
        </p:nvSpPr>
        <p:spPr>
          <a:xfrm>
            <a:off x="960120" y="4572000"/>
            <a:ext cx="1645920" cy="1280160"/>
          </a:xfrm>
          <a:prstGeom prst="rect">
            <a:avLst/>
          </a:prstGeom>
          <a:noFill/>
          <a:ln/>
        </p:spPr>
        <p:txBody>
          <a:bodyPr wrap="square" lIns="0" tIns="0" rIns="0" bIns="0" rtlCol="0" anchor="ctr"/>
          <a:lstStyle/>
          <a:p>
            <a:pPr indent="0" marL="0">
              <a:buNone/>
            </a:pPr>
            <a:r>
              <a:rPr lang="en-US" sz="6600" b="1" dirty="0">
                <a:solidFill>
                  <a:srgbClr val="00915A"/>
                </a:solidFill>
                <a:latin typeface="Georgia" pitchFamily="34" charset="0"/>
                <a:ea typeface="Georgia" pitchFamily="34" charset="-122"/>
                <a:cs typeface="Georgia" pitchFamily="34" charset="-120"/>
              </a:rPr>
              <a:t>03</a:t>
            </a:r>
            <a:endParaRPr lang="en-US" sz="6600" dirty="0"/>
          </a:p>
        </p:txBody>
      </p:sp>
      <p:sp>
        <p:nvSpPr>
          <p:cNvPr id="14" name="Text 12"/>
          <p:cNvSpPr/>
          <p:nvPr/>
        </p:nvSpPr>
        <p:spPr>
          <a:xfrm>
            <a:off x="2651760" y="4709160"/>
            <a:ext cx="3291840" cy="640080"/>
          </a:xfrm>
          <a:prstGeom prst="rect">
            <a:avLst/>
          </a:prstGeom>
          <a:noFill/>
          <a:ln/>
        </p:spPr>
        <p:txBody>
          <a:bodyPr wrap="square" lIns="0" tIns="0" rIns="0" bIns="0" rtlCol="0" anchor="ctr"/>
          <a:lstStyle/>
          <a:p>
            <a:pPr indent="0" marL="0">
              <a:buNone/>
            </a:pPr>
            <a:r>
              <a:rPr lang="en-US" sz="2400" b="1" dirty="0">
                <a:solidFill>
                  <a:srgbClr val="1A2E28"/>
                </a:solidFill>
                <a:latin typeface="Georgia" pitchFamily="34" charset="0"/>
                <a:ea typeface="Georgia" pitchFamily="34" charset="-122"/>
                <a:cs typeface="Georgia" pitchFamily="34" charset="-120"/>
              </a:rPr>
              <a:t>IT Marketplace</a:t>
            </a:r>
            <a:endParaRPr lang="en-US" sz="2400" dirty="0"/>
          </a:p>
        </p:txBody>
      </p:sp>
      <p:sp>
        <p:nvSpPr>
          <p:cNvPr id="15" name="Text 13"/>
          <p:cNvSpPr/>
          <p:nvPr/>
        </p:nvSpPr>
        <p:spPr>
          <a:xfrm>
            <a:off x="2651760" y="5303520"/>
            <a:ext cx="3291840" cy="822960"/>
          </a:xfrm>
          <a:prstGeom prst="rect">
            <a:avLst/>
          </a:prstGeom>
          <a:noFill/>
          <a:ln/>
        </p:spPr>
        <p:txBody>
          <a:bodyPr wrap="square" lIns="0" tIns="0" rIns="0" bIns="0" rtlCol="0" anchor="ctr"/>
          <a:lstStyle/>
          <a:p>
            <a:pPr indent="0" marL="0">
              <a:buNone/>
            </a:pPr>
            <a:r>
              <a:rPr lang="en-US" sz="1300" dirty="0">
                <a:solidFill>
                  <a:srgbClr val="6B7B78"/>
                </a:solidFill>
                <a:latin typeface="Calibri" pitchFamily="34" charset="0"/>
                <a:ea typeface="Calibri" pitchFamily="34" charset="-122"/>
                <a:cs typeface="Calibri" pitchFamily="34" charset="-120"/>
              </a:rPr>
              <a:t>IBM ecosystems, orders, rights, governance</a:t>
            </a:r>
            <a:endParaRPr lang="en-US" sz="1300" dirty="0"/>
          </a:p>
        </p:txBody>
      </p:sp>
      <p:sp>
        <p:nvSpPr>
          <p:cNvPr id="16" name="Shape 14"/>
          <p:cNvSpPr/>
          <p:nvPr/>
        </p:nvSpPr>
        <p:spPr>
          <a:xfrm>
            <a:off x="6355080" y="4343400"/>
            <a:ext cx="5486400" cy="1920240"/>
          </a:xfrm>
          <a:prstGeom prst="rect">
            <a:avLst/>
          </a:prstGeom>
          <a:solidFill>
            <a:srgbClr val="F8F9FA"/>
          </a:solidFill>
          <a:ln w="6350">
            <a:solidFill>
              <a:srgbClr val="E2E8F0"/>
            </a:solidFill>
            <a:prstDash val="solid"/>
          </a:ln>
        </p:spPr>
      </p:sp>
      <p:sp>
        <p:nvSpPr>
          <p:cNvPr id="17" name="Text 15"/>
          <p:cNvSpPr/>
          <p:nvPr/>
        </p:nvSpPr>
        <p:spPr>
          <a:xfrm>
            <a:off x="6675120" y="4572000"/>
            <a:ext cx="1645920" cy="1280160"/>
          </a:xfrm>
          <a:prstGeom prst="rect">
            <a:avLst/>
          </a:prstGeom>
          <a:noFill/>
          <a:ln/>
        </p:spPr>
        <p:txBody>
          <a:bodyPr wrap="square" lIns="0" tIns="0" rIns="0" bIns="0" rtlCol="0" anchor="ctr"/>
          <a:lstStyle/>
          <a:p>
            <a:pPr indent="0" marL="0">
              <a:buNone/>
            </a:pPr>
            <a:r>
              <a:rPr lang="en-US" sz="6600" b="1" dirty="0">
                <a:solidFill>
                  <a:srgbClr val="00915A"/>
                </a:solidFill>
                <a:latin typeface="Georgia" pitchFamily="34" charset="0"/>
                <a:ea typeface="Georgia" pitchFamily="34" charset="-122"/>
                <a:cs typeface="Georgia" pitchFamily="34" charset="-120"/>
              </a:rPr>
              <a:t>04</a:t>
            </a:r>
            <a:endParaRPr lang="en-US" sz="6600" dirty="0"/>
          </a:p>
        </p:txBody>
      </p:sp>
      <p:sp>
        <p:nvSpPr>
          <p:cNvPr id="18" name="Text 16"/>
          <p:cNvSpPr/>
          <p:nvPr/>
        </p:nvSpPr>
        <p:spPr>
          <a:xfrm>
            <a:off x="8366760" y="4709160"/>
            <a:ext cx="3291840" cy="640080"/>
          </a:xfrm>
          <a:prstGeom prst="rect">
            <a:avLst/>
          </a:prstGeom>
          <a:noFill/>
          <a:ln/>
        </p:spPr>
        <p:txBody>
          <a:bodyPr wrap="square" lIns="0" tIns="0" rIns="0" bIns="0" rtlCol="0" anchor="ctr"/>
          <a:lstStyle/>
          <a:p>
            <a:pPr indent="0" marL="0">
              <a:buNone/>
            </a:pPr>
            <a:r>
              <a:rPr lang="en-US" sz="2400" b="1" dirty="0">
                <a:solidFill>
                  <a:srgbClr val="1A2E28"/>
                </a:solidFill>
                <a:latin typeface="Georgia" pitchFamily="34" charset="0"/>
                <a:ea typeface="Georgia" pitchFamily="34" charset="-122"/>
                <a:cs typeface="Georgia" pitchFamily="34" charset="-120"/>
              </a:rPr>
              <a:t>TOE</a:t>
            </a:r>
            <a:endParaRPr lang="en-US" sz="2400" dirty="0"/>
          </a:p>
        </p:txBody>
      </p:sp>
      <p:sp>
        <p:nvSpPr>
          <p:cNvPr id="19" name="Text 17"/>
          <p:cNvSpPr/>
          <p:nvPr/>
        </p:nvSpPr>
        <p:spPr>
          <a:xfrm>
            <a:off x="8366760" y="5303520"/>
            <a:ext cx="3291840" cy="822960"/>
          </a:xfrm>
          <a:prstGeom prst="rect">
            <a:avLst/>
          </a:prstGeom>
          <a:noFill/>
          <a:ln/>
        </p:spPr>
        <p:txBody>
          <a:bodyPr wrap="square" lIns="0" tIns="0" rIns="0" bIns="0" rtlCol="0" anchor="ctr"/>
          <a:lstStyle/>
          <a:p>
            <a:pPr indent="0" marL="0">
              <a:buNone/>
            </a:pPr>
            <a:r>
              <a:rPr lang="en-US" sz="1300" dirty="0">
                <a:solidFill>
                  <a:srgbClr val="6B7B78"/>
                </a:solidFill>
                <a:latin typeface="Calibri" pitchFamily="34" charset="0"/>
                <a:ea typeface="Calibri" pitchFamily="34" charset="-122"/>
                <a:cs typeface="Calibri" pitchFamily="34" charset="-120"/>
              </a:rPr>
              <a:t>Mission, focus areas, interactions</a:t>
            </a:r>
            <a:endParaRPr lang="en-US" sz="1300" dirty="0"/>
          </a:p>
        </p:txBody>
      </p:sp>
      <p:sp>
        <p:nvSpPr>
          <p:cNvPr id="20" name="Text 18"/>
          <p:cNvSpPr/>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6B7B78"/>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5486400" cy="274320"/>
          </a:xfrm>
          <a:prstGeom prst="rect">
            <a:avLst/>
          </a:prstGeom>
          <a:noFill/>
          <a:ln/>
        </p:spPr>
        <p:txBody>
          <a:bodyPr wrap="square" lIns="0" tIns="0" rIns="0" bIns="0" rtlCol="0" anchor="ctr"/>
          <a:lstStyle/>
          <a:p>
            <a:pPr indent="0" marL="0">
              <a:buNone/>
            </a:pPr>
            <a:r>
              <a:rPr lang="en-US" sz="1100" b="1" spc="600" kern="0" dirty="0">
                <a:solidFill>
                  <a:srgbClr val="00915A"/>
                </a:solidFill>
                <a:latin typeface="Calibri" pitchFamily="34" charset="0"/>
                <a:ea typeface="Calibri" pitchFamily="34" charset="-122"/>
                <a:cs typeface="Calibri" pitchFamily="34" charset="-120"/>
              </a:rPr>
              <a:t>CONTEXT</a:t>
            </a:r>
            <a:endParaRPr lang="en-US" sz="1100" dirty="0"/>
          </a:p>
        </p:txBody>
      </p:sp>
      <p:sp>
        <p:nvSpPr>
          <p:cNvPr id="3" name="Text 1"/>
          <p:cNvSpPr/>
          <p:nvPr/>
        </p:nvSpPr>
        <p:spPr>
          <a:xfrm>
            <a:off x="640080" y="822960"/>
            <a:ext cx="10058400" cy="822960"/>
          </a:xfrm>
          <a:prstGeom prst="rect">
            <a:avLst/>
          </a:prstGeom>
          <a:noFill/>
          <a:ln/>
        </p:spPr>
        <p:txBody>
          <a:bodyPr wrap="square" lIns="0" tIns="0" rIns="0" bIns="0" rtlCol="0" anchor="ctr"/>
          <a:lstStyle/>
          <a:p>
            <a:pPr indent="0" marL="0">
              <a:buNone/>
            </a:pPr>
            <a:r>
              <a:rPr lang="en-US" sz="3400" b="1" dirty="0">
                <a:solidFill>
                  <a:srgbClr val="1A2E28"/>
                </a:solidFill>
                <a:latin typeface="Georgia" pitchFamily="34" charset="0"/>
                <a:ea typeface="Georgia" pitchFamily="34" charset="-122"/>
                <a:cs typeface="Georgia" pitchFamily="34" charset="-120"/>
              </a:rPr>
              <a:t>Why this session?</a:t>
            </a:r>
            <a:endParaRPr lang="en-US" sz="3400" dirty="0"/>
          </a:p>
        </p:txBody>
      </p:sp>
      <p:sp>
        <p:nvSpPr>
          <p:cNvPr id="4" name="Text 2"/>
          <p:cNvSpPr/>
          <p:nvPr/>
        </p:nvSpPr>
        <p:spPr>
          <a:xfrm>
            <a:off x="640080" y="1920240"/>
            <a:ext cx="5303520" cy="1463040"/>
          </a:xfrm>
          <a:prstGeom prst="rect">
            <a:avLst/>
          </a:prstGeom>
          <a:noFill/>
          <a:ln/>
        </p:spPr>
        <p:txBody>
          <a:bodyPr wrap="square" lIns="0" tIns="0" rIns="0" bIns="0" rtlCol="0" anchor="ctr"/>
          <a:lstStyle/>
          <a:p>
            <a:pPr indent="0" marL="0">
              <a:lnSpc>
                <a:spcPct val="130000"/>
              </a:lnSpc>
              <a:buNone/>
            </a:pPr>
            <a:r>
              <a:rPr lang="en-US" sz="1700" i="1" dirty="0">
                <a:solidFill>
                  <a:srgbClr val="2C2C2C"/>
                </a:solidFill>
                <a:latin typeface="Georgia" pitchFamily="34" charset="0"/>
                <a:ea typeface="Georgia" pitchFamily="34" charset="-122"/>
                <a:cs typeface="Georgia" pitchFamily="34" charset="-120"/>
              </a:rPr>
              <a:t>Welcome of two ITOPS / APS colleagues from Italy, functionally attached to the team. Goal: give them a complete view of the BNP Paribas Cardif foundation and its ecosystem.</a:t>
            </a:r>
            <a:endParaRPr lang="en-US" sz="1700" dirty="0"/>
          </a:p>
        </p:txBody>
      </p:sp>
      <p:sp>
        <p:nvSpPr>
          <p:cNvPr id="5" name="Text 3"/>
          <p:cNvSpPr/>
          <p:nvPr/>
        </p:nvSpPr>
        <p:spPr>
          <a:xfrm>
            <a:off x="640080" y="3474720"/>
            <a:ext cx="5303520" cy="1645920"/>
          </a:xfrm>
          <a:prstGeom prst="rect">
            <a:avLst/>
          </a:prstGeom>
          <a:noFill/>
          <a:ln/>
        </p:spPr>
        <p:txBody>
          <a:bodyPr wrap="square" lIns="0" tIns="0" rIns="0" bIns="0" rtlCol="0" anchor="ctr"/>
          <a:lstStyle/>
          <a:p>
            <a:pPr indent="0" marL="0">
              <a:lnSpc>
                <a:spcPct val="135000"/>
              </a:lnSpc>
              <a:buNone/>
            </a:pPr>
            <a:r>
              <a:rPr lang="en-US" sz="1400" dirty="0">
                <a:solidFill>
                  <a:srgbClr val="6B7B78"/>
                </a:solidFill>
                <a:latin typeface="Calibri" pitchFamily="34" charset="0"/>
                <a:ea typeface="Calibri" pitchFamily="34" charset="-122"/>
                <a:cs typeface="Calibri" pitchFamily="34" charset="-120"/>
              </a:rPr>
              <a:t>The session covers the target platform (dMZR), the ordering flow through the Marketplace and IBM Cloud ecosystems, and the role and service offering of the Technology Office Expertise.</a:t>
            </a:r>
            <a:endParaRPr lang="en-US" sz="1400" dirty="0"/>
          </a:p>
        </p:txBody>
      </p:sp>
      <p:sp>
        <p:nvSpPr>
          <p:cNvPr id="6" name="Shape 4"/>
          <p:cNvSpPr/>
          <p:nvPr/>
        </p:nvSpPr>
        <p:spPr>
          <a:xfrm>
            <a:off x="6675120" y="1920240"/>
            <a:ext cx="4846320" cy="1371600"/>
          </a:xfrm>
          <a:prstGeom prst="rect">
            <a:avLst/>
          </a:prstGeom>
          <a:solidFill>
            <a:srgbClr val="FFFFFF"/>
          </a:solidFill>
          <a:ln w="9525">
            <a:solidFill>
              <a:srgbClr val="E2E8F0"/>
            </a:solidFill>
            <a:prstDash val="solid"/>
          </a:ln>
        </p:spPr>
      </p:sp>
      <p:sp>
        <p:nvSpPr>
          <p:cNvPr id="7" name="Shape 5"/>
          <p:cNvSpPr/>
          <p:nvPr/>
        </p:nvSpPr>
        <p:spPr>
          <a:xfrm>
            <a:off x="6949440" y="2286000"/>
            <a:ext cx="685800" cy="685800"/>
          </a:xfrm>
          <a:prstGeom prst="ellipse">
            <a:avLst/>
          </a:prstGeom>
          <a:solidFill>
            <a:srgbClr val="00915A"/>
          </a:solidFill>
          <a:ln w="12700">
            <a:solidFill>
              <a:srgbClr val="00915A"/>
            </a:solidFill>
            <a:prstDash val="solid"/>
          </a:ln>
        </p:spPr>
      </p:sp>
      <p:sp>
        <p:nvSpPr>
          <p:cNvPr id="8" name="Shape 6"/>
          <p:cNvSpPr/>
          <p:nvPr/>
        </p:nvSpPr>
        <p:spPr>
          <a:xfrm>
            <a:off x="6675120" y="3520440"/>
            <a:ext cx="4846320" cy="1371600"/>
          </a:xfrm>
          <a:prstGeom prst="rect">
            <a:avLst/>
          </a:prstGeom>
          <a:solidFill>
            <a:srgbClr val="FFFFFF"/>
          </a:solidFill>
          <a:ln w="9525">
            <a:solidFill>
              <a:srgbClr val="E2E8F0"/>
            </a:solidFill>
            <a:prstDash val="solid"/>
          </a:ln>
        </p:spPr>
      </p:sp>
      <p:sp>
        <p:nvSpPr>
          <p:cNvPr id="9" name="Shape 7"/>
          <p:cNvSpPr/>
          <p:nvPr/>
        </p:nvSpPr>
        <p:spPr>
          <a:xfrm>
            <a:off x="6949440" y="3886200"/>
            <a:ext cx="685800" cy="685800"/>
          </a:xfrm>
          <a:prstGeom prst="ellipse">
            <a:avLst/>
          </a:prstGeom>
          <a:solidFill>
            <a:srgbClr val="00915A"/>
          </a:solidFill>
          <a:ln w="12700">
            <a:solidFill>
              <a:srgbClr val="00915A"/>
            </a:solidFill>
            <a:prstDash val="solid"/>
          </a:ln>
        </p:spPr>
      </p:sp>
      <p:sp>
        <p:nvSpPr>
          <p:cNvPr id="10" name="Shape 8"/>
          <p:cNvSpPr/>
          <p:nvPr/>
        </p:nvSpPr>
        <p:spPr>
          <a:xfrm>
            <a:off x="6675120" y="5120640"/>
            <a:ext cx="4846320" cy="1371600"/>
          </a:xfrm>
          <a:prstGeom prst="rect">
            <a:avLst/>
          </a:prstGeom>
          <a:solidFill>
            <a:srgbClr val="FFFFFF"/>
          </a:solidFill>
          <a:ln w="9525">
            <a:solidFill>
              <a:srgbClr val="E2E8F0"/>
            </a:solidFill>
            <a:prstDash val="solid"/>
          </a:ln>
        </p:spPr>
      </p:sp>
      <p:sp>
        <p:nvSpPr>
          <p:cNvPr id="11" name="Shape 9"/>
          <p:cNvSpPr/>
          <p:nvPr/>
        </p:nvSpPr>
        <p:spPr>
          <a:xfrm>
            <a:off x="6949440" y="5486400"/>
            <a:ext cx="685800" cy="685800"/>
          </a:xfrm>
          <a:prstGeom prst="ellipse">
            <a:avLst/>
          </a:prstGeom>
          <a:solidFill>
            <a:srgbClr val="00915A"/>
          </a:solidFill>
          <a:ln w="12700">
            <a:solidFill>
              <a:srgbClr val="00915A"/>
            </a:solidFill>
            <a:prstDash val="solid"/>
          </a:ln>
        </p:spPr>
      </p:sp>
      <p:pic>
        <p:nvPicPr>
          <p:cNvPr id="12" name="Image 0" descr="preencoded.png">    </p:cNvPr>
          <p:cNvPicPr>
            <a:picLocks noChangeAspect="1"/>
          </p:cNvPicPr>
          <p:nvPr/>
        </p:nvPicPr>
        <p:blipFill>
          <a:blip r:embed="rId1"/>
          <a:stretch>
            <a:fillRect/>
          </a:stretch>
        </p:blipFill>
        <p:spPr>
          <a:xfrm>
            <a:off x="7086600" y="2423160"/>
            <a:ext cx="411480" cy="411480"/>
          </a:xfrm>
          <a:prstGeom prst="rect">
            <a:avLst/>
          </a:prstGeom>
        </p:spPr>
      </p:pic>
      <p:sp>
        <p:nvSpPr>
          <p:cNvPr id="13" name="Text 10"/>
          <p:cNvSpPr/>
          <p:nvPr/>
        </p:nvSpPr>
        <p:spPr>
          <a:xfrm>
            <a:off x="7909560" y="2194560"/>
            <a:ext cx="3474720" cy="411480"/>
          </a:xfrm>
          <a:prstGeom prst="rect">
            <a:avLst/>
          </a:prstGeom>
          <a:noFill/>
          <a:ln/>
        </p:spPr>
        <p:txBody>
          <a:bodyPr wrap="square" lIns="0" tIns="0" rIns="0" bIns="0" rtlCol="0" anchor="ctr"/>
          <a:lstStyle/>
          <a:p>
            <a:pPr indent="0" marL="0">
              <a:buNone/>
            </a:pPr>
            <a:r>
              <a:rPr lang="en-US" sz="1800" b="1" dirty="0">
                <a:solidFill>
                  <a:srgbClr val="1A2E28"/>
                </a:solidFill>
                <a:latin typeface="Georgia" pitchFamily="34" charset="0"/>
                <a:ea typeface="Georgia" pitchFamily="34" charset="-122"/>
                <a:cs typeface="Georgia" pitchFamily="34" charset="-120"/>
              </a:rPr>
              <a:t>Platform</a:t>
            </a:r>
            <a:endParaRPr lang="en-US" sz="1800" dirty="0"/>
          </a:p>
        </p:txBody>
      </p:sp>
      <p:sp>
        <p:nvSpPr>
          <p:cNvPr id="14" name="Text 11"/>
          <p:cNvSpPr/>
          <p:nvPr/>
        </p:nvSpPr>
        <p:spPr>
          <a:xfrm>
            <a:off x="7909560" y="2633472"/>
            <a:ext cx="3474720" cy="548640"/>
          </a:xfrm>
          <a:prstGeom prst="rect">
            <a:avLst/>
          </a:prstGeom>
          <a:noFill/>
          <a:ln/>
        </p:spPr>
        <p:txBody>
          <a:bodyPr wrap="square" lIns="0" tIns="0" rIns="0" bIns="0" rtlCol="0" anchor="ctr"/>
          <a:lstStyle/>
          <a:p>
            <a:pPr indent="0" marL="0">
              <a:buNone/>
            </a:pPr>
            <a:r>
              <a:rPr lang="en-US" sz="1200" dirty="0">
                <a:solidFill>
                  <a:srgbClr val="6B7B78"/>
                </a:solidFill>
                <a:latin typeface="Calibri" pitchFamily="34" charset="0"/>
                <a:ea typeface="Calibri" pitchFamily="34" charset="-122"/>
                <a:cs typeface="Calibri" pitchFamily="34" charset="-120"/>
              </a:rPr>
              <a:t>Understand the dMZR and the IBM Cloud ecosystem</a:t>
            </a:r>
            <a:endParaRPr lang="en-US" sz="1200" dirty="0"/>
          </a:p>
        </p:txBody>
      </p:sp>
      <p:pic>
        <p:nvPicPr>
          <p:cNvPr id="15" name="Image 1" descr="preencoded.png">    </p:cNvPr>
          <p:cNvPicPr>
            <a:picLocks noChangeAspect="1"/>
          </p:cNvPicPr>
          <p:nvPr/>
        </p:nvPicPr>
        <p:blipFill>
          <a:blip r:embed="rId2"/>
          <a:stretch>
            <a:fillRect/>
          </a:stretch>
        </p:blipFill>
        <p:spPr>
          <a:xfrm>
            <a:off x="7086600" y="4023360"/>
            <a:ext cx="411480" cy="411480"/>
          </a:xfrm>
          <a:prstGeom prst="rect">
            <a:avLst/>
          </a:prstGeom>
        </p:spPr>
      </p:pic>
      <p:sp>
        <p:nvSpPr>
          <p:cNvPr id="16" name="Text 12"/>
          <p:cNvSpPr/>
          <p:nvPr/>
        </p:nvSpPr>
        <p:spPr>
          <a:xfrm>
            <a:off x="7909560" y="3794760"/>
            <a:ext cx="3474720" cy="411480"/>
          </a:xfrm>
          <a:prstGeom prst="rect">
            <a:avLst/>
          </a:prstGeom>
          <a:noFill/>
          <a:ln/>
        </p:spPr>
        <p:txBody>
          <a:bodyPr wrap="square" lIns="0" tIns="0" rIns="0" bIns="0" rtlCol="0" anchor="ctr"/>
          <a:lstStyle/>
          <a:p>
            <a:pPr indent="0" marL="0">
              <a:buNone/>
            </a:pPr>
            <a:r>
              <a:rPr lang="en-US" sz="1800" b="1" dirty="0">
                <a:solidFill>
                  <a:srgbClr val="1A2E28"/>
                </a:solidFill>
                <a:latin typeface="Georgia" pitchFamily="34" charset="0"/>
                <a:ea typeface="Georgia" pitchFamily="34" charset="-122"/>
                <a:cs typeface="Georgia" pitchFamily="34" charset="-120"/>
              </a:rPr>
              <a:t>Consumption</a:t>
            </a:r>
            <a:endParaRPr lang="en-US" sz="1800" dirty="0"/>
          </a:p>
        </p:txBody>
      </p:sp>
      <p:sp>
        <p:nvSpPr>
          <p:cNvPr id="17" name="Text 13"/>
          <p:cNvSpPr/>
          <p:nvPr/>
        </p:nvSpPr>
        <p:spPr>
          <a:xfrm>
            <a:off x="7909560" y="4233672"/>
            <a:ext cx="3474720" cy="548640"/>
          </a:xfrm>
          <a:prstGeom prst="rect">
            <a:avLst/>
          </a:prstGeom>
          <a:noFill/>
          <a:ln/>
        </p:spPr>
        <p:txBody>
          <a:bodyPr wrap="square" lIns="0" tIns="0" rIns="0" bIns="0" rtlCol="0" anchor="ctr"/>
          <a:lstStyle/>
          <a:p>
            <a:pPr indent="0" marL="0">
              <a:buNone/>
            </a:pPr>
            <a:r>
              <a:rPr lang="en-US" sz="1200" dirty="0">
                <a:solidFill>
                  <a:srgbClr val="6B7B78"/>
                </a:solidFill>
                <a:latin typeface="Calibri" pitchFamily="34" charset="0"/>
                <a:ea typeface="Calibri" pitchFamily="34" charset="-122"/>
                <a:cs typeface="Calibri" pitchFamily="34" charset="-120"/>
              </a:rPr>
              <a:t>Master the Marketplace ordering flow</a:t>
            </a:r>
            <a:endParaRPr lang="en-US" sz="1200" dirty="0"/>
          </a:p>
        </p:txBody>
      </p:sp>
      <p:pic>
        <p:nvPicPr>
          <p:cNvPr id="18" name="Image 2" descr="preencoded.png">    </p:cNvPr>
          <p:cNvPicPr>
            <a:picLocks noChangeAspect="1"/>
          </p:cNvPicPr>
          <p:nvPr/>
        </p:nvPicPr>
        <p:blipFill>
          <a:blip r:embed="rId3"/>
          <a:stretch>
            <a:fillRect/>
          </a:stretch>
        </p:blipFill>
        <p:spPr>
          <a:xfrm>
            <a:off x="7086600" y="5623560"/>
            <a:ext cx="411480" cy="411480"/>
          </a:xfrm>
          <a:prstGeom prst="rect">
            <a:avLst/>
          </a:prstGeom>
        </p:spPr>
      </p:pic>
      <p:sp>
        <p:nvSpPr>
          <p:cNvPr id="19" name="Text 14"/>
          <p:cNvSpPr/>
          <p:nvPr/>
        </p:nvSpPr>
        <p:spPr>
          <a:xfrm>
            <a:off x="7909560" y="5394960"/>
            <a:ext cx="3474720" cy="411480"/>
          </a:xfrm>
          <a:prstGeom prst="rect">
            <a:avLst/>
          </a:prstGeom>
          <a:noFill/>
          <a:ln/>
        </p:spPr>
        <p:txBody>
          <a:bodyPr wrap="square" lIns="0" tIns="0" rIns="0" bIns="0" rtlCol="0" anchor="ctr"/>
          <a:lstStyle/>
          <a:p>
            <a:pPr indent="0" marL="0">
              <a:buNone/>
            </a:pPr>
            <a:r>
              <a:rPr lang="en-US" sz="1800" b="1" dirty="0">
                <a:solidFill>
                  <a:srgbClr val="1A2E28"/>
                </a:solidFill>
                <a:latin typeface="Georgia" pitchFamily="34" charset="0"/>
                <a:ea typeface="Georgia" pitchFamily="34" charset="-122"/>
                <a:cs typeface="Georgia" pitchFamily="34" charset="-120"/>
              </a:rPr>
              <a:t>Organization</a:t>
            </a:r>
            <a:endParaRPr lang="en-US" sz="1800" dirty="0"/>
          </a:p>
        </p:txBody>
      </p:sp>
      <p:sp>
        <p:nvSpPr>
          <p:cNvPr id="20" name="Text 15"/>
          <p:cNvSpPr/>
          <p:nvPr/>
        </p:nvSpPr>
        <p:spPr>
          <a:xfrm>
            <a:off x="7909560" y="5833872"/>
            <a:ext cx="3474720" cy="548640"/>
          </a:xfrm>
          <a:prstGeom prst="rect">
            <a:avLst/>
          </a:prstGeom>
          <a:noFill/>
          <a:ln/>
        </p:spPr>
        <p:txBody>
          <a:bodyPr wrap="square" lIns="0" tIns="0" rIns="0" bIns="0" rtlCol="0" anchor="ctr"/>
          <a:lstStyle/>
          <a:p>
            <a:pPr indent="0" marL="0">
              <a:buNone/>
            </a:pPr>
            <a:r>
              <a:rPr lang="en-US" sz="1200" dirty="0">
                <a:solidFill>
                  <a:srgbClr val="6B7B78"/>
                </a:solidFill>
                <a:latin typeface="Calibri" pitchFamily="34" charset="0"/>
                <a:ea typeface="Calibri" pitchFamily="34" charset="-122"/>
                <a:cs typeface="Calibri" pitchFamily="34" charset="-120"/>
              </a:rPr>
              <a:t>Identify TOE contacts and support points</a:t>
            </a:r>
            <a:endParaRPr lang="en-US" sz="1200" dirty="0"/>
          </a:p>
        </p:txBody>
      </p:sp>
      <p:sp>
        <p:nvSpPr>
          <p:cNvPr id="21" name="Text 16"/>
          <p:cNvSpPr/>
          <p:nvPr/>
        </p:nvSpPr>
        <p:spPr>
          <a:xfrm>
            <a:off x="640080" y="6492240"/>
            <a:ext cx="6400800" cy="228600"/>
          </a:xfrm>
          <a:prstGeom prst="rect">
            <a:avLst/>
          </a:prstGeom>
          <a:noFill/>
          <a:ln/>
        </p:spPr>
        <p:txBody>
          <a:bodyPr wrap="square" lIns="0" tIns="0" rIns="0" bIns="0" rtlCol="0" anchor="ctr"/>
          <a:lstStyle/>
          <a:p>
            <a:pPr indent="0" marL="0">
              <a:buNone/>
            </a:pPr>
            <a:r>
              <a:rPr lang="en-US" sz="900" i="1" dirty="0">
                <a:solidFill>
                  <a:srgbClr val="9AA5A1"/>
                </a:solidFill>
                <a:latin typeface="Calibri" pitchFamily="34" charset="0"/>
                <a:ea typeface="Calibri" pitchFamily="34" charset="-122"/>
                <a:cs typeface="Calibri" pitchFamily="34" charset="-120"/>
              </a:rPr>
              <a:t>BNP Paribas Cardif · CARD Production</a:t>
            </a:r>
            <a:endParaRPr lang="en-US" sz="900" dirty="0"/>
          </a:p>
        </p:txBody>
      </p:sp>
      <p:sp>
        <p:nvSpPr>
          <p:cNvPr id="22" name="Text 17"/>
          <p:cNvSpPr/>
          <p:nvPr/>
        </p:nvSpPr>
        <p:spPr>
          <a:xfrm>
            <a:off x="8229600" y="6492240"/>
            <a:ext cx="3383280" cy="228600"/>
          </a:xfrm>
          <a:prstGeom prst="rect">
            <a:avLst/>
          </a:prstGeom>
          <a:noFill/>
          <a:ln/>
        </p:spPr>
        <p:txBody>
          <a:bodyPr wrap="square" lIns="0" tIns="0" rIns="0" bIns="0" rtlCol="0" anchor="ctr"/>
          <a:lstStyle/>
          <a:p>
            <a:pPr algn="r" indent="0" marL="0">
              <a:buNone/>
            </a:pPr>
            <a:r>
              <a:rPr lang="en-US" sz="900" dirty="0">
                <a:solidFill>
                  <a:srgbClr val="9AA5A1"/>
                </a:solidFill>
                <a:latin typeface="Calibri" pitchFamily="34" charset="0"/>
                <a:ea typeface="Calibri" pitchFamily="34" charset="-122"/>
                <a:cs typeface="Calibri" pitchFamily="34" charset="-120"/>
              </a:rPr>
              <a:t>03 · Context</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3A2B"/>
        </a:solidFill>
      </p:bgPr>
    </p:bg>
    <p:spTree>
      <p:nvGrpSpPr>
        <p:cNvPr id="1" name=""/>
        <p:cNvGrpSpPr/>
        <p:nvPr/>
      </p:nvGrpSpPr>
      <p:grpSpPr>
        <a:xfrm>
          <a:off x="0" y="0"/>
          <a:ext cx="0" cy="0"/>
          <a:chOff x="0" y="0"/>
          <a:chExt cx="0" cy="0"/>
        </a:xfrm>
      </p:grpSpPr>
      <p:sp>
        <p:nvSpPr>
          <p:cNvPr id="2" name="Text 0"/>
          <p:cNvSpPr/>
          <p:nvPr/>
        </p:nvSpPr>
        <p:spPr>
          <a:xfrm>
            <a:off x="9144000" y="731520"/>
            <a:ext cx="2743200" cy="5394960"/>
          </a:xfrm>
          <a:prstGeom prst="rect">
            <a:avLst/>
          </a:prstGeom>
          <a:noFill/>
          <a:ln/>
        </p:spPr>
        <p:txBody>
          <a:bodyPr wrap="square" lIns="0" tIns="0" rIns="0" bIns="0" rtlCol="0" anchor="ctr"/>
          <a:lstStyle/>
          <a:p>
            <a:pPr algn="ctr" indent="0" marL="0">
              <a:buNone/>
            </a:pPr>
            <a:r>
              <a:rPr lang="en-US" sz="30000" b="1" dirty="0">
                <a:solidFill>
                  <a:srgbClr val="0E5540"/>
                </a:solidFill>
                <a:latin typeface="Georgia" pitchFamily="34" charset="0"/>
                <a:ea typeface="Georgia" pitchFamily="34" charset="-122"/>
                <a:cs typeface="Georgia" pitchFamily="34" charset="-120"/>
              </a:rPr>
              <a:t>1</a:t>
            </a:r>
            <a:endParaRPr lang="en-US" sz="30000" dirty="0"/>
          </a:p>
        </p:txBody>
      </p:sp>
      <p:sp>
        <p:nvSpPr>
          <p:cNvPr id="3" name="Shape 1"/>
          <p:cNvSpPr/>
          <p:nvPr/>
        </p:nvSpPr>
        <p:spPr>
          <a:xfrm>
            <a:off x="640080" y="2286000"/>
            <a:ext cx="457200" cy="36576"/>
          </a:xfrm>
          <a:prstGeom prst="rect">
            <a:avLst/>
          </a:prstGeom>
          <a:solidFill>
            <a:srgbClr val="D4A840"/>
          </a:solidFill>
          <a:ln w="12700">
            <a:solidFill>
              <a:srgbClr val="D4A840"/>
            </a:solidFill>
            <a:prstDash val="solid"/>
          </a:ln>
        </p:spPr>
      </p:sp>
      <p:sp>
        <p:nvSpPr>
          <p:cNvPr id="4" name="Text 2"/>
          <p:cNvSpPr/>
          <p:nvPr/>
        </p:nvSpPr>
        <p:spPr>
          <a:xfrm>
            <a:off x="640080" y="2423160"/>
            <a:ext cx="5486400" cy="320040"/>
          </a:xfrm>
          <a:prstGeom prst="rect">
            <a:avLst/>
          </a:prstGeom>
          <a:noFill/>
          <a:ln/>
        </p:spPr>
        <p:txBody>
          <a:bodyPr wrap="square" lIns="0" tIns="0" rIns="0" bIns="0" rtlCol="0" anchor="ctr"/>
          <a:lstStyle/>
          <a:p>
            <a:pPr indent="0" marL="0">
              <a:buNone/>
            </a:pPr>
            <a:r>
              <a:rPr lang="en-US" sz="1200" b="1" spc="800" kern="0" dirty="0">
                <a:solidFill>
                  <a:srgbClr val="D4A840"/>
                </a:solidFill>
                <a:latin typeface="Calibri" pitchFamily="34" charset="0"/>
                <a:ea typeface="Calibri" pitchFamily="34" charset="-122"/>
                <a:cs typeface="Calibri" pitchFamily="34" charset="-120"/>
              </a:rPr>
              <a:t>SECTION 01</a:t>
            </a:r>
            <a:endParaRPr lang="en-US" sz="1200" dirty="0"/>
          </a:p>
        </p:txBody>
      </p:sp>
      <p:sp>
        <p:nvSpPr>
          <p:cNvPr id="5" name="Text 3"/>
          <p:cNvSpPr/>
          <p:nvPr/>
        </p:nvSpPr>
        <p:spPr>
          <a:xfrm>
            <a:off x="640080" y="2971800"/>
            <a:ext cx="8412480" cy="118872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dMZR</a:t>
            </a:r>
            <a:endParaRPr lang="en-US" sz="5400" dirty="0"/>
          </a:p>
        </p:txBody>
      </p:sp>
      <p:sp>
        <p:nvSpPr>
          <p:cNvPr id="6" name="Text 4"/>
          <p:cNvSpPr/>
          <p:nvPr/>
        </p:nvSpPr>
        <p:spPr>
          <a:xfrm>
            <a:off x="640080" y="4343400"/>
            <a:ext cx="8412480" cy="1005840"/>
          </a:xfrm>
          <a:prstGeom prst="rect">
            <a:avLst/>
          </a:prstGeom>
          <a:noFill/>
          <a:ln/>
        </p:spPr>
        <p:txBody>
          <a:bodyPr wrap="square" lIns="0" tIns="0" rIns="0" bIns="0" rtlCol="0" anchor="ctr"/>
          <a:lstStyle/>
          <a:p>
            <a:pPr indent="0" marL="0">
              <a:lnSpc>
                <a:spcPct val="130000"/>
              </a:lnSpc>
              <a:buNone/>
            </a:pPr>
            <a:r>
              <a:rPr lang="en-US" sz="1900" i="1" dirty="0">
                <a:solidFill>
                  <a:srgbClr val="C9D6CF"/>
                </a:solidFill>
                <a:latin typeface="Georgia" pitchFamily="34" charset="0"/>
                <a:ea typeface="Georgia" pitchFamily="34" charset="-122"/>
                <a:cs typeface="Georgia" pitchFamily="34" charset="-120"/>
              </a:rPr>
              <a:t>Two platforms: dMZR (IKS) and dMZR aS Code (ROKS)</a:t>
            </a:r>
            <a:endParaRPr lang="en-US" sz="1900" dirty="0"/>
          </a:p>
        </p:txBody>
      </p:sp>
      <p:sp>
        <p:nvSpPr>
          <p:cNvPr id="7" name="Text 5"/>
          <p:cNvSpPr/>
          <p:nvPr/>
        </p:nvSpPr>
        <p:spPr>
          <a:xfrm>
            <a:off x="640080" y="6172200"/>
            <a:ext cx="5486400" cy="274320"/>
          </a:xfrm>
          <a:prstGeom prst="rect">
            <a:avLst/>
          </a:prstGeom>
          <a:noFill/>
          <a:ln/>
        </p:spPr>
        <p:txBody>
          <a:bodyPr wrap="square" lIns="0" tIns="0" rIns="0" bIns="0" rtlCol="0" anchor="ctr"/>
          <a:lstStyle/>
          <a:p>
            <a:pPr indent="0" marL="0">
              <a:buNone/>
            </a:pPr>
            <a:r>
              <a:rPr lang="en-US" sz="1100" b="1" spc="800" kern="0" dirty="0">
                <a:solidFill>
                  <a:srgbClr val="FFFFFF"/>
                </a:solidFill>
                <a:latin typeface="Calibri" pitchFamily="34" charset="0"/>
                <a:ea typeface="Calibri" pitchFamily="34" charset="-122"/>
                <a:cs typeface="Calibri" pitchFamily="34" charset="-120"/>
              </a:rPr>
              <a:t>BNP PARIBAS CARDIF</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9144000" cy="274320"/>
          </a:xfrm>
          <a:prstGeom prst="rect">
            <a:avLst/>
          </a:prstGeom>
          <a:noFill/>
          <a:ln/>
        </p:spPr>
        <p:txBody>
          <a:bodyPr wrap="square" lIns="0" tIns="0" rIns="0" bIns="0" rtlCol="0" anchor="ctr"/>
          <a:lstStyle/>
          <a:p>
            <a:pPr indent="0" marL="0">
              <a:buNone/>
            </a:pPr>
            <a:r>
              <a:rPr lang="en-US" sz="1100" b="1" spc="600" kern="0" dirty="0">
                <a:solidFill>
                  <a:srgbClr val="00915A"/>
                </a:solidFill>
                <a:latin typeface="Calibri" pitchFamily="34" charset="0"/>
                <a:ea typeface="Calibri" pitchFamily="34" charset="-122"/>
                <a:cs typeface="Calibri" pitchFamily="34" charset="-120"/>
              </a:rPr>
              <a:t>01 · dMZR</a:t>
            </a:r>
            <a:endParaRPr lang="en-US" sz="1100" dirty="0"/>
          </a:p>
        </p:txBody>
      </p:sp>
      <p:sp>
        <p:nvSpPr>
          <p:cNvPr id="3" name="Text 1"/>
          <p:cNvSpPr/>
          <p:nvPr/>
        </p:nvSpPr>
        <p:spPr>
          <a:xfrm>
            <a:off x="640080" y="822960"/>
            <a:ext cx="10972800" cy="822960"/>
          </a:xfrm>
          <a:prstGeom prst="rect">
            <a:avLst/>
          </a:prstGeom>
          <a:noFill/>
          <a:ln/>
        </p:spPr>
        <p:txBody>
          <a:bodyPr wrap="square" lIns="0" tIns="0" rIns="0" bIns="0" rtlCol="0" anchor="ctr"/>
          <a:lstStyle/>
          <a:p>
            <a:pPr indent="0" marL="0">
              <a:buNone/>
            </a:pPr>
            <a:r>
              <a:rPr lang="en-US" sz="3200" b="1" dirty="0">
                <a:solidFill>
                  <a:srgbClr val="1A2E28"/>
                </a:solidFill>
                <a:latin typeface="Georgia" pitchFamily="34" charset="0"/>
                <a:ea typeface="Georgia" pitchFamily="34" charset="-122"/>
                <a:cs typeface="Georgia" pitchFamily="34" charset="-120"/>
              </a:rPr>
              <a:t>One IBM Cloud region, two platforms</a:t>
            </a:r>
            <a:endParaRPr lang="en-US" sz="3200" dirty="0"/>
          </a:p>
        </p:txBody>
      </p:sp>
      <p:sp>
        <p:nvSpPr>
          <p:cNvPr id="4" name="Text 2"/>
          <p:cNvSpPr/>
          <p:nvPr/>
        </p:nvSpPr>
        <p:spPr>
          <a:xfrm>
            <a:off x="640080" y="1828800"/>
            <a:ext cx="10972800" cy="822960"/>
          </a:xfrm>
          <a:prstGeom prst="rect">
            <a:avLst/>
          </a:prstGeom>
          <a:noFill/>
          <a:ln/>
        </p:spPr>
        <p:txBody>
          <a:bodyPr wrap="square" lIns="0" tIns="0" rIns="0" bIns="0" rtlCol="0" anchor="ctr"/>
          <a:lstStyle/>
          <a:p>
            <a:pPr indent="0" marL="0">
              <a:lnSpc>
                <a:spcPct val="130000"/>
              </a:lnSpc>
              <a:buNone/>
            </a:pPr>
            <a:r>
              <a:rPr lang="en-US" sz="1500" i="1" dirty="0">
                <a:solidFill>
                  <a:srgbClr val="2C2C2C"/>
                </a:solidFill>
                <a:latin typeface="Georgia" pitchFamily="34" charset="0"/>
                <a:ea typeface="Georgia" pitchFamily="34" charset="-122"/>
                <a:cs typeface="Georgia" pitchFamily="34" charset="-120"/>
              </a:rPr>
              <a:t>The IBM Cloud region dedicated to BNP Paribas hosts two distinct platforms, both in production and operated by BP2I. Projects hosted on the dMZR are progressively migrating to the dMZR aS Code.</a:t>
            </a:r>
            <a:endParaRPr lang="en-US" sz="1500" dirty="0"/>
          </a:p>
        </p:txBody>
      </p:sp>
      <p:sp>
        <p:nvSpPr>
          <p:cNvPr id="5" name="Shape 3"/>
          <p:cNvSpPr/>
          <p:nvPr/>
        </p:nvSpPr>
        <p:spPr>
          <a:xfrm>
            <a:off x="640080" y="2743200"/>
            <a:ext cx="5440680" cy="3383280"/>
          </a:xfrm>
          <a:prstGeom prst="rect">
            <a:avLst/>
          </a:prstGeom>
          <a:solidFill>
            <a:srgbClr val="FFFFFF"/>
          </a:solidFill>
          <a:ln w="9525">
            <a:solidFill>
              <a:srgbClr val="E2E8F0"/>
            </a:solidFill>
            <a:prstDash val="solid"/>
          </a:ln>
          <a:effectLst>
            <a:outerShdw sx="100000" sy="100000" kx="0" ky="0" algn="bl" rotWithShape="0" blurRad="152400" dist="38100" dir="5400000">
              <a:srgbClr val="000000">
                <a:alpha val="8000"/>
              </a:srgbClr>
            </a:outerShdw>
          </a:effectLst>
        </p:spPr>
      </p:sp>
      <p:sp>
        <p:nvSpPr>
          <p:cNvPr id="6" name="Shape 4"/>
          <p:cNvSpPr/>
          <p:nvPr/>
        </p:nvSpPr>
        <p:spPr>
          <a:xfrm>
            <a:off x="640080" y="2743200"/>
            <a:ext cx="5440680" cy="109728"/>
          </a:xfrm>
          <a:prstGeom prst="rect">
            <a:avLst/>
          </a:prstGeom>
          <a:solidFill>
            <a:srgbClr val="00915A"/>
          </a:solidFill>
          <a:ln w="12700">
            <a:solidFill>
              <a:srgbClr val="00915A"/>
            </a:solidFill>
            <a:prstDash val="solid"/>
          </a:ln>
        </p:spPr>
      </p:sp>
      <p:sp>
        <p:nvSpPr>
          <p:cNvPr id="7" name="Shape 5"/>
          <p:cNvSpPr/>
          <p:nvPr/>
        </p:nvSpPr>
        <p:spPr>
          <a:xfrm>
            <a:off x="914400" y="3063240"/>
            <a:ext cx="2468880" cy="320040"/>
          </a:xfrm>
          <a:prstGeom prst="rect">
            <a:avLst/>
          </a:prstGeom>
          <a:solidFill>
            <a:srgbClr val="00915A"/>
          </a:solidFill>
          <a:ln w="12700">
            <a:solidFill>
              <a:srgbClr val="00915A"/>
            </a:solidFill>
            <a:prstDash val="solid"/>
          </a:ln>
        </p:spPr>
      </p:sp>
      <p:sp>
        <p:nvSpPr>
          <p:cNvPr id="8" name="Text 6"/>
          <p:cNvSpPr/>
          <p:nvPr/>
        </p:nvSpPr>
        <p:spPr>
          <a:xfrm>
            <a:off x="914400" y="3063240"/>
            <a:ext cx="2468880" cy="320040"/>
          </a:xfrm>
          <a:prstGeom prst="rect">
            <a:avLst/>
          </a:prstGeom>
          <a:noFill/>
          <a:ln/>
        </p:spPr>
        <p:txBody>
          <a:bodyPr wrap="square" lIns="0" tIns="0" rIns="0" bIns="0" rtlCol="0" anchor="ctr"/>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IN PRODUCTION</a:t>
            </a:r>
            <a:endParaRPr lang="en-US" sz="1000" dirty="0"/>
          </a:p>
        </p:txBody>
      </p:sp>
      <p:sp>
        <p:nvSpPr>
          <p:cNvPr id="9" name="Text 7"/>
          <p:cNvSpPr/>
          <p:nvPr/>
        </p:nvSpPr>
        <p:spPr>
          <a:xfrm>
            <a:off x="914400" y="3520440"/>
            <a:ext cx="4892040" cy="548640"/>
          </a:xfrm>
          <a:prstGeom prst="rect">
            <a:avLst/>
          </a:prstGeom>
          <a:noFill/>
          <a:ln/>
        </p:spPr>
        <p:txBody>
          <a:bodyPr wrap="square" lIns="0" tIns="0" rIns="0" bIns="0" rtlCol="0" anchor="ctr"/>
          <a:lstStyle/>
          <a:p>
            <a:pPr indent="0" marL="0">
              <a:buNone/>
            </a:pPr>
            <a:r>
              <a:rPr lang="en-US" sz="3000" b="1" dirty="0">
                <a:solidFill>
                  <a:srgbClr val="1A2E28"/>
                </a:solidFill>
                <a:latin typeface="Georgia" pitchFamily="34" charset="0"/>
                <a:ea typeface="Georgia" pitchFamily="34" charset="-122"/>
                <a:cs typeface="Georgia" pitchFamily="34" charset="-120"/>
              </a:rPr>
              <a:t>dMZR</a:t>
            </a:r>
            <a:endParaRPr lang="en-US" sz="3000" dirty="0"/>
          </a:p>
        </p:txBody>
      </p:sp>
      <p:sp>
        <p:nvSpPr>
          <p:cNvPr id="10" name="Text 8"/>
          <p:cNvSpPr/>
          <p:nvPr/>
        </p:nvSpPr>
        <p:spPr>
          <a:xfrm>
            <a:off x="914400" y="4096512"/>
            <a:ext cx="4892040" cy="320040"/>
          </a:xfrm>
          <a:prstGeom prst="rect">
            <a:avLst/>
          </a:prstGeom>
          <a:noFill/>
          <a:ln/>
        </p:spPr>
        <p:txBody>
          <a:bodyPr wrap="square" lIns="0" tIns="0" rIns="0" bIns="0" rtlCol="0" anchor="ctr"/>
          <a:lstStyle/>
          <a:p>
            <a:pPr indent="0" marL="0">
              <a:buNone/>
            </a:pPr>
            <a:r>
              <a:rPr lang="en-US" sz="1300" i="1" dirty="0">
                <a:solidFill>
                  <a:srgbClr val="6B7B78"/>
                </a:solidFill>
                <a:latin typeface="Calibri" pitchFamily="34" charset="0"/>
                <a:ea typeface="Calibri" pitchFamily="34" charset="-122"/>
                <a:cs typeface="Calibri" pitchFamily="34" charset="-120"/>
              </a:rPr>
              <a:t>Legacy platform · migration in progress</a:t>
            </a:r>
            <a:endParaRPr lang="en-US" sz="1300" dirty="0"/>
          </a:p>
        </p:txBody>
      </p:sp>
      <p:sp>
        <p:nvSpPr>
          <p:cNvPr id="11" name="Text 9"/>
          <p:cNvSpPr/>
          <p:nvPr/>
        </p:nvSpPr>
        <p:spPr>
          <a:xfrm>
            <a:off x="914400" y="4526280"/>
            <a:ext cx="1371600" cy="310896"/>
          </a:xfrm>
          <a:prstGeom prst="rect">
            <a:avLst/>
          </a:prstGeom>
          <a:noFill/>
          <a:ln/>
        </p:spPr>
        <p:txBody>
          <a:bodyPr wrap="square" lIns="0" tIns="0" rIns="0" bIns="0" rtlCol="0" anchor="ctr"/>
          <a:lstStyle/>
          <a:p>
            <a:pPr indent="0" marL="0">
              <a:buNone/>
            </a:pPr>
            <a:r>
              <a:rPr lang="en-US" sz="900" b="1" spc="400" kern="0" dirty="0">
                <a:solidFill>
                  <a:srgbClr val="00915A"/>
                </a:solidFill>
                <a:latin typeface="Calibri" pitchFamily="34" charset="0"/>
                <a:ea typeface="Calibri" pitchFamily="34" charset="-122"/>
                <a:cs typeface="Calibri" pitchFamily="34" charset="-120"/>
              </a:rPr>
              <a:t>COMPUTE</a:t>
            </a:r>
            <a:endParaRPr lang="en-US" sz="900" dirty="0"/>
          </a:p>
        </p:txBody>
      </p:sp>
      <p:sp>
        <p:nvSpPr>
          <p:cNvPr id="12" name="Text 10"/>
          <p:cNvSpPr/>
          <p:nvPr/>
        </p:nvSpPr>
        <p:spPr>
          <a:xfrm>
            <a:off x="2377440" y="4526280"/>
            <a:ext cx="3429000" cy="310896"/>
          </a:xfrm>
          <a:prstGeom prst="rect">
            <a:avLst/>
          </a:prstGeom>
          <a:noFill/>
          <a:ln/>
        </p:spPr>
        <p:txBody>
          <a:bodyPr wrap="square" lIns="0" tIns="0" rIns="0" bIns="0" rtlCol="0" anchor="ctr"/>
          <a:lstStyle/>
          <a:p>
            <a:pPr indent="0" marL="0">
              <a:buNone/>
            </a:pPr>
            <a:r>
              <a:rPr lang="en-US" sz="1100" dirty="0">
                <a:solidFill>
                  <a:srgbClr val="2C2C2C"/>
                </a:solidFill>
                <a:latin typeface="Calibri" pitchFamily="34" charset="0"/>
                <a:ea typeface="Calibri" pitchFamily="34" charset="-122"/>
                <a:cs typeface="Calibri" pitchFamily="34" charset="-120"/>
              </a:rPr>
              <a:t>IKS · VSI</a:t>
            </a:r>
            <a:endParaRPr lang="en-US" sz="1100" dirty="0"/>
          </a:p>
        </p:txBody>
      </p:sp>
      <p:sp>
        <p:nvSpPr>
          <p:cNvPr id="13" name="Shape 11"/>
          <p:cNvSpPr/>
          <p:nvPr/>
        </p:nvSpPr>
        <p:spPr>
          <a:xfrm>
            <a:off x="914400" y="4837176"/>
            <a:ext cx="4892040" cy="0"/>
          </a:xfrm>
          <a:prstGeom prst="line">
            <a:avLst/>
          </a:prstGeom>
          <a:noFill/>
          <a:ln w="5080">
            <a:solidFill>
              <a:srgbClr val="E2E8F0"/>
            </a:solidFill>
            <a:prstDash val="solid"/>
          </a:ln>
        </p:spPr>
      </p:sp>
      <p:sp>
        <p:nvSpPr>
          <p:cNvPr id="14" name="Text 12"/>
          <p:cNvSpPr/>
          <p:nvPr/>
        </p:nvSpPr>
        <p:spPr>
          <a:xfrm>
            <a:off x="914400" y="4837176"/>
            <a:ext cx="1371600" cy="310896"/>
          </a:xfrm>
          <a:prstGeom prst="rect">
            <a:avLst/>
          </a:prstGeom>
          <a:noFill/>
          <a:ln/>
        </p:spPr>
        <p:txBody>
          <a:bodyPr wrap="square" lIns="0" tIns="0" rIns="0" bIns="0" rtlCol="0" anchor="ctr"/>
          <a:lstStyle/>
          <a:p>
            <a:pPr indent="0" marL="0">
              <a:buNone/>
            </a:pPr>
            <a:r>
              <a:rPr lang="en-US" sz="900" b="1" spc="400" kern="0" dirty="0">
                <a:solidFill>
                  <a:srgbClr val="00915A"/>
                </a:solidFill>
                <a:latin typeface="Calibri" pitchFamily="34" charset="0"/>
                <a:ea typeface="Calibri" pitchFamily="34" charset="-122"/>
                <a:cs typeface="Calibri" pitchFamily="34" charset="-120"/>
              </a:rPr>
              <a:t>SERVICES</a:t>
            </a:r>
            <a:endParaRPr lang="en-US" sz="900" dirty="0"/>
          </a:p>
        </p:txBody>
      </p:sp>
      <p:sp>
        <p:nvSpPr>
          <p:cNvPr id="15" name="Text 13"/>
          <p:cNvSpPr/>
          <p:nvPr/>
        </p:nvSpPr>
        <p:spPr>
          <a:xfrm>
            <a:off x="2377440" y="4837176"/>
            <a:ext cx="3429000" cy="310896"/>
          </a:xfrm>
          <a:prstGeom prst="rect">
            <a:avLst/>
          </a:prstGeom>
          <a:noFill/>
          <a:ln/>
        </p:spPr>
        <p:txBody>
          <a:bodyPr wrap="square" lIns="0" tIns="0" rIns="0" bIns="0" rtlCol="0" anchor="ctr"/>
          <a:lstStyle/>
          <a:p>
            <a:pPr indent="0" marL="0">
              <a:buNone/>
            </a:pPr>
            <a:r>
              <a:rPr lang="en-US" sz="1100" dirty="0">
                <a:solidFill>
                  <a:srgbClr val="2C2C2C"/>
                </a:solidFill>
                <a:latin typeface="Calibri" pitchFamily="34" charset="0"/>
                <a:ea typeface="Calibri" pitchFamily="34" charset="-122"/>
                <a:cs typeface="Calibri" pitchFamily="34" charset="-120"/>
              </a:rPr>
              <a:t>Kafka · Databases · COS</a:t>
            </a:r>
            <a:endParaRPr lang="en-US" sz="1100" dirty="0"/>
          </a:p>
        </p:txBody>
      </p:sp>
      <p:sp>
        <p:nvSpPr>
          <p:cNvPr id="16" name="Shape 14"/>
          <p:cNvSpPr/>
          <p:nvPr/>
        </p:nvSpPr>
        <p:spPr>
          <a:xfrm>
            <a:off x="914400" y="5148072"/>
            <a:ext cx="4892040" cy="0"/>
          </a:xfrm>
          <a:prstGeom prst="line">
            <a:avLst/>
          </a:prstGeom>
          <a:noFill/>
          <a:ln w="5080">
            <a:solidFill>
              <a:srgbClr val="E2E8F0"/>
            </a:solidFill>
            <a:prstDash val="solid"/>
          </a:ln>
        </p:spPr>
      </p:sp>
      <p:sp>
        <p:nvSpPr>
          <p:cNvPr id="17" name="Text 15"/>
          <p:cNvSpPr/>
          <p:nvPr/>
        </p:nvSpPr>
        <p:spPr>
          <a:xfrm>
            <a:off x="914400" y="5148072"/>
            <a:ext cx="1371600" cy="310896"/>
          </a:xfrm>
          <a:prstGeom prst="rect">
            <a:avLst/>
          </a:prstGeom>
          <a:noFill/>
          <a:ln/>
        </p:spPr>
        <p:txBody>
          <a:bodyPr wrap="square" lIns="0" tIns="0" rIns="0" bIns="0" rtlCol="0" anchor="ctr"/>
          <a:lstStyle/>
          <a:p>
            <a:pPr indent="0" marL="0">
              <a:buNone/>
            </a:pPr>
            <a:r>
              <a:rPr lang="en-US" sz="900" b="1" spc="400" kern="0" dirty="0">
                <a:solidFill>
                  <a:srgbClr val="00915A"/>
                </a:solidFill>
                <a:latin typeface="Calibri" pitchFamily="34" charset="0"/>
                <a:ea typeface="Calibri" pitchFamily="34" charset="-122"/>
                <a:cs typeface="Calibri" pitchFamily="34" charset="-120"/>
              </a:rPr>
              <a:t>UNIT</a:t>
            </a:r>
            <a:endParaRPr lang="en-US" sz="900" dirty="0"/>
          </a:p>
        </p:txBody>
      </p:sp>
      <p:sp>
        <p:nvSpPr>
          <p:cNvPr id="18" name="Text 16"/>
          <p:cNvSpPr/>
          <p:nvPr/>
        </p:nvSpPr>
        <p:spPr>
          <a:xfrm>
            <a:off x="2377440" y="5148072"/>
            <a:ext cx="3429000" cy="310896"/>
          </a:xfrm>
          <a:prstGeom prst="rect">
            <a:avLst/>
          </a:prstGeom>
          <a:noFill/>
          <a:ln/>
        </p:spPr>
        <p:txBody>
          <a:bodyPr wrap="square" lIns="0" tIns="0" rIns="0" bIns="0" rtlCol="0" anchor="ctr"/>
          <a:lstStyle/>
          <a:p>
            <a:pPr indent="0" marL="0">
              <a:buNone/>
            </a:pPr>
            <a:r>
              <a:rPr lang="en-US" sz="1100" dirty="0">
                <a:solidFill>
                  <a:srgbClr val="2C2C2C"/>
                </a:solidFill>
                <a:latin typeface="Calibri" pitchFamily="34" charset="0"/>
                <a:ea typeface="Calibri" pitchFamily="34" charset="-122"/>
                <a:cs typeface="Calibri" pitchFamily="34" charset="-120"/>
              </a:rPr>
              <a:t>Ecosystem</a:t>
            </a:r>
            <a:endParaRPr lang="en-US" sz="1100" dirty="0"/>
          </a:p>
        </p:txBody>
      </p:sp>
      <p:sp>
        <p:nvSpPr>
          <p:cNvPr id="19" name="Shape 17"/>
          <p:cNvSpPr/>
          <p:nvPr/>
        </p:nvSpPr>
        <p:spPr>
          <a:xfrm>
            <a:off x="914400" y="5458968"/>
            <a:ext cx="4892040" cy="0"/>
          </a:xfrm>
          <a:prstGeom prst="line">
            <a:avLst/>
          </a:prstGeom>
          <a:noFill/>
          <a:ln w="5080">
            <a:solidFill>
              <a:srgbClr val="E2E8F0"/>
            </a:solidFill>
            <a:prstDash val="solid"/>
          </a:ln>
        </p:spPr>
      </p:sp>
      <p:sp>
        <p:nvSpPr>
          <p:cNvPr id="20" name="Text 18"/>
          <p:cNvSpPr/>
          <p:nvPr/>
        </p:nvSpPr>
        <p:spPr>
          <a:xfrm>
            <a:off x="914400" y="5458968"/>
            <a:ext cx="1371600" cy="310896"/>
          </a:xfrm>
          <a:prstGeom prst="rect">
            <a:avLst/>
          </a:prstGeom>
          <a:noFill/>
          <a:ln/>
        </p:spPr>
        <p:txBody>
          <a:bodyPr wrap="square" lIns="0" tIns="0" rIns="0" bIns="0" rtlCol="0" anchor="ctr"/>
          <a:lstStyle/>
          <a:p>
            <a:pPr indent="0" marL="0">
              <a:buNone/>
            </a:pPr>
            <a:r>
              <a:rPr lang="en-US" sz="900" b="1" spc="400" kern="0" dirty="0">
                <a:solidFill>
                  <a:srgbClr val="00915A"/>
                </a:solidFill>
                <a:latin typeface="Calibri" pitchFamily="34" charset="0"/>
                <a:ea typeface="Calibri" pitchFamily="34" charset="-122"/>
                <a:cs typeface="Calibri" pitchFamily="34" charset="-120"/>
              </a:rPr>
              <a:t>PROVISIONING</a:t>
            </a:r>
            <a:endParaRPr lang="en-US" sz="900" dirty="0"/>
          </a:p>
        </p:txBody>
      </p:sp>
      <p:sp>
        <p:nvSpPr>
          <p:cNvPr id="21" name="Text 19"/>
          <p:cNvSpPr/>
          <p:nvPr/>
        </p:nvSpPr>
        <p:spPr>
          <a:xfrm>
            <a:off x="2377440" y="5458968"/>
            <a:ext cx="3429000" cy="310896"/>
          </a:xfrm>
          <a:prstGeom prst="rect">
            <a:avLst/>
          </a:prstGeom>
          <a:noFill/>
          <a:ln/>
        </p:spPr>
        <p:txBody>
          <a:bodyPr wrap="square" lIns="0" tIns="0" rIns="0" bIns="0" rtlCol="0" anchor="ctr"/>
          <a:lstStyle/>
          <a:p>
            <a:pPr indent="0" marL="0">
              <a:buNone/>
            </a:pPr>
            <a:r>
              <a:rPr lang="en-US" sz="1100" dirty="0">
                <a:solidFill>
                  <a:srgbClr val="2C2C2C"/>
                </a:solidFill>
                <a:latin typeface="Calibri" pitchFamily="34" charset="0"/>
                <a:ea typeface="Calibri" pitchFamily="34" charset="-122"/>
                <a:cs typeface="Calibri" pitchFamily="34" charset="-120"/>
              </a:rPr>
              <a:t>Marketplace · REST API (Swagger)</a:t>
            </a:r>
            <a:endParaRPr lang="en-US" sz="1100" dirty="0"/>
          </a:p>
        </p:txBody>
      </p:sp>
      <p:sp>
        <p:nvSpPr>
          <p:cNvPr id="22" name="Shape 20"/>
          <p:cNvSpPr/>
          <p:nvPr/>
        </p:nvSpPr>
        <p:spPr>
          <a:xfrm>
            <a:off x="914400" y="5769864"/>
            <a:ext cx="4892040" cy="0"/>
          </a:xfrm>
          <a:prstGeom prst="line">
            <a:avLst/>
          </a:prstGeom>
          <a:noFill/>
          <a:ln w="5080">
            <a:solidFill>
              <a:srgbClr val="E2E8F0"/>
            </a:solidFill>
            <a:prstDash val="solid"/>
          </a:ln>
        </p:spPr>
      </p:sp>
      <p:sp>
        <p:nvSpPr>
          <p:cNvPr id="23" name="Text 21"/>
          <p:cNvSpPr/>
          <p:nvPr/>
        </p:nvSpPr>
        <p:spPr>
          <a:xfrm>
            <a:off x="914400" y="5769864"/>
            <a:ext cx="1371600" cy="310896"/>
          </a:xfrm>
          <a:prstGeom prst="rect">
            <a:avLst/>
          </a:prstGeom>
          <a:noFill/>
          <a:ln/>
        </p:spPr>
        <p:txBody>
          <a:bodyPr wrap="square" lIns="0" tIns="0" rIns="0" bIns="0" rtlCol="0" anchor="ctr"/>
          <a:lstStyle/>
          <a:p>
            <a:pPr indent="0" marL="0">
              <a:buNone/>
            </a:pPr>
            <a:r>
              <a:rPr lang="en-US" sz="900" b="1" spc="400" kern="0" dirty="0">
                <a:solidFill>
                  <a:srgbClr val="00915A"/>
                </a:solidFill>
                <a:latin typeface="Calibri" pitchFamily="34" charset="0"/>
                <a:ea typeface="Calibri" pitchFamily="34" charset="-122"/>
                <a:cs typeface="Calibri" pitchFamily="34" charset="-120"/>
              </a:rPr>
              <a:t>STATUS</a:t>
            </a:r>
            <a:endParaRPr lang="en-US" sz="900" dirty="0"/>
          </a:p>
        </p:txBody>
      </p:sp>
      <p:sp>
        <p:nvSpPr>
          <p:cNvPr id="24" name="Text 22"/>
          <p:cNvSpPr/>
          <p:nvPr/>
        </p:nvSpPr>
        <p:spPr>
          <a:xfrm>
            <a:off x="2377440" y="5769864"/>
            <a:ext cx="3429000" cy="310896"/>
          </a:xfrm>
          <a:prstGeom prst="rect">
            <a:avLst/>
          </a:prstGeom>
          <a:noFill/>
          <a:ln/>
        </p:spPr>
        <p:txBody>
          <a:bodyPr wrap="square" lIns="0" tIns="0" rIns="0" bIns="0" rtlCol="0" anchor="ctr"/>
          <a:lstStyle/>
          <a:p>
            <a:pPr indent="0" marL="0">
              <a:buNone/>
            </a:pPr>
            <a:r>
              <a:rPr lang="en-US" sz="1100" dirty="0">
                <a:solidFill>
                  <a:srgbClr val="2C2C2C"/>
                </a:solidFill>
                <a:latin typeface="Calibri" pitchFamily="34" charset="0"/>
                <a:ea typeface="Calibri" pitchFamily="34" charset="-122"/>
                <a:cs typeface="Calibri" pitchFamily="34" charset="-120"/>
              </a:rPr>
              <a:t>In production · projects migrating</a:t>
            </a:r>
            <a:endParaRPr lang="en-US" sz="1100" dirty="0"/>
          </a:p>
        </p:txBody>
      </p:sp>
      <p:sp>
        <p:nvSpPr>
          <p:cNvPr id="25" name="Shape 23"/>
          <p:cNvSpPr/>
          <p:nvPr/>
        </p:nvSpPr>
        <p:spPr>
          <a:xfrm>
            <a:off x="6309360" y="2743200"/>
            <a:ext cx="5440680" cy="3383280"/>
          </a:xfrm>
          <a:prstGeom prst="rect">
            <a:avLst/>
          </a:prstGeom>
          <a:solidFill>
            <a:srgbClr val="FFFFFF"/>
          </a:solidFill>
          <a:ln w="9525">
            <a:solidFill>
              <a:srgbClr val="E2E8F0"/>
            </a:solidFill>
            <a:prstDash val="solid"/>
          </a:ln>
          <a:effectLst>
            <a:outerShdw sx="100000" sy="100000" kx="0" ky="0" algn="bl" rotWithShape="0" blurRad="152400" dist="38100" dir="5400000">
              <a:srgbClr val="000000">
                <a:alpha val="8000"/>
              </a:srgbClr>
            </a:outerShdw>
          </a:effectLst>
        </p:spPr>
      </p:sp>
      <p:sp>
        <p:nvSpPr>
          <p:cNvPr id="26" name="Shape 24"/>
          <p:cNvSpPr/>
          <p:nvPr/>
        </p:nvSpPr>
        <p:spPr>
          <a:xfrm>
            <a:off x="6309360" y="2743200"/>
            <a:ext cx="5440680" cy="109728"/>
          </a:xfrm>
          <a:prstGeom prst="rect">
            <a:avLst/>
          </a:prstGeom>
          <a:solidFill>
            <a:srgbClr val="D4A840"/>
          </a:solidFill>
          <a:ln w="12700">
            <a:solidFill>
              <a:srgbClr val="D4A840"/>
            </a:solidFill>
            <a:prstDash val="solid"/>
          </a:ln>
        </p:spPr>
      </p:sp>
      <p:sp>
        <p:nvSpPr>
          <p:cNvPr id="27" name="Shape 25"/>
          <p:cNvSpPr/>
          <p:nvPr/>
        </p:nvSpPr>
        <p:spPr>
          <a:xfrm>
            <a:off x="6583680" y="3063240"/>
            <a:ext cx="3931920" cy="320040"/>
          </a:xfrm>
          <a:prstGeom prst="rect">
            <a:avLst/>
          </a:prstGeom>
          <a:solidFill>
            <a:srgbClr val="D4A840"/>
          </a:solidFill>
          <a:ln w="12700">
            <a:solidFill>
              <a:srgbClr val="D4A840"/>
            </a:solidFill>
            <a:prstDash val="solid"/>
          </a:ln>
        </p:spPr>
      </p:sp>
      <p:sp>
        <p:nvSpPr>
          <p:cNvPr id="28" name="Text 26"/>
          <p:cNvSpPr/>
          <p:nvPr/>
        </p:nvSpPr>
        <p:spPr>
          <a:xfrm>
            <a:off x="6583680" y="3063240"/>
            <a:ext cx="3931920" cy="320040"/>
          </a:xfrm>
          <a:prstGeom prst="rect">
            <a:avLst/>
          </a:prstGeom>
          <a:noFill/>
          <a:ln/>
        </p:spPr>
        <p:txBody>
          <a:bodyPr wrap="square" lIns="0" tIns="0" rIns="0" bIns="0" rtlCol="0" anchor="ctr"/>
          <a:lstStyle/>
          <a:p>
            <a:pPr algn="ctr" indent="0" marL="0">
              <a:buNone/>
            </a:pPr>
            <a:r>
              <a:rPr lang="en-US" sz="900" b="1" spc="300" kern="0" dirty="0">
                <a:solidFill>
                  <a:srgbClr val="003A2B"/>
                </a:solidFill>
                <a:latin typeface="Calibri" pitchFamily="34" charset="0"/>
                <a:ea typeface="Calibri" pitchFamily="34" charset="-122"/>
                <a:cs typeface="Calibri" pitchFamily="34" charset="-120"/>
              </a:rPr>
              <a:t>IN PRODUCTION · MIGRATION TARGET</a:t>
            </a:r>
            <a:endParaRPr lang="en-US" sz="900" dirty="0"/>
          </a:p>
        </p:txBody>
      </p:sp>
      <p:sp>
        <p:nvSpPr>
          <p:cNvPr id="29" name="Text 27"/>
          <p:cNvSpPr/>
          <p:nvPr/>
        </p:nvSpPr>
        <p:spPr>
          <a:xfrm>
            <a:off x="6583680" y="3520440"/>
            <a:ext cx="4892040" cy="548640"/>
          </a:xfrm>
          <a:prstGeom prst="rect">
            <a:avLst/>
          </a:prstGeom>
          <a:noFill/>
          <a:ln/>
        </p:spPr>
        <p:txBody>
          <a:bodyPr wrap="square" lIns="0" tIns="0" rIns="0" bIns="0" rtlCol="0" anchor="ctr"/>
          <a:lstStyle/>
          <a:p>
            <a:pPr indent="0" marL="0">
              <a:buNone/>
            </a:pPr>
            <a:r>
              <a:rPr lang="en-US" sz="3000" b="1" dirty="0">
                <a:solidFill>
                  <a:srgbClr val="1A2E28"/>
                </a:solidFill>
                <a:latin typeface="Georgia" pitchFamily="34" charset="0"/>
                <a:ea typeface="Georgia" pitchFamily="34" charset="-122"/>
                <a:cs typeface="Georgia" pitchFamily="34" charset="-120"/>
              </a:rPr>
              <a:t>dMZR aS Code</a:t>
            </a:r>
            <a:endParaRPr lang="en-US" sz="3000" dirty="0"/>
          </a:p>
        </p:txBody>
      </p:sp>
      <p:sp>
        <p:nvSpPr>
          <p:cNvPr id="30" name="Text 28"/>
          <p:cNvSpPr/>
          <p:nvPr/>
        </p:nvSpPr>
        <p:spPr>
          <a:xfrm>
            <a:off x="6583680" y="4096512"/>
            <a:ext cx="4892040" cy="320040"/>
          </a:xfrm>
          <a:prstGeom prst="rect">
            <a:avLst/>
          </a:prstGeom>
          <a:noFill/>
          <a:ln/>
        </p:spPr>
        <p:txBody>
          <a:bodyPr wrap="square" lIns="0" tIns="0" rIns="0" bIns="0" rtlCol="0" anchor="ctr"/>
          <a:lstStyle/>
          <a:p>
            <a:pPr indent="0" marL="0">
              <a:buNone/>
            </a:pPr>
            <a:r>
              <a:rPr lang="en-US" sz="1300" i="1" dirty="0">
                <a:solidFill>
                  <a:srgbClr val="6B7B78"/>
                </a:solidFill>
                <a:latin typeface="Calibri" pitchFamily="34" charset="0"/>
                <a:ea typeface="Calibri" pitchFamily="34" charset="-122"/>
                <a:cs typeface="Calibri" pitchFamily="34" charset="-120"/>
              </a:rPr>
              <a:t>New generation · receives migrations</a:t>
            </a:r>
            <a:endParaRPr lang="en-US" sz="1300" dirty="0"/>
          </a:p>
        </p:txBody>
      </p:sp>
      <p:sp>
        <p:nvSpPr>
          <p:cNvPr id="31" name="Text 29"/>
          <p:cNvSpPr/>
          <p:nvPr/>
        </p:nvSpPr>
        <p:spPr>
          <a:xfrm>
            <a:off x="6583680" y="4526280"/>
            <a:ext cx="1371600" cy="310896"/>
          </a:xfrm>
          <a:prstGeom prst="rect">
            <a:avLst/>
          </a:prstGeom>
          <a:noFill/>
          <a:ln/>
        </p:spPr>
        <p:txBody>
          <a:bodyPr wrap="square" lIns="0" tIns="0" rIns="0" bIns="0" rtlCol="0" anchor="ctr"/>
          <a:lstStyle/>
          <a:p>
            <a:pPr indent="0" marL="0">
              <a:buNone/>
            </a:pPr>
            <a:r>
              <a:rPr lang="en-US" sz="900" b="1" spc="400" kern="0" dirty="0">
                <a:solidFill>
                  <a:srgbClr val="00915A"/>
                </a:solidFill>
                <a:latin typeface="Calibri" pitchFamily="34" charset="0"/>
                <a:ea typeface="Calibri" pitchFamily="34" charset="-122"/>
                <a:cs typeface="Calibri" pitchFamily="34" charset="-120"/>
              </a:rPr>
              <a:t>COMPUTE</a:t>
            </a:r>
            <a:endParaRPr lang="en-US" sz="900" dirty="0"/>
          </a:p>
        </p:txBody>
      </p:sp>
      <p:sp>
        <p:nvSpPr>
          <p:cNvPr id="32" name="Text 30"/>
          <p:cNvSpPr/>
          <p:nvPr/>
        </p:nvSpPr>
        <p:spPr>
          <a:xfrm>
            <a:off x="8046720" y="4526280"/>
            <a:ext cx="3429000" cy="310896"/>
          </a:xfrm>
          <a:prstGeom prst="rect">
            <a:avLst/>
          </a:prstGeom>
          <a:noFill/>
          <a:ln/>
        </p:spPr>
        <p:txBody>
          <a:bodyPr wrap="square" lIns="0" tIns="0" rIns="0" bIns="0" rtlCol="0" anchor="ctr"/>
          <a:lstStyle/>
          <a:p>
            <a:pPr indent="0" marL="0">
              <a:buNone/>
            </a:pPr>
            <a:r>
              <a:rPr lang="en-US" sz="1100" dirty="0">
                <a:solidFill>
                  <a:srgbClr val="2C2C2C"/>
                </a:solidFill>
                <a:latin typeface="Calibri" pitchFamily="34" charset="0"/>
                <a:ea typeface="Calibri" pitchFamily="34" charset="-122"/>
                <a:cs typeface="Calibri" pitchFamily="34" charset="-120"/>
              </a:rPr>
              <a:t>ROKS · VSI aS Code</a:t>
            </a:r>
            <a:endParaRPr lang="en-US" sz="1100" dirty="0"/>
          </a:p>
        </p:txBody>
      </p:sp>
      <p:sp>
        <p:nvSpPr>
          <p:cNvPr id="33" name="Shape 31"/>
          <p:cNvSpPr/>
          <p:nvPr/>
        </p:nvSpPr>
        <p:spPr>
          <a:xfrm>
            <a:off x="6583680" y="4837176"/>
            <a:ext cx="4892040" cy="0"/>
          </a:xfrm>
          <a:prstGeom prst="line">
            <a:avLst/>
          </a:prstGeom>
          <a:noFill/>
          <a:ln w="5080">
            <a:solidFill>
              <a:srgbClr val="E2E8F0"/>
            </a:solidFill>
            <a:prstDash val="solid"/>
          </a:ln>
        </p:spPr>
      </p:sp>
      <p:sp>
        <p:nvSpPr>
          <p:cNvPr id="34" name="Text 32"/>
          <p:cNvSpPr/>
          <p:nvPr/>
        </p:nvSpPr>
        <p:spPr>
          <a:xfrm>
            <a:off x="6583680" y="4837176"/>
            <a:ext cx="1371600" cy="310896"/>
          </a:xfrm>
          <a:prstGeom prst="rect">
            <a:avLst/>
          </a:prstGeom>
          <a:noFill/>
          <a:ln/>
        </p:spPr>
        <p:txBody>
          <a:bodyPr wrap="square" lIns="0" tIns="0" rIns="0" bIns="0" rtlCol="0" anchor="ctr"/>
          <a:lstStyle/>
          <a:p>
            <a:pPr indent="0" marL="0">
              <a:buNone/>
            </a:pPr>
            <a:r>
              <a:rPr lang="en-US" sz="900" b="1" spc="400" kern="0" dirty="0">
                <a:solidFill>
                  <a:srgbClr val="00915A"/>
                </a:solidFill>
                <a:latin typeface="Calibri" pitchFamily="34" charset="0"/>
                <a:ea typeface="Calibri" pitchFamily="34" charset="-122"/>
                <a:cs typeface="Calibri" pitchFamily="34" charset="-120"/>
              </a:rPr>
              <a:t>SERVICES</a:t>
            </a:r>
            <a:endParaRPr lang="en-US" sz="900" dirty="0"/>
          </a:p>
        </p:txBody>
      </p:sp>
      <p:sp>
        <p:nvSpPr>
          <p:cNvPr id="35" name="Text 33"/>
          <p:cNvSpPr/>
          <p:nvPr/>
        </p:nvSpPr>
        <p:spPr>
          <a:xfrm>
            <a:off x="8046720" y="4837176"/>
            <a:ext cx="3429000" cy="310896"/>
          </a:xfrm>
          <a:prstGeom prst="rect">
            <a:avLst/>
          </a:prstGeom>
          <a:noFill/>
          <a:ln/>
        </p:spPr>
        <p:txBody>
          <a:bodyPr wrap="square" lIns="0" tIns="0" rIns="0" bIns="0" rtlCol="0" anchor="ctr"/>
          <a:lstStyle/>
          <a:p>
            <a:pPr indent="0" marL="0">
              <a:buNone/>
            </a:pPr>
            <a:r>
              <a:rPr lang="en-US" sz="1100" dirty="0">
                <a:solidFill>
                  <a:srgbClr val="2C2C2C"/>
                </a:solidFill>
                <a:latin typeface="Calibri" pitchFamily="34" charset="0"/>
                <a:ea typeface="Calibri" pitchFamily="34" charset="-122"/>
                <a:cs typeface="Calibri" pitchFamily="34" charset="-120"/>
              </a:rPr>
              <a:t>Kafka aS Code · Databases aS Code</a:t>
            </a:r>
            <a:endParaRPr lang="en-US" sz="1100" dirty="0"/>
          </a:p>
        </p:txBody>
      </p:sp>
      <p:sp>
        <p:nvSpPr>
          <p:cNvPr id="36" name="Shape 34"/>
          <p:cNvSpPr/>
          <p:nvPr/>
        </p:nvSpPr>
        <p:spPr>
          <a:xfrm>
            <a:off x="6583680" y="5148072"/>
            <a:ext cx="4892040" cy="0"/>
          </a:xfrm>
          <a:prstGeom prst="line">
            <a:avLst/>
          </a:prstGeom>
          <a:noFill/>
          <a:ln w="5080">
            <a:solidFill>
              <a:srgbClr val="E2E8F0"/>
            </a:solidFill>
            <a:prstDash val="solid"/>
          </a:ln>
        </p:spPr>
      </p:sp>
      <p:sp>
        <p:nvSpPr>
          <p:cNvPr id="37" name="Text 35"/>
          <p:cNvSpPr/>
          <p:nvPr/>
        </p:nvSpPr>
        <p:spPr>
          <a:xfrm>
            <a:off x="6583680" y="5148072"/>
            <a:ext cx="1371600" cy="310896"/>
          </a:xfrm>
          <a:prstGeom prst="rect">
            <a:avLst/>
          </a:prstGeom>
          <a:noFill/>
          <a:ln/>
        </p:spPr>
        <p:txBody>
          <a:bodyPr wrap="square" lIns="0" tIns="0" rIns="0" bIns="0" rtlCol="0" anchor="ctr"/>
          <a:lstStyle/>
          <a:p>
            <a:pPr indent="0" marL="0">
              <a:buNone/>
            </a:pPr>
            <a:r>
              <a:rPr lang="en-US" sz="900" b="1" spc="400" kern="0" dirty="0">
                <a:solidFill>
                  <a:srgbClr val="00915A"/>
                </a:solidFill>
                <a:latin typeface="Calibri" pitchFamily="34" charset="0"/>
                <a:ea typeface="Calibri" pitchFamily="34" charset="-122"/>
                <a:cs typeface="Calibri" pitchFamily="34" charset="-120"/>
              </a:rPr>
              <a:t>UNIT</a:t>
            </a:r>
            <a:endParaRPr lang="en-US" sz="900" dirty="0"/>
          </a:p>
        </p:txBody>
      </p:sp>
      <p:sp>
        <p:nvSpPr>
          <p:cNvPr id="38" name="Text 36"/>
          <p:cNvSpPr/>
          <p:nvPr/>
        </p:nvSpPr>
        <p:spPr>
          <a:xfrm>
            <a:off x="8046720" y="5148072"/>
            <a:ext cx="3429000" cy="310896"/>
          </a:xfrm>
          <a:prstGeom prst="rect">
            <a:avLst/>
          </a:prstGeom>
          <a:noFill/>
          <a:ln/>
        </p:spPr>
        <p:txBody>
          <a:bodyPr wrap="square" lIns="0" tIns="0" rIns="0" bIns="0" rtlCol="0" anchor="ctr"/>
          <a:lstStyle/>
          <a:p>
            <a:pPr indent="0" marL="0">
              <a:buNone/>
            </a:pPr>
            <a:r>
              <a:rPr lang="en-US" sz="1100" dirty="0">
                <a:solidFill>
                  <a:srgbClr val="2C2C2C"/>
                </a:solidFill>
                <a:latin typeface="Calibri" pitchFamily="34" charset="0"/>
                <a:ea typeface="Calibri" pitchFamily="34" charset="-122"/>
                <a:cs typeface="Calibri" pitchFamily="34" charset="-120"/>
              </a:rPr>
              <a:t>Realm</a:t>
            </a:r>
            <a:endParaRPr lang="en-US" sz="1100" dirty="0"/>
          </a:p>
        </p:txBody>
      </p:sp>
      <p:sp>
        <p:nvSpPr>
          <p:cNvPr id="39" name="Shape 37"/>
          <p:cNvSpPr/>
          <p:nvPr/>
        </p:nvSpPr>
        <p:spPr>
          <a:xfrm>
            <a:off x="6583680" y="5458968"/>
            <a:ext cx="4892040" cy="0"/>
          </a:xfrm>
          <a:prstGeom prst="line">
            <a:avLst/>
          </a:prstGeom>
          <a:noFill/>
          <a:ln w="5080">
            <a:solidFill>
              <a:srgbClr val="E2E8F0"/>
            </a:solidFill>
            <a:prstDash val="solid"/>
          </a:ln>
        </p:spPr>
      </p:sp>
      <p:sp>
        <p:nvSpPr>
          <p:cNvPr id="40" name="Text 38"/>
          <p:cNvSpPr/>
          <p:nvPr/>
        </p:nvSpPr>
        <p:spPr>
          <a:xfrm>
            <a:off x="6583680" y="5458968"/>
            <a:ext cx="1371600" cy="310896"/>
          </a:xfrm>
          <a:prstGeom prst="rect">
            <a:avLst/>
          </a:prstGeom>
          <a:noFill/>
          <a:ln/>
        </p:spPr>
        <p:txBody>
          <a:bodyPr wrap="square" lIns="0" tIns="0" rIns="0" bIns="0" rtlCol="0" anchor="ctr"/>
          <a:lstStyle/>
          <a:p>
            <a:pPr indent="0" marL="0">
              <a:buNone/>
            </a:pPr>
            <a:r>
              <a:rPr lang="en-US" sz="900" b="1" spc="400" kern="0" dirty="0">
                <a:solidFill>
                  <a:srgbClr val="00915A"/>
                </a:solidFill>
                <a:latin typeface="Calibri" pitchFamily="34" charset="0"/>
                <a:ea typeface="Calibri" pitchFamily="34" charset="-122"/>
                <a:cs typeface="Calibri" pitchFamily="34" charset="-120"/>
              </a:rPr>
              <a:t>PROVISIONING</a:t>
            </a:r>
            <a:endParaRPr lang="en-US" sz="900" dirty="0"/>
          </a:p>
        </p:txBody>
      </p:sp>
      <p:sp>
        <p:nvSpPr>
          <p:cNvPr id="41" name="Text 39"/>
          <p:cNvSpPr/>
          <p:nvPr/>
        </p:nvSpPr>
        <p:spPr>
          <a:xfrm>
            <a:off x="8046720" y="5458968"/>
            <a:ext cx="3429000" cy="310896"/>
          </a:xfrm>
          <a:prstGeom prst="rect">
            <a:avLst/>
          </a:prstGeom>
          <a:noFill/>
          <a:ln/>
        </p:spPr>
        <p:txBody>
          <a:bodyPr wrap="square" lIns="0" tIns="0" rIns="0" bIns="0" rtlCol="0" anchor="ctr"/>
          <a:lstStyle/>
          <a:p>
            <a:pPr indent="0" marL="0">
              <a:buNone/>
            </a:pPr>
            <a:r>
              <a:rPr lang="en-US" sz="1100" dirty="0">
                <a:solidFill>
                  <a:srgbClr val="2C2C2C"/>
                </a:solidFill>
                <a:latin typeface="Calibri" pitchFamily="34" charset="0"/>
                <a:ea typeface="Calibri" pitchFamily="34" charset="-122"/>
                <a:cs typeface="Calibri" pitchFamily="34" charset="-120"/>
              </a:rPr>
              <a:t>Terraform · Marketplace</a:t>
            </a:r>
            <a:endParaRPr lang="en-US" sz="1100" dirty="0"/>
          </a:p>
        </p:txBody>
      </p:sp>
      <p:sp>
        <p:nvSpPr>
          <p:cNvPr id="42" name="Shape 40"/>
          <p:cNvSpPr/>
          <p:nvPr/>
        </p:nvSpPr>
        <p:spPr>
          <a:xfrm>
            <a:off x="6583680" y="5769864"/>
            <a:ext cx="4892040" cy="0"/>
          </a:xfrm>
          <a:prstGeom prst="line">
            <a:avLst/>
          </a:prstGeom>
          <a:noFill/>
          <a:ln w="5080">
            <a:solidFill>
              <a:srgbClr val="E2E8F0"/>
            </a:solidFill>
            <a:prstDash val="solid"/>
          </a:ln>
        </p:spPr>
      </p:sp>
      <p:sp>
        <p:nvSpPr>
          <p:cNvPr id="43" name="Text 41"/>
          <p:cNvSpPr/>
          <p:nvPr/>
        </p:nvSpPr>
        <p:spPr>
          <a:xfrm>
            <a:off x="6583680" y="5769864"/>
            <a:ext cx="1371600" cy="310896"/>
          </a:xfrm>
          <a:prstGeom prst="rect">
            <a:avLst/>
          </a:prstGeom>
          <a:noFill/>
          <a:ln/>
        </p:spPr>
        <p:txBody>
          <a:bodyPr wrap="square" lIns="0" tIns="0" rIns="0" bIns="0" rtlCol="0" anchor="ctr"/>
          <a:lstStyle/>
          <a:p>
            <a:pPr indent="0" marL="0">
              <a:buNone/>
            </a:pPr>
            <a:r>
              <a:rPr lang="en-US" sz="900" b="1" spc="400" kern="0" dirty="0">
                <a:solidFill>
                  <a:srgbClr val="00915A"/>
                </a:solidFill>
                <a:latin typeface="Calibri" pitchFamily="34" charset="0"/>
                <a:ea typeface="Calibri" pitchFamily="34" charset="-122"/>
                <a:cs typeface="Calibri" pitchFamily="34" charset="-120"/>
              </a:rPr>
              <a:t>STATUS</a:t>
            </a:r>
            <a:endParaRPr lang="en-US" sz="900" dirty="0"/>
          </a:p>
        </p:txBody>
      </p:sp>
      <p:sp>
        <p:nvSpPr>
          <p:cNvPr id="44" name="Text 42"/>
          <p:cNvSpPr/>
          <p:nvPr/>
        </p:nvSpPr>
        <p:spPr>
          <a:xfrm>
            <a:off x="8046720" y="5769864"/>
            <a:ext cx="3429000" cy="310896"/>
          </a:xfrm>
          <a:prstGeom prst="rect">
            <a:avLst/>
          </a:prstGeom>
          <a:noFill/>
          <a:ln/>
        </p:spPr>
        <p:txBody>
          <a:bodyPr wrap="square" lIns="0" tIns="0" rIns="0" bIns="0" rtlCol="0" anchor="ctr"/>
          <a:lstStyle/>
          <a:p>
            <a:pPr indent="0" marL="0">
              <a:buNone/>
            </a:pPr>
            <a:r>
              <a:rPr lang="en-US" sz="1100" dirty="0">
                <a:solidFill>
                  <a:srgbClr val="2C2C2C"/>
                </a:solidFill>
                <a:latin typeface="Calibri" pitchFamily="34" charset="0"/>
                <a:ea typeface="Calibri" pitchFamily="34" charset="-122"/>
                <a:cs typeface="Calibri" pitchFamily="34" charset="-120"/>
              </a:rPr>
              <a:t>In production · hosts new projects</a:t>
            </a:r>
            <a:endParaRPr lang="en-US" sz="1100" dirty="0"/>
          </a:p>
        </p:txBody>
      </p:sp>
      <p:sp>
        <p:nvSpPr>
          <p:cNvPr id="45" name="Text 43"/>
          <p:cNvSpPr/>
          <p:nvPr/>
        </p:nvSpPr>
        <p:spPr>
          <a:xfrm>
            <a:off x="640080" y="6492240"/>
            <a:ext cx="6400800" cy="228600"/>
          </a:xfrm>
          <a:prstGeom prst="rect">
            <a:avLst/>
          </a:prstGeom>
          <a:noFill/>
          <a:ln/>
        </p:spPr>
        <p:txBody>
          <a:bodyPr wrap="square" lIns="0" tIns="0" rIns="0" bIns="0" rtlCol="0" anchor="ctr"/>
          <a:lstStyle/>
          <a:p>
            <a:pPr indent="0" marL="0">
              <a:buNone/>
            </a:pPr>
            <a:r>
              <a:rPr lang="en-US" sz="900" i="1" dirty="0">
                <a:solidFill>
                  <a:srgbClr val="9AA5A1"/>
                </a:solidFill>
                <a:latin typeface="Calibri" pitchFamily="34" charset="0"/>
                <a:ea typeface="Calibri" pitchFamily="34" charset="-122"/>
                <a:cs typeface="Calibri" pitchFamily="34" charset="-120"/>
              </a:rPr>
              <a:t>BNP Paribas Cardif · CARD Production</a:t>
            </a:r>
            <a:endParaRPr lang="en-US" sz="900" dirty="0"/>
          </a:p>
        </p:txBody>
      </p:sp>
      <p:sp>
        <p:nvSpPr>
          <p:cNvPr id="46" name="Text 44"/>
          <p:cNvSpPr/>
          <p:nvPr/>
        </p:nvSpPr>
        <p:spPr>
          <a:xfrm>
            <a:off x="8229600" y="6492240"/>
            <a:ext cx="3383280" cy="228600"/>
          </a:xfrm>
          <a:prstGeom prst="rect">
            <a:avLst/>
          </a:prstGeom>
          <a:noFill/>
          <a:ln/>
        </p:spPr>
        <p:txBody>
          <a:bodyPr wrap="square" lIns="0" tIns="0" rIns="0" bIns="0" rtlCol="0" anchor="ctr"/>
          <a:lstStyle/>
          <a:p>
            <a:pPr algn="r" indent="0" marL="0">
              <a:buNone/>
            </a:pPr>
            <a:r>
              <a:rPr lang="en-US" sz="900" dirty="0">
                <a:solidFill>
                  <a:srgbClr val="9AA5A1"/>
                </a:solidFill>
                <a:latin typeface="Calibri" pitchFamily="34" charset="0"/>
                <a:ea typeface="Calibri" pitchFamily="34" charset="-122"/>
                <a:cs typeface="Calibri" pitchFamily="34" charset="-120"/>
              </a:rPr>
              <a:t>05 · dMZR</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9144000" cy="274320"/>
          </a:xfrm>
          <a:prstGeom prst="rect">
            <a:avLst/>
          </a:prstGeom>
          <a:noFill/>
          <a:ln/>
        </p:spPr>
        <p:txBody>
          <a:bodyPr wrap="square" lIns="0" tIns="0" rIns="0" bIns="0" rtlCol="0" anchor="ctr"/>
          <a:lstStyle/>
          <a:p>
            <a:pPr indent="0" marL="0">
              <a:buNone/>
            </a:pPr>
            <a:r>
              <a:rPr lang="en-US" sz="1100" b="1" spc="600" kern="0" dirty="0">
                <a:solidFill>
                  <a:srgbClr val="00915A"/>
                </a:solidFill>
                <a:latin typeface="Calibri" pitchFamily="34" charset="0"/>
                <a:ea typeface="Calibri" pitchFamily="34" charset="-122"/>
                <a:cs typeface="Calibri" pitchFamily="34" charset="-120"/>
              </a:rPr>
              <a:t>01 · dMZR</a:t>
            </a:r>
            <a:endParaRPr lang="en-US" sz="1100" dirty="0"/>
          </a:p>
        </p:txBody>
      </p:sp>
      <p:sp>
        <p:nvSpPr>
          <p:cNvPr id="3" name="Text 1"/>
          <p:cNvSpPr/>
          <p:nvPr/>
        </p:nvSpPr>
        <p:spPr>
          <a:xfrm>
            <a:off x="640080" y="822960"/>
            <a:ext cx="10972800" cy="822960"/>
          </a:xfrm>
          <a:prstGeom prst="rect">
            <a:avLst/>
          </a:prstGeom>
          <a:noFill/>
          <a:ln/>
        </p:spPr>
        <p:txBody>
          <a:bodyPr wrap="square" lIns="0" tIns="0" rIns="0" bIns="0" rtlCol="0" anchor="ctr"/>
          <a:lstStyle/>
          <a:p>
            <a:pPr indent="0" marL="0">
              <a:buNone/>
            </a:pPr>
            <a:r>
              <a:rPr lang="en-US" sz="3200" b="1" dirty="0">
                <a:solidFill>
                  <a:srgbClr val="1A2E28"/>
                </a:solidFill>
                <a:latin typeface="Georgia" pitchFamily="34" charset="0"/>
                <a:ea typeface="Georgia" pitchFamily="34" charset="-122"/>
                <a:cs typeface="Georgia" pitchFamily="34" charset="-120"/>
              </a:rPr>
              <a:t>Foundation layers</a:t>
            </a:r>
            <a:endParaRPr lang="en-US" sz="3200" dirty="0"/>
          </a:p>
        </p:txBody>
      </p:sp>
      <p:sp>
        <p:nvSpPr>
          <p:cNvPr id="4" name="Text 2"/>
          <p:cNvSpPr/>
          <p:nvPr/>
        </p:nvSpPr>
        <p:spPr>
          <a:xfrm>
            <a:off x="640080" y="1783080"/>
            <a:ext cx="10972800" cy="457200"/>
          </a:xfrm>
          <a:prstGeom prst="rect">
            <a:avLst/>
          </a:prstGeom>
          <a:noFill/>
          <a:ln/>
        </p:spPr>
        <p:txBody>
          <a:bodyPr wrap="square" lIns="0" tIns="0" rIns="0" bIns="0" rtlCol="0" anchor="ctr"/>
          <a:lstStyle/>
          <a:p>
            <a:pPr indent="0" marL="0">
              <a:lnSpc>
                <a:spcPct val="130000"/>
              </a:lnSpc>
              <a:buNone/>
            </a:pPr>
            <a:r>
              <a:rPr lang="en-US" sz="1300" i="1" dirty="0">
                <a:solidFill>
                  <a:srgbClr val="2C2C2C"/>
                </a:solidFill>
                <a:latin typeface="Georgia" pitchFamily="34" charset="0"/>
                <a:ea typeface="Georgia" pitchFamily="34" charset="-122"/>
                <a:cs typeface="Georgia" pitchFamily="34" charset="-120"/>
              </a:rPr>
              <a:t>Both platforms share the same IBM Cloud managed building blocks. On the dMZR aS Code, all of them are declined in an 'aS Code' version (VSI aS Code, Kafka aS Code, etc.).</a:t>
            </a:r>
            <a:endParaRPr lang="en-US" sz="1300" dirty="0"/>
          </a:p>
        </p:txBody>
      </p:sp>
      <p:sp>
        <p:nvSpPr>
          <p:cNvPr id="5" name="Shape 3"/>
          <p:cNvSpPr/>
          <p:nvPr/>
        </p:nvSpPr>
        <p:spPr>
          <a:xfrm>
            <a:off x="640080" y="2423160"/>
            <a:ext cx="10972800" cy="777240"/>
          </a:xfrm>
          <a:prstGeom prst="rect">
            <a:avLst/>
          </a:prstGeom>
          <a:solidFill>
            <a:srgbClr val="F8F9FA"/>
          </a:solidFill>
          <a:ln w="6350">
            <a:solidFill>
              <a:srgbClr val="E2E8F0"/>
            </a:solidFill>
            <a:prstDash val="solid"/>
          </a:ln>
        </p:spPr>
      </p:sp>
      <p:sp>
        <p:nvSpPr>
          <p:cNvPr id="6" name="Shape 4"/>
          <p:cNvSpPr/>
          <p:nvPr/>
        </p:nvSpPr>
        <p:spPr>
          <a:xfrm>
            <a:off x="640080" y="2423160"/>
            <a:ext cx="73152" cy="777240"/>
          </a:xfrm>
          <a:prstGeom prst="rect">
            <a:avLst/>
          </a:prstGeom>
          <a:solidFill>
            <a:srgbClr val="00915A"/>
          </a:solidFill>
          <a:ln w="12700">
            <a:solidFill>
              <a:srgbClr val="00915A"/>
            </a:solidFill>
            <a:prstDash val="solid"/>
          </a:ln>
        </p:spPr>
      </p:sp>
      <p:sp>
        <p:nvSpPr>
          <p:cNvPr id="7" name="Text 5"/>
          <p:cNvSpPr/>
          <p:nvPr/>
        </p:nvSpPr>
        <p:spPr>
          <a:xfrm>
            <a:off x="914400" y="2532888"/>
            <a:ext cx="1463040" cy="228600"/>
          </a:xfrm>
          <a:prstGeom prst="rect">
            <a:avLst/>
          </a:prstGeom>
          <a:noFill/>
          <a:ln/>
        </p:spPr>
        <p:txBody>
          <a:bodyPr wrap="square" lIns="0" tIns="0" rIns="0" bIns="0" rtlCol="0" anchor="ctr"/>
          <a:lstStyle/>
          <a:p>
            <a:pPr indent="0" marL="0">
              <a:buNone/>
            </a:pPr>
            <a:r>
              <a:rPr lang="en-US" sz="1000" b="1" spc="400" kern="0" dirty="0">
                <a:solidFill>
                  <a:srgbClr val="00915A"/>
                </a:solidFill>
                <a:latin typeface="Calibri" pitchFamily="34" charset="0"/>
                <a:ea typeface="Calibri" pitchFamily="34" charset="-122"/>
                <a:cs typeface="Calibri" pitchFamily="34" charset="-120"/>
              </a:rPr>
              <a:t>COMPUTE</a:t>
            </a:r>
            <a:endParaRPr lang="en-US" sz="1000" dirty="0"/>
          </a:p>
        </p:txBody>
      </p:sp>
      <p:sp>
        <p:nvSpPr>
          <p:cNvPr id="8" name="Text 6"/>
          <p:cNvSpPr/>
          <p:nvPr/>
        </p:nvSpPr>
        <p:spPr>
          <a:xfrm>
            <a:off x="914400" y="2761488"/>
            <a:ext cx="5029200" cy="438912"/>
          </a:xfrm>
          <a:prstGeom prst="rect">
            <a:avLst/>
          </a:prstGeom>
          <a:noFill/>
          <a:ln/>
        </p:spPr>
        <p:txBody>
          <a:bodyPr wrap="square" lIns="0" tIns="0" rIns="0" bIns="0" rtlCol="0" anchor="ctr"/>
          <a:lstStyle/>
          <a:p>
            <a:pPr indent="0" marL="0">
              <a:buNone/>
            </a:pPr>
            <a:r>
              <a:rPr lang="en-US" sz="1600" b="1" dirty="0">
                <a:solidFill>
                  <a:srgbClr val="1A2E28"/>
                </a:solidFill>
                <a:latin typeface="Georgia" pitchFamily="34" charset="0"/>
                <a:ea typeface="Georgia" pitchFamily="34" charset="-122"/>
                <a:cs typeface="Georgia" pitchFamily="34" charset="-120"/>
              </a:rPr>
              <a:t>Kubernetes + VSI</a:t>
            </a:r>
            <a:endParaRPr lang="en-US" sz="1600" dirty="0"/>
          </a:p>
        </p:txBody>
      </p:sp>
      <p:sp>
        <p:nvSpPr>
          <p:cNvPr id="9" name="Text 7"/>
          <p:cNvSpPr/>
          <p:nvPr/>
        </p:nvSpPr>
        <p:spPr>
          <a:xfrm>
            <a:off x="6217920" y="2587752"/>
            <a:ext cx="5212080" cy="594360"/>
          </a:xfrm>
          <a:prstGeom prst="rect">
            <a:avLst/>
          </a:prstGeom>
          <a:noFill/>
          <a:ln/>
        </p:spPr>
        <p:txBody>
          <a:bodyPr wrap="square" lIns="0" tIns="0" rIns="0" bIns="0" rtlCol="0" anchor="ctr"/>
          <a:lstStyle/>
          <a:p>
            <a:pPr indent="0" marL="0">
              <a:lnSpc>
                <a:spcPct val="125000"/>
              </a:lnSpc>
              <a:buNone/>
            </a:pPr>
            <a:r>
              <a:rPr lang="en-US" sz="1100" dirty="0">
                <a:solidFill>
                  <a:srgbClr val="2C2C2C"/>
                </a:solidFill>
                <a:latin typeface="Calibri" pitchFamily="34" charset="0"/>
                <a:ea typeface="Calibri" pitchFamily="34" charset="-122"/>
                <a:cs typeface="Calibri" pitchFamily="34" charset="-120"/>
              </a:rPr>
              <a:t>IKS + VSI on the dMZR · ROKS + VSI aS Code on the dMZR aS Code. 450+ Cardif microservices, GitOps (Argo CD), DevSecOps standards.</a:t>
            </a:r>
            <a:endParaRPr lang="en-US" sz="1100" dirty="0"/>
          </a:p>
        </p:txBody>
      </p:sp>
      <p:sp>
        <p:nvSpPr>
          <p:cNvPr id="10" name="Shape 8"/>
          <p:cNvSpPr/>
          <p:nvPr/>
        </p:nvSpPr>
        <p:spPr>
          <a:xfrm>
            <a:off x="640080" y="3310128"/>
            <a:ext cx="10972800" cy="777240"/>
          </a:xfrm>
          <a:prstGeom prst="rect">
            <a:avLst/>
          </a:prstGeom>
          <a:solidFill>
            <a:srgbClr val="F8F9FA"/>
          </a:solidFill>
          <a:ln w="6350">
            <a:solidFill>
              <a:srgbClr val="E2E8F0"/>
            </a:solidFill>
            <a:prstDash val="solid"/>
          </a:ln>
        </p:spPr>
      </p:sp>
      <p:sp>
        <p:nvSpPr>
          <p:cNvPr id="11" name="Shape 9"/>
          <p:cNvSpPr/>
          <p:nvPr/>
        </p:nvSpPr>
        <p:spPr>
          <a:xfrm>
            <a:off x="640080" y="3310128"/>
            <a:ext cx="73152" cy="777240"/>
          </a:xfrm>
          <a:prstGeom prst="rect">
            <a:avLst/>
          </a:prstGeom>
          <a:solidFill>
            <a:srgbClr val="00915A"/>
          </a:solidFill>
          <a:ln w="12700">
            <a:solidFill>
              <a:srgbClr val="00915A"/>
            </a:solidFill>
            <a:prstDash val="solid"/>
          </a:ln>
        </p:spPr>
      </p:sp>
      <p:sp>
        <p:nvSpPr>
          <p:cNvPr id="12" name="Text 10"/>
          <p:cNvSpPr/>
          <p:nvPr/>
        </p:nvSpPr>
        <p:spPr>
          <a:xfrm>
            <a:off x="914400" y="3419856"/>
            <a:ext cx="1463040" cy="228600"/>
          </a:xfrm>
          <a:prstGeom prst="rect">
            <a:avLst/>
          </a:prstGeom>
          <a:noFill/>
          <a:ln/>
        </p:spPr>
        <p:txBody>
          <a:bodyPr wrap="square" lIns="0" tIns="0" rIns="0" bIns="0" rtlCol="0" anchor="ctr"/>
          <a:lstStyle/>
          <a:p>
            <a:pPr indent="0" marL="0">
              <a:buNone/>
            </a:pPr>
            <a:r>
              <a:rPr lang="en-US" sz="1000" b="1" spc="400" kern="0" dirty="0">
                <a:solidFill>
                  <a:srgbClr val="00915A"/>
                </a:solidFill>
                <a:latin typeface="Calibri" pitchFamily="34" charset="0"/>
                <a:ea typeface="Calibri" pitchFamily="34" charset="-122"/>
                <a:cs typeface="Calibri" pitchFamily="34" charset="-120"/>
              </a:rPr>
              <a:t>DATA</a:t>
            </a:r>
            <a:endParaRPr lang="en-US" sz="1000" dirty="0"/>
          </a:p>
        </p:txBody>
      </p:sp>
      <p:sp>
        <p:nvSpPr>
          <p:cNvPr id="13" name="Text 11"/>
          <p:cNvSpPr/>
          <p:nvPr/>
        </p:nvSpPr>
        <p:spPr>
          <a:xfrm>
            <a:off x="914400" y="3648456"/>
            <a:ext cx="5029200" cy="438912"/>
          </a:xfrm>
          <a:prstGeom prst="rect">
            <a:avLst/>
          </a:prstGeom>
          <a:noFill/>
          <a:ln/>
        </p:spPr>
        <p:txBody>
          <a:bodyPr wrap="square" lIns="0" tIns="0" rIns="0" bIns="0" rtlCol="0" anchor="ctr"/>
          <a:lstStyle/>
          <a:p>
            <a:pPr indent="0" marL="0">
              <a:buNone/>
            </a:pPr>
            <a:r>
              <a:rPr lang="en-US" sz="1600" b="1" dirty="0">
                <a:solidFill>
                  <a:srgbClr val="1A2E28"/>
                </a:solidFill>
                <a:latin typeface="Georgia" pitchFamily="34" charset="0"/>
                <a:ea typeface="Georgia" pitchFamily="34" charset="-122"/>
                <a:cs typeface="Georgia" pitchFamily="34" charset="-120"/>
              </a:rPr>
              <a:t>Managed services</a:t>
            </a:r>
            <a:endParaRPr lang="en-US" sz="1600" dirty="0"/>
          </a:p>
        </p:txBody>
      </p:sp>
      <p:sp>
        <p:nvSpPr>
          <p:cNvPr id="14" name="Text 12"/>
          <p:cNvSpPr/>
          <p:nvPr/>
        </p:nvSpPr>
        <p:spPr>
          <a:xfrm>
            <a:off x="6217920" y="3474720"/>
            <a:ext cx="5212080" cy="594360"/>
          </a:xfrm>
          <a:prstGeom prst="rect">
            <a:avLst/>
          </a:prstGeom>
          <a:noFill/>
          <a:ln/>
        </p:spPr>
        <p:txBody>
          <a:bodyPr wrap="square" lIns="0" tIns="0" rIns="0" bIns="0" rtlCol="0" anchor="ctr"/>
          <a:lstStyle/>
          <a:p>
            <a:pPr indent="0" marL="0">
              <a:lnSpc>
                <a:spcPct val="125000"/>
              </a:lnSpc>
              <a:buNone/>
            </a:pPr>
            <a:r>
              <a:rPr lang="en-US" sz="1100" dirty="0">
                <a:solidFill>
                  <a:srgbClr val="2C2C2C"/>
                </a:solidFill>
                <a:latin typeface="Calibri" pitchFamily="34" charset="0"/>
                <a:ea typeface="Calibri" pitchFamily="34" charset="-122"/>
                <a:cs typeface="Calibri" pitchFamily="34" charset="-120"/>
              </a:rPr>
              <a:t>Event Streams (Kafka) · Databases for PostgreSQL, MongoDB, Redis · Cloud Object Storage. Declined as Kafka aS Code and Databases aS Code on the dMZR aS Code.</a:t>
            </a:r>
            <a:endParaRPr lang="en-US" sz="1100" dirty="0"/>
          </a:p>
        </p:txBody>
      </p:sp>
      <p:sp>
        <p:nvSpPr>
          <p:cNvPr id="15" name="Shape 13"/>
          <p:cNvSpPr/>
          <p:nvPr/>
        </p:nvSpPr>
        <p:spPr>
          <a:xfrm>
            <a:off x="640080" y="4197096"/>
            <a:ext cx="10972800" cy="777240"/>
          </a:xfrm>
          <a:prstGeom prst="rect">
            <a:avLst/>
          </a:prstGeom>
          <a:solidFill>
            <a:srgbClr val="F8F9FA"/>
          </a:solidFill>
          <a:ln w="6350">
            <a:solidFill>
              <a:srgbClr val="E2E8F0"/>
            </a:solidFill>
            <a:prstDash val="solid"/>
          </a:ln>
        </p:spPr>
      </p:sp>
      <p:sp>
        <p:nvSpPr>
          <p:cNvPr id="16" name="Shape 14"/>
          <p:cNvSpPr/>
          <p:nvPr/>
        </p:nvSpPr>
        <p:spPr>
          <a:xfrm>
            <a:off x="640080" y="4197096"/>
            <a:ext cx="73152" cy="777240"/>
          </a:xfrm>
          <a:prstGeom prst="rect">
            <a:avLst/>
          </a:prstGeom>
          <a:solidFill>
            <a:srgbClr val="00915A"/>
          </a:solidFill>
          <a:ln w="12700">
            <a:solidFill>
              <a:srgbClr val="00915A"/>
            </a:solidFill>
            <a:prstDash val="solid"/>
          </a:ln>
        </p:spPr>
      </p:sp>
      <p:sp>
        <p:nvSpPr>
          <p:cNvPr id="17" name="Text 15"/>
          <p:cNvSpPr/>
          <p:nvPr/>
        </p:nvSpPr>
        <p:spPr>
          <a:xfrm>
            <a:off x="914400" y="4306824"/>
            <a:ext cx="1463040" cy="228600"/>
          </a:xfrm>
          <a:prstGeom prst="rect">
            <a:avLst/>
          </a:prstGeom>
          <a:noFill/>
          <a:ln/>
        </p:spPr>
        <p:txBody>
          <a:bodyPr wrap="square" lIns="0" tIns="0" rIns="0" bIns="0" rtlCol="0" anchor="ctr"/>
          <a:lstStyle/>
          <a:p>
            <a:pPr indent="0" marL="0">
              <a:buNone/>
            </a:pPr>
            <a:r>
              <a:rPr lang="en-US" sz="1000" b="1" spc="400" kern="0" dirty="0">
                <a:solidFill>
                  <a:srgbClr val="00915A"/>
                </a:solidFill>
                <a:latin typeface="Calibri" pitchFamily="34" charset="0"/>
                <a:ea typeface="Calibri" pitchFamily="34" charset="-122"/>
                <a:cs typeface="Calibri" pitchFamily="34" charset="-120"/>
              </a:rPr>
              <a:t>NETWORK</a:t>
            </a:r>
            <a:endParaRPr lang="en-US" sz="1000" dirty="0"/>
          </a:p>
        </p:txBody>
      </p:sp>
      <p:sp>
        <p:nvSpPr>
          <p:cNvPr id="18" name="Text 16"/>
          <p:cNvSpPr/>
          <p:nvPr/>
        </p:nvSpPr>
        <p:spPr>
          <a:xfrm>
            <a:off x="914400" y="4535424"/>
            <a:ext cx="5029200" cy="438912"/>
          </a:xfrm>
          <a:prstGeom prst="rect">
            <a:avLst/>
          </a:prstGeom>
          <a:noFill/>
          <a:ln/>
        </p:spPr>
        <p:txBody>
          <a:bodyPr wrap="square" lIns="0" tIns="0" rIns="0" bIns="0" rtlCol="0" anchor="ctr"/>
          <a:lstStyle/>
          <a:p>
            <a:pPr indent="0" marL="0">
              <a:buNone/>
            </a:pPr>
            <a:r>
              <a:rPr lang="en-US" sz="1600" b="1" dirty="0">
                <a:solidFill>
                  <a:srgbClr val="1A2E28"/>
                </a:solidFill>
                <a:latin typeface="Georgia" pitchFamily="34" charset="0"/>
                <a:ea typeface="Georgia" pitchFamily="34" charset="-122"/>
                <a:cs typeface="Georgia" pitchFamily="34" charset="-120"/>
              </a:rPr>
              <a:t>VPC · Transit Gateway · DirectLink</a:t>
            </a:r>
            <a:endParaRPr lang="en-US" sz="1600" dirty="0"/>
          </a:p>
        </p:txBody>
      </p:sp>
      <p:sp>
        <p:nvSpPr>
          <p:cNvPr id="19" name="Text 17"/>
          <p:cNvSpPr/>
          <p:nvPr/>
        </p:nvSpPr>
        <p:spPr>
          <a:xfrm>
            <a:off x="6217920" y="4361688"/>
            <a:ext cx="5212080" cy="594360"/>
          </a:xfrm>
          <a:prstGeom prst="rect">
            <a:avLst/>
          </a:prstGeom>
          <a:noFill/>
          <a:ln/>
        </p:spPr>
        <p:txBody>
          <a:bodyPr wrap="square" lIns="0" tIns="0" rIns="0" bIns="0" rtlCol="0" anchor="ctr"/>
          <a:lstStyle/>
          <a:p>
            <a:pPr indent="0" marL="0">
              <a:lnSpc>
                <a:spcPct val="125000"/>
              </a:lnSpc>
              <a:buNone/>
            </a:pPr>
            <a:r>
              <a:rPr lang="en-US" sz="1100" dirty="0">
                <a:solidFill>
                  <a:srgbClr val="2C2C2C"/>
                </a:solidFill>
                <a:latin typeface="Calibri" pitchFamily="34" charset="0"/>
                <a:ea typeface="Calibri" pitchFamily="34" charset="-122"/>
                <a:cs typeface="Calibri" pitchFamily="34" charset="-120"/>
              </a:rPr>
              <a:t>Segmentation by ecosystem / realm, intra-region interconnection, private routing to on-premise.</a:t>
            </a:r>
            <a:endParaRPr lang="en-US" sz="1100" dirty="0"/>
          </a:p>
        </p:txBody>
      </p:sp>
      <p:sp>
        <p:nvSpPr>
          <p:cNvPr id="20" name="Shape 18"/>
          <p:cNvSpPr/>
          <p:nvPr/>
        </p:nvSpPr>
        <p:spPr>
          <a:xfrm>
            <a:off x="640080" y="5084064"/>
            <a:ext cx="10972800" cy="777240"/>
          </a:xfrm>
          <a:prstGeom prst="rect">
            <a:avLst/>
          </a:prstGeom>
          <a:solidFill>
            <a:srgbClr val="F8F9FA"/>
          </a:solidFill>
          <a:ln w="6350">
            <a:solidFill>
              <a:srgbClr val="E2E8F0"/>
            </a:solidFill>
            <a:prstDash val="solid"/>
          </a:ln>
        </p:spPr>
      </p:sp>
      <p:sp>
        <p:nvSpPr>
          <p:cNvPr id="21" name="Shape 19"/>
          <p:cNvSpPr/>
          <p:nvPr/>
        </p:nvSpPr>
        <p:spPr>
          <a:xfrm>
            <a:off x="640080" y="5084064"/>
            <a:ext cx="73152" cy="777240"/>
          </a:xfrm>
          <a:prstGeom prst="rect">
            <a:avLst/>
          </a:prstGeom>
          <a:solidFill>
            <a:srgbClr val="00915A"/>
          </a:solidFill>
          <a:ln w="12700">
            <a:solidFill>
              <a:srgbClr val="00915A"/>
            </a:solidFill>
            <a:prstDash val="solid"/>
          </a:ln>
        </p:spPr>
      </p:sp>
      <p:sp>
        <p:nvSpPr>
          <p:cNvPr id="22" name="Text 20"/>
          <p:cNvSpPr/>
          <p:nvPr/>
        </p:nvSpPr>
        <p:spPr>
          <a:xfrm>
            <a:off x="914400" y="5193792"/>
            <a:ext cx="1463040" cy="228600"/>
          </a:xfrm>
          <a:prstGeom prst="rect">
            <a:avLst/>
          </a:prstGeom>
          <a:noFill/>
          <a:ln/>
        </p:spPr>
        <p:txBody>
          <a:bodyPr wrap="square" lIns="0" tIns="0" rIns="0" bIns="0" rtlCol="0" anchor="ctr"/>
          <a:lstStyle/>
          <a:p>
            <a:pPr indent="0" marL="0">
              <a:buNone/>
            </a:pPr>
            <a:r>
              <a:rPr lang="en-US" sz="1000" b="1" spc="400" kern="0" dirty="0">
                <a:solidFill>
                  <a:srgbClr val="00915A"/>
                </a:solidFill>
                <a:latin typeface="Calibri" pitchFamily="34" charset="0"/>
                <a:ea typeface="Calibri" pitchFamily="34" charset="-122"/>
                <a:cs typeface="Calibri" pitchFamily="34" charset="-120"/>
              </a:rPr>
              <a:t>SECURITY</a:t>
            </a:r>
            <a:endParaRPr lang="en-US" sz="1000" dirty="0"/>
          </a:p>
        </p:txBody>
      </p:sp>
      <p:sp>
        <p:nvSpPr>
          <p:cNvPr id="23" name="Text 21"/>
          <p:cNvSpPr/>
          <p:nvPr/>
        </p:nvSpPr>
        <p:spPr>
          <a:xfrm>
            <a:off x="914400" y="5422392"/>
            <a:ext cx="5029200" cy="438912"/>
          </a:xfrm>
          <a:prstGeom prst="rect">
            <a:avLst/>
          </a:prstGeom>
          <a:noFill/>
          <a:ln/>
        </p:spPr>
        <p:txBody>
          <a:bodyPr wrap="square" lIns="0" tIns="0" rIns="0" bIns="0" rtlCol="0" anchor="ctr"/>
          <a:lstStyle/>
          <a:p>
            <a:pPr indent="0" marL="0">
              <a:buNone/>
            </a:pPr>
            <a:r>
              <a:rPr lang="en-US" sz="1600" b="1" dirty="0">
                <a:solidFill>
                  <a:srgbClr val="1A2E28"/>
                </a:solidFill>
                <a:latin typeface="Georgia" pitchFamily="34" charset="0"/>
                <a:ea typeface="Georgia" pitchFamily="34" charset="-122"/>
                <a:cs typeface="Georgia" pitchFamily="34" charset="-120"/>
              </a:rPr>
              <a:t>IAM · Key Protect · Activity Tracker</a:t>
            </a:r>
            <a:endParaRPr lang="en-US" sz="1600" dirty="0"/>
          </a:p>
        </p:txBody>
      </p:sp>
      <p:sp>
        <p:nvSpPr>
          <p:cNvPr id="24" name="Text 22"/>
          <p:cNvSpPr/>
          <p:nvPr/>
        </p:nvSpPr>
        <p:spPr>
          <a:xfrm>
            <a:off x="6217920" y="5248656"/>
            <a:ext cx="5212080" cy="594360"/>
          </a:xfrm>
          <a:prstGeom prst="rect">
            <a:avLst/>
          </a:prstGeom>
          <a:noFill/>
          <a:ln/>
        </p:spPr>
        <p:txBody>
          <a:bodyPr wrap="square" lIns="0" tIns="0" rIns="0" bIns="0" rtlCol="0" anchor="ctr"/>
          <a:lstStyle/>
          <a:p>
            <a:pPr indent="0" marL="0">
              <a:lnSpc>
                <a:spcPct val="125000"/>
              </a:lnSpc>
              <a:buNone/>
            </a:pPr>
            <a:r>
              <a:rPr lang="en-US" sz="1100" dirty="0">
                <a:solidFill>
                  <a:srgbClr val="2C2C2C"/>
                </a:solidFill>
                <a:latin typeface="Calibri" pitchFamily="34" charset="0"/>
                <a:ea typeface="Calibri" pitchFamily="34" charset="-122"/>
                <a:cs typeface="Calibri" pitchFamily="34" charset="-120"/>
              </a:rPr>
              <a:t>Centralized access controls, key management (BYOK/KYOK), full traceability.</a:t>
            </a:r>
            <a:endParaRPr lang="en-US" sz="1100" dirty="0"/>
          </a:p>
        </p:txBody>
      </p:sp>
      <p:sp>
        <p:nvSpPr>
          <p:cNvPr id="25" name="Text 23"/>
          <p:cNvSpPr/>
          <p:nvPr/>
        </p:nvSpPr>
        <p:spPr>
          <a:xfrm>
            <a:off x="640080" y="5989320"/>
            <a:ext cx="10972800" cy="320040"/>
          </a:xfrm>
          <a:prstGeom prst="rect">
            <a:avLst/>
          </a:prstGeom>
          <a:noFill/>
          <a:ln/>
        </p:spPr>
        <p:txBody>
          <a:bodyPr wrap="square" lIns="0" tIns="0" rIns="0" bIns="0" rtlCol="0" anchor="ctr"/>
          <a:lstStyle/>
          <a:p>
            <a:pPr indent="0" marL="0">
              <a:buNone/>
            </a:pPr>
            <a:r>
              <a:rPr lang="en-US" sz="1200" i="1" dirty="0">
                <a:solidFill>
                  <a:srgbClr val="6B7B78"/>
                </a:solidFill>
                <a:latin typeface="Georgia" pitchFamily="34" charset="0"/>
                <a:ea typeface="Georgia" pitchFamily="34" charset="-122"/>
                <a:cs typeface="Georgia" pitchFamily="34" charset="-120"/>
              </a:rPr>
              <a:t>The platform is operated by BP2I for Marketplace producers and Cardif application teams.</a:t>
            </a:r>
            <a:endParaRPr lang="en-US" sz="1200" dirty="0"/>
          </a:p>
        </p:txBody>
      </p:sp>
      <p:sp>
        <p:nvSpPr>
          <p:cNvPr id="26" name="Text 24"/>
          <p:cNvSpPr/>
          <p:nvPr/>
        </p:nvSpPr>
        <p:spPr>
          <a:xfrm>
            <a:off x="640080" y="6492240"/>
            <a:ext cx="6400800" cy="228600"/>
          </a:xfrm>
          <a:prstGeom prst="rect">
            <a:avLst/>
          </a:prstGeom>
          <a:noFill/>
          <a:ln/>
        </p:spPr>
        <p:txBody>
          <a:bodyPr wrap="square" lIns="0" tIns="0" rIns="0" bIns="0" rtlCol="0" anchor="ctr"/>
          <a:lstStyle/>
          <a:p>
            <a:pPr indent="0" marL="0">
              <a:buNone/>
            </a:pPr>
            <a:r>
              <a:rPr lang="en-US" sz="900" i="1" dirty="0">
                <a:solidFill>
                  <a:srgbClr val="9AA5A1"/>
                </a:solidFill>
                <a:latin typeface="Calibri" pitchFamily="34" charset="0"/>
                <a:ea typeface="Calibri" pitchFamily="34" charset="-122"/>
                <a:cs typeface="Calibri" pitchFamily="34" charset="-120"/>
              </a:rPr>
              <a:t>BNP Paribas Cardif · CARD Production</a:t>
            </a:r>
            <a:endParaRPr lang="en-US" sz="900" dirty="0"/>
          </a:p>
        </p:txBody>
      </p:sp>
      <p:sp>
        <p:nvSpPr>
          <p:cNvPr id="27" name="Text 25"/>
          <p:cNvSpPr/>
          <p:nvPr/>
        </p:nvSpPr>
        <p:spPr>
          <a:xfrm>
            <a:off x="8229600" y="6492240"/>
            <a:ext cx="3383280" cy="228600"/>
          </a:xfrm>
          <a:prstGeom prst="rect">
            <a:avLst/>
          </a:prstGeom>
          <a:noFill/>
          <a:ln/>
        </p:spPr>
        <p:txBody>
          <a:bodyPr wrap="square" lIns="0" tIns="0" rIns="0" bIns="0" rtlCol="0" anchor="ctr"/>
          <a:lstStyle/>
          <a:p>
            <a:pPr algn="r" indent="0" marL="0">
              <a:buNone/>
            </a:pPr>
            <a:r>
              <a:rPr lang="en-US" sz="900" dirty="0">
                <a:solidFill>
                  <a:srgbClr val="9AA5A1"/>
                </a:solidFill>
                <a:latin typeface="Calibri" pitchFamily="34" charset="0"/>
                <a:ea typeface="Calibri" pitchFamily="34" charset="-122"/>
                <a:cs typeface="Calibri" pitchFamily="34" charset="-120"/>
              </a:rPr>
              <a:t>06 · dMZR</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9144000" cy="274320"/>
          </a:xfrm>
          <a:prstGeom prst="rect">
            <a:avLst/>
          </a:prstGeom>
          <a:noFill/>
          <a:ln/>
        </p:spPr>
        <p:txBody>
          <a:bodyPr wrap="square" lIns="0" tIns="0" rIns="0" bIns="0" rtlCol="0" anchor="ctr"/>
          <a:lstStyle/>
          <a:p>
            <a:pPr indent="0" marL="0">
              <a:buNone/>
            </a:pPr>
            <a:r>
              <a:rPr lang="en-US" sz="1100" b="1" spc="600" kern="0" dirty="0">
                <a:solidFill>
                  <a:srgbClr val="00915A"/>
                </a:solidFill>
                <a:latin typeface="Calibri" pitchFamily="34" charset="0"/>
                <a:ea typeface="Calibri" pitchFamily="34" charset="-122"/>
                <a:cs typeface="Calibri" pitchFamily="34" charset="-120"/>
              </a:rPr>
              <a:t>01 · dMZR</a:t>
            </a:r>
            <a:endParaRPr lang="en-US" sz="1100" dirty="0"/>
          </a:p>
        </p:txBody>
      </p:sp>
      <p:sp>
        <p:nvSpPr>
          <p:cNvPr id="3" name="Text 1"/>
          <p:cNvSpPr/>
          <p:nvPr/>
        </p:nvSpPr>
        <p:spPr>
          <a:xfrm>
            <a:off x="640080" y="822960"/>
            <a:ext cx="10972800" cy="822960"/>
          </a:xfrm>
          <a:prstGeom prst="rect">
            <a:avLst/>
          </a:prstGeom>
          <a:noFill/>
          <a:ln/>
        </p:spPr>
        <p:txBody>
          <a:bodyPr wrap="square" lIns="0" tIns="0" rIns="0" bIns="0" rtlCol="0" anchor="ctr"/>
          <a:lstStyle/>
          <a:p>
            <a:pPr indent="0" marL="0">
              <a:buNone/>
            </a:pPr>
            <a:r>
              <a:rPr lang="en-US" sz="3200" b="1" dirty="0">
                <a:solidFill>
                  <a:srgbClr val="1A2E28"/>
                </a:solidFill>
                <a:latin typeface="Georgia" pitchFamily="34" charset="0"/>
                <a:ea typeface="Georgia" pitchFamily="34" charset="-122"/>
                <a:cs typeface="Georgia" pitchFamily="34" charset="-120"/>
              </a:rPr>
              <a:t>dMZR aS Code — Provisioning via Terraform</a:t>
            </a:r>
            <a:endParaRPr lang="en-US" sz="3200" dirty="0"/>
          </a:p>
        </p:txBody>
      </p:sp>
      <p:sp>
        <p:nvSpPr>
          <p:cNvPr id="4" name="Shape 2"/>
          <p:cNvSpPr/>
          <p:nvPr/>
        </p:nvSpPr>
        <p:spPr>
          <a:xfrm>
            <a:off x="9326880" y="502920"/>
            <a:ext cx="2286000" cy="365760"/>
          </a:xfrm>
          <a:prstGeom prst="rect">
            <a:avLst/>
          </a:prstGeom>
          <a:solidFill>
            <a:srgbClr val="D4A840"/>
          </a:solidFill>
          <a:ln w="12700">
            <a:solidFill>
              <a:srgbClr val="D4A840"/>
            </a:solidFill>
            <a:prstDash val="solid"/>
          </a:ln>
        </p:spPr>
      </p:sp>
      <p:sp>
        <p:nvSpPr>
          <p:cNvPr id="5" name="Text 3"/>
          <p:cNvSpPr/>
          <p:nvPr/>
        </p:nvSpPr>
        <p:spPr>
          <a:xfrm>
            <a:off x="9326880" y="502920"/>
            <a:ext cx="2286000" cy="365760"/>
          </a:xfrm>
          <a:prstGeom prst="rect">
            <a:avLst/>
          </a:prstGeom>
          <a:noFill/>
          <a:ln/>
        </p:spPr>
        <p:txBody>
          <a:bodyPr wrap="square" lIns="0" tIns="0" rIns="0" bIns="0" rtlCol="0" anchor="ctr"/>
          <a:lstStyle/>
          <a:p>
            <a:pPr algn="ctr" indent="0" marL="0">
              <a:buNone/>
            </a:pPr>
            <a:r>
              <a:rPr lang="en-US" sz="1000" b="1" spc="500" kern="0" dirty="0">
                <a:solidFill>
                  <a:srgbClr val="003A2B"/>
                </a:solidFill>
                <a:latin typeface="Calibri" pitchFamily="34" charset="0"/>
                <a:ea typeface="Calibri" pitchFamily="34" charset="-122"/>
                <a:cs typeface="Calibri" pitchFamily="34" charset="-120"/>
              </a:rPr>
              <a:t>MIGRATION TARGET</a:t>
            </a:r>
            <a:endParaRPr lang="en-US" sz="1000" dirty="0"/>
          </a:p>
        </p:txBody>
      </p:sp>
      <p:sp>
        <p:nvSpPr>
          <p:cNvPr id="6" name="Text 4"/>
          <p:cNvSpPr/>
          <p:nvPr/>
        </p:nvSpPr>
        <p:spPr>
          <a:xfrm>
            <a:off x="640080" y="1828800"/>
            <a:ext cx="10972800" cy="1143000"/>
          </a:xfrm>
          <a:prstGeom prst="rect">
            <a:avLst/>
          </a:prstGeom>
          <a:noFill/>
          <a:ln/>
        </p:spPr>
        <p:txBody>
          <a:bodyPr wrap="square" lIns="0" tIns="0" rIns="0" bIns="0" rtlCol="0" anchor="ctr"/>
          <a:lstStyle/>
          <a:p>
            <a:pPr indent="0" marL="0">
              <a:lnSpc>
                <a:spcPct val="135000"/>
              </a:lnSpc>
              <a:buNone/>
            </a:pPr>
            <a:r>
              <a:rPr lang="en-US" sz="1300" b="1" i="1" dirty="0">
                <a:solidFill>
                  <a:srgbClr val="00653F"/>
                </a:solidFill>
                <a:latin typeface="Georgia" pitchFamily="34" charset="0"/>
                <a:ea typeface="Georgia" pitchFamily="34" charset="-122"/>
                <a:cs typeface="Georgia" pitchFamily="34" charset="-120"/>
              </a:rPr>
              <a:t>dMZR aS Code</a:t>
            </a:r>
            <a:pPr indent="0" marL="0">
              <a:lnSpc>
                <a:spcPct val="135000"/>
              </a:lnSpc>
              <a:buNone/>
            </a:pPr>
            <a:r>
              <a:rPr lang="en-US" sz="1300" i="1" dirty="0">
                <a:solidFill>
                  <a:srgbClr val="2C2C2C"/>
                </a:solidFill>
                <a:latin typeface="Georgia" pitchFamily="34" charset="0"/>
                <a:ea typeface="Georgia" pitchFamily="34" charset="-122"/>
                <a:cs typeface="Georgia" pitchFamily="34" charset="-120"/>
              </a:rPr>
              <a:t> is the new-generation platform, in production, based on </a:t>
            </a:r>
            <a:pPr indent="0" marL="0">
              <a:lnSpc>
                <a:spcPct val="135000"/>
              </a:lnSpc>
              <a:buNone/>
            </a:pPr>
            <a:r>
              <a:rPr lang="en-US" sz="1300" b="1" i="1" dirty="0">
                <a:solidFill>
                  <a:srgbClr val="1A2E28"/>
                </a:solidFill>
                <a:latin typeface="Georgia" pitchFamily="34" charset="0"/>
                <a:ea typeface="Georgia" pitchFamily="34" charset="-122"/>
                <a:cs typeface="Georgia" pitchFamily="34" charset="-120"/>
              </a:rPr>
              <a:t>ROKS</a:t>
            </a:r>
            <a:pPr indent="0" marL="0">
              <a:lnSpc>
                <a:spcPct val="135000"/>
              </a:lnSpc>
              <a:buNone/>
            </a:pPr>
            <a:r>
              <a:rPr lang="en-US" sz="1300" i="1" dirty="0">
                <a:solidFill>
                  <a:srgbClr val="2C2C2C"/>
                </a:solidFill>
                <a:latin typeface="Georgia" pitchFamily="34" charset="0"/>
                <a:ea typeface="Georgia" pitchFamily="34" charset="-122"/>
                <a:cs typeface="Georgia" pitchFamily="34" charset="-120"/>
              </a:rPr>
              <a:t> and operated by BP2I. Resources — </a:t>
            </a:r>
            <a:pPr indent="0" marL="0">
              <a:lnSpc>
                <a:spcPct val="135000"/>
              </a:lnSpc>
              <a:buNone/>
            </a:pPr>
            <a:r>
              <a:rPr lang="en-US" sz="1300" b="1" i="1" dirty="0">
                <a:solidFill>
                  <a:srgbClr val="1A2E28"/>
                </a:solidFill>
                <a:latin typeface="Georgia" pitchFamily="34" charset="0"/>
                <a:ea typeface="Georgia" pitchFamily="34" charset="-122"/>
                <a:cs typeface="Georgia" pitchFamily="34" charset="-120"/>
              </a:rPr>
              <a:t>VSI, LB, ROKS clusters, Kafka, Databases…</a:t>
            </a:r>
            <a:pPr indent="0" marL="0">
              <a:lnSpc>
                <a:spcPct val="135000"/>
              </a:lnSpc>
              <a:buNone/>
            </a:pPr>
            <a:r>
              <a:rPr lang="en-US" sz="1300" i="1" dirty="0">
                <a:solidFill>
                  <a:srgbClr val="2C2C2C"/>
                </a:solidFill>
                <a:latin typeface="Georgia" pitchFamily="34" charset="0"/>
                <a:ea typeface="Georgia" pitchFamily="34" charset="-122"/>
                <a:cs typeface="Georgia" pitchFamily="34" charset="-120"/>
              </a:rPr>
              <a:t> — are provisioned </a:t>
            </a:r>
            <a:pPr indent="0" marL="0">
              <a:lnSpc>
                <a:spcPct val="135000"/>
              </a:lnSpc>
              <a:buNone/>
            </a:pPr>
            <a:r>
              <a:rPr lang="en-US" sz="1300" b="1" i="1" dirty="0">
                <a:solidFill>
                  <a:srgbClr val="00653F"/>
                </a:solidFill>
                <a:latin typeface="Georgia" pitchFamily="34" charset="0"/>
                <a:ea typeface="Georgia" pitchFamily="34" charset="-122"/>
                <a:cs typeface="Georgia" pitchFamily="34" charset="-120"/>
              </a:rPr>
              <a:t>aS Code</a:t>
            </a:r>
            <a:pPr indent="0" marL="0">
              <a:lnSpc>
                <a:spcPct val="135000"/>
              </a:lnSpc>
              <a:buNone/>
            </a:pPr>
            <a:r>
              <a:rPr lang="en-US" sz="1300" i="1" dirty="0">
                <a:solidFill>
                  <a:srgbClr val="2C2C2C"/>
                </a:solidFill>
                <a:latin typeface="Georgia" pitchFamily="34" charset="0"/>
                <a:ea typeface="Georgia" pitchFamily="34" charset="-122"/>
                <a:cs typeface="Georgia" pitchFamily="34" charset="-120"/>
              </a:rPr>
              <a:t> through a </a:t>
            </a:r>
            <a:pPr indent="0" marL="0">
              <a:lnSpc>
                <a:spcPct val="135000"/>
              </a:lnSpc>
              <a:buNone/>
            </a:pPr>
            <a:r>
              <a:rPr lang="en-US" sz="1300" b="1" i="1" dirty="0">
                <a:solidFill>
                  <a:srgbClr val="00653F"/>
                </a:solidFill>
                <a:latin typeface="Georgia" pitchFamily="34" charset="0"/>
                <a:ea typeface="Georgia" pitchFamily="34" charset="-122"/>
                <a:cs typeface="Georgia" pitchFamily="34" charset="-120"/>
              </a:rPr>
              <a:t>Terraform orchestrator built by BP2I</a:t>
            </a:r>
            <a:pPr indent="0" marL="0">
              <a:lnSpc>
                <a:spcPct val="135000"/>
              </a:lnSpc>
              <a:buNone/>
            </a:pPr>
            <a:r>
              <a:rPr lang="en-US" sz="1300" i="1" dirty="0">
                <a:solidFill>
                  <a:srgbClr val="2C2C2C"/>
                </a:solidFill>
                <a:latin typeface="Georgia" pitchFamily="34" charset="0"/>
                <a:ea typeface="Georgia" pitchFamily="34" charset="-122"/>
                <a:cs typeface="Georgia" pitchFamily="34" charset="-120"/>
              </a:rPr>
              <a:t>, a central piece that makes project teams agnostic to the underlying cloud.</a:t>
            </a:r>
            <a:endParaRPr lang="en-US" sz="1300" dirty="0"/>
          </a:p>
        </p:txBody>
      </p:sp>
      <p:sp>
        <p:nvSpPr>
          <p:cNvPr id="7" name="Shape 5"/>
          <p:cNvSpPr/>
          <p:nvPr/>
        </p:nvSpPr>
        <p:spPr>
          <a:xfrm>
            <a:off x="640080" y="3017520"/>
            <a:ext cx="2148840" cy="2194560"/>
          </a:xfrm>
          <a:prstGeom prst="rect">
            <a:avLst/>
          </a:prstGeom>
          <a:solidFill>
            <a:srgbClr val="F8F9FA"/>
          </a:solidFill>
          <a:ln w="6350">
            <a:solidFill>
              <a:srgbClr val="E2E8F0"/>
            </a:solidFill>
            <a:prstDash val="solid"/>
          </a:ln>
        </p:spPr>
      </p:sp>
      <p:sp>
        <p:nvSpPr>
          <p:cNvPr id="8" name="Shape 6"/>
          <p:cNvSpPr/>
          <p:nvPr/>
        </p:nvSpPr>
        <p:spPr>
          <a:xfrm>
            <a:off x="640080" y="3017520"/>
            <a:ext cx="2148840" cy="54864"/>
          </a:xfrm>
          <a:prstGeom prst="rect">
            <a:avLst/>
          </a:prstGeom>
          <a:solidFill>
            <a:srgbClr val="00915A"/>
          </a:solidFill>
          <a:ln w="12700">
            <a:solidFill>
              <a:srgbClr val="00915A"/>
            </a:solidFill>
            <a:prstDash val="solid"/>
          </a:ln>
        </p:spPr>
      </p:sp>
      <p:sp>
        <p:nvSpPr>
          <p:cNvPr id="9" name="Shape 7"/>
          <p:cNvSpPr/>
          <p:nvPr/>
        </p:nvSpPr>
        <p:spPr>
          <a:xfrm>
            <a:off x="1348740" y="3273552"/>
            <a:ext cx="731520" cy="731520"/>
          </a:xfrm>
          <a:prstGeom prst="ellipse">
            <a:avLst/>
          </a:prstGeom>
          <a:solidFill>
            <a:srgbClr val="00915A"/>
          </a:solidFill>
          <a:ln w="12700">
            <a:solidFill>
              <a:srgbClr val="00915A"/>
            </a:solidFill>
            <a:prstDash val="solid"/>
          </a:ln>
        </p:spPr>
      </p:sp>
      <p:pic>
        <p:nvPicPr>
          <p:cNvPr id="10" name="Image 0" descr="preencoded.png">    </p:cNvPr>
          <p:cNvPicPr>
            <a:picLocks noChangeAspect="1"/>
          </p:cNvPicPr>
          <p:nvPr/>
        </p:nvPicPr>
        <p:blipFill>
          <a:blip r:embed="rId1"/>
          <a:stretch>
            <a:fillRect/>
          </a:stretch>
        </p:blipFill>
        <p:spPr>
          <a:xfrm>
            <a:off x="1513332" y="3429000"/>
            <a:ext cx="411480" cy="411480"/>
          </a:xfrm>
          <a:prstGeom prst="rect">
            <a:avLst/>
          </a:prstGeom>
        </p:spPr>
      </p:pic>
      <p:sp>
        <p:nvSpPr>
          <p:cNvPr id="11" name="Text 8"/>
          <p:cNvSpPr/>
          <p:nvPr/>
        </p:nvSpPr>
        <p:spPr>
          <a:xfrm>
            <a:off x="822960" y="4114800"/>
            <a:ext cx="1783080" cy="256032"/>
          </a:xfrm>
          <a:prstGeom prst="rect">
            <a:avLst/>
          </a:prstGeom>
          <a:noFill/>
          <a:ln/>
        </p:spPr>
        <p:txBody>
          <a:bodyPr wrap="square" lIns="0" tIns="0" rIns="0" bIns="0" rtlCol="0" anchor="ctr"/>
          <a:lstStyle/>
          <a:p>
            <a:pPr algn="ctr" indent="0" marL="0">
              <a:buNone/>
            </a:pPr>
            <a:r>
              <a:rPr lang="en-US" sz="1000" b="1" spc="400" kern="0" dirty="0">
                <a:solidFill>
                  <a:srgbClr val="00915A"/>
                </a:solidFill>
                <a:latin typeface="Calibri" pitchFamily="34" charset="0"/>
                <a:ea typeface="Calibri" pitchFamily="34" charset="-122"/>
                <a:cs typeface="Calibri" pitchFamily="34" charset="-120"/>
              </a:rPr>
              <a:t>GIT</a:t>
            </a:r>
            <a:endParaRPr lang="en-US" sz="1000" dirty="0"/>
          </a:p>
        </p:txBody>
      </p:sp>
      <p:sp>
        <p:nvSpPr>
          <p:cNvPr id="12" name="Text 9"/>
          <p:cNvSpPr/>
          <p:nvPr/>
        </p:nvSpPr>
        <p:spPr>
          <a:xfrm>
            <a:off x="777240" y="4389120"/>
            <a:ext cx="1874520" cy="457200"/>
          </a:xfrm>
          <a:prstGeom prst="rect">
            <a:avLst/>
          </a:prstGeom>
          <a:noFill/>
          <a:ln/>
        </p:spPr>
        <p:txBody>
          <a:bodyPr wrap="square" lIns="0" tIns="0" rIns="0" bIns="0" rtlCol="0" anchor="ctr"/>
          <a:lstStyle/>
          <a:p>
            <a:pPr algn="ctr" indent="0" marL="0">
              <a:buNone/>
            </a:pPr>
            <a:r>
              <a:rPr lang="en-US" sz="1400" b="1" dirty="0">
                <a:solidFill>
                  <a:srgbClr val="1A2E28"/>
                </a:solidFill>
                <a:latin typeface="Georgia" pitchFamily="34" charset="0"/>
                <a:ea typeface="Georgia" pitchFamily="34" charset="-122"/>
                <a:cs typeface="Georgia" pitchFamily="34" charset="-120"/>
              </a:rPr>
              <a:t>Versioned modules</a:t>
            </a:r>
            <a:endParaRPr lang="en-US" sz="1400" dirty="0"/>
          </a:p>
        </p:txBody>
      </p:sp>
      <p:sp>
        <p:nvSpPr>
          <p:cNvPr id="13" name="Text 10"/>
          <p:cNvSpPr/>
          <p:nvPr/>
        </p:nvSpPr>
        <p:spPr>
          <a:xfrm>
            <a:off x="777240" y="4800600"/>
            <a:ext cx="1874520" cy="365760"/>
          </a:xfrm>
          <a:prstGeom prst="rect">
            <a:avLst/>
          </a:prstGeom>
          <a:noFill/>
          <a:ln/>
        </p:spPr>
        <p:txBody>
          <a:bodyPr wrap="square" lIns="0" tIns="0" rIns="0" bIns="0" rtlCol="0" anchor="ctr"/>
          <a:lstStyle/>
          <a:p>
            <a:pPr algn="ctr" indent="0" marL="0">
              <a:lnSpc>
                <a:spcPct val="125000"/>
              </a:lnSpc>
              <a:buNone/>
            </a:pPr>
            <a:r>
              <a:rPr lang="en-US" sz="1000" dirty="0">
                <a:solidFill>
                  <a:srgbClr val="6B7B78"/>
                </a:solidFill>
                <a:latin typeface="Calibri" pitchFamily="34" charset="0"/>
                <a:ea typeface="Calibri" pitchFamily="34" charset="-122"/>
                <a:cs typeface="Calibri" pitchFamily="34" charset="-120"/>
              </a:rPr>
              <a:t>GitLab repo, reviewed via MR</a:t>
            </a:r>
            <a:endParaRPr lang="en-US" sz="1000" dirty="0"/>
          </a:p>
        </p:txBody>
      </p:sp>
      <p:sp>
        <p:nvSpPr>
          <p:cNvPr id="14" name="Text 11"/>
          <p:cNvSpPr/>
          <p:nvPr/>
        </p:nvSpPr>
        <p:spPr>
          <a:xfrm>
            <a:off x="2798064" y="3383280"/>
            <a:ext cx="137160" cy="548640"/>
          </a:xfrm>
          <a:prstGeom prst="rect">
            <a:avLst/>
          </a:prstGeom>
          <a:noFill/>
          <a:ln/>
        </p:spPr>
        <p:txBody>
          <a:bodyPr wrap="square" lIns="0" tIns="0" rIns="0" bIns="0" rtlCol="0" anchor="ctr"/>
          <a:lstStyle/>
          <a:p>
            <a:pPr algn="ctr" indent="0" marL="0">
              <a:buNone/>
            </a:pPr>
            <a:r>
              <a:rPr lang="en-US" sz="3200" b="1" dirty="0">
                <a:solidFill>
                  <a:srgbClr val="D4A840"/>
                </a:solidFill>
                <a:latin typeface="Georgia" pitchFamily="34" charset="0"/>
                <a:ea typeface="Georgia" pitchFamily="34" charset="-122"/>
                <a:cs typeface="Georgia" pitchFamily="34" charset="-120"/>
              </a:rPr>
              <a:t>›</a:t>
            </a:r>
            <a:endParaRPr lang="en-US" sz="3200" dirty="0"/>
          </a:p>
        </p:txBody>
      </p:sp>
      <p:sp>
        <p:nvSpPr>
          <p:cNvPr id="15" name="Shape 12"/>
          <p:cNvSpPr/>
          <p:nvPr/>
        </p:nvSpPr>
        <p:spPr>
          <a:xfrm>
            <a:off x="2944368" y="3017520"/>
            <a:ext cx="2148840" cy="2194560"/>
          </a:xfrm>
          <a:prstGeom prst="rect">
            <a:avLst/>
          </a:prstGeom>
          <a:solidFill>
            <a:srgbClr val="F8F9FA"/>
          </a:solidFill>
          <a:ln w="6350">
            <a:solidFill>
              <a:srgbClr val="E2E8F0"/>
            </a:solidFill>
            <a:prstDash val="solid"/>
          </a:ln>
        </p:spPr>
      </p:sp>
      <p:sp>
        <p:nvSpPr>
          <p:cNvPr id="16" name="Shape 13"/>
          <p:cNvSpPr/>
          <p:nvPr/>
        </p:nvSpPr>
        <p:spPr>
          <a:xfrm>
            <a:off x="2944368" y="3017520"/>
            <a:ext cx="2148840" cy="54864"/>
          </a:xfrm>
          <a:prstGeom prst="rect">
            <a:avLst/>
          </a:prstGeom>
          <a:solidFill>
            <a:srgbClr val="00915A"/>
          </a:solidFill>
          <a:ln w="12700">
            <a:solidFill>
              <a:srgbClr val="00915A"/>
            </a:solidFill>
            <a:prstDash val="solid"/>
          </a:ln>
        </p:spPr>
      </p:sp>
      <p:sp>
        <p:nvSpPr>
          <p:cNvPr id="17" name="Shape 14"/>
          <p:cNvSpPr/>
          <p:nvPr/>
        </p:nvSpPr>
        <p:spPr>
          <a:xfrm>
            <a:off x="3653028" y="3273552"/>
            <a:ext cx="731520" cy="731520"/>
          </a:xfrm>
          <a:prstGeom prst="ellipse">
            <a:avLst/>
          </a:prstGeom>
          <a:solidFill>
            <a:srgbClr val="00915A"/>
          </a:solidFill>
          <a:ln w="12700">
            <a:solidFill>
              <a:srgbClr val="00915A"/>
            </a:solidFill>
            <a:prstDash val="solid"/>
          </a:ln>
        </p:spPr>
      </p:sp>
      <p:pic>
        <p:nvPicPr>
          <p:cNvPr id="18" name="Image 1" descr="preencoded.png">    </p:cNvPr>
          <p:cNvPicPr>
            <a:picLocks noChangeAspect="1"/>
          </p:cNvPicPr>
          <p:nvPr/>
        </p:nvPicPr>
        <p:blipFill>
          <a:blip r:embed="rId2"/>
          <a:stretch>
            <a:fillRect/>
          </a:stretch>
        </p:blipFill>
        <p:spPr>
          <a:xfrm>
            <a:off x="3817620" y="3429000"/>
            <a:ext cx="411480" cy="411480"/>
          </a:xfrm>
          <a:prstGeom prst="rect">
            <a:avLst/>
          </a:prstGeom>
        </p:spPr>
      </p:pic>
      <p:sp>
        <p:nvSpPr>
          <p:cNvPr id="19" name="Text 15"/>
          <p:cNvSpPr/>
          <p:nvPr/>
        </p:nvSpPr>
        <p:spPr>
          <a:xfrm>
            <a:off x="3127248" y="4114800"/>
            <a:ext cx="1783080" cy="256032"/>
          </a:xfrm>
          <a:prstGeom prst="rect">
            <a:avLst/>
          </a:prstGeom>
          <a:noFill/>
          <a:ln/>
        </p:spPr>
        <p:txBody>
          <a:bodyPr wrap="square" lIns="0" tIns="0" rIns="0" bIns="0" rtlCol="0" anchor="ctr"/>
          <a:lstStyle/>
          <a:p>
            <a:pPr algn="ctr" indent="0" marL="0">
              <a:buNone/>
            </a:pPr>
            <a:r>
              <a:rPr lang="en-US" sz="1000" b="1" spc="400" kern="0" dirty="0">
                <a:solidFill>
                  <a:srgbClr val="00915A"/>
                </a:solidFill>
                <a:latin typeface="Calibri" pitchFamily="34" charset="0"/>
                <a:ea typeface="Calibri" pitchFamily="34" charset="-122"/>
                <a:cs typeface="Calibri" pitchFamily="34" charset="-120"/>
              </a:rPr>
              <a:t>PLAN</a:t>
            </a:r>
            <a:endParaRPr lang="en-US" sz="1000" dirty="0"/>
          </a:p>
        </p:txBody>
      </p:sp>
      <p:sp>
        <p:nvSpPr>
          <p:cNvPr id="20" name="Text 16"/>
          <p:cNvSpPr/>
          <p:nvPr/>
        </p:nvSpPr>
        <p:spPr>
          <a:xfrm>
            <a:off x="3081528" y="4389120"/>
            <a:ext cx="1874520" cy="457200"/>
          </a:xfrm>
          <a:prstGeom prst="rect">
            <a:avLst/>
          </a:prstGeom>
          <a:noFill/>
          <a:ln/>
        </p:spPr>
        <p:txBody>
          <a:bodyPr wrap="square" lIns="0" tIns="0" rIns="0" bIns="0" rtlCol="0" anchor="ctr"/>
          <a:lstStyle/>
          <a:p>
            <a:pPr algn="ctr" indent="0" marL="0">
              <a:buNone/>
            </a:pPr>
            <a:r>
              <a:rPr lang="en-US" sz="1400" b="1" dirty="0">
                <a:solidFill>
                  <a:srgbClr val="1A2E28"/>
                </a:solidFill>
                <a:latin typeface="Georgia" pitchFamily="34" charset="0"/>
                <a:ea typeface="Georgia" pitchFamily="34" charset="-122"/>
                <a:cs typeface="Georgia" pitchFamily="34" charset="-120"/>
              </a:rPr>
              <a:t>terraform plan</a:t>
            </a:r>
            <a:endParaRPr lang="en-US" sz="1400" dirty="0"/>
          </a:p>
        </p:txBody>
      </p:sp>
      <p:sp>
        <p:nvSpPr>
          <p:cNvPr id="21" name="Text 17"/>
          <p:cNvSpPr/>
          <p:nvPr/>
        </p:nvSpPr>
        <p:spPr>
          <a:xfrm>
            <a:off x="3081528" y="4800600"/>
            <a:ext cx="1874520" cy="365760"/>
          </a:xfrm>
          <a:prstGeom prst="rect">
            <a:avLst/>
          </a:prstGeom>
          <a:noFill/>
          <a:ln/>
        </p:spPr>
        <p:txBody>
          <a:bodyPr wrap="square" lIns="0" tIns="0" rIns="0" bIns="0" rtlCol="0" anchor="ctr"/>
          <a:lstStyle/>
          <a:p>
            <a:pPr algn="ctr" indent="0" marL="0">
              <a:lnSpc>
                <a:spcPct val="125000"/>
              </a:lnSpc>
              <a:buNone/>
            </a:pPr>
            <a:r>
              <a:rPr lang="en-US" sz="1000" dirty="0">
                <a:solidFill>
                  <a:srgbClr val="6B7B78"/>
                </a:solidFill>
                <a:latin typeface="Calibri" pitchFamily="34" charset="0"/>
                <a:ea typeface="Calibri" pitchFamily="34" charset="-122"/>
                <a:cs typeface="Calibri" pitchFamily="34" charset="-120"/>
              </a:rPr>
              <a:t>Plan generation, policy checks</a:t>
            </a:r>
            <a:endParaRPr lang="en-US" sz="1000" dirty="0"/>
          </a:p>
        </p:txBody>
      </p:sp>
      <p:sp>
        <p:nvSpPr>
          <p:cNvPr id="22" name="Text 18"/>
          <p:cNvSpPr/>
          <p:nvPr/>
        </p:nvSpPr>
        <p:spPr>
          <a:xfrm>
            <a:off x="5102352" y="3383280"/>
            <a:ext cx="137160" cy="548640"/>
          </a:xfrm>
          <a:prstGeom prst="rect">
            <a:avLst/>
          </a:prstGeom>
          <a:noFill/>
          <a:ln/>
        </p:spPr>
        <p:txBody>
          <a:bodyPr wrap="square" lIns="0" tIns="0" rIns="0" bIns="0" rtlCol="0" anchor="ctr"/>
          <a:lstStyle/>
          <a:p>
            <a:pPr algn="ctr" indent="0" marL="0">
              <a:buNone/>
            </a:pPr>
            <a:r>
              <a:rPr lang="en-US" sz="3200" b="1" dirty="0">
                <a:solidFill>
                  <a:srgbClr val="D4A840"/>
                </a:solidFill>
                <a:latin typeface="Georgia" pitchFamily="34" charset="0"/>
                <a:ea typeface="Georgia" pitchFamily="34" charset="-122"/>
                <a:cs typeface="Georgia" pitchFamily="34" charset="-120"/>
              </a:rPr>
              <a:t>›</a:t>
            </a:r>
            <a:endParaRPr lang="en-US" sz="3200" dirty="0"/>
          </a:p>
        </p:txBody>
      </p:sp>
      <p:sp>
        <p:nvSpPr>
          <p:cNvPr id="23" name="Shape 19"/>
          <p:cNvSpPr/>
          <p:nvPr/>
        </p:nvSpPr>
        <p:spPr>
          <a:xfrm>
            <a:off x="5248656" y="3017520"/>
            <a:ext cx="2148840" cy="2194560"/>
          </a:xfrm>
          <a:prstGeom prst="rect">
            <a:avLst/>
          </a:prstGeom>
          <a:solidFill>
            <a:srgbClr val="F8F9FA"/>
          </a:solidFill>
          <a:ln w="6350">
            <a:solidFill>
              <a:srgbClr val="E2E8F0"/>
            </a:solidFill>
            <a:prstDash val="solid"/>
          </a:ln>
        </p:spPr>
      </p:sp>
      <p:sp>
        <p:nvSpPr>
          <p:cNvPr id="24" name="Shape 20"/>
          <p:cNvSpPr/>
          <p:nvPr/>
        </p:nvSpPr>
        <p:spPr>
          <a:xfrm>
            <a:off x="5248656" y="3017520"/>
            <a:ext cx="2148840" cy="54864"/>
          </a:xfrm>
          <a:prstGeom prst="rect">
            <a:avLst/>
          </a:prstGeom>
          <a:solidFill>
            <a:srgbClr val="00915A"/>
          </a:solidFill>
          <a:ln w="12700">
            <a:solidFill>
              <a:srgbClr val="00915A"/>
            </a:solidFill>
            <a:prstDash val="solid"/>
          </a:ln>
        </p:spPr>
      </p:sp>
      <p:sp>
        <p:nvSpPr>
          <p:cNvPr id="25" name="Shape 21"/>
          <p:cNvSpPr/>
          <p:nvPr/>
        </p:nvSpPr>
        <p:spPr>
          <a:xfrm>
            <a:off x="5957316" y="3273552"/>
            <a:ext cx="731520" cy="731520"/>
          </a:xfrm>
          <a:prstGeom prst="ellipse">
            <a:avLst/>
          </a:prstGeom>
          <a:solidFill>
            <a:srgbClr val="00915A"/>
          </a:solidFill>
          <a:ln w="12700">
            <a:solidFill>
              <a:srgbClr val="00915A"/>
            </a:solidFill>
            <a:prstDash val="solid"/>
          </a:ln>
        </p:spPr>
      </p:sp>
      <p:pic>
        <p:nvPicPr>
          <p:cNvPr id="26" name="Image 2" descr="preencoded.png">    </p:cNvPr>
          <p:cNvPicPr>
            <a:picLocks noChangeAspect="1"/>
          </p:cNvPicPr>
          <p:nvPr/>
        </p:nvPicPr>
        <p:blipFill>
          <a:blip r:embed="rId3"/>
          <a:stretch>
            <a:fillRect/>
          </a:stretch>
        </p:blipFill>
        <p:spPr>
          <a:xfrm>
            <a:off x="6121908" y="3429000"/>
            <a:ext cx="411480" cy="411480"/>
          </a:xfrm>
          <a:prstGeom prst="rect">
            <a:avLst/>
          </a:prstGeom>
        </p:spPr>
      </p:pic>
      <p:sp>
        <p:nvSpPr>
          <p:cNvPr id="27" name="Text 22"/>
          <p:cNvSpPr/>
          <p:nvPr/>
        </p:nvSpPr>
        <p:spPr>
          <a:xfrm>
            <a:off x="5431536" y="4114800"/>
            <a:ext cx="1783080" cy="256032"/>
          </a:xfrm>
          <a:prstGeom prst="rect">
            <a:avLst/>
          </a:prstGeom>
          <a:noFill/>
          <a:ln/>
        </p:spPr>
        <p:txBody>
          <a:bodyPr wrap="square" lIns="0" tIns="0" rIns="0" bIns="0" rtlCol="0" anchor="ctr"/>
          <a:lstStyle/>
          <a:p>
            <a:pPr algn="ctr" indent="0" marL="0">
              <a:buNone/>
            </a:pPr>
            <a:r>
              <a:rPr lang="en-US" sz="1000" b="1" spc="400" kern="0" dirty="0">
                <a:solidFill>
                  <a:srgbClr val="00915A"/>
                </a:solidFill>
                <a:latin typeface="Calibri" pitchFamily="34" charset="0"/>
                <a:ea typeface="Calibri" pitchFamily="34" charset="-122"/>
                <a:cs typeface="Calibri" pitchFamily="34" charset="-120"/>
              </a:rPr>
              <a:t>REVIEW</a:t>
            </a:r>
            <a:endParaRPr lang="en-US" sz="1000" dirty="0"/>
          </a:p>
        </p:txBody>
      </p:sp>
      <p:sp>
        <p:nvSpPr>
          <p:cNvPr id="28" name="Text 23"/>
          <p:cNvSpPr/>
          <p:nvPr/>
        </p:nvSpPr>
        <p:spPr>
          <a:xfrm>
            <a:off x="5385816" y="4389120"/>
            <a:ext cx="1874520" cy="457200"/>
          </a:xfrm>
          <a:prstGeom prst="rect">
            <a:avLst/>
          </a:prstGeom>
          <a:noFill/>
          <a:ln/>
        </p:spPr>
        <p:txBody>
          <a:bodyPr wrap="square" lIns="0" tIns="0" rIns="0" bIns="0" rtlCol="0" anchor="ctr"/>
          <a:lstStyle/>
          <a:p>
            <a:pPr algn="ctr" indent="0" marL="0">
              <a:buNone/>
            </a:pPr>
            <a:r>
              <a:rPr lang="en-US" sz="1400" b="1" dirty="0">
                <a:solidFill>
                  <a:srgbClr val="1A2E28"/>
                </a:solidFill>
                <a:latin typeface="Georgia" pitchFamily="34" charset="0"/>
                <a:ea typeface="Georgia" pitchFamily="34" charset="-122"/>
                <a:cs typeface="Georgia" pitchFamily="34" charset="-120"/>
              </a:rPr>
              <a:t>Approval</a:t>
            </a:r>
            <a:endParaRPr lang="en-US" sz="1400" dirty="0"/>
          </a:p>
        </p:txBody>
      </p:sp>
      <p:sp>
        <p:nvSpPr>
          <p:cNvPr id="29" name="Text 24"/>
          <p:cNvSpPr/>
          <p:nvPr/>
        </p:nvSpPr>
        <p:spPr>
          <a:xfrm>
            <a:off x="5385816" y="4800600"/>
            <a:ext cx="1874520" cy="365760"/>
          </a:xfrm>
          <a:prstGeom prst="rect">
            <a:avLst/>
          </a:prstGeom>
          <a:noFill/>
          <a:ln/>
        </p:spPr>
        <p:txBody>
          <a:bodyPr wrap="square" lIns="0" tIns="0" rIns="0" bIns="0" rtlCol="0" anchor="ctr"/>
          <a:lstStyle/>
          <a:p>
            <a:pPr algn="ctr" indent="0" marL="0">
              <a:lnSpc>
                <a:spcPct val="125000"/>
              </a:lnSpc>
              <a:buNone/>
            </a:pPr>
            <a:r>
              <a:rPr lang="en-US" sz="1000" dirty="0">
                <a:solidFill>
                  <a:srgbClr val="6B7B78"/>
                </a:solidFill>
                <a:latin typeface="Calibri" pitchFamily="34" charset="0"/>
                <a:ea typeface="Calibri" pitchFamily="34" charset="-122"/>
                <a:cs typeface="Calibri" pitchFamily="34" charset="-120"/>
              </a:rPr>
              <a:t>MR approved, policies OK</a:t>
            </a:r>
            <a:endParaRPr lang="en-US" sz="1000" dirty="0"/>
          </a:p>
        </p:txBody>
      </p:sp>
      <p:sp>
        <p:nvSpPr>
          <p:cNvPr id="30" name="Text 25"/>
          <p:cNvSpPr/>
          <p:nvPr/>
        </p:nvSpPr>
        <p:spPr>
          <a:xfrm>
            <a:off x="7406640" y="3383280"/>
            <a:ext cx="137160" cy="548640"/>
          </a:xfrm>
          <a:prstGeom prst="rect">
            <a:avLst/>
          </a:prstGeom>
          <a:noFill/>
          <a:ln/>
        </p:spPr>
        <p:txBody>
          <a:bodyPr wrap="square" lIns="0" tIns="0" rIns="0" bIns="0" rtlCol="0" anchor="ctr"/>
          <a:lstStyle/>
          <a:p>
            <a:pPr algn="ctr" indent="0" marL="0">
              <a:buNone/>
            </a:pPr>
            <a:r>
              <a:rPr lang="en-US" sz="3200" b="1" dirty="0">
                <a:solidFill>
                  <a:srgbClr val="D4A840"/>
                </a:solidFill>
                <a:latin typeface="Georgia" pitchFamily="34" charset="0"/>
                <a:ea typeface="Georgia" pitchFamily="34" charset="-122"/>
                <a:cs typeface="Georgia" pitchFamily="34" charset="-120"/>
              </a:rPr>
              <a:t>›</a:t>
            </a:r>
            <a:endParaRPr lang="en-US" sz="3200" dirty="0"/>
          </a:p>
        </p:txBody>
      </p:sp>
      <p:sp>
        <p:nvSpPr>
          <p:cNvPr id="31" name="Shape 26"/>
          <p:cNvSpPr/>
          <p:nvPr/>
        </p:nvSpPr>
        <p:spPr>
          <a:xfrm>
            <a:off x="7552944" y="3017520"/>
            <a:ext cx="2148840" cy="2194560"/>
          </a:xfrm>
          <a:prstGeom prst="rect">
            <a:avLst/>
          </a:prstGeom>
          <a:solidFill>
            <a:srgbClr val="F8F9FA"/>
          </a:solidFill>
          <a:ln w="6350">
            <a:solidFill>
              <a:srgbClr val="E2E8F0"/>
            </a:solidFill>
            <a:prstDash val="solid"/>
          </a:ln>
        </p:spPr>
      </p:sp>
      <p:sp>
        <p:nvSpPr>
          <p:cNvPr id="32" name="Shape 27"/>
          <p:cNvSpPr/>
          <p:nvPr/>
        </p:nvSpPr>
        <p:spPr>
          <a:xfrm>
            <a:off x="7552944" y="3017520"/>
            <a:ext cx="2148840" cy="54864"/>
          </a:xfrm>
          <a:prstGeom prst="rect">
            <a:avLst/>
          </a:prstGeom>
          <a:solidFill>
            <a:srgbClr val="D4A840"/>
          </a:solidFill>
          <a:ln w="12700">
            <a:solidFill>
              <a:srgbClr val="D4A840"/>
            </a:solidFill>
            <a:prstDash val="solid"/>
          </a:ln>
        </p:spPr>
      </p:sp>
      <p:sp>
        <p:nvSpPr>
          <p:cNvPr id="33" name="Shape 28"/>
          <p:cNvSpPr/>
          <p:nvPr/>
        </p:nvSpPr>
        <p:spPr>
          <a:xfrm>
            <a:off x="8261604" y="3273552"/>
            <a:ext cx="731520" cy="731520"/>
          </a:xfrm>
          <a:prstGeom prst="ellipse">
            <a:avLst/>
          </a:prstGeom>
          <a:solidFill>
            <a:srgbClr val="00653F"/>
          </a:solidFill>
          <a:ln w="12700">
            <a:solidFill>
              <a:srgbClr val="00653F"/>
            </a:solidFill>
            <a:prstDash val="solid"/>
          </a:ln>
        </p:spPr>
      </p:sp>
      <p:pic>
        <p:nvPicPr>
          <p:cNvPr id="34" name="Image 3" descr="preencoded.png">    </p:cNvPr>
          <p:cNvPicPr>
            <a:picLocks noChangeAspect="1"/>
          </p:cNvPicPr>
          <p:nvPr/>
        </p:nvPicPr>
        <p:blipFill>
          <a:blip r:embed="rId4"/>
          <a:stretch>
            <a:fillRect/>
          </a:stretch>
        </p:blipFill>
        <p:spPr>
          <a:xfrm>
            <a:off x="8426196" y="3429000"/>
            <a:ext cx="411480" cy="411480"/>
          </a:xfrm>
          <a:prstGeom prst="rect">
            <a:avLst/>
          </a:prstGeom>
        </p:spPr>
      </p:pic>
      <p:sp>
        <p:nvSpPr>
          <p:cNvPr id="35" name="Text 29"/>
          <p:cNvSpPr/>
          <p:nvPr/>
        </p:nvSpPr>
        <p:spPr>
          <a:xfrm>
            <a:off x="7735824" y="4114800"/>
            <a:ext cx="1783080" cy="256032"/>
          </a:xfrm>
          <a:prstGeom prst="rect">
            <a:avLst/>
          </a:prstGeom>
          <a:noFill/>
          <a:ln/>
        </p:spPr>
        <p:txBody>
          <a:bodyPr wrap="square" lIns="0" tIns="0" rIns="0" bIns="0" rtlCol="0" anchor="ctr"/>
          <a:lstStyle/>
          <a:p>
            <a:pPr algn="ctr" indent="0" marL="0">
              <a:buNone/>
            </a:pPr>
            <a:r>
              <a:rPr lang="en-US" sz="1000" b="1" spc="400" kern="0" dirty="0">
                <a:solidFill>
                  <a:srgbClr val="00653F"/>
                </a:solidFill>
                <a:latin typeface="Calibri" pitchFamily="34" charset="0"/>
                <a:ea typeface="Calibri" pitchFamily="34" charset="-122"/>
                <a:cs typeface="Calibri" pitchFamily="34" charset="-120"/>
              </a:rPr>
              <a:t>ORCHESTRATOR</a:t>
            </a:r>
            <a:endParaRPr lang="en-US" sz="1000" dirty="0"/>
          </a:p>
        </p:txBody>
      </p:sp>
      <p:sp>
        <p:nvSpPr>
          <p:cNvPr id="36" name="Text 30"/>
          <p:cNvSpPr/>
          <p:nvPr/>
        </p:nvSpPr>
        <p:spPr>
          <a:xfrm>
            <a:off x="7690104" y="4389120"/>
            <a:ext cx="1874520" cy="457200"/>
          </a:xfrm>
          <a:prstGeom prst="rect">
            <a:avLst/>
          </a:prstGeom>
          <a:noFill/>
          <a:ln/>
        </p:spPr>
        <p:txBody>
          <a:bodyPr wrap="square" lIns="0" tIns="0" rIns="0" bIns="0" rtlCol="0" anchor="ctr"/>
          <a:lstStyle/>
          <a:p>
            <a:pPr algn="ctr" indent="0" marL="0">
              <a:buNone/>
            </a:pPr>
            <a:r>
              <a:rPr lang="en-US" sz="1400" b="1" dirty="0">
                <a:solidFill>
                  <a:srgbClr val="1A2E28"/>
                </a:solidFill>
                <a:latin typeface="Georgia" pitchFamily="34" charset="0"/>
                <a:ea typeface="Georgia" pitchFamily="34" charset="-122"/>
                <a:cs typeface="Georgia" pitchFamily="34" charset="-120"/>
              </a:rPr>
              <a:t>BP2I · Terraform</a:t>
            </a:r>
            <a:endParaRPr lang="en-US" sz="1400" dirty="0"/>
          </a:p>
        </p:txBody>
      </p:sp>
      <p:sp>
        <p:nvSpPr>
          <p:cNvPr id="37" name="Text 31"/>
          <p:cNvSpPr/>
          <p:nvPr/>
        </p:nvSpPr>
        <p:spPr>
          <a:xfrm>
            <a:off x="7690104" y="4800600"/>
            <a:ext cx="1874520" cy="365760"/>
          </a:xfrm>
          <a:prstGeom prst="rect">
            <a:avLst/>
          </a:prstGeom>
          <a:noFill/>
          <a:ln/>
        </p:spPr>
        <p:txBody>
          <a:bodyPr wrap="square" lIns="0" tIns="0" rIns="0" bIns="0" rtlCol="0" anchor="ctr"/>
          <a:lstStyle/>
          <a:p>
            <a:pPr algn="ctr" indent="0" marL="0">
              <a:lnSpc>
                <a:spcPct val="125000"/>
              </a:lnSpc>
              <a:buNone/>
            </a:pPr>
            <a:r>
              <a:rPr lang="en-US" sz="1000" dirty="0">
                <a:solidFill>
                  <a:srgbClr val="6B7B78"/>
                </a:solidFill>
                <a:latin typeface="Calibri" pitchFamily="34" charset="0"/>
                <a:ea typeface="Calibri" pitchFamily="34" charset="-122"/>
                <a:cs typeface="Calibri" pitchFamily="34" charset="-120"/>
              </a:rPr>
              <a:t>Central · cloud-agnostic</a:t>
            </a:r>
            <a:endParaRPr lang="en-US" sz="1000" dirty="0"/>
          </a:p>
        </p:txBody>
      </p:sp>
      <p:sp>
        <p:nvSpPr>
          <p:cNvPr id="38" name="Text 32"/>
          <p:cNvSpPr/>
          <p:nvPr/>
        </p:nvSpPr>
        <p:spPr>
          <a:xfrm>
            <a:off x="9710928" y="3383280"/>
            <a:ext cx="137160" cy="548640"/>
          </a:xfrm>
          <a:prstGeom prst="rect">
            <a:avLst/>
          </a:prstGeom>
          <a:noFill/>
          <a:ln/>
        </p:spPr>
        <p:txBody>
          <a:bodyPr wrap="square" lIns="0" tIns="0" rIns="0" bIns="0" rtlCol="0" anchor="ctr"/>
          <a:lstStyle/>
          <a:p>
            <a:pPr algn="ctr" indent="0" marL="0">
              <a:buNone/>
            </a:pPr>
            <a:r>
              <a:rPr lang="en-US" sz="3200" b="1" dirty="0">
                <a:solidFill>
                  <a:srgbClr val="D4A840"/>
                </a:solidFill>
                <a:latin typeface="Georgia" pitchFamily="34" charset="0"/>
                <a:ea typeface="Georgia" pitchFamily="34" charset="-122"/>
                <a:cs typeface="Georgia" pitchFamily="34" charset="-120"/>
              </a:rPr>
              <a:t>›</a:t>
            </a:r>
            <a:endParaRPr lang="en-US" sz="3200" dirty="0"/>
          </a:p>
        </p:txBody>
      </p:sp>
      <p:sp>
        <p:nvSpPr>
          <p:cNvPr id="39" name="Shape 33"/>
          <p:cNvSpPr/>
          <p:nvPr/>
        </p:nvSpPr>
        <p:spPr>
          <a:xfrm>
            <a:off x="9857232" y="3017520"/>
            <a:ext cx="2148840" cy="2194560"/>
          </a:xfrm>
          <a:prstGeom prst="rect">
            <a:avLst/>
          </a:prstGeom>
          <a:solidFill>
            <a:srgbClr val="F8F9FA"/>
          </a:solidFill>
          <a:ln w="6350">
            <a:solidFill>
              <a:srgbClr val="E2E8F0"/>
            </a:solidFill>
            <a:prstDash val="solid"/>
          </a:ln>
        </p:spPr>
      </p:sp>
      <p:sp>
        <p:nvSpPr>
          <p:cNvPr id="40" name="Shape 34"/>
          <p:cNvSpPr/>
          <p:nvPr/>
        </p:nvSpPr>
        <p:spPr>
          <a:xfrm>
            <a:off x="9857232" y="3017520"/>
            <a:ext cx="2148840" cy="54864"/>
          </a:xfrm>
          <a:prstGeom prst="rect">
            <a:avLst/>
          </a:prstGeom>
          <a:solidFill>
            <a:srgbClr val="D4A840"/>
          </a:solidFill>
          <a:ln w="12700">
            <a:solidFill>
              <a:srgbClr val="D4A840"/>
            </a:solidFill>
            <a:prstDash val="solid"/>
          </a:ln>
        </p:spPr>
      </p:sp>
      <p:sp>
        <p:nvSpPr>
          <p:cNvPr id="41" name="Shape 35"/>
          <p:cNvSpPr/>
          <p:nvPr/>
        </p:nvSpPr>
        <p:spPr>
          <a:xfrm>
            <a:off x="10565892" y="3273552"/>
            <a:ext cx="731520" cy="731520"/>
          </a:xfrm>
          <a:prstGeom prst="ellipse">
            <a:avLst/>
          </a:prstGeom>
          <a:solidFill>
            <a:srgbClr val="00653F"/>
          </a:solidFill>
          <a:ln w="12700">
            <a:solidFill>
              <a:srgbClr val="00653F"/>
            </a:solidFill>
            <a:prstDash val="solid"/>
          </a:ln>
        </p:spPr>
      </p:sp>
      <p:pic>
        <p:nvPicPr>
          <p:cNvPr id="42" name="Image 4" descr="preencoded.png">    </p:cNvPr>
          <p:cNvPicPr>
            <a:picLocks noChangeAspect="1"/>
          </p:cNvPicPr>
          <p:nvPr/>
        </p:nvPicPr>
        <p:blipFill>
          <a:blip r:embed="rId5"/>
          <a:stretch>
            <a:fillRect/>
          </a:stretch>
        </p:blipFill>
        <p:spPr>
          <a:xfrm>
            <a:off x="10730484" y="3429000"/>
            <a:ext cx="411480" cy="411480"/>
          </a:xfrm>
          <a:prstGeom prst="rect">
            <a:avLst/>
          </a:prstGeom>
        </p:spPr>
      </p:pic>
      <p:sp>
        <p:nvSpPr>
          <p:cNvPr id="43" name="Text 36"/>
          <p:cNvSpPr/>
          <p:nvPr/>
        </p:nvSpPr>
        <p:spPr>
          <a:xfrm>
            <a:off x="10040112" y="4114800"/>
            <a:ext cx="1783080" cy="256032"/>
          </a:xfrm>
          <a:prstGeom prst="rect">
            <a:avLst/>
          </a:prstGeom>
          <a:noFill/>
          <a:ln/>
        </p:spPr>
        <p:txBody>
          <a:bodyPr wrap="square" lIns="0" tIns="0" rIns="0" bIns="0" rtlCol="0" anchor="ctr"/>
          <a:lstStyle/>
          <a:p>
            <a:pPr algn="ctr" indent="0" marL="0">
              <a:buNone/>
            </a:pPr>
            <a:r>
              <a:rPr lang="en-US" sz="1000" b="1" spc="400" kern="0" dirty="0">
                <a:solidFill>
                  <a:srgbClr val="00653F"/>
                </a:solidFill>
                <a:latin typeface="Calibri" pitchFamily="34" charset="0"/>
                <a:ea typeface="Calibri" pitchFamily="34" charset="-122"/>
                <a:cs typeface="Calibri" pitchFamily="34" charset="-120"/>
              </a:rPr>
              <a:t>RESOURCES</a:t>
            </a:r>
            <a:endParaRPr lang="en-US" sz="1000" dirty="0"/>
          </a:p>
        </p:txBody>
      </p:sp>
      <p:sp>
        <p:nvSpPr>
          <p:cNvPr id="44" name="Text 37"/>
          <p:cNvSpPr/>
          <p:nvPr/>
        </p:nvSpPr>
        <p:spPr>
          <a:xfrm>
            <a:off x="9994392" y="4389120"/>
            <a:ext cx="1874520" cy="457200"/>
          </a:xfrm>
          <a:prstGeom prst="rect">
            <a:avLst/>
          </a:prstGeom>
          <a:noFill/>
          <a:ln/>
        </p:spPr>
        <p:txBody>
          <a:bodyPr wrap="square" lIns="0" tIns="0" rIns="0" bIns="0" rtlCol="0" anchor="ctr"/>
          <a:lstStyle/>
          <a:p>
            <a:pPr algn="ctr" indent="0" marL="0">
              <a:buNone/>
            </a:pPr>
            <a:r>
              <a:rPr lang="en-US" sz="1400" b="1" dirty="0">
                <a:solidFill>
                  <a:srgbClr val="1A2E28"/>
                </a:solidFill>
                <a:latin typeface="Georgia" pitchFamily="34" charset="0"/>
                <a:ea typeface="Georgia" pitchFamily="34" charset="-122"/>
                <a:cs typeface="Georgia" pitchFamily="34" charset="-120"/>
              </a:rPr>
              <a:t>VSI · LB · ROKS</a:t>
            </a:r>
            <a:endParaRPr lang="en-US" sz="1400" dirty="0"/>
          </a:p>
        </p:txBody>
      </p:sp>
      <p:sp>
        <p:nvSpPr>
          <p:cNvPr id="45" name="Text 38"/>
          <p:cNvSpPr/>
          <p:nvPr/>
        </p:nvSpPr>
        <p:spPr>
          <a:xfrm>
            <a:off x="9994392" y="4800600"/>
            <a:ext cx="1874520" cy="365760"/>
          </a:xfrm>
          <a:prstGeom prst="rect">
            <a:avLst/>
          </a:prstGeom>
          <a:noFill/>
          <a:ln/>
        </p:spPr>
        <p:txBody>
          <a:bodyPr wrap="square" lIns="0" tIns="0" rIns="0" bIns="0" rtlCol="0" anchor="ctr"/>
          <a:lstStyle/>
          <a:p>
            <a:pPr algn="ctr" indent="0" marL="0">
              <a:lnSpc>
                <a:spcPct val="125000"/>
              </a:lnSpc>
              <a:buNone/>
            </a:pPr>
            <a:r>
              <a:rPr lang="en-US" sz="1000" dirty="0">
                <a:solidFill>
                  <a:srgbClr val="6B7B78"/>
                </a:solidFill>
                <a:latin typeface="Calibri" pitchFamily="34" charset="0"/>
                <a:ea typeface="Calibri" pitchFamily="34" charset="-122"/>
                <a:cs typeface="Calibri" pitchFamily="34" charset="-120"/>
              </a:rPr>
              <a:t>Kafka · Databases aS Code</a:t>
            </a:r>
            <a:endParaRPr lang="en-US" sz="1000" dirty="0"/>
          </a:p>
        </p:txBody>
      </p:sp>
      <p:sp>
        <p:nvSpPr>
          <p:cNvPr id="46" name="Shape 39"/>
          <p:cNvSpPr/>
          <p:nvPr/>
        </p:nvSpPr>
        <p:spPr>
          <a:xfrm>
            <a:off x="640080" y="5486400"/>
            <a:ext cx="2606040" cy="457200"/>
          </a:xfrm>
          <a:prstGeom prst="rect">
            <a:avLst/>
          </a:prstGeom>
          <a:solidFill>
            <a:srgbClr val="E6F3EE"/>
          </a:solidFill>
          <a:ln w="12700">
            <a:solidFill>
              <a:srgbClr val="E6F3EE"/>
            </a:solidFill>
            <a:prstDash val="solid"/>
          </a:ln>
        </p:spPr>
      </p:sp>
      <p:sp>
        <p:nvSpPr>
          <p:cNvPr id="47" name="Text 40"/>
          <p:cNvSpPr/>
          <p:nvPr/>
        </p:nvSpPr>
        <p:spPr>
          <a:xfrm>
            <a:off x="640080" y="5486400"/>
            <a:ext cx="2606040" cy="457200"/>
          </a:xfrm>
          <a:prstGeom prst="rect">
            <a:avLst/>
          </a:prstGeom>
          <a:noFill/>
          <a:ln/>
        </p:spPr>
        <p:txBody>
          <a:bodyPr wrap="square" lIns="0" tIns="0" rIns="0" bIns="0" rtlCol="0" anchor="ctr"/>
          <a:lstStyle/>
          <a:p>
            <a:pPr algn="ctr" indent="0" marL="0">
              <a:buNone/>
            </a:pPr>
            <a:r>
              <a:rPr lang="en-US" sz="1200" b="1" dirty="0">
                <a:solidFill>
                  <a:srgbClr val="00653F"/>
                </a:solidFill>
                <a:latin typeface="Calibri" pitchFamily="34" charset="0"/>
                <a:ea typeface="Calibri" pitchFamily="34" charset="-122"/>
                <a:cs typeface="Calibri" pitchFamily="34" charset="-120"/>
              </a:rPr>
              <a:t>Standardization</a:t>
            </a:r>
            <a:endParaRPr lang="en-US" sz="1200" dirty="0"/>
          </a:p>
        </p:txBody>
      </p:sp>
      <p:sp>
        <p:nvSpPr>
          <p:cNvPr id="48" name="Shape 41"/>
          <p:cNvSpPr/>
          <p:nvPr/>
        </p:nvSpPr>
        <p:spPr>
          <a:xfrm>
            <a:off x="3429000" y="5486400"/>
            <a:ext cx="2606040" cy="457200"/>
          </a:xfrm>
          <a:prstGeom prst="rect">
            <a:avLst/>
          </a:prstGeom>
          <a:solidFill>
            <a:srgbClr val="E6F3EE"/>
          </a:solidFill>
          <a:ln w="12700">
            <a:solidFill>
              <a:srgbClr val="E6F3EE"/>
            </a:solidFill>
            <a:prstDash val="solid"/>
          </a:ln>
        </p:spPr>
      </p:sp>
      <p:sp>
        <p:nvSpPr>
          <p:cNvPr id="49" name="Text 42"/>
          <p:cNvSpPr/>
          <p:nvPr/>
        </p:nvSpPr>
        <p:spPr>
          <a:xfrm>
            <a:off x="3429000" y="5486400"/>
            <a:ext cx="2606040" cy="457200"/>
          </a:xfrm>
          <a:prstGeom prst="rect">
            <a:avLst/>
          </a:prstGeom>
          <a:noFill/>
          <a:ln/>
        </p:spPr>
        <p:txBody>
          <a:bodyPr wrap="square" lIns="0" tIns="0" rIns="0" bIns="0" rtlCol="0" anchor="ctr"/>
          <a:lstStyle/>
          <a:p>
            <a:pPr algn="ctr" indent="0" marL="0">
              <a:buNone/>
            </a:pPr>
            <a:r>
              <a:rPr lang="en-US" sz="1200" b="1" dirty="0">
                <a:solidFill>
                  <a:srgbClr val="00653F"/>
                </a:solidFill>
                <a:latin typeface="Calibri" pitchFamily="34" charset="0"/>
                <a:ea typeface="Calibri" pitchFamily="34" charset="-122"/>
                <a:cs typeface="Calibri" pitchFamily="34" charset="-120"/>
              </a:rPr>
              <a:t>Idempotence</a:t>
            </a:r>
            <a:endParaRPr lang="en-US" sz="1200" dirty="0"/>
          </a:p>
        </p:txBody>
      </p:sp>
      <p:sp>
        <p:nvSpPr>
          <p:cNvPr id="50" name="Shape 43"/>
          <p:cNvSpPr/>
          <p:nvPr/>
        </p:nvSpPr>
        <p:spPr>
          <a:xfrm>
            <a:off x="6217920" y="5486400"/>
            <a:ext cx="2606040" cy="457200"/>
          </a:xfrm>
          <a:prstGeom prst="rect">
            <a:avLst/>
          </a:prstGeom>
          <a:solidFill>
            <a:srgbClr val="E6F3EE"/>
          </a:solidFill>
          <a:ln w="12700">
            <a:solidFill>
              <a:srgbClr val="E6F3EE"/>
            </a:solidFill>
            <a:prstDash val="solid"/>
          </a:ln>
        </p:spPr>
      </p:sp>
      <p:sp>
        <p:nvSpPr>
          <p:cNvPr id="51" name="Text 44"/>
          <p:cNvSpPr/>
          <p:nvPr/>
        </p:nvSpPr>
        <p:spPr>
          <a:xfrm>
            <a:off x="6217920" y="5486400"/>
            <a:ext cx="2606040" cy="457200"/>
          </a:xfrm>
          <a:prstGeom prst="rect">
            <a:avLst/>
          </a:prstGeom>
          <a:noFill/>
          <a:ln/>
        </p:spPr>
        <p:txBody>
          <a:bodyPr wrap="square" lIns="0" tIns="0" rIns="0" bIns="0" rtlCol="0" anchor="ctr"/>
          <a:lstStyle/>
          <a:p>
            <a:pPr algn="ctr" indent="0" marL="0">
              <a:buNone/>
            </a:pPr>
            <a:r>
              <a:rPr lang="en-US" sz="1200" b="1" dirty="0">
                <a:solidFill>
                  <a:srgbClr val="00653F"/>
                </a:solidFill>
                <a:latin typeface="Calibri" pitchFamily="34" charset="0"/>
                <a:ea typeface="Calibri" pitchFamily="34" charset="-122"/>
                <a:cs typeface="Calibri" pitchFamily="34" charset="-120"/>
              </a:rPr>
              <a:t>Remote state</a:t>
            </a:r>
            <a:endParaRPr lang="en-US" sz="1200" dirty="0"/>
          </a:p>
        </p:txBody>
      </p:sp>
      <p:sp>
        <p:nvSpPr>
          <p:cNvPr id="52" name="Shape 45"/>
          <p:cNvSpPr/>
          <p:nvPr/>
        </p:nvSpPr>
        <p:spPr>
          <a:xfrm>
            <a:off x="9006840" y="5486400"/>
            <a:ext cx="2606040" cy="457200"/>
          </a:xfrm>
          <a:prstGeom prst="rect">
            <a:avLst/>
          </a:prstGeom>
          <a:solidFill>
            <a:srgbClr val="E6F3EE"/>
          </a:solidFill>
          <a:ln w="12700">
            <a:solidFill>
              <a:srgbClr val="E6F3EE"/>
            </a:solidFill>
            <a:prstDash val="solid"/>
          </a:ln>
        </p:spPr>
      </p:sp>
      <p:sp>
        <p:nvSpPr>
          <p:cNvPr id="53" name="Text 46"/>
          <p:cNvSpPr/>
          <p:nvPr/>
        </p:nvSpPr>
        <p:spPr>
          <a:xfrm>
            <a:off x="9006840" y="5486400"/>
            <a:ext cx="2606040" cy="457200"/>
          </a:xfrm>
          <a:prstGeom prst="rect">
            <a:avLst/>
          </a:prstGeom>
          <a:noFill/>
          <a:ln/>
        </p:spPr>
        <p:txBody>
          <a:bodyPr wrap="square" lIns="0" tIns="0" rIns="0" bIns="0" rtlCol="0" anchor="ctr"/>
          <a:lstStyle/>
          <a:p>
            <a:pPr algn="ctr" indent="0" marL="0">
              <a:buNone/>
            </a:pPr>
            <a:r>
              <a:rPr lang="en-US" sz="1200" b="1" dirty="0">
                <a:solidFill>
                  <a:srgbClr val="00653F"/>
                </a:solidFill>
                <a:latin typeface="Calibri" pitchFamily="34" charset="0"/>
                <a:ea typeface="Calibri" pitchFamily="34" charset="-122"/>
                <a:cs typeface="Calibri" pitchFamily="34" charset="-120"/>
              </a:rPr>
              <a:t>Drift detection</a:t>
            </a:r>
            <a:endParaRPr lang="en-US" sz="1200" dirty="0"/>
          </a:p>
        </p:txBody>
      </p:sp>
      <p:sp>
        <p:nvSpPr>
          <p:cNvPr id="54" name="Text 47"/>
          <p:cNvSpPr/>
          <p:nvPr/>
        </p:nvSpPr>
        <p:spPr>
          <a:xfrm>
            <a:off x="640080" y="6080760"/>
            <a:ext cx="10972800" cy="274320"/>
          </a:xfrm>
          <a:prstGeom prst="rect">
            <a:avLst/>
          </a:prstGeom>
          <a:noFill/>
          <a:ln/>
        </p:spPr>
        <p:txBody>
          <a:bodyPr wrap="square" lIns="0" tIns="0" rIns="0" bIns="0" rtlCol="0" anchor="ctr"/>
          <a:lstStyle/>
          <a:p>
            <a:pPr indent="0" marL="0">
              <a:buNone/>
            </a:pPr>
            <a:r>
              <a:rPr lang="en-US" sz="1000" i="1" dirty="0">
                <a:solidFill>
                  <a:srgbClr val="6B7B78"/>
                </a:solidFill>
                <a:latin typeface="Georgia" pitchFamily="34" charset="0"/>
                <a:ea typeface="Georgia" pitchFamily="34" charset="-122"/>
                <a:cs typeface="Georgia" pitchFamily="34" charset="-120"/>
              </a:rPr>
              <a:t>Each resource (VSI, LB, ROKS, Kafka, Databases…) is provisioned aS Code by the BP2I orchestrator, with remote state and drift detection.</a:t>
            </a:r>
            <a:endParaRPr lang="en-US" sz="1000" dirty="0"/>
          </a:p>
        </p:txBody>
      </p:sp>
      <p:sp>
        <p:nvSpPr>
          <p:cNvPr id="55" name="Text 48"/>
          <p:cNvSpPr/>
          <p:nvPr/>
        </p:nvSpPr>
        <p:spPr>
          <a:xfrm>
            <a:off x="640080" y="6492240"/>
            <a:ext cx="6400800" cy="228600"/>
          </a:xfrm>
          <a:prstGeom prst="rect">
            <a:avLst/>
          </a:prstGeom>
          <a:noFill/>
          <a:ln/>
        </p:spPr>
        <p:txBody>
          <a:bodyPr wrap="square" lIns="0" tIns="0" rIns="0" bIns="0" rtlCol="0" anchor="ctr"/>
          <a:lstStyle/>
          <a:p>
            <a:pPr indent="0" marL="0">
              <a:buNone/>
            </a:pPr>
            <a:r>
              <a:rPr lang="en-US" sz="900" i="1" dirty="0">
                <a:solidFill>
                  <a:srgbClr val="9AA5A1"/>
                </a:solidFill>
                <a:latin typeface="Calibri" pitchFamily="34" charset="0"/>
                <a:ea typeface="Calibri" pitchFamily="34" charset="-122"/>
                <a:cs typeface="Calibri" pitchFamily="34" charset="-120"/>
              </a:rPr>
              <a:t>BNP Paribas Cardif · CARD Production</a:t>
            </a:r>
            <a:endParaRPr lang="en-US" sz="900" dirty="0"/>
          </a:p>
        </p:txBody>
      </p:sp>
      <p:sp>
        <p:nvSpPr>
          <p:cNvPr id="56" name="Text 49"/>
          <p:cNvSpPr/>
          <p:nvPr/>
        </p:nvSpPr>
        <p:spPr>
          <a:xfrm>
            <a:off x="8229600" y="6492240"/>
            <a:ext cx="3383280" cy="228600"/>
          </a:xfrm>
          <a:prstGeom prst="rect">
            <a:avLst/>
          </a:prstGeom>
          <a:noFill/>
          <a:ln/>
        </p:spPr>
        <p:txBody>
          <a:bodyPr wrap="square" lIns="0" tIns="0" rIns="0" bIns="0" rtlCol="0" anchor="ctr"/>
          <a:lstStyle/>
          <a:p>
            <a:pPr algn="r" indent="0" marL="0">
              <a:buNone/>
            </a:pPr>
            <a:r>
              <a:rPr lang="en-US" sz="900" dirty="0">
                <a:solidFill>
                  <a:srgbClr val="9AA5A1"/>
                </a:solidFill>
                <a:latin typeface="Calibri" pitchFamily="34" charset="0"/>
                <a:ea typeface="Calibri" pitchFamily="34" charset="-122"/>
                <a:cs typeface="Calibri" pitchFamily="34" charset="-120"/>
              </a:rPr>
              <a:t>07 · dMZR</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3A2B"/>
        </a:solidFill>
      </p:bgPr>
    </p:bg>
    <p:spTree>
      <p:nvGrpSpPr>
        <p:cNvPr id="1" name=""/>
        <p:cNvGrpSpPr/>
        <p:nvPr/>
      </p:nvGrpSpPr>
      <p:grpSpPr>
        <a:xfrm>
          <a:off x="0" y="0"/>
          <a:ext cx="0" cy="0"/>
          <a:chOff x="0" y="0"/>
          <a:chExt cx="0" cy="0"/>
        </a:xfrm>
      </p:grpSpPr>
      <p:sp>
        <p:nvSpPr>
          <p:cNvPr id="2" name="Text 0"/>
          <p:cNvSpPr/>
          <p:nvPr/>
        </p:nvSpPr>
        <p:spPr>
          <a:xfrm>
            <a:off x="9144000" y="731520"/>
            <a:ext cx="2743200" cy="5394960"/>
          </a:xfrm>
          <a:prstGeom prst="rect">
            <a:avLst/>
          </a:prstGeom>
          <a:noFill/>
          <a:ln/>
        </p:spPr>
        <p:txBody>
          <a:bodyPr wrap="square" lIns="0" tIns="0" rIns="0" bIns="0" rtlCol="0" anchor="ctr"/>
          <a:lstStyle/>
          <a:p>
            <a:pPr algn="ctr" indent="0" marL="0">
              <a:buNone/>
            </a:pPr>
            <a:r>
              <a:rPr lang="en-US" sz="30000" b="1" dirty="0">
                <a:solidFill>
                  <a:srgbClr val="0E5540"/>
                </a:solidFill>
                <a:latin typeface="Georgia" pitchFamily="34" charset="0"/>
                <a:ea typeface="Georgia" pitchFamily="34" charset="-122"/>
                <a:cs typeface="Georgia" pitchFamily="34" charset="-120"/>
              </a:rPr>
              <a:t>2</a:t>
            </a:r>
            <a:endParaRPr lang="en-US" sz="30000" dirty="0"/>
          </a:p>
        </p:txBody>
      </p:sp>
      <p:sp>
        <p:nvSpPr>
          <p:cNvPr id="3" name="Shape 1"/>
          <p:cNvSpPr/>
          <p:nvPr/>
        </p:nvSpPr>
        <p:spPr>
          <a:xfrm>
            <a:off x="640080" y="2286000"/>
            <a:ext cx="457200" cy="36576"/>
          </a:xfrm>
          <a:prstGeom prst="rect">
            <a:avLst/>
          </a:prstGeom>
          <a:solidFill>
            <a:srgbClr val="D4A840"/>
          </a:solidFill>
          <a:ln w="12700">
            <a:solidFill>
              <a:srgbClr val="D4A840"/>
            </a:solidFill>
            <a:prstDash val="solid"/>
          </a:ln>
        </p:spPr>
      </p:sp>
      <p:sp>
        <p:nvSpPr>
          <p:cNvPr id="4" name="Text 2"/>
          <p:cNvSpPr/>
          <p:nvPr/>
        </p:nvSpPr>
        <p:spPr>
          <a:xfrm>
            <a:off x="640080" y="2423160"/>
            <a:ext cx="5486400" cy="320040"/>
          </a:xfrm>
          <a:prstGeom prst="rect">
            <a:avLst/>
          </a:prstGeom>
          <a:noFill/>
          <a:ln/>
        </p:spPr>
        <p:txBody>
          <a:bodyPr wrap="square" lIns="0" tIns="0" rIns="0" bIns="0" rtlCol="0" anchor="ctr"/>
          <a:lstStyle/>
          <a:p>
            <a:pPr indent="0" marL="0">
              <a:buNone/>
            </a:pPr>
            <a:r>
              <a:rPr lang="en-US" sz="1200" b="1" spc="800" kern="0" dirty="0">
                <a:solidFill>
                  <a:srgbClr val="D4A840"/>
                </a:solidFill>
                <a:latin typeface="Calibri" pitchFamily="34" charset="0"/>
                <a:ea typeface="Calibri" pitchFamily="34" charset="-122"/>
                <a:cs typeface="Calibri" pitchFamily="34" charset="-120"/>
              </a:rPr>
              <a:t>SECTION 02</a:t>
            </a:r>
            <a:endParaRPr lang="en-US" sz="1200" dirty="0"/>
          </a:p>
        </p:txBody>
      </p:sp>
      <p:sp>
        <p:nvSpPr>
          <p:cNvPr id="5" name="Text 3"/>
          <p:cNvSpPr/>
          <p:nvPr/>
        </p:nvSpPr>
        <p:spPr>
          <a:xfrm>
            <a:off x="640080" y="2971800"/>
            <a:ext cx="8412480" cy="118872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IT Marketplace</a:t>
            </a:r>
            <a:endParaRPr lang="en-US" sz="5400" dirty="0"/>
          </a:p>
        </p:txBody>
      </p:sp>
      <p:sp>
        <p:nvSpPr>
          <p:cNvPr id="6" name="Text 4"/>
          <p:cNvSpPr/>
          <p:nvPr/>
        </p:nvSpPr>
        <p:spPr>
          <a:xfrm>
            <a:off x="640080" y="4343400"/>
            <a:ext cx="8412480" cy="1005840"/>
          </a:xfrm>
          <a:prstGeom prst="rect">
            <a:avLst/>
          </a:prstGeom>
          <a:noFill/>
          <a:ln/>
        </p:spPr>
        <p:txBody>
          <a:bodyPr wrap="square" lIns="0" tIns="0" rIns="0" bIns="0" rtlCol="0" anchor="ctr"/>
          <a:lstStyle/>
          <a:p>
            <a:pPr indent="0" marL="0">
              <a:lnSpc>
                <a:spcPct val="130000"/>
              </a:lnSpc>
              <a:buNone/>
            </a:pPr>
            <a:r>
              <a:rPr lang="en-US" sz="1900" i="1" dirty="0">
                <a:solidFill>
                  <a:srgbClr val="C9D6CF"/>
                </a:solidFill>
                <a:latin typeface="Georgia" pitchFamily="34" charset="0"/>
                <a:ea typeface="Georgia" pitchFamily="34" charset="-122"/>
                <a:cs typeface="Georgia" pitchFamily="34" charset="-120"/>
              </a:rPr>
              <a:t>IBM ecosystems, orders and rights</a:t>
            </a:r>
            <a:endParaRPr lang="en-US" sz="1900" dirty="0"/>
          </a:p>
        </p:txBody>
      </p:sp>
      <p:sp>
        <p:nvSpPr>
          <p:cNvPr id="7" name="Text 5"/>
          <p:cNvSpPr/>
          <p:nvPr/>
        </p:nvSpPr>
        <p:spPr>
          <a:xfrm>
            <a:off x="640080" y="6172200"/>
            <a:ext cx="5486400" cy="274320"/>
          </a:xfrm>
          <a:prstGeom prst="rect">
            <a:avLst/>
          </a:prstGeom>
          <a:noFill/>
          <a:ln/>
        </p:spPr>
        <p:txBody>
          <a:bodyPr wrap="square" lIns="0" tIns="0" rIns="0" bIns="0" rtlCol="0" anchor="ctr"/>
          <a:lstStyle/>
          <a:p>
            <a:pPr indent="0" marL="0">
              <a:buNone/>
            </a:pPr>
            <a:r>
              <a:rPr lang="en-US" sz="1100" b="1" spc="800" kern="0" dirty="0">
                <a:solidFill>
                  <a:srgbClr val="FFFFFF"/>
                </a:solidFill>
                <a:latin typeface="Calibri" pitchFamily="34" charset="0"/>
                <a:ea typeface="Calibri" pitchFamily="34" charset="-122"/>
                <a:cs typeface="Calibri" pitchFamily="34" charset="-120"/>
              </a:rPr>
              <a:t>BNP PARIBAS CARDIF</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9144000" cy="274320"/>
          </a:xfrm>
          <a:prstGeom prst="rect">
            <a:avLst/>
          </a:prstGeom>
          <a:noFill/>
          <a:ln/>
        </p:spPr>
        <p:txBody>
          <a:bodyPr wrap="square" lIns="0" tIns="0" rIns="0" bIns="0" rtlCol="0" anchor="ctr"/>
          <a:lstStyle/>
          <a:p>
            <a:pPr indent="0" marL="0">
              <a:buNone/>
            </a:pPr>
            <a:r>
              <a:rPr lang="en-US" sz="1100" b="1" spc="600" kern="0" dirty="0">
                <a:solidFill>
                  <a:srgbClr val="00915A"/>
                </a:solidFill>
                <a:latin typeface="Calibri" pitchFamily="34" charset="0"/>
                <a:ea typeface="Calibri" pitchFamily="34" charset="-122"/>
                <a:cs typeface="Calibri" pitchFamily="34" charset="-120"/>
              </a:rPr>
              <a:t>02 · IT Marketplace</a:t>
            </a:r>
            <a:endParaRPr lang="en-US" sz="1100" dirty="0"/>
          </a:p>
        </p:txBody>
      </p:sp>
      <p:sp>
        <p:nvSpPr>
          <p:cNvPr id="3" name="Text 1"/>
          <p:cNvSpPr/>
          <p:nvPr/>
        </p:nvSpPr>
        <p:spPr>
          <a:xfrm>
            <a:off x="640080" y="822960"/>
            <a:ext cx="10972800" cy="822960"/>
          </a:xfrm>
          <a:prstGeom prst="rect">
            <a:avLst/>
          </a:prstGeom>
          <a:noFill/>
          <a:ln/>
        </p:spPr>
        <p:txBody>
          <a:bodyPr wrap="square" lIns="0" tIns="0" rIns="0" bIns="0" rtlCol="0" anchor="ctr"/>
          <a:lstStyle/>
          <a:p>
            <a:pPr indent="0" marL="0">
              <a:buNone/>
            </a:pPr>
            <a:r>
              <a:rPr lang="en-US" sz="3200" b="1" dirty="0">
                <a:solidFill>
                  <a:srgbClr val="1A2E28"/>
                </a:solidFill>
                <a:latin typeface="Georgia" pitchFamily="34" charset="0"/>
                <a:ea typeface="Georgia" pitchFamily="34" charset="-122"/>
                <a:cs typeface="Georgia" pitchFamily="34" charset="-120"/>
              </a:rPr>
              <a:t>Definition and actors</a:t>
            </a:r>
            <a:endParaRPr lang="en-US" sz="3200" dirty="0"/>
          </a:p>
        </p:txBody>
      </p:sp>
      <p:sp>
        <p:nvSpPr>
          <p:cNvPr id="4" name="Text 2"/>
          <p:cNvSpPr/>
          <p:nvPr/>
        </p:nvSpPr>
        <p:spPr>
          <a:xfrm>
            <a:off x="640080" y="1828800"/>
            <a:ext cx="10972800" cy="1097280"/>
          </a:xfrm>
          <a:prstGeom prst="rect">
            <a:avLst/>
          </a:prstGeom>
          <a:noFill/>
          <a:ln/>
        </p:spPr>
        <p:txBody>
          <a:bodyPr wrap="square" lIns="0" tIns="0" rIns="0" bIns="0" rtlCol="0" anchor="ctr"/>
          <a:lstStyle/>
          <a:p>
            <a:pPr indent="0" marL="0">
              <a:lnSpc>
                <a:spcPct val="130000"/>
              </a:lnSpc>
              <a:buNone/>
            </a:pPr>
            <a:r>
              <a:rPr lang="en-US" sz="1700" i="1" dirty="0">
                <a:solidFill>
                  <a:srgbClr val="2C2C2C"/>
                </a:solidFill>
                <a:latin typeface="Georgia" pitchFamily="34" charset="0"/>
                <a:ea typeface="Georgia" pitchFamily="34" charset="-122"/>
                <a:cs typeface="Georgia" pitchFamily="34" charset="-120"/>
              </a:rPr>
              <a:t>The IT Marketplace is the internal platform where IT producers of BNP Paribas publish their products and services to internal consumers, for daily use or to build business applications.</a:t>
            </a:r>
            <a:endParaRPr lang="en-US" sz="1700" dirty="0"/>
          </a:p>
        </p:txBody>
      </p:sp>
      <p:sp>
        <p:nvSpPr>
          <p:cNvPr id="5" name="Shape 3"/>
          <p:cNvSpPr/>
          <p:nvPr/>
        </p:nvSpPr>
        <p:spPr>
          <a:xfrm>
            <a:off x="640080" y="3200400"/>
            <a:ext cx="5440680" cy="1828800"/>
          </a:xfrm>
          <a:prstGeom prst="rect">
            <a:avLst/>
          </a:prstGeom>
          <a:solidFill>
            <a:srgbClr val="F8F9FA"/>
          </a:solidFill>
          <a:ln w="6350">
            <a:solidFill>
              <a:srgbClr val="E2E8F0"/>
            </a:solidFill>
            <a:prstDash val="solid"/>
          </a:ln>
        </p:spPr>
      </p:sp>
      <p:sp>
        <p:nvSpPr>
          <p:cNvPr id="6" name="Shape 4"/>
          <p:cNvSpPr/>
          <p:nvPr/>
        </p:nvSpPr>
        <p:spPr>
          <a:xfrm>
            <a:off x="914400" y="3520440"/>
            <a:ext cx="640080" cy="640080"/>
          </a:xfrm>
          <a:prstGeom prst="ellipse">
            <a:avLst/>
          </a:prstGeom>
          <a:solidFill>
            <a:srgbClr val="00915A"/>
          </a:solidFill>
          <a:ln w="12700">
            <a:solidFill>
              <a:srgbClr val="00915A"/>
            </a:solidFill>
            <a:prstDash val="solid"/>
          </a:ln>
        </p:spPr>
      </p:sp>
      <p:sp>
        <p:nvSpPr>
          <p:cNvPr id="7" name="Shape 5"/>
          <p:cNvSpPr/>
          <p:nvPr/>
        </p:nvSpPr>
        <p:spPr>
          <a:xfrm>
            <a:off x="6263640" y="3200400"/>
            <a:ext cx="5440680" cy="1828800"/>
          </a:xfrm>
          <a:prstGeom prst="rect">
            <a:avLst/>
          </a:prstGeom>
          <a:solidFill>
            <a:srgbClr val="F8F9FA"/>
          </a:solidFill>
          <a:ln w="6350">
            <a:solidFill>
              <a:srgbClr val="E2E8F0"/>
            </a:solidFill>
            <a:prstDash val="solid"/>
          </a:ln>
        </p:spPr>
      </p:sp>
      <p:sp>
        <p:nvSpPr>
          <p:cNvPr id="8" name="Shape 6"/>
          <p:cNvSpPr/>
          <p:nvPr/>
        </p:nvSpPr>
        <p:spPr>
          <a:xfrm>
            <a:off x="6537960" y="3520440"/>
            <a:ext cx="640080" cy="640080"/>
          </a:xfrm>
          <a:prstGeom prst="ellipse">
            <a:avLst/>
          </a:prstGeom>
          <a:solidFill>
            <a:srgbClr val="00915A"/>
          </a:solidFill>
          <a:ln w="12700">
            <a:solidFill>
              <a:srgbClr val="00915A"/>
            </a:solidFill>
            <a:prstDash val="solid"/>
          </a:ln>
        </p:spPr>
      </p:sp>
      <p:pic>
        <p:nvPicPr>
          <p:cNvPr id="9" name="Image 0" descr="preencoded.png">    </p:cNvPr>
          <p:cNvPicPr>
            <a:picLocks noChangeAspect="1"/>
          </p:cNvPicPr>
          <p:nvPr/>
        </p:nvPicPr>
        <p:blipFill>
          <a:blip r:embed="rId1"/>
          <a:stretch>
            <a:fillRect/>
          </a:stretch>
        </p:blipFill>
        <p:spPr>
          <a:xfrm>
            <a:off x="1051560" y="3657600"/>
            <a:ext cx="365760" cy="365760"/>
          </a:xfrm>
          <a:prstGeom prst="rect">
            <a:avLst/>
          </a:prstGeom>
        </p:spPr>
      </p:pic>
      <p:sp>
        <p:nvSpPr>
          <p:cNvPr id="10" name="Text 7"/>
          <p:cNvSpPr/>
          <p:nvPr/>
        </p:nvSpPr>
        <p:spPr>
          <a:xfrm>
            <a:off x="1783080" y="3566160"/>
            <a:ext cx="4069080" cy="502920"/>
          </a:xfrm>
          <a:prstGeom prst="rect">
            <a:avLst/>
          </a:prstGeom>
          <a:noFill/>
          <a:ln/>
        </p:spPr>
        <p:txBody>
          <a:bodyPr wrap="square" lIns="0" tIns="0" rIns="0" bIns="0" rtlCol="0" anchor="ctr"/>
          <a:lstStyle/>
          <a:p>
            <a:pPr indent="0" marL="0">
              <a:buNone/>
            </a:pPr>
            <a:r>
              <a:rPr lang="en-US" sz="2000" b="1" dirty="0">
                <a:solidFill>
                  <a:srgbClr val="1A2E28"/>
                </a:solidFill>
                <a:latin typeface="Georgia" pitchFamily="34" charset="0"/>
                <a:ea typeface="Georgia" pitchFamily="34" charset="-122"/>
                <a:cs typeface="Georgia" pitchFamily="34" charset="-120"/>
              </a:rPr>
              <a:t>Daily use</a:t>
            </a:r>
            <a:endParaRPr lang="en-US" sz="2000" dirty="0"/>
          </a:p>
        </p:txBody>
      </p:sp>
      <p:sp>
        <p:nvSpPr>
          <p:cNvPr id="11" name="Text 8"/>
          <p:cNvSpPr/>
          <p:nvPr/>
        </p:nvSpPr>
        <p:spPr>
          <a:xfrm>
            <a:off x="914400" y="4206240"/>
            <a:ext cx="4892040" cy="777240"/>
          </a:xfrm>
          <a:prstGeom prst="rect">
            <a:avLst/>
          </a:prstGeom>
          <a:noFill/>
          <a:ln/>
        </p:spPr>
        <p:txBody>
          <a:bodyPr wrap="square" lIns="0" tIns="0" rIns="0" bIns="0" rtlCol="0" anchor="ctr"/>
          <a:lstStyle/>
          <a:p>
            <a:pPr indent="0" marL="0">
              <a:lnSpc>
                <a:spcPct val="130000"/>
              </a:lnSpc>
              <a:buNone/>
            </a:pPr>
            <a:r>
              <a:rPr lang="en-US" sz="1300" dirty="0">
                <a:solidFill>
                  <a:srgbClr val="2C2C2C"/>
                </a:solidFill>
                <a:latin typeface="Calibri" pitchFamily="34" charset="0"/>
                <a:ea typeface="Calibri" pitchFamily="34" charset="-122"/>
                <a:cs typeface="Calibri" pitchFamily="34" charset="-120"/>
              </a:rPr>
              <a:t>Recurring provisioning of resources and services (access, environments, tools) consumed by teams.</a:t>
            </a:r>
            <a:endParaRPr lang="en-US" sz="1300" dirty="0"/>
          </a:p>
        </p:txBody>
      </p:sp>
      <p:pic>
        <p:nvPicPr>
          <p:cNvPr id="12" name="Image 1" descr="preencoded.png">    </p:cNvPr>
          <p:cNvPicPr>
            <a:picLocks noChangeAspect="1"/>
          </p:cNvPicPr>
          <p:nvPr/>
        </p:nvPicPr>
        <p:blipFill>
          <a:blip r:embed="rId2"/>
          <a:stretch>
            <a:fillRect/>
          </a:stretch>
        </p:blipFill>
        <p:spPr>
          <a:xfrm>
            <a:off x="6675120" y="3657600"/>
            <a:ext cx="365760" cy="365760"/>
          </a:xfrm>
          <a:prstGeom prst="rect">
            <a:avLst/>
          </a:prstGeom>
        </p:spPr>
      </p:pic>
      <p:sp>
        <p:nvSpPr>
          <p:cNvPr id="13" name="Text 9"/>
          <p:cNvSpPr/>
          <p:nvPr/>
        </p:nvSpPr>
        <p:spPr>
          <a:xfrm>
            <a:off x="7406640" y="3566160"/>
            <a:ext cx="4069080" cy="502920"/>
          </a:xfrm>
          <a:prstGeom prst="rect">
            <a:avLst/>
          </a:prstGeom>
          <a:noFill/>
          <a:ln/>
        </p:spPr>
        <p:txBody>
          <a:bodyPr wrap="square" lIns="0" tIns="0" rIns="0" bIns="0" rtlCol="0" anchor="ctr"/>
          <a:lstStyle/>
          <a:p>
            <a:pPr indent="0" marL="0">
              <a:buNone/>
            </a:pPr>
            <a:r>
              <a:rPr lang="en-US" sz="2000" b="1" dirty="0">
                <a:solidFill>
                  <a:srgbClr val="1A2E28"/>
                </a:solidFill>
                <a:latin typeface="Georgia" pitchFamily="34" charset="0"/>
                <a:ea typeface="Georgia" pitchFamily="34" charset="-122"/>
                <a:cs typeface="Georgia" pitchFamily="34" charset="-120"/>
              </a:rPr>
              <a:t>Application building</a:t>
            </a:r>
            <a:endParaRPr lang="en-US" sz="2000" dirty="0"/>
          </a:p>
        </p:txBody>
      </p:sp>
      <p:sp>
        <p:nvSpPr>
          <p:cNvPr id="14" name="Text 10"/>
          <p:cNvSpPr/>
          <p:nvPr/>
        </p:nvSpPr>
        <p:spPr>
          <a:xfrm>
            <a:off x="6537960" y="4206240"/>
            <a:ext cx="4892040" cy="777240"/>
          </a:xfrm>
          <a:prstGeom prst="rect">
            <a:avLst/>
          </a:prstGeom>
          <a:noFill/>
          <a:ln/>
        </p:spPr>
        <p:txBody>
          <a:bodyPr wrap="square" lIns="0" tIns="0" rIns="0" bIns="0" rtlCol="0" anchor="ctr"/>
          <a:lstStyle/>
          <a:p>
            <a:pPr indent="0" marL="0">
              <a:lnSpc>
                <a:spcPct val="130000"/>
              </a:lnSpc>
              <a:buNone/>
            </a:pPr>
            <a:r>
              <a:rPr lang="en-US" sz="1300" dirty="0">
                <a:solidFill>
                  <a:srgbClr val="2C2C2C"/>
                </a:solidFill>
                <a:latin typeface="Calibri" pitchFamily="34" charset="0"/>
                <a:ea typeface="Calibri" pitchFamily="34" charset="-122"/>
                <a:cs typeface="Calibri" pitchFamily="34" charset="-120"/>
              </a:rPr>
              <a:t>Assembling the blocks needed to build and run a business application (runtime, databases, network, security, observability).</a:t>
            </a:r>
            <a:endParaRPr lang="en-US" sz="1300" dirty="0"/>
          </a:p>
        </p:txBody>
      </p:sp>
      <p:sp>
        <p:nvSpPr>
          <p:cNvPr id="15" name="Text 11"/>
          <p:cNvSpPr/>
          <p:nvPr/>
        </p:nvSpPr>
        <p:spPr>
          <a:xfrm>
            <a:off x="640080" y="5303520"/>
            <a:ext cx="3657600" cy="274320"/>
          </a:xfrm>
          <a:prstGeom prst="rect">
            <a:avLst/>
          </a:prstGeom>
          <a:noFill/>
          <a:ln/>
        </p:spPr>
        <p:txBody>
          <a:bodyPr wrap="square" lIns="0" tIns="0" rIns="0" bIns="0" rtlCol="0" anchor="ctr"/>
          <a:lstStyle/>
          <a:p>
            <a:pPr indent="0" marL="0">
              <a:buNone/>
            </a:pPr>
            <a:r>
              <a:rPr lang="en-US" sz="1000" b="1" spc="600" kern="0" dirty="0">
                <a:solidFill>
                  <a:srgbClr val="00915A"/>
                </a:solidFill>
                <a:latin typeface="Calibri" pitchFamily="34" charset="0"/>
                <a:ea typeface="Calibri" pitchFamily="34" charset="-122"/>
                <a:cs typeface="Calibri" pitchFamily="34" charset="-120"/>
              </a:rPr>
              <a:t>THREE ACTORS</a:t>
            </a:r>
            <a:endParaRPr lang="en-US" sz="1000" dirty="0"/>
          </a:p>
        </p:txBody>
      </p:sp>
      <p:sp>
        <p:nvSpPr>
          <p:cNvPr id="16" name="Text 12"/>
          <p:cNvSpPr/>
          <p:nvPr/>
        </p:nvSpPr>
        <p:spPr>
          <a:xfrm>
            <a:off x="640080" y="5669280"/>
            <a:ext cx="3749040" cy="320040"/>
          </a:xfrm>
          <a:prstGeom prst="rect">
            <a:avLst/>
          </a:prstGeom>
          <a:noFill/>
          <a:ln/>
        </p:spPr>
        <p:txBody>
          <a:bodyPr wrap="square" lIns="0" tIns="0" rIns="0" bIns="0" rtlCol="0" anchor="ctr"/>
          <a:lstStyle/>
          <a:p>
            <a:pPr indent="0" marL="0">
              <a:buNone/>
            </a:pPr>
            <a:r>
              <a:rPr lang="en-US" sz="1300" b="1" dirty="0">
                <a:solidFill>
                  <a:srgbClr val="1A2E28"/>
                </a:solidFill>
                <a:latin typeface="Calibri" pitchFamily="34" charset="0"/>
                <a:ea typeface="Calibri" pitchFamily="34" charset="-122"/>
                <a:cs typeface="Calibri" pitchFamily="34" charset="-120"/>
              </a:rPr>
              <a:t>Producers · teams that publish an offer</a:t>
            </a:r>
            <a:endParaRPr lang="en-US" sz="1300" dirty="0"/>
          </a:p>
        </p:txBody>
      </p:sp>
      <p:sp>
        <p:nvSpPr>
          <p:cNvPr id="17" name="Text 13"/>
          <p:cNvSpPr/>
          <p:nvPr/>
        </p:nvSpPr>
        <p:spPr>
          <a:xfrm>
            <a:off x="4480560" y="5669280"/>
            <a:ext cx="3749040" cy="320040"/>
          </a:xfrm>
          <a:prstGeom prst="rect">
            <a:avLst/>
          </a:prstGeom>
          <a:noFill/>
          <a:ln/>
        </p:spPr>
        <p:txBody>
          <a:bodyPr wrap="square" lIns="0" tIns="0" rIns="0" bIns="0" rtlCol="0" anchor="ctr"/>
          <a:lstStyle/>
          <a:p>
            <a:pPr indent="0" marL="0">
              <a:buNone/>
            </a:pPr>
            <a:r>
              <a:rPr lang="en-US" sz="1300" b="1" dirty="0">
                <a:solidFill>
                  <a:srgbClr val="1A2E28"/>
                </a:solidFill>
                <a:latin typeface="Calibri" pitchFamily="34" charset="0"/>
                <a:ea typeface="Calibri" pitchFamily="34" charset="-122"/>
                <a:cs typeface="Calibri" pitchFamily="34" charset="-120"/>
              </a:rPr>
              <a:t>Consumers · teams that order</a:t>
            </a:r>
            <a:endParaRPr lang="en-US" sz="1300" dirty="0"/>
          </a:p>
        </p:txBody>
      </p:sp>
      <p:sp>
        <p:nvSpPr>
          <p:cNvPr id="18" name="Text 14"/>
          <p:cNvSpPr/>
          <p:nvPr/>
        </p:nvSpPr>
        <p:spPr>
          <a:xfrm>
            <a:off x="8321040" y="5669280"/>
            <a:ext cx="3749040" cy="320040"/>
          </a:xfrm>
          <a:prstGeom prst="rect">
            <a:avLst/>
          </a:prstGeom>
          <a:noFill/>
          <a:ln/>
        </p:spPr>
        <p:txBody>
          <a:bodyPr wrap="square" lIns="0" tIns="0" rIns="0" bIns="0" rtlCol="0" anchor="ctr"/>
          <a:lstStyle/>
          <a:p>
            <a:pPr indent="0" marL="0">
              <a:buNone/>
            </a:pPr>
            <a:r>
              <a:rPr lang="en-US" sz="1300" b="1" dirty="0">
                <a:solidFill>
                  <a:srgbClr val="1A2E28"/>
                </a:solidFill>
                <a:latin typeface="Calibri" pitchFamily="34" charset="0"/>
                <a:ea typeface="Calibri" pitchFamily="34" charset="-122"/>
                <a:cs typeface="Calibri" pitchFamily="34" charset="-120"/>
              </a:rPr>
              <a:t>Employee groups · shared orders</a:t>
            </a:r>
            <a:endParaRPr lang="en-US" sz="1300" dirty="0"/>
          </a:p>
        </p:txBody>
      </p:sp>
      <p:sp>
        <p:nvSpPr>
          <p:cNvPr id="19" name="Text 15"/>
          <p:cNvSpPr/>
          <p:nvPr/>
        </p:nvSpPr>
        <p:spPr>
          <a:xfrm>
            <a:off x="640080" y="6492240"/>
            <a:ext cx="6400800" cy="228600"/>
          </a:xfrm>
          <a:prstGeom prst="rect">
            <a:avLst/>
          </a:prstGeom>
          <a:noFill/>
          <a:ln/>
        </p:spPr>
        <p:txBody>
          <a:bodyPr wrap="square" lIns="0" tIns="0" rIns="0" bIns="0" rtlCol="0" anchor="ctr"/>
          <a:lstStyle/>
          <a:p>
            <a:pPr indent="0" marL="0">
              <a:buNone/>
            </a:pPr>
            <a:r>
              <a:rPr lang="en-US" sz="900" i="1" dirty="0">
                <a:solidFill>
                  <a:srgbClr val="9AA5A1"/>
                </a:solidFill>
                <a:latin typeface="Calibri" pitchFamily="34" charset="0"/>
                <a:ea typeface="Calibri" pitchFamily="34" charset="-122"/>
                <a:cs typeface="Calibri" pitchFamily="34" charset="-120"/>
              </a:rPr>
              <a:t>BNP Paribas Cardif · CARD Production</a:t>
            </a:r>
            <a:endParaRPr lang="en-US" sz="900" dirty="0"/>
          </a:p>
        </p:txBody>
      </p:sp>
      <p:sp>
        <p:nvSpPr>
          <p:cNvPr id="20" name="Text 16"/>
          <p:cNvSpPr/>
          <p:nvPr/>
        </p:nvSpPr>
        <p:spPr>
          <a:xfrm>
            <a:off x="8229600" y="6492240"/>
            <a:ext cx="3383280" cy="228600"/>
          </a:xfrm>
          <a:prstGeom prst="rect">
            <a:avLst/>
          </a:prstGeom>
          <a:noFill/>
          <a:ln/>
        </p:spPr>
        <p:txBody>
          <a:bodyPr wrap="square" lIns="0" tIns="0" rIns="0" bIns="0" rtlCol="0" anchor="ctr"/>
          <a:lstStyle/>
          <a:p>
            <a:pPr algn="r" indent="0" marL="0">
              <a:buNone/>
            </a:pPr>
            <a:r>
              <a:rPr lang="en-US" sz="900" dirty="0">
                <a:solidFill>
                  <a:srgbClr val="9AA5A1"/>
                </a:solidFill>
                <a:latin typeface="Calibri" pitchFamily="34" charset="0"/>
                <a:ea typeface="Calibri" pitchFamily="34" charset="-122"/>
                <a:cs typeface="Calibri" pitchFamily="34" charset="-120"/>
              </a:rPr>
              <a:t>09 · Marketplace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9144000" cy="274320"/>
          </a:xfrm>
          <a:prstGeom prst="rect">
            <a:avLst/>
          </a:prstGeom>
          <a:noFill/>
          <a:ln/>
        </p:spPr>
        <p:txBody>
          <a:bodyPr wrap="square" lIns="0" tIns="0" rIns="0" bIns="0" rtlCol="0" anchor="ctr"/>
          <a:lstStyle/>
          <a:p>
            <a:pPr indent="0" marL="0">
              <a:buNone/>
            </a:pPr>
            <a:r>
              <a:rPr lang="en-US" sz="1100" b="1" spc="600" kern="0" dirty="0">
                <a:solidFill>
                  <a:srgbClr val="00915A"/>
                </a:solidFill>
                <a:latin typeface="Calibri" pitchFamily="34" charset="0"/>
                <a:ea typeface="Calibri" pitchFamily="34" charset="-122"/>
                <a:cs typeface="Calibri" pitchFamily="34" charset="-120"/>
              </a:rPr>
              <a:t>02 · IT Marketplace</a:t>
            </a:r>
            <a:endParaRPr lang="en-US" sz="1100" dirty="0"/>
          </a:p>
        </p:txBody>
      </p:sp>
      <p:sp>
        <p:nvSpPr>
          <p:cNvPr id="3" name="Text 1"/>
          <p:cNvSpPr/>
          <p:nvPr/>
        </p:nvSpPr>
        <p:spPr>
          <a:xfrm>
            <a:off x="640080" y="822960"/>
            <a:ext cx="10972800" cy="822960"/>
          </a:xfrm>
          <a:prstGeom prst="rect">
            <a:avLst/>
          </a:prstGeom>
          <a:noFill/>
          <a:ln/>
        </p:spPr>
        <p:txBody>
          <a:bodyPr wrap="square" lIns="0" tIns="0" rIns="0" bIns="0" rtlCol="0" anchor="ctr"/>
          <a:lstStyle/>
          <a:p>
            <a:pPr indent="0" marL="0">
              <a:buNone/>
            </a:pPr>
            <a:r>
              <a:rPr lang="en-US" sz="3200" b="1" dirty="0">
                <a:solidFill>
                  <a:srgbClr val="1A2E28"/>
                </a:solidFill>
                <a:latin typeface="Georgia" pitchFamily="34" charset="0"/>
                <a:ea typeface="Georgia" pitchFamily="34" charset="-122"/>
                <a:cs typeface="Georgia" pitchFamily="34" charset="-120"/>
              </a:rPr>
              <a:t>IBM Cloud Ecosystems</a:t>
            </a:r>
            <a:endParaRPr lang="en-US" sz="3200" dirty="0"/>
          </a:p>
        </p:txBody>
      </p:sp>
      <p:sp>
        <p:nvSpPr>
          <p:cNvPr id="4" name="Text 2"/>
          <p:cNvSpPr/>
          <p:nvPr/>
        </p:nvSpPr>
        <p:spPr>
          <a:xfrm>
            <a:off x="640080" y="1828800"/>
            <a:ext cx="10972800" cy="914400"/>
          </a:xfrm>
          <a:prstGeom prst="rect">
            <a:avLst/>
          </a:prstGeom>
          <a:noFill/>
          <a:ln/>
        </p:spPr>
        <p:txBody>
          <a:bodyPr wrap="square" lIns="0" tIns="0" rIns="0" bIns="0" rtlCol="0" anchor="ctr"/>
          <a:lstStyle/>
          <a:p>
            <a:pPr indent="0" marL="0">
              <a:lnSpc>
                <a:spcPct val="130000"/>
              </a:lnSpc>
              <a:buNone/>
            </a:pPr>
            <a:r>
              <a:rPr lang="en-US" sz="1600" i="1" dirty="0">
                <a:solidFill>
                  <a:srgbClr val="2C2C2C"/>
                </a:solidFill>
                <a:latin typeface="Georgia" pitchFamily="34" charset="0"/>
                <a:ea typeface="Georgia" pitchFamily="34" charset="-122"/>
                <a:cs typeface="Georgia" pitchFamily="34" charset="-120"/>
              </a:rPr>
              <a:t>IBM Cloud is split into ecosystems. Each ecosystem is a functional and contractual scope with its own quotas, billed costs and access rights.</a:t>
            </a:r>
            <a:endParaRPr lang="en-US" sz="1600" dirty="0"/>
          </a:p>
        </p:txBody>
      </p:sp>
      <p:sp>
        <p:nvSpPr>
          <p:cNvPr id="5" name="Shape 3"/>
          <p:cNvSpPr/>
          <p:nvPr/>
        </p:nvSpPr>
        <p:spPr>
          <a:xfrm>
            <a:off x="640080" y="2926080"/>
            <a:ext cx="3703320" cy="2011680"/>
          </a:xfrm>
          <a:prstGeom prst="rect">
            <a:avLst/>
          </a:prstGeom>
          <a:solidFill>
            <a:srgbClr val="FFFFFF"/>
          </a:solidFill>
          <a:ln w="9525">
            <a:solidFill>
              <a:srgbClr val="E2E8F0"/>
            </a:solidFill>
            <a:prstDash val="solid"/>
          </a:ln>
          <a:effectLst>
            <a:outerShdw sx="100000" sy="100000" kx="0" ky="0" algn="bl" rotWithShape="0" blurRad="127000" dist="25400" dir="5400000">
              <a:srgbClr val="000000">
                <a:alpha val="6000"/>
              </a:srgbClr>
            </a:outerShdw>
          </a:effectLst>
        </p:spPr>
      </p:sp>
      <p:sp>
        <p:nvSpPr>
          <p:cNvPr id="6" name="Text 4"/>
          <p:cNvSpPr/>
          <p:nvPr/>
        </p:nvSpPr>
        <p:spPr>
          <a:xfrm>
            <a:off x="914400" y="3108960"/>
            <a:ext cx="1097280" cy="640080"/>
          </a:xfrm>
          <a:prstGeom prst="rect">
            <a:avLst/>
          </a:prstGeom>
          <a:noFill/>
          <a:ln/>
        </p:spPr>
        <p:txBody>
          <a:bodyPr wrap="square" lIns="0" tIns="0" rIns="0" bIns="0" rtlCol="0" anchor="ctr"/>
          <a:lstStyle/>
          <a:p>
            <a:pPr indent="0" marL="0">
              <a:buNone/>
            </a:pPr>
            <a:r>
              <a:rPr lang="en-US" sz="3400" b="1" dirty="0">
                <a:solidFill>
                  <a:srgbClr val="D4A840"/>
                </a:solidFill>
                <a:latin typeface="Georgia" pitchFamily="34" charset="0"/>
                <a:ea typeface="Georgia" pitchFamily="34" charset="-122"/>
                <a:cs typeface="Georgia" pitchFamily="34" charset="-120"/>
              </a:rPr>
              <a:t>01</a:t>
            </a:r>
            <a:endParaRPr lang="en-US" sz="3400" dirty="0"/>
          </a:p>
        </p:txBody>
      </p:sp>
      <p:sp>
        <p:nvSpPr>
          <p:cNvPr id="7" name="Text 5"/>
          <p:cNvSpPr/>
          <p:nvPr/>
        </p:nvSpPr>
        <p:spPr>
          <a:xfrm>
            <a:off x="914400" y="3794760"/>
            <a:ext cx="3154680" cy="457200"/>
          </a:xfrm>
          <a:prstGeom prst="rect">
            <a:avLst/>
          </a:prstGeom>
          <a:noFill/>
          <a:ln/>
        </p:spPr>
        <p:txBody>
          <a:bodyPr wrap="square" lIns="0" tIns="0" rIns="0" bIns="0" rtlCol="0" anchor="ctr"/>
          <a:lstStyle/>
          <a:p>
            <a:pPr indent="0" marL="0">
              <a:buNone/>
            </a:pPr>
            <a:r>
              <a:rPr lang="en-US" sz="2000" b="1" dirty="0">
                <a:solidFill>
                  <a:srgbClr val="1A2E28"/>
                </a:solidFill>
                <a:latin typeface="Georgia" pitchFamily="34" charset="0"/>
                <a:ea typeface="Georgia" pitchFamily="34" charset="-122"/>
                <a:cs typeface="Georgia" pitchFamily="34" charset="-120"/>
              </a:rPr>
              <a:t>Scope</a:t>
            </a:r>
            <a:endParaRPr lang="en-US" sz="2000" dirty="0"/>
          </a:p>
        </p:txBody>
      </p:sp>
      <p:sp>
        <p:nvSpPr>
          <p:cNvPr id="8" name="Text 6"/>
          <p:cNvSpPr/>
          <p:nvPr/>
        </p:nvSpPr>
        <p:spPr>
          <a:xfrm>
            <a:off x="914400" y="4297680"/>
            <a:ext cx="3154680" cy="594360"/>
          </a:xfrm>
          <a:prstGeom prst="rect">
            <a:avLst/>
          </a:prstGeom>
          <a:noFill/>
          <a:ln/>
        </p:spPr>
        <p:txBody>
          <a:bodyPr wrap="square" lIns="0" tIns="0" rIns="0" bIns="0" rtlCol="0" anchor="ctr"/>
          <a:lstStyle/>
          <a:p>
            <a:pPr indent="0" marL="0">
              <a:lnSpc>
                <a:spcPct val="130000"/>
              </a:lnSpc>
              <a:buNone/>
            </a:pPr>
            <a:r>
              <a:rPr lang="en-US" sz="1200" dirty="0">
                <a:solidFill>
                  <a:srgbClr val="6B7B78"/>
                </a:solidFill>
                <a:latin typeface="Calibri" pitchFamily="34" charset="0"/>
                <a:ea typeface="Calibri" pitchFamily="34" charset="-122"/>
                <a:cs typeface="Calibri" pitchFamily="34" charset="-120"/>
              </a:rPr>
              <a:t>Business line, entity, compliance zone — one ecosystem = one internal contract</a:t>
            </a:r>
            <a:endParaRPr lang="en-US" sz="1200" dirty="0"/>
          </a:p>
        </p:txBody>
      </p:sp>
      <p:sp>
        <p:nvSpPr>
          <p:cNvPr id="9" name="Shape 7"/>
          <p:cNvSpPr/>
          <p:nvPr/>
        </p:nvSpPr>
        <p:spPr>
          <a:xfrm>
            <a:off x="4572000" y="2926080"/>
            <a:ext cx="3703320" cy="2011680"/>
          </a:xfrm>
          <a:prstGeom prst="rect">
            <a:avLst/>
          </a:prstGeom>
          <a:solidFill>
            <a:srgbClr val="FFFFFF"/>
          </a:solidFill>
          <a:ln w="9525">
            <a:solidFill>
              <a:srgbClr val="E2E8F0"/>
            </a:solidFill>
            <a:prstDash val="solid"/>
          </a:ln>
          <a:effectLst>
            <a:outerShdw sx="100000" sy="100000" kx="0" ky="0" algn="bl" rotWithShape="0" blurRad="127000" dist="25400" dir="5400000">
              <a:srgbClr val="000000">
                <a:alpha val="6000"/>
              </a:srgbClr>
            </a:outerShdw>
          </a:effectLst>
        </p:spPr>
      </p:sp>
      <p:sp>
        <p:nvSpPr>
          <p:cNvPr id="10" name="Text 8"/>
          <p:cNvSpPr/>
          <p:nvPr/>
        </p:nvSpPr>
        <p:spPr>
          <a:xfrm>
            <a:off x="4846320" y="3108960"/>
            <a:ext cx="1097280" cy="640080"/>
          </a:xfrm>
          <a:prstGeom prst="rect">
            <a:avLst/>
          </a:prstGeom>
          <a:noFill/>
          <a:ln/>
        </p:spPr>
        <p:txBody>
          <a:bodyPr wrap="square" lIns="0" tIns="0" rIns="0" bIns="0" rtlCol="0" anchor="ctr"/>
          <a:lstStyle/>
          <a:p>
            <a:pPr indent="0" marL="0">
              <a:buNone/>
            </a:pPr>
            <a:r>
              <a:rPr lang="en-US" sz="3400" b="1" dirty="0">
                <a:solidFill>
                  <a:srgbClr val="D4A840"/>
                </a:solidFill>
                <a:latin typeface="Georgia" pitchFamily="34" charset="0"/>
                <a:ea typeface="Georgia" pitchFamily="34" charset="-122"/>
                <a:cs typeface="Georgia" pitchFamily="34" charset="-120"/>
              </a:rPr>
              <a:t>02</a:t>
            </a:r>
            <a:endParaRPr lang="en-US" sz="3400" dirty="0"/>
          </a:p>
        </p:txBody>
      </p:sp>
      <p:sp>
        <p:nvSpPr>
          <p:cNvPr id="11" name="Text 9"/>
          <p:cNvSpPr/>
          <p:nvPr/>
        </p:nvSpPr>
        <p:spPr>
          <a:xfrm>
            <a:off x="4846320" y="3794760"/>
            <a:ext cx="3154680" cy="457200"/>
          </a:xfrm>
          <a:prstGeom prst="rect">
            <a:avLst/>
          </a:prstGeom>
          <a:noFill/>
          <a:ln/>
        </p:spPr>
        <p:txBody>
          <a:bodyPr wrap="square" lIns="0" tIns="0" rIns="0" bIns="0" rtlCol="0" anchor="ctr"/>
          <a:lstStyle/>
          <a:p>
            <a:pPr indent="0" marL="0">
              <a:buNone/>
            </a:pPr>
            <a:r>
              <a:rPr lang="en-US" sz="2000" b="1" dirty="0">
                <a:solidFill>
                  <a:srgbClr val="1A2E28"/>
                </a:solidFill>
                <a:latin typeface="Georgia" pitchFamily="34" charset="0"/>
                <a:ea typeface="Georgia" pitchFamily="34" charset="-122"/>
                <a:cs typeface="Georgia" pitchFamily="34" charset="-120"/>
              </a:rPr>
              <a:t>Quotas &amp; costs</a:t>
            </a:r>
            <a:endParaRPr lang="en-US" sz="2000" dirty="0"/>
          </a:p>
        </p:txBody>
      </p:sp>
      <p:sp>
        <p:nvSpPr>
          <p:cNvPr id="12" name="Text 10"/>
          <p:cNvSpPr/>
          <p:nvPr/>
        </p:nvSpPr>
        <p:spPr>
          <a:xfrm>
            <a:off x="4846320" y="4297680"/>
            <a:ext cx="3154680" cy="594360"/>
          </a:xfrm>
          <a:prstGeom prst="rect">
            <a:avLst/>
          </a:prstGeom>
          <a:noFill/>
          <a:ln/>
        </p:spPr>
        <p:txBody>
          <a:bodyPr wrap="square" lIns="0" tIns="0" rIns="0" bIns="0" rtlCol="0" anchor="ctr"/>
          <a:lstStyle/>
          <a:p>
            <a:pPr indent="0" marL="0">
              <a:lnSpc>
                <a:spcPct val="130000"/>
              </a:lnSpc>
              <a:buNone/>
            </a:pPr>
            <a:r>
              <a:rPr lang="en-US" sz="1200" dirty="0">
                <a:solidFill>
                  <a:srgbClr val="6B7B78"/>
                </a:solidFill>
                <a:latin typeface="Calibri" pitchFamily="34" charset="0"/>
                <a:ea typeface="Calibri" pitchFamily="34" charset="-122"/>
                <a:cs typeface="Calibri" pitchFamily="34" charset="-120"/>
              </a:rPr>
              <a:t>Every order is billed to the requesting ecosystem, with caps</a:t>
            </a:r>
            <a:endParaRPr lang="en-US" sz="1200" dirty="0"/>
          </a:p>
        </p:txBody>
      </p:sp>
      <p:sp>
        <p:nvSpPr>
          <p:cNvPr id="13" name="Shape 11"/>
          <p:cNvSpPr/>
          <p:nvPr/>
        </p:nvSpPr>
        <p:spPr>
          <a:xfrm>
            <a:off x="8503920" y="2926080"/>
            <a:ext cx="3703320" cy="2011680"/>
          </a:xfrm>
          <a:prstGeom prst="rect">
            <a:avLst/>
          </a:prstGeom>
          <a:solidFill>
            <a:srgbClr val="FFFFFF"/>
          </a:solidFill>
          <a:ln w="9525">
            <a:solidFill>
              <a:srgbClr val="E2E8F0"/>
            </a:solidFill>
            <a:prstDash val="solid"/>
          </a:ln>
          <a:effectLst>
            <a:outerShdw sx="100000" sy="100000" kx="0" ky="0" algn="bl" rotWithShape="0" blurRad="127000" dist="25400" dir="5400000">
              <a:srgbClr val="000000">
                <a:alpha val="6000"/>
              </a:srgbClr>
            </a:outerShdw>
          </a:effectLst>
        </p:spPr>
      </p:sp>
      <p:sp>
        <p:nvSpPr>
          <p:cNvPr id="14" name="Text 12"/>
          <p:cNvSpPr/>
          <p:nvPr/>
        </p:nvSpPr>
        <p:spPr>
          <a:xfrm>
            <a:off x="8778240" y="3108960"/>
            <a:ext cx="1097280" cy="640080"/>
          </a:xfrm>
          <a:prstGeom prst="rect">
            <a:avLst/>
          </a:prstGeom>
          <a:noFill/>
          <a:ln/>
        </p:spPr>
        <p:txBody>
          <a:bodyPr wrap="square" lIns="0" tIns="0" rIns="0" bIns="0" rtlCol="0" anchor="ctr"/>
          <a:lstStyle/>
          <a:p>
            <a:pPr indent="0" marL="0">
              <a:buNone/>
            </a:pPr>
            <a:r>
              <a:rPr lang="en-US" sz="3400" b="1" dirty="0">
                <a:solidFill>
                  <a:srgbClr val="D4A840"/>
                </a:solidFill>
                <a:latin typeface="Georgia" pitchFamily="34" charset="0"/>
                <a:ea typeface="Georgia" pitchFamily="34" charset="-122"/>
                <a:cs typeface="Georgia" pitchFamily="34" charset="-120"/>
              </a:rPr>
              <a:t>03</a:t>
            </a:r>
            <a:endParaRPr lang="en-US" sz="3400" dirty="0"/>
          </a:p>
        </p:txBody>
      </p:sp>
      <p:sp>
        <p:nvSpPr>
          <p:cNvPr id="15" name="Text 13"/>
          <p:cNvSpPr/>
          <p:nvPr/>
        </p:nvSpPr>
        <p:spPr>
          <a:xfrm>
            <a:off x="8778240" y="3794760"/>
            <a:ext cx="3154680" cy="457200"/>
          </a:xfrm>
          <a:prstGeom prst="rect">
            <a:avLst/>
          </a:prstGeom>
          <a:noFill/>
          <a:ln/>
        </p:spPr>
        <p:txBody>
          <a:bodyPr wrap="square" lIns="0" tIns="0" rIns="0" bIns="0" rtlCol="0" anchor="ctr"/>
          <a:lstStyle/>
          <a:p>
            <a:pPr indent="0" marL="0">
              <a:buNone/>
            </a:pPr>
            <a:r>
              <a:rPr lang="en-US" sz="2000" b="1" dirty="0">
                <a:solidFill>
                  <a:srgbClr val="1A2E28"/>
                </a:solidFill>
                <a:latin typeface="Georgia" pitchFamily="34" charset="0"/>
                <a:ea typeface="Georgia" pitchFamily="34" charset="-122"/>
                <a:cs typeface="Georgia" pitchFamily="34" charset="-120"/>
              </a:rPr>
              <a:t>Access rights</a:t>
            </a:r>
            <a:endParaRPr lang="en-US" sz="2000" dirty="0"/>
          </a:p>
        </p:txBody>
      </p:sp>
      <p:sp>
        <p:nvSpPr>
          <p:cNvPr id="16" name="Text 14"/>
          <p:cNvSpPr/>
          <p:nvPr/>
        </p:nvSpPr>
        <p:spPr>
          <a:xfrm>
            <a:off x="8778240" y="4297680"/>
            <a:ext cx="3154680" cy="594360"/>
          </a:xfrm>
          <a:prstGeom prst="rect">
            <a:avLst/>
          </a:prstGeom>
          <a:noFill/>
          <a:ln/>
        </p:spPr>
        <p:txBody>
          <a:bodyPr wrap="square" lIns="0" tIns="0" rIns="0" bIns="0" rtlCol="0" anchor="ctr"/>
          <a:lstStyle/>
          <a:p>
            <a:pPr indent="0" marL="0">
              <a:lnSpc>
                <a:spcPct val="130000"/>
              </a:lnSpc>
              <a:buNone/>
            </a:pPr>
            <a:r>
              <a:rPr lang="en-US" sz="1200" dirty="0">
                <a:solidFill>
                  <a:srgbClr val="6B7B78"/>
                </a:solidFill>
                <a:latin typeface="Calibri" pitchFamily="34" charset="0"/>
                <a:ea typeface="Calibri" pitchFamily="34" charset="-122"/>
                <a:cs typeface="Calibri" pitchFamily="34" charset="-120"/>
              </a:rPr>
              <a:t>Attachment = catalog visibility, approval, RBAC on resources</a:t>
            </a:r>
            <a:endParaRPr lang="en-US" sz="1200" dirty="0"/>
          </a:p>
        </p:txBody>
      </p:sp>
      <p:sp>
        <p:nvSpPr>
          <p:cNvPr id="17" name="Shape 15"/>
          <p:cNvSpPr/>
          <p:nvPr/>
        </p:nvSpPr>
        <p:spPr>
          <a:xfrm>
            <a:off x="640080" y="5120640"/>
            <a:ext cx="10972800" cy="1005840"/>
          </a:xfrm>
          <a:prstGeom prst="rect">
            <a:avLst/>
          </a:prstGeom>
          <a:solidFill>
            <a:srgbClr val="E6F3EE"/>
          </a:solidFill>
          <a:ln w="12700">
            <a:solidFill>
              <a:srgbClr val="E6F3EE"/>
            </a:solidFill>
            <a:prstDash val="solid"/>
          </a:ln>
        </p:spPr>
      </p:sp>
      <p:sp>
        <p:nvSpPr>
          <p:cNvPr id="18" name="Shape 16"/>
          <p:cNvSpPr/>
          <p:nvPr/>
        </p:nvSpPr>
        <p:spPr>
          <a:xfrm>
            <a:off x="640080" y="5120640"/>
            <a:ext cx="73152" cy="1005840"/>
          </a:xfrm>
          <a:prstGeom prst="rect">
            <a:avLst/>
          </a:prstGeom>
          <a:solidFill>
            <a:srgbClr val="00915A"/>
          </a:solidFill>
          <a:ln w="12700">
            <a:solidFill>
              <a:srgbClr val="00915A"/>
            </a:solidFill>
            <a:prstDash val="solid"/>
          </a:ln>
        </p:spPr>
      </p:sp>
      <p:sp>
        <p:nvSpPr>
          <p:cNvPr id="19" name="Text 17"/>
          <p:cNvSpPr/>
          <p:nvPr/>
        </p:nvSpPr>
        <p:spPr>
          <a:xfrm>
            <a:off x="868680" y="5212080"/>
            <a:ext cx="1828800" cy="274320"/>
          </a:xfrm>
          <a:prstGeom prst="rect">
            <a:avLst/>
          </a:prstGeom>
          <a:noFill/>
          <a:ln/>
        </p:spPr>
        <p:txBody>
          <a:bodyPr wrap="square" lIns="0" tIns="0" rIns="0" bIns="0" rtlCol="0" anchor="ctr"/>
          <a:lstStyle/>
          <a:p>
            <a:pPr indent="0" marL="0">
              <a:buNone/>
            </a:pPr>
            <a:r>
              <a:rPr lang="en-US" sz="1000" b="1" spc="500" kern="0" dirty="0">
                <a:solidFill>
                  <a:srgbClr val="00915A"/>
                </a:solidFill>
                <a:latin typeface="Calibri" pitchFamily="34" charset="0"/>
                <a:ea typeface="Calibri" pitchFamily="34" charset="-122"/>
                <a:cs typeface="Calibri" pitchFamily="34" charset="-120"/>
              </a:rPr>
              <a:t>KEY TAKEAWAY</a:t>
            </a:r>
            <a:endParaRPr lang="en-US" sz="1000" dirty="0"/>
          </a:p>
        </p:txBody>
      </p:sp>
      <p:sp>
        <p:nvSpPr>
          <p:cNvPr id="20" name="Text 18"/>
          <p:cNvSpPr/>
          <p:nvPr/>
        </p:nvSpPr>
        <p:spPr>
          <a:xfrm>
            <a:off x="868680" y="5486400"/>
            <a:ext cx="10515600" cy="320040"/>
          </a:xfrm>
          <a:prstGeom prst="rect">
            <a:avLst/>
          </a:prstGeom>
          <a:noFill/>
          <a:ln/>
        </p:spPr>
        <p:txBody>
          <a:bodyPr wrap="square" lIns="0" tIns="0" rIns="0" bIns="0" rtlCol="0" anchor="ctr"/>
          <a:lstStyle/>
          <a:p>
            <a:pPr indent="0" marL="0">
              <a:buNone/>
            </a:pPr>
            <a:r>
              <a:rPr lang="en-US" sz="1400" b="1" dirty="0">
                <a:solidFill>
                  <a:srgbClr val="1A2E28"/>
                </a:solidFill>
                <a:latin typeface="Georgia" pitchFamily="34" charset="0"/>
                <a:ea typeface="Georgia" pitchFamily="34" charset="-122"/>
                <a:cs typeface="Georgia" pitchFamily="34" charset="-120"/>
              </a:rPr>
              <a:t>Every consumed resource has a hosting ecosystem — no attachment, no order.</a:t>
            </a:r>
            <a:endParaRPr lang="en-US" sz="1400" dirty="0"/>
          </a:p>
        </p:txBody>
      </p:sp>
      <p:sp>
        <p:nvSpPr>
          <p:cNvPr id="21" name="Text 19"/>
          <p:cNvSpPr/>
          <p:nvPr/>
        </p:nvSpPr>
        <p:spPr>
          <a:xfrm>
            <a:off x="868680" y="5788152"/>
            <a:ext cx="10515600" cy="274320"/>
          </a:xfrm>
          <a:prstGeom prst="rect">
            <a:avLst/>
          </a:prstGeom>
          <a:noFill/>
          <a:ln/>
        </p:spPr>
        <p:txBody>
          <a:bodyPr wrap="square" lIns="0" tIns="0" rIns="0" bIns="0" rtlCol="0" anchor="ctr"/>
          <a:lstStyle/>
          <a:p>
            <a:pPr indent="0" marL="0">
              <a:buNone/>
            </a:pPr>
            <a:r>
              <a:rPr lang="en-US" sz="1100" i="1" dirty="0">
                <a:solidFill>
                  <a:srgbClr val="6B7B78"/>
                </a:solidFill>
                <a:latin typeface="Georgia" pitchFamily="34" charset="0"/>
                <a:ea typeface="Georgia" pitchFamily="34" charset="-122"/>
                <a:cs typeface="Georgia" pitchFamily="34" charset="-120"/>
              </a:rPr>
              <a:t>On the dMZR: provisioning via Marketplace and REST API (Swagger). On the dMZR aS Code: provisioning via Terraform and Marketplace — the unit is the realm. Projects migrate from one to the other.</a:t>
            </a:r>
            <a:endParaRPr lang="en-US" sz="1100" dirty="0"/>
          </a:p>
        </p:txBody>
      </p:sp>
      <p:sp>
        <p:nvSpPr>
          <p:cNvPr id="22" name="Text 20"/>
          <p:cNvSpPr/>
          <p:nvPr/>
        </p:nvSpPr>
        <p:spPr>
          <a:xfrm>
            <a:off x="640080" y="6492240"/>
            <a:ext cx="6400800" cy="228600"/>
          </a:xfrm>
          <a:prstGeom prst="rect">
            <a:avLst/>
          </a:prstGeom>
          <a:noFill/>
          <a:ln/>
        </p:spPr>
        <p:txBody>
          <a:bodyPr wrap="square" lIns="0" tIns="0" rIns="0" bIns="0" rtlCol="0" anchor="ctr"/>
          <a:lstStyle/>
          <a:p>
            <a:pPr indent="0" marL="0">
              <a:buNone/>
            </a:pPr>
            <a:r>
              <a:rPr lang="en-US" sz="900" i="1" dirty="0">
                <a:solidFill>
                  <a:srgbClr val="9AA5A1"/>
                </a:solidFill>
                <a:latin typeface="Calibri" pitchFamily="34" charset="0"/>
                <a:ea typeface="Calibri" pitchFamily="34" charset="-122"/>
                <a:cs typeface="Calibri" pitchFamily="34" charset="-120"/>
              </a:rPr>
              <a:t>BNP Paribas Cardif · CARD Production</a:t>
            </a:r>
            <a:endParaRPr lang="en-US" sz="900" dirty="0"/>
          </a:p>
        </p:txBody>
      </p:sp>
      <p:sp>
        <p:nvSpPr>
          <p:cNvPr id="23" name="Text 21"/>
          <p:cNvSpPr/>
          <p:nvPr/>
        </p:nvSpPr>
        <p:spPr>
          <a:xfrm>
            <a:off x="8229600" y="6492240"/>
            <a:ext cx="3383280" cy="228600"/>
          </a:xfrm>
          <a:prstGeom prst="rect">
            <a:avLst/>
          </a:prstGeom>
          <a:noFill/>
          <a:ln/>
        </p:spPr>
        <p:txBody>
          <a:bodyPr wrap="square" lIns="0" tIns="0" rIns="0" bIns="0" rtlCol="0" anchor="ctr"/>
          <a:lstStyle/>
          <a:p>
            <a:pPr algn="r" indent="0" marL="0">
              <a:buNone/>
            </a:pPr>
            <a:r>
              <a:rPr lang="en-US" sz="900" dirty="0">
                <a:solidFill>
                  <a:srgbClr val="9AA5A1"/>
                </a:solidFill>
                <a:latin typeface="Calibri" pitchFamily="34" charset="0"/>
                <a:ea typeface="Calibri" pitchFamily="34" charset="-122"/>
                <a:cs typeface="Calibri" pitchFamily="34" charset="-120"/>
              </a:rPr>
              <a:t>10 · Marketplace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9144000" cy="274320"/>
          </a:xfrm>
          <a:prstGeom prst="rect">
            <a:avLst/>
          </a:prstGeom>
          <a:noFill/>
          <a:ln/>
        </p:spPr>
        <p:txBody>
          <a:bodyPr wrap="square" lIns="0" tIns="0" rIns="0" bIns="0" rtlCol="0" anchor="ctr"/>
          <a:lstStyle/>
          <a:p>
            <a:pPr indent="0" marL="0">
              <a:buNone/>
            </a:pPr>
            <a:r>
              <a:rPr lang="en-US" sz="1100" b="1" spc="600" kern="0" dirty="0">
                <a:solidFill>
                  <a:srgbClr val="00915A"/>
                </a:solidFill>
                <a:latin typeface="Calibri" pitchFamily="34" charset="0"/>
                <a:ea typeface="Calibri" pitchFamily="34" charset="-122"/>
                <a:cs typeface="Calibri" pitchFamily="34" charset="-120"/>
              </a:rPr>
              <a:t>02 · IT Marketplace</a:t>
            </a:r>
            <a:endParaRPr lang="en-US" sz="1100" dirty="0"/>
          </a:p>
        </p:txBody>
      </p:sp>
      <p:sp>
        <p:nvSpPr>
          <p:cNvPr id="3" name="Text 1"/>
          <p:cNvSpPr/>
          <p:nvPr/>
        </p:nvSpPr>
        <p:spPr>
          <a:xfrm>
            <a:off x="640080" y="822960"/>
            <a:ext cx="10972800" cy="822960"/>
          </a:xfrm>
          <a:prstGeom prst="rect">
            <a:avLst/>
          </a:prstGeom>
          <a:noFill/>
          <a:ln/>
        </p:spPr>
        <p:txBody>
          <a:bodyPr wrap="square" lIns="0" tIns="0" rIns="0" bIns="0" rtlCol="0" anchor="ctr"/>
          <a:lstStyle/>
          <a:p>
            <a:pPr indent="0" marL="0">
              <a:buNone/>
            </a:pPr>
            <a:r>
              <a:rPr lang="en-US" sz="3200" b="1" dirty="0">
                <a:solidFill>
                  <a:srgbClr val="1A2E28"/>
                </a:solidFill>
                <a:latin typeface="Georgia" pitchFamily="34" charset="0"/>
                <a:ea typeface="Georgia" pitchFamily="34" charset="-122"/>
                <a:cs typeface="Georgia" pitchFamily="34" charset="-120"/>
              </a:rPr>
              <a:t>Order lifecycle</a:t>
            </a:r>
            <a:endParaRPr lang="en-US" sz="3200" dirty="0"/>
          </a:p>
        </p:txBody>
      </p:sp>
      <p:sp>
        <p:nvSpPr>
          <p:cNvPr id="4" name="Shape 2"/>
          <p:cNvSpPr/>
          <p:nvPr/>
        </p:nvSpPr>
        <p:spPr>
          <a:xfrm>
            <a:off x="548640" y="2194560"/>
            <a:ext cx="2212848" cy="3200400"/>
          </a:xfrm>
          <a:prstGeom prst="rect">
            <a:avLst/>
          </a:prstGeom>
          <a:solidFill>
            <a:srgbClr val="F8F9FA"/>
          </a:solidFill>
          <a:ln w="6350">
            <a:solidFill>
              <a:srgbClr val="E2E8F0"/>
            </a:solidFill>
            <a:prstDash val="solid"/>
          </a:ln>
        </p:spPr>
      </p:sp>
      <p:sp>
        <p:nvSpPr>
          <p:cNvPr id="5" name="Shape 3"/>
          <p:cNvSpPr/>
          <p:nvPr/>
        </p:nvSpPr>
        <p:spPr>
          <a:xfrm>
            <a:off x="1152144" y="2514600"/>
            <a:ext cx="1005840" cy="1005840"/>
          </a:xfrm>
          <a:prstGeom prst="ellipse">
            <a:avLst/>
          </a:prstGeom>
          <a:solidFill>
            <a:srgbClr val="00915A"/>
          </a:solidFill>
          <a:ln w="12700">
            <a:solidFill>
              <a:srgbClr val="00915A"/>
            </a:solidFill>
            <a:prstDash val="solid"/>
          </a:ln>
        </p:spPr>
      </p:sp>
      <p:sp>
        <p:nvSpPr>
          <p:cNvPr id="6" name="Text 4"/>
          <p:cNvSpPr/>
          <p:nvPr/>
        </p:nvSpPr>
        <p:spPr>
          <a:xfrm>
            <a:off x="1152144" y="2542032"/>
            <a:ext cx="1005840" cy="960120"/>
          </a:xfrm>
          <a:prstGeom prst="rect">
            <a:avLst/>
          </a:prstGeom>
          <a:noFill/>
          <a:ln/>
        </p:spPr>
        <p:txBody>
          <a:bodyPr wrap="square" lIns="0" tIns="0" rIns="0" bIns="0" rtlCol="0" anchor="ctr"/>
          <a:lstStyle/>
          <a:p>
            <a:pPr algn="ctr" indent="0" marL="0">
              <a:buNone/>
            </a:pPr>
            <a:r>
              <a:rPr lang="en-US" sz="4200" b="1" dirty="0">
                <a:solidFill>
                  <a:srgbClr val="FFFFFF"/>
                </a:solidFill>
                <a:latin typeface="Georgia" pitchFamily="34" charset="0"/>
                <a:ea typeface="Georgia" pitchFamily="34" charset="-122"/>
                <a:cs typeface="Georgia" pitchFamily="34" charset="-120"/>
              </a:rPr>
              <a:t>1</a:t>
            </a:r>
            <a:endParaRPr lang="en-US" sz="4200" dirty="0"/>
          </a:p>
        </p:txBody>
      </p:sp>
      <p:sp>
        <p:nvSpPr>
          <p:cNvPr id="7" name="Text 5"/>
          <p:cNvSpPr/>
          <p:nvPr/>
        </p:nvSpPr>
        <p:spPr>
          <a:xfrm>
            <a:off x="731520" y="3749040"/>
            <a:ext cx="1847088" cy="502920"/>
          </a:xfrm>
          <a:prstGeom prst="rect">
            <a:avLst/>
          </a:prstGeom>
          <a:noFill/>
          <a:ln/>
        </p:spPr>
        <p:txBody>
          <a:bodyPr wrap="square" lIns="0" tIns="0" rIns="0" bIns="0" rtlCol="0" anchor="ctr"/>
          <a:lstStyle/>
          <a:p>
            <a:pPr algn="ctr" indent="0" marL="0">
              <a:buNone/>
            </a:pPr>
            <a:r>
              <a:rPr lang="en-US" sz="1600" b="1" dirty="0">
                <a:solidFill>
                  <a:srgbClr val="1A2E28"/>
                </a:solidFill>
                <a:latin typeface="Georgia" pitchFamily="34" charset="0"/>
                <a:ea typeface="Georgia" pitchFamily="34" charset="-122"/>
                <a:cs typeface="Georgia" pitchFamily="34" charset="-120"/>
              </a:rPr>
              <a:t>Attachment</a:t>
            </a:r>
            <a:endParaRPr lang="en-US" sz="1600" dirty="0"/>
          </a:p>
        </p:txBody>
      </p:sp>
      <p:sp>
        <p:nvSpPr>
          <p:cNvPr id="8" name="Text 6"/>
          <p:cNvSpPr/>
          <p:nvPr/>
        </p:nvSpPr>
        <p:spPr>
          <a:xfrm>
            <a:off x="731520" y="4297680"/>
            <a:ext cx="1847088" cy="1051560"/>
          </a:xfrm>
          <a:prstGeom prst="rect">
            <a:avLst/>
          </a:prstGeom>
          <a:noFill/>
          <a:ln/>
        </p:spPr>
        <p:txBody>
          <a:bodyPr wrap="square" lIns="0" tIns="0" rIns="0" bIns="0" rtlCol="0" anchor="ctr"/>
          <a:lstStyle/>
          <a:p>
            <a:pPr algn="ctr" indent="0" marL="0">
              <a:lnSpc>
                <a:spcPct val="130000"/>
              </a:lnSpc>
              <a:buNone/>
            </a:pPr>
            <a:r>
              <a:rPr lang="en-US" sz="1100" dirty="0">
                <a:solidFill>
                  <a:srgbClr val="6B7B78"/>
                </a:solidFill>
                <a:latin typeface="Calibri" pitchFamily="34" charset="0"/>
                <a:ea typeface="Calibri" pitchFamily="34" charset="-122"/>
                <a:cs typeface="Calibri" pitchFamily="34" charset="-120"/>
              </a:rPr>
              <a:t>Consumer attached to an ecosystem</a:t>
            </a:r>
            <a:endParaRPr lang="en-US" sz="1100" dirty="0"/>
          </a:p>
        </p:txBody>
      </p:sp>
      <p:sp>
        <p:nvSpPr>
          <p:cNvPr id="9" name="Text 7"/>
          <p:cNvSpPr/>
          <p:nvPr/>
        </p:nvSpPr>
        <p:spPr>
          <a:xfrm>
            <a:off x="2766060" y="3611880"/>
            <a:ext cx="128016" cy="457200"/>
          </a:xfrm>
          <a:prstGeom prst="rect">
            <a:avLst/>
          </a:prstGeom>
          <a:noFill/>
          <a:ln/>
        </p:spPr>
        <p:txBody>
          <a:bodyPr wrap="square" lIns="0" tIns="0" rIns="0" bIns="0" rtlCol="0" anchor="ctr"/>
          <a:lstStyle/>
          <a:p>
            <a:pPr algn="ctr" indent="0" marL="0">
              <a:buNone/>
            </a:pPr>
            <a:r>
              <a:rPr lang="en-US" sz="2800" b="1" dirty="0">
                <a:solidFill>
                  <a:srgbClr val="D4A840"/>
                </a:solidFill>
                <a:latin typeface="Georgia" pitchFamily="34" charset="0"/>
                <a:ea typeface="Georgia" pitchFamily="34" charset="-122"/>
                <a:cs typeface="Georgia" pitchFamily="34" charset="-120"/>
              </a:rPr>
              <a:t>›</a:t>
            </a:r>
            <a:endParaRPr lang="en-US" sz="2800" dirty="0"/>
          </a:p>
        </p:txBody>
      </p:sp>
      <p:sp>
        <p:nvSpPr>
          <p:cNvPr id="10" name="Shape 8"/>
          <p:cNvSpPr/>
          <p:nvPr/>
        </p:nvSpPr>
        <p:spPr>
          <a:xfrm>
            <a:off x="2898648" y="2194560"/>
            <a:ext cx="2212848" cy="3200400"/>
          </a:xfrm>
          <a:prstGeom prst="rect">
            <a:avLst/>
          </a:prstGeom>
          <a:solidFill>
            <a:srgbClr val="F8F9FA"/>
          </a:solidFill>
          <a:ln w="6350">
            <a:solidFill>
              <a:srgbClr val="E2E8F0"/>
            </a:solidFill>
            <a:prstDash val="solid"/>
          </a:ln>
        </p:spPr>
      </p:sp>
      <p:sp>
        <p:nvSpPr>
          <p:cNvPr id="11" name="Shape 9"/>
          <p:cNvSpPr/>
          <p:nvPr/>
        </p:nvSpPr>
        <p:spPr>
          <a:xfrm>
            <a:off x="3502152" y="2514600"/>
            <a:ext cx="1005840" cy="1005840"/>
          </a:xfrm>
          <a:prstGeom prst="ellipse">
            <a:avLst/>
          </a:prstGeom>
          <a:solidFill>
            <a:srgbClr val="00915A"/>
          </a:solidFill>
          <a:ln w="12700">
            <a:solidFill>
              <a:srgbClr val="00915A"/>
            </a:solidFill>
            <a:prstDash val="solid"/>
          </a:ln>
        </p:spPr>
      </p:sp>
      <p:sp>
        <p:nvSpPr>
          <p:cNvPr id="12" name="Text 10"/>
          <p:cNvSpPr/>
          <p:nvPr/>
        </p:nvSpPr>
        <p:spPr>
          <a:xfrm>
            <a:off x="3502152" y="2542032"/>
            <a:ext cx="1005840" cy="960120"/>
          </a:xfrm>
          <a:prstGeom prst="rect">
            <a:avLst/>
          </a:prstGeom>
          <a:noFill/>
          <a:ln/>
        </p:spPr>
        <p:txBody>
          <a:bodyPr wrap="square" lIns="0" tIns="0" rIns="0" bIns="0" rtlCol="0" anchor="ctr"/>
          <a:lstStyle/>
          <a:p>
            <a:pPr algn="ctr" indent="0" marL="0">
              <a:buNone/>
            </a:pPr>
            <a:r>
              <a:rPr lang="en-US" sz="4200" b="1" dirty="0">
                <a:solidFill>
                  <a:srgbClr val="FFFFFF"/>
                </a:solidFill>
                <a:latin typeface="Georgia" pitchFamily="34" charset="0"/>
                <a:ea typeface="Georgia" pitchFamily="34" charset="-122"/>
                <a:cs typeface="Georgia" pitchFamily="34" charset="-120"/>
              </a:rPr>
              <a:t>2</a:t>
            </a:r>
            <a:endParaRPr lang="en-US" sz="4200" dirty="0"/>
          </a:p>
        </p:txBody>
      </p:sp>
      <p:sp>
        <p:nvSpPr>
          <p:cNvPr id="13" name="Text 11"/>
          <p:cNvSpPr/>
          <p:nvPr/>
        </p:nvSpPr>
        <p:spPr>
          <a:xfrm>
            <a:off x="3081528" y="3749040"/>
            <a:ext cx="1847088" cy="502920"/>
          </a:xfrm>
          <a:prstGeom prst="rect">
            <a:avLst/>
          </a:prstGeom>
          <a:noFill/>
          <a:ln/>
        </p:spPr>
        <p:txBody>
          <a:bodyPr wrap="square" lIns="0" tIns="0" rIns="0" bIns="0" rtlCol="0" anchor="ctr"/>
          <a:lstStyle/>
          <a:p>
            <a:pPr algn="ctr" indent="0" marL="0">
              <a:buNone/>
            </a:pPr>
            <a:r>
              <a:rPr lang="en-US" sz="1600" b="1" dirty="0">
                <a:solidFill>
                  <a:srgbClr val="1A2E28"/>
                </a:solidFill>
                <a:latin typeface="Georgia" pitchFamily="34" charset="0"/>
                <a:ea typeface="Georgia" pitchFamily="34" charset="-122"/>
                <a:cs typeface="Georgia" pitchFamily="34" charset="-120"/>
              </a:rPr>
              <a:t>Selection</a:t>
            </a:r>
            <a:endParaRPr lang="en-US" sz="1600" dirty="0"/>
          </a:p>
        </p:txBody>
      </p:sp>
      <p:sp>
        <p:nvSpPr>
          <p:cNvPr id="14" name="Text 12"/>
          <p:cNvSpPr/>
          <p:nvPr/>
        </p:nvSpPr>
        <p:spPr>
          <a:xfrm>
            <a:off x="3081528" y="4297680"/>
            <a:ext cx="1847088" cy="1051560"/>
          </a:xfrm>
          <a:prstGeom prst="rect">
            <a:avLst/>
          </a:prstGeom>
          <a:noFill/>
          <a:ln/>
        </p:spPr>
        <p:txBody>
          <a:bodyPr wrap="square" lIns="0" tIns="0" rIns="0" bIns="0" rtlCol="0" anchor="ctr"/>
          <a:lstStyle/>
          <a:p>
            <a:pPr algn="ctr" indent="0" marL="0">
              <a:lnSpc>
                <a:spcPct val="130000"/>
              </a:lnSpc>
              <a:buNone/>
            </a:pPr>
            <a:r>
              <a:rPr lang="en-US" sz="1100" dirty="0">
                <a:solidFill>
                  <a:srgbClr val="6B7B78"/>
                </a:solidFill>
                <a:latin typeface="Calibri" pitchFamily="34" charset="0"/>
                <a:ea typeface="Calibri" pitchFamily="34" charset="-122"/>
                <a:cs typeface="Calibri" pitchFamily="34" charset="-120"/>
              </a:rPr>
              <a:t>Offer chosen from the visible catalog</a:t>
            </a:r>
            <a:endParaRPr lang="en-US" sz="1100" dirty="0"/>
          </a:p>
        </p:txBody>
      </p:sp>
      <p:sp>
        <p:nvSpPr>
          <p:cNvPr id="15" name="Text 13"/>
          <p:cNvSpPr/>
          <p:nvPr/>
        </p:nvSpPr>
        <p:spPr>
          <a:xfrm>
            <a:off x="5116068" y="3611880"/>
            <a:ext cx="128016" cy="457200"/>
          </a:xfrm>
          <a:prstGeom prst="rect">
            <a:avLst/>
          </a:prstGeom>
          <a:noFill/>
          <a:ln/>
        </p:spPr>
        <p:txBody>
          <a:bodyPr wrap="square" lIns="0" tIns="0" rIns="0" bIns="0" rtlCol="0" anchor="ctr"/>
          <a:lstStyle/>
          <a:p>
            <a:pPr algn="ctr" indent="0" marL="0">
              <a:buNone/>
            </a:pPr>
            <a:r>
              <a:rPr lang="en-US" sz="2800" b="1" dirty="0">
                <a:solidFill>
                  <a:srgbClr val="D4A840"/>
                </a:solidFill>
                <a:latin typeface="Georgia" pitchFamily="34" charset="0"/>
                <a:ea typeface="Georgia" pitchFamily="34" charset="-122"/>
                <a:cs typeface="Georgia" pitchFamily="34" charset="-120"/>
              </a:rPr>
              <a:t>›</a:t>
            </a:r>
            <a:endParaRPr lang="en-US" sz="2800" dirty="0"/>
          </a:p>
        </p:txBody>
      </p:sp>
      <p:sp>
        <p:nvSpPr>
          <p:cNvPr id="16" name="Shape 14"/>
          <p:cNvSpPr/>
          <p:nvPr/>
        </p:nvSpPr>
        <p:spPr>
          <a:xfrm>
            <a:off x="5248656" y="2194560"/>
            <a:ext cx="2212848" cy="3200400"/>
          </a:xfrm>
          <a:prstGeom prst="rect">
            <a:avLst/>
          </a:prstGeom>
          <a:solidFill>
            <a:srgbClr val="F8F9FA"/>
          </a:solidFill>
          <a:ln w="6350">
            <a:solidFill>
              <a:srgbClr val="E2E8F0"/>
            </a:solidFill>
            <a:prstDash val="solid"/>
          </a:ln>
        </p:spPr>
      </p:sp>
      <p:sp>
        <p:nvSpPr>
          <p:cNvPr id="17" name="Shape 15"/>
          <p:cNvSpPr/>
          <p:nvPr/>
        </p:nvSpPr>
        <p:spPr>
          <a:xfrm>
            <a:off x="5852160" y="2514600"/>
            <a:ext cx="1005840" cy="1005840"/>
          </a:xfrm>
          <a:prstGeom prst="ellipse">
            <a:avLst/>
          </a:prstGeom>
          <a:solidFill>
            <a:srgbClr val="00915A"/>
          </a:solidFill>
          <a:ln w="12700">
            <a:solidFill>
              <a:srgbClr val="00915A"/>
            </a:solidFill>
            <a:prstDash val="solid"/>
          </a:ln>
        </p:spPr>
      </p:sp>
      <p:sp>
        <p:nvSpPr>
          <p:cNvPr id="18" name="Text 16"/>
          <p:cNvSpPr/>
          <p:nvPr/>
        </p:nvSpPr>
        <p:spPr>
          <a:xfrm>
            <a:off x="5852160" y="2542032"/>
            <a:ext cx="1005840" cy="960120"/>
          </a:xfrm>
          <a:prstGeom prst="rect">
            <a:avLst/>
          </a:prstGeom>
          <a:noFill/>
          <a:ln/>
        </p:spPr>
        <p:txBody>
          <a:bodyPr wrap="square" lIns="0" tIns="0" rIns="0" bIns="0" rtlCol="0" anchor="ctr"/>
          <a:lstStyle/>
          <a:p>
            <a:pPr algn="ctr" indent="0" marL="0">
              <a:buNone/>
            </a:pPr>
            <a:r>
              <a:rPr lang="en-US" sz="4200" b="1" dirty="0">
                <a:solidFill>
                  <a:srgbClr val="FFFFFF"/>
                </a:solidFill>
                <a:latin typeface="Georgia" pitchFamily="34" charset="0"/>
                <a:ea typeface="Georgia" pitchFamily="34" charset="-122"/>
                <a:cs typeface="Georgia" pitchFamily="34" charset="-120"/>
              </a:rPr>
              <a:t>3</a:t>
            </a:r>
            <a:endParaRPr lang="en-US" sz="4200" dirty="0"/>
          </a:p>
        </p:txBody>
      </p:sp>
      <p:sp>
        <p:nvSpPr>
          <p:cNvPr id="19" name="Text 17"/>
          <p:cNvSpPr/>
          <p:nvPr/>
        </p:nvSpPr>
        <p:spPr>
          <a:xfrm>
            <a:off x="5431536" y="3749040"/>
            <a:ext cx="1847088" cy="502920"/>
          </a:xfrm>
          <a:prstGeom prst="rect">
            <a:avLst/>
          </a:prstGeom>
          <a:noFill/>
          <a:ln/>
        </p:spPr>
        <p:txBody>
          <a:bodyPr wrap="square" lIns="0" tIns="0" rIns="0" bIns="0" rtlCol="0" anchor="ctr"/>
          <a:lstStyle/>
          <a:p>
            <a:pPr algn="ctr" indent="0" marL="0">
              <a:buNone/>
            </a:pPr>
            <a:r>
              <a:rPr lang="en-US" sz="1600" b="1" dirty="0">
                <a:solidFill>
                  <a:srgbClr val="1A2E28"/>
                </a:solidFill>
                <a:latin typeface="Georgia" pitchFamily="34" charset="0"/>
                <a:ea typeface="Georgia" pitchFamily="34" charset="-122"/>
                <a:cs typeface="Georgia" pitchFamily="34" charset="-120"/>
              </a:rPr>
              <a:t>Approval</a:t>
            </a:r>
            <a:endParaRPr lang="en-US" sz="1600" dirty="0"/>
          </a:p>
        </p:txBody>
      </p:sp>
      <p:sp>
        <p:nvSpPr>
          <p:cNvPr id="20" name="Text 18"/>
          <p:cNvSpPr/>
          <p:nvPr/>
        </p:nvSpPr>
        <p:spPr>
          <a:xfrm>
            <a:off x="5431536" y="4297680"/>
            <a:ext cx="1847088" cy="1051560"/>
          </a:xfrm>
          <a:prstGeom prst="rect">
            <a:avLst/>
          </a:prstGeom>
          <a:noFill/>
          <a:ln/>
        </p:spPr>
        <p:txBody>
          <a:bodyPr wrap="square" lIns="0" tIns="0" rIns="0" bIns="0" rtlCol="0" anchor="ctr"/>
          <a:lstStyle/>
          <a:p>
            <a:pPr algn="ctr" indent="0" marL="0">
              <a:lnSpc>
                <a:spcPct val="130000"/>
              </a:lnSpc>
              <a:buNone/>
            </a:pPr>
            <a:r>
              <a:rPr lang="en-US" sz="1100" dirty="0">
                <a:solidFill>
                  <a:srgbClr val="6B7B78"/>
                </a:solidFill>
                <a:latin typeface="Calibri" pitchFamily="34" charset="0"/>
                <a:ea typeface="Calibri" pitchFamily="34" charset="-122"/>
                <a:cs typeface="Calibri" pitchFamily="34" charset="-120"/>
              </a:rPr>
              <a:t>Workflow: ecosystem, security, FinOps</a:t>
            </a:r>
            <a:endParaRPr lang="en-US" sz="1100" dirty="0"/>
          </a:p>
        </p:txBody>
      </p:sp>
      <p:sp>
        <p:nvSpPr>
          <p:cNvPr id="21" name="Text 19"/>
          <p:cNvSpPr/>
          <p:nvPr/>
        </p:nvSpPr>
        <p:spPr>
          <a:xfrm>
            <a:off x="7466076" y="3611880"/>
            <a:ext cx="128016" cy="457200"/>
          </a:xfrm>
          <a:prstGeom prst="rect">
            <a:avLst/>
          </a:prstGeom>
          <a:noFill/>
          <a:ln/>
        </p:spPr>
        <p:txBody>
          <a:bodyPr wrap="square" lIns="0" tIns="0" rIns="0" bIns="0" rtlCol="0" anchor="ctr"/>
          <a:lstStyle/>
          <a:p>
            <a:pPr algn="ctr" indent="0" marL="0">
              <a:buNone/>
            </a:pPr>
            <a:r>
              <a:rPr lang="en-US" sz="2800" b="1" dirty="0">
                <a:solidFill>
                  <a:srgbClr val="D4A840"/>
                </a:solidFill>
                <a:latin typeface="Georgia" pitchFamily="34" charset="0"/>
                <a:ea typeface="Georgia" pitchFamily="34" charset="-122"/>
                <a:cs typeface="Georgia" pitchFamily="34" charset="-120"/>
              </a:rPr>
              <a:t>›</a:t>
            </a:r>
            <a:endParaRPr lang="en-US" sz="2800" dirty="0"/>
          </a:p>
        </p:txBody>
      </p:sp>
      <p:sp>
        <p:nvSpPr>
          <p:cNvPr id="22" name="Shape 20"/>
          <p:cNvSpPr/>
          <p:nvPr/>
        </p:nvSpPr>
        <p:spPr>
          <a:xfrm>
            <a:off x="7598664" y="2194560"/>
            <a:ext cx="2212848" cy="3200400"/>
          </a:xfrm>
          <a:prstGeom prst="rect">
            <a:avLst/>
          </a:prstGeom>
          <a:solidFill>
            <a:srgbClr val="F8F9FA"/>
          </a:solidFill>
          <a:ln w="6350">
            <a:solidFill>
              <a:srgbClr val="E2E8F0"/>
            </a:solidFill>
            <a:prstDash val="solid"/>
          </a:ln>
        </p:spPr>
      </p:sp>
      <p:sp>
        <p:nvSpPr>
          <p:cNvPr id="23" name="Shape 21"/>
          <p:cNvSpPr/>
          <p:nvPr/>
        </p:nvSpPr>
        <p:spPr>
          <a:xfrm>
            <a:off x="8202168" y="2514600"/>
            <a:ext cx="1005840" cy="1005840"/>
          </a:xfrm>
          <a:prstGeom prst="ellipse">
            <a:avLst/>
          </a:prstGeom>
          <a:solidFill>
            <a:srgbClr val="00915A"/>
          </a:solidFill>
          <a:ln w="12700">
            <a:solidFill>
              <a:srgbClr val="00915A"/>
            </a:solidFill>
            <a:prstDash val="solid"/>
          </a:ln>
        </p:spPr>
      </p:sp>
      <p:sp>
        <p:nvSpPr>
          <p:cNvPr id="24" name="Text 22"/>
          <p:cNvSpPr/>
          <p:nvPr/>
        </p:nvSpPr>
        <p:spPr>
          <a:xfrm>
            <a:off x="8202168" y="2542032"/>
            <a:ext cx="1005840" cy="960120"/>
          </a:xfrm>
          <a:prstGeom prst="rect">
            <a:avLst/>
          </a:prstGeom>
          <a:noFill/>
          <a:ln/>
        </p:spPr>
        <p:txBody>
          <a:bodyPr wrap="square" lIns="0" tIns="0" rIns="0" bIns="0" rtlCol="0" anchor="ctr"/>
          <a:lstStyle/>
          <a:p>
            <a:pPr algn="ctr" indent="0" marL="0">
              <a:buNone/>
            </a:pPr>
            <a:r>
              <a:rPr lang="en-US" sz="4200" b="1" dirty="0">
                <a:solidFill>
                  <a:srgbClr val="FFFFFF"/>
                </a:solidFill>
                <a:latin typeface="Georgia" pitchFamily="34" charset="0"/>
                <a:ea typeface="Georgia" pitchFamily="34" charset="-122"/>
                <a:cs typeface="Georgia" pitchFamily="34" charset="-120"/>
              </a:rPr>
              <a:t>4</a:t>
            </a:r>
            <a:endParaRPr lang="en-US" sz="4200" dirty="0"/>
          </a:p>
        </p:txBody>
      </p:sp>
      <p:sp>
        <p:nvSpPr>
          <p:cNvPr id="25" name="Text 23"/>
          <p:cNvSpPr/>
          <p:nvPr/>
        </p:nvSpPr>
        <p:spPr>
          <a:xfrm>
            <a:off x="7781544" y="3749040"/>
            <a:ext cx="1847088" cy="502920"/>
          </a:xfrm>
          <a:prstGeom prst="rect">
            <a:avLst/>
          </a:prstGeom>
          <a:noFill/>
          <a:ln/>
        </p:spPr>
        <p:txBody>
          <a:bodyPr wrap="square" lIns="0" tIns="0" rIns="0" bIns="0" rtlCol="0" anchor="ctr"/>
          <a:lstStyle/>
          <a:p>
            <a:pPr algn="ctr" indent="0" marL="0">
              <a:buNone/>
            </a:pPr>
            <a:r>
              <a:rPr lang="en-US" sz="1600" b="1" dirty="0">
                <a:solidFill>
                  <a:srgbClr val="1A2E28"/>
                </a:solidFill>
                <a:latin typeface="Georgia" pitchFamily="34" charset="0"/>
                <a:ea typeface="Georgia" pitchFamily="34" charset="-122"/>
                <a:cs typeface="Georgia" pitchFamily="34" charset="-120"/>
              </a:rPr>
              <a:t>Execution</a:t>
            </a:r>
            <a:endParaRPr lang="en-US" sz="1600" dirty="0"/>
          </a:p>
        </p:txBody>
      </p:sp>
      <p:sp>
        <p:nvSpPr>
          <p:cNvPr id="26" name="Text 24"/>
          <p:cNvSpPr/>
          <p:nvPr/>
        </p:nvSpPr>
        <p:spPr>
          <a:xfrm>
            <a:off x="7781544" y="4297680"/>
            <a:ext cx="1847088" cy="1051560"/>
          </a:xfrm>
          <a:prstGeom prst="rect">
            <a:avLst/>
          </a:prstGeom>
          <a:noFill/>
          <a:ln/>
        </p:spPr>
        <p:txBody>
          <a:bodyPr wrap="square" lIns="0" tIns="0" rIns="0" bIns="0" rtlCol="0" anchor="ctr"/>
          <a:lstStyle/>
          <a:p>
            <a:pPr algn="ctr" indent="0" marL="0">
              <a:lnSpc>
                <a:spcPct val="130000"/>
              </a:lnSpc>
              <a:buNone/>
            </a:pPr>
            <a:r>
              <a:rPr lang="en-US" sz="1100" dirty="0">
                <a:solidFill>
                  <a:srgbClr val="6B7B78"/>
                </a:solidFill>
                <a:latin typeface="Calibri" pitchFamily="34" charset="0"/>
                <a:ea typeface="Calibri" pitchFamily="34" charset="-122"/>
                <a:cs typeface="Calibri" pitchFamily="34" charset="-120"/>
              </a:rPr>
              <a:t>Producer IaC pipelines (Terraform, Ansible, GitOps)</a:t>
            </a:r>
            <a:endParaRPr lang="en-US" sz="1100" dirty="0"/>
          </a:p>
        </p:txBody>
      </p:sp>
      <p:sp>
        <p:nvSpPr>
          <p:cNvPr id="27" name="Text 25"/>
          <p:cNvSpPr/>
          <p:nvPr/>
        </p:nvSpPr>
        <p:spPr>
          <a:xfrm>
            <a:off x="9816084" y="3611880"/>
            <a:ext cx="128016" cy="457200"/>
          </a:xfrm>
          <a:prstGeom prst="rect">
            <a:avLst/>
          </a:prstGeom>
          <a:noFill/>
          <a:ln/>
        </p:spPr>
        <p:txBody>
          <a:bodyPr wrap="square" lIns="0" tIns="0" rIns="0" bIns="0" rtlCol="0" anchor="ctr"/>
          <a:lstStyle/>
          <a:p>
            <a:pPr algn="ctr" indent="0" marL="0">
              <a:buNone/>
            </a:pPr>
            <a:r>
              <a:rPr lang="en-US" sz="2800" b="1" dirty="0">
                <a:solidFill>
                  <a:srgbClr val="D4A840"/>
                </a:solidFill>
                <a:latin typeface="Georgia" pitchFamily="34" charset="0"/>
                <a:ea typeface="Georgia" pitchFamily="34" charset="-122"/>
                <a:cs typeface="Georgia" pitchFamily="34" charset="-120"/>
              </a:rPr>
              <a:t>›</a:t>
            </a:r>
            <a:endParaRPr lang="en-US" sz="2800" dirty="0"/>
          </a:p>
        </p:txBody>
      </p:sp>
      <p:sp>
        <p:nvSpPr>
          <p:cNvPr id="28" name="Shape 26"/>
          <p:cNvSpPr/>
          <p:nvPr/>
        </p:nvSpPr>
        <p:spPr>
          <a:xfrm>
            <a:off x="9948672" y="2194560"/>
            <a:ext cx="2212848" cy="3200400"/>
          </a:xfrm>
          <a:prstGeom prst="rect">
            <a:avLst/>
          </a:prstGeom>
          <a:solidFill>
            <a:srgbClr val="F8F9FA"/>
          </a:solidFill>
          <a:ln w="6350">
            <a:solidFill>
              <a:srgbClr val="E2E8F0"/>
            </a:solidFill>
            <a:prstDash val="solid"/>
          </a:ln>
        </p:spPr>
      </p:sp>
      <p:sp>
        <p:nvSpPr>
          <p:cNvPr id="29" name="Shape 27"/>
          <p:cNvSpPr/>
          <p:nvPr/>
        </p:nvSpPr>
        <p:spPr>
          <a:xfrm>
            <a:off x="10552176" y="2514600"/>
            <a:ext cx="1005840" cy="1005840"/>
          </a:xfrm>
          <a:prstGeom prst="ellipse">
            <a:avLst/>
          </a:prstGeom>
          <a:solidFill>
            <a:srgbClr val="00915A"/>
          </a:solidFill>
          <a:ln w="12700">
            <a:solidFill>
              <a:srgbClr val="00915A"/>
            </a:solidFill>
            <a:prstDash val="solid"/>
          </a:ln>
        </p:spPr>
      </p:sp>
      <p:sp>
        <p:nvSpPr>
          <p:cNvPr id="30" name="Text 28"/>
          <p:cNvSpPr/>
          <p:nvPr/>
        </p:nvSpPr>
        <p:spPr>
          <a:xfrm>
            <a:off x="10552176" y="2542032"/>
            <a:ext cx="1005840" cy="960120"/>
          </a:xfrm>
          <a:prstGeom prst="rect">
            <a:avLst/>
          </a:prstGeom>
          <a:noFill/>
          <a:ln/>
        </p:spPr>
        <p:txBody>
          <a:bodyPr wrap="square" lIns="0" tIns="0" rIns="0" bIns="0" rtlCol="0" anchor="ctr"/>
          <a:lstStyle/>
          <a:p>
            <a:pPr algn="ctr" indent="0" marL="0">
              <a:buNone/>
            </a:pPr>
            <a:r>
              <a:rPr lang="en-US" sz="4200" b="1" dirty="0">
                <a:solidFill>
                  <a:srgbClr val="FFFFFF"/>
                </a:solidFill>
                <a:latin typeface="Georgia" pitchFamily="34" charset="0"/>
                <a:ea typeface="Georgia" pitchFamily="34" charset="-122"/>
                <a:cs typeface="Georgia" pitchFamily="34" charset="-120"/>
              </a:rPr>
              <a:t>5</a:t>
            </a:r>
            <a:endParaRPr lang="en-US" sz="4200" dirty="0"/>
          </a:p>
        </p:txBody>
      </p:sp>
      <p:sp>
        <p:nvSpPr>
          <p:cNvPr id="31" name="Text 29"/>
          <p:cNvSpPr/>
          <p:nvPr/>
        </p:nvSpPr>
        <p:spPr>
          <a:xfrm>
            <a:off x="10131552" y="3749040"/>
            <a:ext cx="1847088" cy="502920"/>
          </a:xfrm>
          <a:prstGeom prst="rect">
            <a:avLst/>
          </a:prstGeom>
          <a:noFill/>
          <a:ln/>
        </p:spPr>
        <p:txBody>
          <a:bodyPr wrap="square" lIns="0" tIns="0" rIns="0" bIns="0" rtlCol="0" anchor="ctr"/>
          <a:lstStyle/>
          <a:p>
            <a:pPr algn="ctr" indent="0" marL="0">
              <a:buNone/>
            </a:pPr>
            <a:r>
              <a:rPr lang="en-US" sz="1600" b="1" dirty="0">
                <a:solidFill>
                  <a:srgbClr val="1A2E28"/>
                </a:solidFill>
                <a:latin typeface="Georgia" pitchFamily="34" charset="0"/>
                <a:ea typeface="Georgia" pitchFamily="34" charset="-122"/>
                <a:cs typeface="Georgia" pitchFamily="34" charset="-120"/>
              </a:rPr>
              <a:t>Rights &amp; billing</a:t>
            </a:r>
            <a:endParaRPr lang="en-US" sz="1600" dirty="0"/>
          </a:p>
        </p:txBody>
      </p:sp>
      <p:sp>
        <p:nvSpPr>
          <p:cNvPr id="32" name="Text 30"/>
          <p:cNvSpPr/>
          <p:nvPr/>
        </p:nvSpPr>
        <p:spPr>
          <a:xfrm>
            <a:off x="10131552" y="4297680"/>
            <a:ext cx="1847088" cy="1051560"/>
          </a:xfrm>
          <a:prstGeom prst="rect">
            <a:avLst/>
          </a:prstGeom>
          <a:noFill/>
          <a:ln/>
        </p:spPr>
        <p:txBody>
          <a:bodyPr wrap="square" lIns="0" tIns="0" rIns="0" bIns="0" rtlCol="0" anchor="ctr"/>
          <a:lstStyle/>
          <a:p>
            <a:pPr algn="ctr" indent="0" marL="0">
              <a:lnSpc>
                <a:spcPct val="130000"/>
              </a:lnSpc>
              <a:buNone/>
            </a:pPr>
            <a:r>
              <a:rPr lang="en-US" sz="1100" dirty="0">
                <a:solidFill>
                  <a:srgbClr val="6B7B78"/>
                </a:solidFill>
                <a:latin typeface="Calibri" pitchFamily="34" charset="0"/>
                <a:ea typeface="Calibri" pitchFamily="34" charset="-122"/>
                <a:cs typeface="Calibri" pitchFamily="34" charset="-120"/>
              </a:rPr>
              <a:t>RBAC, IAM provisioned · cost billed to the ecosystem</a:t>
            </a:r>
            <a:endParaRPr lang="en-US" sz="1100" dirty="0"/>
          </a:p>
        </p:txBody>
      </p:sp>
      <p:sp>
        <p:nvSpPr>
          <p:cNvPr id="33" name="Text 31"/>
          <p:cNvSpPr/>
          <p:nvPr/>
        </p:nvSpPr>
        <p:spPr>
          <a:xfrm>
            <a:off x="640080" y="5715000"/>
            <a:ext cx="10972800" cy="548640"/>
          </a:xfrm>
          <a:prstGeom prst="rect">
            <a:avLst/>
          </a:prstGeom>
          <a:noFill/>
          <a:ln/>
        </p:spPr>
        <p:txBody>
          <a:bodyPr wrap="square" lIns="0" tIns="0" rIns="0" bIns="0" rtlCol="0" anchor="ctr"/>
          <a:lstStyle/>
          <a:p>
            <a:pPr indent="0" marL="0">
              <a:buNone/>
            </a:pPr>
            <a:r>
              <a:rPr lang="en-US" sz="1300" i="1" dirty="0">
                <a:solidFill>
                  <a:srgbClr val="6B7B78"/>
                </a:solidFill>
                <a:latin typeface="Georgia" pitchFamily="34" charset="0"/>
                <a:ea typeface="Georgia" pitchFamily="34" charset="-122"/>
                <a:cs typeface="Georgia" pitchFamily="34" charset="-120"/>
              </a:rPr>
              <a:t>The workflow is orchestrated end to end: selection via Marketplace portal → digital approval → automated provisioning → operational visibility.</a:t>
            </a:r>
            <a:endParaRPr lang="en-US" sz="1300" dirty="0"/>
          </a:p>
        </p:txBody>
      </p:sp>
      <p:sp>
        <p:nvSpPr>
          <p:cNvPr id="34" name="Text 32"/>
          <p:cNvSpPr/>
          <p:nvPr/>
        </p:nvSpPr>
        <p:spPr>
          <a:xfrm>
            <a:off x="640080" y="6492240"/>
            <a:ext cx="6400800" cy="228600"/>
          </a:xfrm>
          <a:prstGeom prst="rect">
            <a:avLst/>
          </a:prstGeom>
          <a:noFill/>
          <a:ln/>
        </p:spPr>
        <p:txBody>
          <a:bodyPr wrap="square" lIns="0" tIns="0" rIns="0" bIns="0" rtlCol="0" anchor="ctr"/>
          <a:lstStyle/>
          <a:p>
            <a:pPr indent="0" marL="0">
              <a:buNone/>
            </a:pPr>
            <a:r>
              <a:rPr lang="en-US" sz="900" i="1" dirty="0">
                <a:solidFill>
                  <a:srgbClr val="9AA5A1"/>
                </a:solidFill>
                <a:latin typeface="Calibri" pitchFamily="34" charset="0"/>
                <a:ea typeface="Calibri" pitchFamily="34" charset="-122"/>
                <a:cs typeface="Calibri" pitchFamily="34" charset="-120"/>
              </a:rPr>
              <a:t>BNP Paribas Cardif · CARD Production</a:t>
            </a:r>
            <a:endParaRPr lang="en-US" sz="900" dirty="0"/>
          </a:p>
        </p:txBody>
      </p:sp>
      <p:sp>
        <p:nvSpPr>
          <p:cNvPr id="35" name="Text 33"/>
          <p:cNvSpPr/>
          <p:nvPr/>
        </p:nvSpPr>
        <p:spPr>
          <a:xfrm>
            <a:off x="8229600" y="6492240"/>
            <a:ext cx="3383280" cy="228600"/>
          </a:xfrm>
          <a:prstGeom prst="rect">
            <a:avLst/>
          </a:prstGeom>
          <a:noFill/>
          <a:ln/>
        </p:spPr>
        <p:txBody>
          <a:bodyPr wrap="square" lIns="0" tIns="0" rIns="0" bIns="0" rtlCol="0" anchor="ctr"/>
          <a:lstStyle/>
          <a:p>
            <a:pPr algn="r" indent="0" marL="0">
              <a:buNone/>
            </a:pPr>
            <a:r>
              <a:rPr lang="en-US" sz="900" dirty="0">
                <a:solidFill>
                  <a:srgbClr val="9AA5A1"/>
                </a:solidFill>
                <a:latin typeface="Calibri" pitchFamily="34" charset="0"/>
                <a:ea typeface="Calibri" pitchFamily="34" charset="-122"/>
                <a:cs typeface="Calibri" pitchFamily="34" charset="-120"/>
              </a:rPr>
              <a:t>11 · Marketplace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9144000" cy="274320"/>
          </a:xfrm>
          <a:prstGeom prst="rect">
            <a:avLst/>
          </a:prstGeom>
          <a:noFill/>
          <a:ln/>
        </p:spPr>
        <p:txBody>
          <a:bodyPr wrap="square" lIns="0" tIns="0" rIns="0" bIns="0" rtlCol="0" anchor="ctr"/>
          <a:lstStyle/>
          <a:p>
            <a:pPr indent="0" marL="0">
              <a:buNone/>
            </a:pPr>
            <a:r>
              <a:rPr lang="en-US" sz="1100" b="1" spc="600" kern="0" dirty="0">
                <a:solidFill>
                  <a:srgbClr val="00915A"/>
                </a:solidFill>
                <a:latin typeface="Calibri" pitchFamily="34" charset="0"/>
                <a:ea typeface="Calibri" pitchFamily="34" charset="-122"/>
                <a:cs typeface="Calibri" pitchFamily="34" charset="-120"/>
              </a:rPr>
              <a:t>02 · IT Marketplace</a:t>
            </a:r>
            <a:endParaRPr lang="en-US" sz="1100" dirty="0"/>
          </a:p>
        </p:txBody>
      </p:sp>
      <p:sp>
        <p:nvSpPr>
          <p:cNvPr id="3" name="Text 1"/>
          <p:cNvSpPr/>
          <p:nvPr/>
        </p:nvSpPr>
        <p:spPr>
          <a:xfrm>
            <a:off x="640080" y="822960"/>
            <a:ext cx="10972800" cy="822960"/>
          </a:xfrm>
          <a:prstGeom prst="rect">
            <a:avLst/>
          </a:prstGeom>
          <a:noFill/>
          <a:ln/>
        </p:spPr>
        <p:txBody>
          <a:bodyPr wrap="square" lIns="0" tIns="0" rIns="0" bIns="0" rtlCol="0" anchor="ctr"/>
          <a:lstStyle/>
          <a:p>
            <a:pPr indent="0" marL="0">
              <a:buNone/>
            </a:pPr>
            <a:r>
              <a:rPr lang="en-US" sz="3200" b="1" dirty="0">
                <a:solidFill>
                  <a:srgbClr val="1A2E28"/>
                </a:solidFill>
                <a:latin typeface="Georgia" pitchFamily="34" charset="0"/>
                <a:ea typeface="Georgia" pitchFamily="34" charset="-122"/>
                <a:cs typeface="Georgia" pitchFamily="34" charset="-120"/>
              </a:rPr>
              <a:t>Rights and governance</a:t>
            </a:r>
            <a:endParaRPr lang="en-US" sz="3200" dirty="0"/>
          </a:p>
        </p:txBody>
      </p:sp>
      <p:sp>
        <p:nvSpPr>
          <p:cNvPr id="4" name="Shape 2"/>
          <p:cNvSpPr/>
          <p:nvPr/>
        </p:nvSpPr>
        <p:spPr>
          <a:xfrm>
            <a:off x="640080" y="1828800"/>
            <a:ext cx="5440680" cy="3200400"/>
          </a:xfrm>
          <a:prstGeom prst="rect">
            <a:avLst/>
          </a:prstGeom>
          <a:solidFill>
            <a:srgbClr val="FFFFFF"/>
          </a:solidFill>
          <a:ln w="9525">
            <a:solidFill>
              <a:srgbClr val="E2E8F0"/>
            </a:solidFill>
            <a:prstDash val="solid"/>
          </a:ln>
          <a:effectLst>
            <a:outerShdw sx="100000" sy="100000" kx="0" ky="0" algn="bl" rotWithShape="0" blurRad="127000" dist="25400" dir="5400000">
              <a:srgbClr val="000000">
                <a:alpha val="6000"/>
              </a:srgbClr>
            </a:outerShdw>
          </a:effectLst>
        </p:spPr>
      </p:sp>
      <p:sp>
        <p:nvSpPr>
          <p:cNvPr id="5" name="Text 3"/>
          <p:cNvSpPr/>
          <p:nvPr/>
        </p:nvSpPr>
        <p:spPr>
          <a:xfrm>
            <a:off x="1005840" y="2103120"/>
            <a:ext cx="4709160" cy="502920"/>
          </a:xfrm>
          <a:prstGeom prst="rect">
            <a:avLst/>
          </a:prstGeom>
          <a:noFill/>
          <a:ln/>
        </p:spPr>
        <p:txBody>
          <a:bodyPr wrap="square" lIns="0" tIns="0" rIns="0" bIns="0" rtlCol="0" anchor="ctr"/>
          <a:lstStyle/>
          <a:p>
            <a:pPr indent="0" marL="0">
              <a:buNone/>
            </a:pPr>
            <a:r>
              <a:rPr lang="en-US" sz="2200" b="1" dirty="0">
                <a:solidFill>
                  <a:srgbClr val="1A2E28"/>
                </a:solidFill>
                <a:latin typeface="Georgia" pitchFamily="34" charset="0"/>
                <a:ea typeface="Georgia" pitchFamily="34" charset="-122"/>
                <a:cs typeface="Georgia" pitchFamily="34" charset="-120"/>
              </a:rPr>
              <a:t>Consumption rights</a:t>
            </a:r>
            <a:endParaRPr lang="en-US" sz="2200" dirty="0"/>
          </a:p>
        </p:txBody>
      </p:sp>
      <p:sp>
        <p:nvSpPr>
          <p:cNvPr id="6" name="Text 4"/>
          <p:cNvSpPr/>
          <p:nvPr/>
        </p:nvSpPr>
        <p:spPr>
          <a:xfrm>
            <a:off x="1005840" y="2651760"/>
            <a:ext cx="4709160" cy="365760"/>
          </a:xfrm>
          <a:prstGeom prst="rect">
            <a:avLst/>
          </a:prstGeom>
          <a:noFill/>
          <a:ln/>
        </p:spPr>
        <p:txBody>
          <a:bodyPr wrap="square" lIns="0" tIns="0" rIns="0" bIns="0" rtlCol="0" anchor="ctr"/>
          <a:lstStyle/>
          <a:p>
            <a:pPr indent="0" marL="0">
              <a:buNone/>
            </a:pPr>
            <a:r>
              <a:rPr lang="en-US" sz="1200" i="1" dirty="0">
                <a:solidFill>
                  <a:srgbClr val="00915A"/>
                </a:solidFill>
                <a:latin typeface="Calibri" pitchFamily="34" charset="0"/>
                <a:ea typeface="Calibri" pitchFamily="34" charset="-122"/>
                <a:cs typeface="Calibri" pitchFamily="34" charset="-120"/>
              </a:rPr>
              <a:t>Order · view the catalog · approve</a:t>
            </a:r>
            <a:endParaRPr lang="en-US" sz="1200" dirty="0"/>
          </a:p>
        </p:txBody>
      </p:sp>
      <p:sp>
        <p:nvSpPr>
          <p:cNvPr id="7" name="Text 5"/>
          <p:cNvSpPr/>
          <p:nvPr/>
        </p:nvSpPr>
        <p:spPr>
          <a:xfrm>
            <a:off x="1005840" y="3200400"/>
            <a:ext cx="4709160" cy="1645920"/>
          </a:xfrm>
          <a:prstGeom prst="rect">
            <a:avLst/>
          </a:prstGeom>
          <a:noFill/>
          <a:ln/>
        </p:spPr>
        <p:txBody>
          <a:bodyPr wrap="square" rtlCol="0" anchor="ctr"/>
          <a:lstStyle/>
          <a:p>
            <a:pPr marL="342900" indent="-342900">
              <a:spcAft>
                <a:spcPts val="600"/>
              </a:spcAft>
              <a:buSzPct val="100000"/>
              <a:buChar char="■"/>
            </a:pPr>
            <a:r>
              <a:rPr lang="en-US" sz="1300" dirty="0">
                <a:solidFill>
                  <a:srgbClr val="2C2C2C"/>
                </a:solidFill>
                <a:latin typeface="Calibri" pitchFamily="34" charset="0"/>
                <a:ea typeface="Calibri" pitchFamily="34" charset="-122"/>
                <a:cs typeface="Calibri" pitchFamily="34" charset="-120"/>
              </a:rPr>
              <a:t>Tied to the ecosystem attachment</a:t>
            </a:r>
            <a:endParaRPr lang="en-US" sz="1300" dirty="0"/>
          </a:p>
          <a:p>
            <a:pPr marL="342900" indent="-342900">
              <a:spcAft>
                <a:spcPts val="600"/>
              </a:spcAft>
              <a:buSzPct val="100000"/>
              <a:buChar char="■"/>
            </a:pPr>
            <a:r>
              <a:rPr lang="en-US" sz="1300" dirty="0">
                <a:solidFill>
                  <a:srgbClr val="2C2C2C"/>
                </a:solidFill>
                <a:latin typeface="Calibri" pitchFamily="34" charset="0"/>
                <a:ea typeface="Calibri" pitchFamily="34" charset="-122"/>
                <a:cs typeface="Calibri" pitchFamily="34" charset="-120"/>
              </a:rPr>
              <a:t>Role in the employee group (simple member or approver)</a:t>
            </a:r>
            <a:endParaRPr lang="en-US" sz="1300" dirty="0"/>
          </a:p>
          <a:p>
            <a:pPr marL="342900" indent="-342900">
              <a:spcAft>
                <a:spcPts val="600"/>
              </a:spcAft>
              <a:buSzPct val="100000"/>
              <a:buChar char="■"/>
            </a:pPr>
            <a:r>
              <a:rPr lang="en-US" sz="1300" dirty="0">
                <a:solidFill>
                  <a:srgbClr val="2C2C2C"/>
                </a:solidFill>
                <a:latin typeface="Calibri" pitchFamily="34" charset="0"/>
                <a:ea typeface="Calibri" pitchFamily="34" charset="-122"/>
                <a:cs typeface="Calibri" pitchFamily="34" charset="-120"/>
              </a:rPr>
              <a:t>Quotas specific to the ecosystem</a:t>
            </a:r>
            <a:endParaRPr lang="en-US" sz="1300" dirty="0"/>
          </a:p>
        </p:txBody>
      </p:sp>
      <p:sp>
        <p:nvSpPr>
          <p:cNvPr id="8" name="Shape 6"/>
          <p:cNvSpPr/>
          <p:nvPr/>
        </p:nvSpPr>
        <p:spPr>
          <a:xfrm>
            <a:off x="6263640" y="1828800"/>
            <a:ext cx="5440680" cy="3200400"/>
          </a:xfrm>
          <a:prstGeom prst="rect">
            <a:avLst/>
          </a:prstGeom>
          <a:solidFill>
            <a:srgbClr val="FFFFFF"/>
          </a:solidFill>
          <a:ln w="9525">
            <a:solidFill>
              <a:srgbClr val="E2E8F0"/>
            </a:solidFill>
            <a:prstDash val="solid"/>
          </a:ln>
          <a:effectLst>
            <a:outerShdw sx="100000" sy="100000" kx="0" ky="0" algn="bl" rotWithShape="0" blurRad="127000" dist="25400" dir="5400000">
              <a:srgbClr val="000000">
                <a:alpha val="6000"/>
              </a:srgbClr>
            </a:outerShdw>
          </a:effectLst>
        </p:spPr>
      </p:sp>
      <p:sp>
        <p:nvSpPr>
          <p:cNvPr id="9" name="Text 7"/>
          <p:cNvSpPr/>
          <p:nvPr/>
        </p:nvSpPr>
        <p:spPr>
          <a:xfrm>
            <a:off x="6629400" y="2103120"/>
            <a:ext cx="4709160" cy="502920"/>
          </a:xfrm>
          <a:prstGeom prst="rect">
            <a:avLst/>
          </a:prstGeom>
          <a:noFill/>
          <a:ln/>
        </p:spPr>
        <p:txBody>
          <a:bodyPr wrap="square" lIns="0" tIns="0" rIns="0" bIns="0" rtlCol="0" anchor="ctr"/>
          <a:lstStyle/>
          <a:p>
            <a:pPr indent="0" marL="0">
              <a:buNone/>
            </a:pPr>
            <a:r>
              <a:rPr lang="en-US" sz="2200" b="1" dirty="0">
                <a:solidFill>
                  <a:srgbClr val="1A2E28"/>
                </a:solidFill>
                <a:latin typeface="Georgia" pitchFamily="34" charset="0"/>
                <a:ea typeface="Georgia" pitchFamily="34" charset="-122"/>
                <a:cs typeface="Georgia" pitchFamily="34" charset="-120"/>
              </a:rPr>
              <a:t>Publication rights</a:t>
            </a:r>
            <a:endParaRPr lang="en-US" sz="2200" dirty="0"/>
          </a:p>
        </p:txBody>
      </p:sp>
      <p:sp>
        <p:nvSpPr>
          <p:cNvPr id="10" name="Text 8"/>
          <p:cNvSpPr/>
          <p:nvPr/>
        </p:nvSpPr>
        <p:spPr>
          <a:xfrm>
            <a:off x="6629400" y="2651760"/>
            <a:ext cx="4709160" cy="365760"/>
          </a:xfrm>
          <a:prstGeom prst="rect">
            <a:avLst/>
          </a:prstGeom>
          <a:noFill/>
          <a:ln/>
        </p:spPr>
        <p:txBody>
          <a:bodyPr wrap="square" lIns="0" tIns="0" rIns="0" bIns="0" rtlCol="0" anchor="ctr"/>
          <a:lstStyle/>
          <a:p>
            <a:pPr indent="0" marL="0">
              <a:buNone/>
            </a:pPr>
            <a:r>
              <a:rPr lang="en-US" sz="1200" i="1" dirty="0">
                <a:solidFill>
                  <a:srgbClr val="00915A"/>
                </a:solidFill>
                <a:latin typeface="Calibri" pitchFamily="34" charset="0"/>
                <a:ea typeface="Calibri" pitchFamily="34" charset="-122"/>
                <a:cs typeface="Calibri" pitchFamily="34" charset="-120"/>
              </a:rPr>
              <a:t>Produce and maintain an offer</a:t>
            </a:r>
            <a:endParaRPr lang="en-US" sz="1200" dirty="0"/>
          </a:p>
        </p:txBody>
      </p:sp>
      <p:sp>
        <p:nvSpPr>
          <p:cNvPr id="11" name="Text 9"/>
          <p:cNvSpPr/>
          <p:nvPr/>
        </p:nvSpPr>
        <p:spPr>
          <a:xfrm>
            <a:off x="6629400" y="3200400"/>
            <a:ext cx="4709160" cy="1645920"/>
          </a:xfrm>
          <a:prstGeom prst="rect">
            <a:avLst/>
          </a:prstGeom>
          <a:noFill/>
          <a:ln/>
        </p:spPr>
        <p:txBody>
          <a:bodyPr wrap="square" rtlCol="0" anchor="ctr"/>
          <a:lstStyle/>
          <a:p>
            <a:pPr marL="342900" indent="-342900">
              <a:spcAft>
                <a:spcPts val="600"/>
              </a:spcAft>
              <a:buSzPct val="100000"/>
              <a:buChar char="■"/>
            </a:pPr>
            <a:r>
              <a:rPr lang="en-US" sz="1300" dirty="0">
                <a:solidFill>
                  <a:srgbClr val="2C2C2C"/>
                </a:solidFill>
                <a:latin typeface="Calibri" pitchFamily="34" charset="0"/>
                <a:ea typeface="Calibri" pitchFamily="34" charset="-122"/>
                <a:cs typeface="Calibri" pitchFamily="34" charset="-120"/>
              </a:rPr>
              <a:t>Restricted scope, reserved to validated product teams</a:t>
            </a:r>
            <a:endParaRPr lang="en-US" sz="1300" dirty="0"/>
          </a:p>
          <a:p>
            <a:pPr marL="342900" indent="-342900">
              <a:spcAft>
                <a:spcPts val="600"/>
              </a:spcAft>
              <a:buSzPct val="100000"/>
              <a:buChar char="■"/>
            </a:pPr>
            <a:r>
              <a:rPr lang="en-US" sz="1300" dirty="0">
                <a:solidFill>
                  <a:srgbClr val="2C2C2C"/>
                </a:solidFill>
                <a:latin typeface="Calibri" pitchFamily="34" charset="0"/>
                <a:ea typeface="Calibri" pitchFamily="34" charset="-122"/>
                <a:cs typeface="Calibri" pitchFamily="34" charset="-120"/>
              </a:rPr>
              <a:t>Obligation of quality, compliance, support</a:t>
            </a:r>
            <a:endParaRPr lang="en-US" sz="1300" dirty="0"/>
          </a:p>
          <a:p>
            <a:pPr marL="342900" indent="-342900">
              <a:spcAft>
                <a:spcPts val="600"/>
              </a:spcAft>
              <a:buSzPct val="100000"/>
              <a:buChar char="■"/>
            </a:pPr>
            <a:r>
              <a:rPr lang="en-US" sz="1300" dirty="0">
                <a:solidFill>
                  <a:srgbClr val="2C2C2C"/>
                </a:solidFill>
                <a:latin typeface="Calibri" pitchFamily="34" charset="0"/>
                <a:ea typeface="Calibri" pitchFamily="34" charset="-122"/>
                <a:cs typeface="Calibri" pitchFamily="34" charset="-120"/>
              </a:rPr>
              <a:t>Offer lifecycle managed by the producer</a:t>
            </a:r>
            <a:endParaRPr lang="en-US" sz="1300" dirty="0"/>
          </a:p>
        </p:txBody>
      </p:sp>
      <p:sp>
        <p:nvSpPr>
          <p:cNvPr id="12" name="Text 10"/>
          <p:cNvSpPr/>
          <p:nvPr/>
        </p:nvSpPr>
        <p:spPr>
          <a:xfrm>
            <a:off x="640080" y="5257800"/>
            <a:ext cx="3657600" cy="274320"/>
          </a:xfrm>
          <a:prstGeom prst="rect">
            <a:avLst/>
          </a:prstGeom>
          <a:noFill/>
          <a:ln/>
        </p:spPr>
        <p:txBody>
          <a:bodyPr wrap="square" lIns="0" tIns="0" rIns="0" bIns="0" rtlCol="0" anchor="ctr"/>
          <a:lstStyle/>
          <a:p>
            <a:pPr indent="0" marL="0">
              <a:buNone/>
            </a:pPr>
            <a:r>
              <a:rPr lang="en-US" sz="1000" b="1" spc="600" kern="0" dirty="0">
                <a:solidFill>
                  <a:srgbClr val="00915A"/>
                </a:solidFill>
                <a:latin typeface="Calibri" pitchFamily="34" charset="0"/>
                <a:ea typeface="Calibri" pitchFamily="34" charset="-122"/>
                <a:cs typeface="Calibri" pitchFamily="34" charset="-120"/>
              </a:rPr>
              <a:t>KEY ROLES</a:t>
            </a:r>
            <a:endParaRPr lang="en-US" sz="1000" dirty="0"/>
          </a:p>
        </p:txBody>
      </p:sp>
      <p:sp>
        <p:nvSpPr>
          <p:cNvPr id="13" name="Shape 11"/>
          <p:cNvSpPr/>
          <p:nvPr/>
        </p:nvSpPr>
        <p:spPr>
          <a:xfrm>
            <a:off x="640080" y="5623560"/>
            <a:ext cx="2697480" cy="502920"/>
          </a:xfrm>
          <a:prstGeom prst="rect">
            <a:avLst/>
          </a:prstGeom>
          <a:solidFill>
            <a:srgbClr val="E6F3EE"/>
          </a:solidFill>
          <a:ln w="12700">
            <a:solidFill>
              <a:srgbClr val="E6F3EE"/>
            </a:solidFill>
            <a:prstDash val="solid"/>
          </a:ln>
        </p:spPr>
      </p:sp>
      <p:sp>
        <p:nvSpPr>
          <p:cNvPr id="14" name="Text 12"/>
          <p:cNvSpPr/>
          <p:nvPr/>
        </p:nvSpPr>
        <p:spPr>
          <a:xfrm>
            <a:off x="640080" y="5623560"/>
            <a:ext cx="2697480" cy="502920"/>
          </a:xfrm>
          <a:prstGeom prst="rect">
            <a:avLst/>
          </a:prstGeom>
          <a:noFill/>
          <a:ln/>
        </p:spPr>
        <p:txBody>
          <a:bodyPr wrap="square" lIns="0" tIns="0" rIns="0" bIns="0" rtlCol="0" anchor="ctr"/>
          <a:lstStyle/>
          <a:p>
            <a:pPr algn="ctr" indent="0" marL="0">
              <a:buNone/>
            </a:pPr>
            <a:r>
              <a:rPr lang="en-US" sz="1200" b="1" dirty="0">
                <a:solidFill>
                  <a:srgbClr val="00653F"/>
                </a:solidFill>
                <a:latin typeface="Calibri" pitchFamily="34" charset="0"/>
                <a:ea typeface="Calibri" pitchFamily="34" charset="-122"/>
                <a:cs typeface="Calibri" pitchFamily="34" charset="-120"/>
              </a:rPr>
              <a:t>Consumer</a:t>
            </a:r>
            <a:endParaRPr lang="en-US" sz="1200" dirty="0"/>
          </a:p>
        </p:txBody>
      </p:sp>
      <p:sp>
        <p:nvSpPr>
          <p:cNvPr id="15" name="Shape 13"/>
          <p:cNvSpPr/>
          <p:nvPr/>
        </p:nvSpPr>
        <p:spPr>
          <a:xfrm>
            <a:off x="3429000" y="5623560"/>
            <a:ext cx="2697480" cy="502920"/>
          </a:xfrm>
          <a:prstGeom prst="rect">
            <a:avLst/>
          </a:prstGeom>
          <a:solidFill>
            <a:srgbClr val="E6F3EE"/>
          </a:solidFill>
          <a:ln w="12700">
            <a:solidFill>
              <a:srgbClr val="E6F3EE"/>
            </a:solidFill>
            <a:prstDash val="solid"/>
          </a:ln>
        </p:spPr>
      </p:sp>
      <p:sp>
        <p:nvSpPr>
          <p:cNvPr id="16" name="Text 14"/>
          <p:cNvSpPr/>
          <p:nvPr/>
        </p:nvSpPr>
        <p:spPr>
          <a:xfrm>
            <a:off x="3429000" y="5623560"/>
            <a:ext cx="2697480" cy="502920"/>
          </a:xfrm>
          <a:prstGeom prst="rect">
            <a:avLst/>
          </a:prstGeom>
          <a:noFill/>
          <a:ln/>
        </p:spPr>
        <p:txBody>
          <a:bodyPr wrap="square" lIns="0" tIns="0" rIns="0" bIns="0" rtlCol="0" anchor="ctr"/>
          <a:lstStyle/>
          <a:p>
            <a:pPr algn="ctr" indent="0" marL="0">
              <a:buNone/>
            </a:pPr>
            <a:r>
              <a:rPr lang="en-US" sz="1200" b="1" dirty="0">
                <a:solidFill>
                  <a:srgbClr val="00653F"/>
                </a:solidFill>
                <a:latin typeface="Calibri" pitchFamily="34" charset="0"/>
                <a:ea typeface="Calibri" pitchFamily="34" charset="-122"/>
                <a:cs typeface="Calibri" pitchFamily="34" charset="-120"/>
              </a:rPr>
              <a:t>Approver</a:t>
            </a:r>
            <a:endParaRPr lang="en-US" sz="1200" dirty="0"/>
          </a:p>
        </p:txBody>
      </p:sp>
      <p:sp>
        <p:nvSpPr>
          <p:cNvPr id="17" name="Shape 15"/>
          <p:cNvSpPr/>
          <p:nvPr/>
        </p:nvSpPr>
        <p:spPr>
          <a:xfrm>
            <a:off x="6217920" y="5623560"/>
            <a:ext cx="2697480" cy="502920"/>
          </a:xfrm>
          <a:prstGeom prst="rect">
            <a:avLst/>
          </a:prstGeom>
          <a:solidFill>
            <a:srgbClr val="E6F3EE"/>
          </a:solidFill>
          <a:ln w="12700">
            <a:solidFill>
              <a:srgbClr val="E6F3EE"/>
            </a:solidFill>
            <a:prstDash val="solid"/>
          </a:ln>
        </p:spPr>
      </p:sp>
      <p:sp>
        <p:nvSpPr>
          <p:cNvPr id="18" name="Text 16"/>
          <p:cNvSpPr/>
          <p:nvPr/>
        </p:nvSpPr>
        <p:spPr>
          <a:xfrm>
            <a:off x="6217920" y="5623560"/>
            <a:ext cx="2697480" cy="502920"/>
          </a:xfrm>
          <a:prstGeom prst="rect">
            <a:avLst/>
          </a:prstGeom>
          <a:noFill/>
          <a:ln/>
        </p:spPr>
        <p:txBody>
          <a:bodyPr wrap="square" lIns="0" tIns="0" rIns="0" bIns="0" rtlCol="0" anchor="ctr"/>
          <a:lstStyle/>
          <a:p>
            <a:pPr algn="ctr" indent="0" marL="0">
              <a:buNone/>
            </a:pPr>
            <a:r>
              <a:rPr lang="en-US" sz="1200" b="1" dirty="0">
                <a:solidFill>
                  <a:srgbClr val="00653F"/>
                </a:solidFill>
                <a:latin typeface="Calibri" pitchFamily="34" charset="0"/>
                <a:ea typeface="Calibri" pitchFamily="34" charset="-122"/>
                <a:cs typeface="Calibri" pitchFamily="34" charset="-120"/>
              </a:rPr>
              <a:t>Ecosystem owner</a:t>
            </a:r>
            <a:endParaRPr lang="en-US" sz="1200" dirty="0"/>
          </a:p>
        </p:txBody>
      </p:sp>
      <p:sp>
        <p:nvSpPr>
          <p:cNvPr id="19" name="Shape 17"/>
          <p:cNvSpPr/>
          <p:nvPr/>
        </p:nvSpPr>
        <p:spPr>
          <a:xfrm>
            <a:off x="9006840" y="5623560"/>
            <a:ext cx="2697480" cy="502920"/>
          </a:xfrm>
          <a:prstGeom prst="rect">
            <a:avLst/>
          </a:prstGeom>
          <a:solidFill>
            <a:srgbClr val="E6F3EE"/>
          </a:solidFill>
          <a:ln w="12700">
            <a:solidFill>
              <a:srgbClr val="E6F3EE"/>
            </a:solidFill>
            <a:prstDash val="solid"/>
          </a:ln>
        </p:spPr>
      </p:sp>
      <p:sp>
        <p:nvSpPr>
          <p:cNvPr id="20" name="Text 18"/>
          <p:cNvSpPr/>
          <p:nvPr/>
        </p:nvSpPr>
        <p:spPr>
          <a:xfrm>
            <a:off x="9006840" y="5623560"/>
            <a:ext cx="2697480" cy="502920"/>
          </a:xfrm>
          <a:prstGeom prst="rect">
            <a:avLst/>
          </a:prstGeom>
          <a:noFill/>
          <a:ln/>
        </p:spPr>
        <p:txBody>
          <a:bodyPr wrap="square" lIns="0" tIns="0" rIns="0" bIns="0" rtlCol="0" anchor="ctr"/>
          <a:lstStyle/>
          <a:p>
            <a:pPr algn="ctr" indent="0" marL="0">
              <a:buNone/>
            </a:pPr>
            <a:r>
              <a:rPr lang="en-US" sz="1200" b="1" dirty="0">
                <a:solidFill>
                  <a:srgbClr val="00653F"/>
                </a:solidFill>
                <a:latin typeface="Calibri" pitchFamily="34" charset="0"/>
                <a:ea typeface="Calibri" pitchFamily="34" charset="-122"/>
                <a:cs typeface="Calibri" pitchFamily="34" charset="-120"/>
              </a:rPr>
              <a:t>Producer</a:t>
            </a:r>
            <a:endParaRPr lang="en-US" sz="1200" dirty="0"/>
          </a:p>
        </p:txBody>
      </p:sp>
      <p:sp>
        <p:nvSpPr>
          <p:cNvPr id="21" name="Text 19"/>
          <p:cNvSpPr/>
          <p:nvPr/>
        </p:nvSpPr>
        <p:spPr>
          <a:xfrm>
            <a:off x="640080" y="6492240"/>
            <a:ext cx="6400800" cy="228600"/>
          </a:xfrm>
          <a:prstGeom prst="rect">
            <a:avLst/>
          </a:prstGeom>
          <a:noFill/>
          <a:ln/>
        </p:spPr>
        <p:txBody>
          <a:bodyPr wrap="square" lIns="0" tIns="0" rIns="0" bIns="0" rtlCol="0" anchor="ctr"/>
          <a:lstStyle/>
          <a:p>
            <a:pPr indent="0" marL="0">
              <a:buNone/>
            </a:pPr>
            <a:r>
              <a:rPr lang="en-US" sz="900" i="1" dirty="0">
                <a:solidFill>
                  <a:srgbClr val="9AA5A1"/>
                </a:solidFill>
                <a:latin typeface="Calibri" pitchFamily="34" charset="0"/>
                <a:ea typeface="Calibri" pitchFamily="34" charset="-122"/>
                <a:cs typeface="Calibri" pitchFamily="34" charset="-120"/>
              </a:rPr>
              <a:t>BNP Paribas Cardif · CARD Production</a:t>
            </a:r>
            <a:endParaRPr lang="en-US" sz="900" dirty="0"/>
          </a:p>
        </p:txBody>
      </p:sp>
      <p:sp>
        <p:nvSpPr>
          <p:cNvPr id="22" name="Text 20"/>
          <p:cNvSpPr/>
          <p:nvPr/>
        </p:nvSpPr>
        <p:spPr>
          <a:xfrm>
            <a:off x="8229600" y="6492240"/>
            <a:ext cx="3383280" cy="228600"/>
          </a:xfrm>
          <a:prstGeom prst="rect">
            <a:avLst/>
          </a:prstGeom>
          <a:noFill/>
          <a:ln/>
        </p:spPr>
        <p:txBody>
          <a:bodyPr wrap="square" lIns="0" tIns="0" rIns="0" bIns="0" rtlCol="0" anchor="ctr"/>
          <a:lstStyle/>
          <a:p>
            <a:pPr algn="r" indent="0" marL="0">
              <a:buNone/>
            </a:pPr>
            <a:r>
              <a:rPr lang="en-US" sz="900" dirty="0">
                <a:solidFill>
                  <a:srgbClr val="9AA5A1"/>
                </a:solidFill>
                <a:latin typeface="Calibri" pitchFamily="34" charset="0"/>
                <a:ea typeface="Calibri" pitchFamily="34" charset="-122"/>
                <a:cs typeface="Calibri" pitchFamily="34" charset="-120"/>
              </a:rPr>
              <a:t>12 · Marketplace</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3A2B"/>
        </a:solidFill>
      </p:bgPr>
    </p:bg>
    <p:spTree>
      <p:nvGrpSpPr>
        <p:cNvPr id="1" name=""/>
        <p:cNvGrpSpPr/>
        <p:nvPr/>
      </p:nvGrpSpPr>
      <p:grpSpPr>
        <a:xfrm>
          <a:off x="0" y="0"/>
          <a:ext cx="0" cy="0"/>
          <a:chOff x="0" y="0"/>
          <a:chExt cx="0" cy="0"/>
        </a:xfrm>
      </p:grpSpPr>
      <p:sp>
        <p:nvSpPr>
          <p:cNvPr id="2" name="Text 0"/>
          <p:cNvSpPr/>
          <p:nvPr/>
        </p:nvSpPr>
        <p:spPr>
          <a:xfrm>
            <a:off x="9144000" y="731520"/>
            <a:ext cx="2743200" cy="5394960"/>
          </a:xfrm>
          <a:prstGeom prst="rect">
            <a:avLst/>
          </a:prstGeom>
          <a:noFill/>
          <a:ln/>
        </p:spPr>
        <p:txBody>
          <a:bodyPr wrap="square" lIns="0" tIns="0" rIns="0" bIns="0" rtlCol="0" anchor="ctr"/>
          <a:lstStyle/>
          <a:p>
            <a:pPr algn="ctr" indent="0" marL="0">
              <a:buNone/>
            </a:pPr>
            <a:r>
              <a:rPr lang="en-US" sz="30000" b="1" dirty="0">
                <a:solidFill>
                  <a:srgbClr val="0E5540"/>
                </a:solidFill>
                <a:latin typeface="Georgia" pitchFamily="34" charset="0"/>
                <a:ea typeface="Georgia" pitchFamily="34" charset="-122"/>
                <a:cs typeface="Georgia" pitchFamily="34" charset="-120"/>
              </a:rPr>
              <a:t>3</a:t>
            </a:r>
            <a:endParaRPr lang="en-US" sz="30000" dirty="0"/>
          </a:p>
        </p:txBody>
      </p:sp>
      <p:sp>
        <p:nvSpPr>
          <p:cNvPr id="3" name="Shape 1"/>
          <p:cNvSpPr/>
          <p:nvPr/>
        </p:nvSpPr>
        <p:spPr>
          <a:xfrm>
            <a:off x="640080" y="2286000"/>
            <a:ext cx="457200" cy="36576"/>
          </a:xfrm>
          <a:prstGeom prst="rect">
            <a:avLst/>
          </a:prstGeom>
          <a:solidFill>
            <a:srgbClr val="D4A840"/>
          </a:solidFill>
          <a:ln w="12700">
            <a:solidFill>
              <a:srgbClr val="D4A840"/>
            </a:solidFill>
            <a:prstDash val="solid"/>
          </a:ln>
        </p:spPr>
      </p:sp>
      <p:sp>
        <p:nvSpPr>
          <p:cNvPr id="4" name="Text 2"/>
          <p:cNvSpPr/>
          <p:nvPr/>
        </p:nvSpPr>
        <p:spPr>
          <a:xfrm>
            <a:off x="640080" y="2423160"/>
            <a:ext cx="5486400" cy="320040"/>
          </a:xfrm>
          <a:prstGeom prst="rect">
            <a:avLst/>
          </a:prstGeom>
          <a:noFill/>
          <a:ln/>
        </p:spPr>
        <p:txBody>
          <a:bodyPr wrap="square" lIns="0" tIns="0" rIns="0" bIns="0" rtlCol="0" anchor="ctr"/>
          <a:lstStyle/>
          <a:p>
            <a:pPr indent="0" marL="0">
              <a:buNone/>
            </a:pPr>
            <a:r>
              <a:rPr lang="en-US" sz="1200" b="1" spc="800" kern="0" dirty="0">
                <a:solidFill>
                  <a:srgbClr val="D4A840"/>
                </a:solidFill>
                <a:latin typeface="Calibri" pitchFamily="34" charset="0"/>
                <a:ea typeface="Calibri" pitchFamily="34" charset="-122"/>
                <a:cs typeface="Calibri" pitchFamily="34" charset="-120"/>
              </a:rPr>
              <a:t>SECTION 03</a:t>
            </a:r>
            <a:endParaRPr lang="en-US" sz="1200" dirty="0"/>
          </a:p>
        </p:txBody>
      </p:sp>
      <p:sp>
        <p:nvSpPr>
          <p:cNvPr id="5" name="Text 3"/>
          <p:cNvSpPr/>
          <p:nvPr/>
        </p:nvSpPr>
        <p:spPr>
          <a:xfrm>
            <a:off x="640080" y="2971800"/>
            <a:ext cx="8412480" cy="118872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TOE</a:t>
            </a:r>
            <a:endParaRPr lang="en-US" sz="5400" dirty="0"/>
          </a:p>
        </p:txBody>
      </p:sp>
      <p:sp>
        <p:nvSpPr>
          <p:cNvPr id="6" name="Text 4"/>
          <p:cNvSpPr/>
          <p:nvPr/>
        </p:nvSpPr>
        <p:spPr>
          <a:xfrm>
            <a:off x="640080" y="4343400"/>
            <a:ext cx="8412480" cy="1005840"/>
          </a:xfrm>
          <a:prstGeom prst="rect">
            <a:avLst/>
          </a:prstGeom>
          <a:noFill/>
          <a:ln/>
        </p:spPr>
        <p:txBody>
          <a:bodyPr wrap="square" lIns="0" tIns="0" rIns="0" bIns="0" rtlCol="0" anchor="ctr"/>
          <a:lstStyle/>
          <a:p>
            <a:pPr indent="0" marL="0">
              <a:lnSpc>
                <a:spcPct val="130000"/>
              </a:lnSpc>
              <a:buNone/>
            </a:pPr>
            <a:r>
              <a:rPr lang="en-US" sz="1900" i="1" dirty="0">
                <a:solidFill>
                  <a:srgbClr val="C9D6CF"/>
                </a:solidFill>
                <a:latin typeface="Georgia" pitchFamily="34" charset="0"/>
                <a:ea typeface="Georgia" pitchFamily="34" charset="-122"/>
                <a:cs typeface="Georgia" pitchFamily="34" charset="-120"/>
              </a:rPr>
              <a:t>Technology Office Expertise — mission and service offering</a:t>
            </a:r>
            <a:endParaRPr lang="en-US" sz="1900" dirty="0"/>
          </a:p>
        </p:txBody>
      </p:sp>
      <p:sp>
        <p:nvSpPr>
          <p:cNvPr id="7" name="Text 5"/>
          <p:cNvSpPr/>
          <p:nvPr/>
        </p:nvSpPr>
        <p:spPr>
          <a:xfrm>
            <a:off x="640080" y="6172200"/>
            <a:ext cx="5486400" cy="274320"/>
          </a:xfrm>
          <a:prstGeom prst="rect">
            <a:avLst/>
          </a:prstGeom>
          <a:noFill/>
          <a:ln/>
        </p:spPr>
        <p:txBody>
          <a:bodyPr wrap="square" lIns="0" tIns="0" rIns="0" bIns="0" rtlCol="0" anchor="ctr"/>
          <a:lstStyle/>
          <a:p>
            <a:pPr indent="0" marL="0">
              <a:buNone/>
            </a:pPr>
            <a:r>
              <a:rPr lang="en-US" sz="1100" b="1" spc="800" kern="0" dirty="0">
                <a:solidFill>
                  <a:srgbClr val="FFFFFF"/>
                </a:solidFill>
                <a:latin typeface="Calibri" pitchFamily="34" charset="0"/>
                <a:ea typeface="Calibri" pitchFamily="34" charset="-122"/>
                <a:cs typeface="Calibri" pitchFamily="34" charset="-120"/>
              </a:rPr>
              <a:t>BNP PARIBAS CARDIF</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9144000" cy="274320"/>
          </a:xfrm>
          <a:prstGeom prst="rect">
            <a:avLst/>
          </a:prstGeom>
          <a:noFill/>
          <a:ln/>
        </p:spPr>
        <p:txBody>
          <a:bodyPr wrap="square" lIns="0" tIns="0" rIns="0" bIns="0" rtlCol="0" anchor="ctr"/>
          <a:lstStyle/>
          <a:p>
            <a:pPr indent="0" marL="0">
              <a:buNone/>
            </a:pPr>
            <a:r>
              <a:rPr lang="en-US" sz="1100" b="1" spc="600" kern="0" dirty="0">
                <a:solidFill>
                  <a:srgbClr val="00915A"/>
                </a:solidFill>
                <a:latin typeface="Calibri" pitchFamily="34" charset="0"/>
                <a:ea typeface="Calibri" pitchFamily="34" charset="-122"/>
                <a:cs typeface="Calibri" pitchFamily="34" charset="-120"/>
              </a:rPr>
              <a:t>03 · TOE</a:t>
            </a:r>
            <a:endParaRPr lang="en-US" sz="1100" dirty="0"/>
          </a:p>
        </p:txBody>
      </p:sp>
      <p:sp>
        <p:nvSpPr>
          <p:cNvPr id="3" name="Text 1"/>
          <p:cNvSpPr/>
          <p:nvPr/>
        </p:nvSpPr>
        <p:spPr>
          <a:xfrm>
            <a:off x="640080" y="822960"/>
            <a:ext cx="10972800" cy="822960"/>
          </a:xfrm>
          <a:prstGeom prst="rect">
            <a:avLst/>
          </a:prstGeom>
          <a:noFill/>
          <a:ln/>
        </p:spPr>
        <p:txBody>
          <a:bodyPr wrap="square" lIns="0" tIns="0" rIns="0" bIns="0" rtlCol="0" anchor="ctr"/>
          <a:lstStyle/>
          <a:p>
            <a:pPr indent="0" marL="0">
              <a:buNone/>
            </a:pPr>
            <a:r>
              <a:rPr lang="en-US" sz="3200" b="1" dirty="0">
                <a:solidFill>
                  <a:srgbClr val="1A2E28"/>
                </a:solidFill>
                <a:latin typeface="Georgia" pitchFamily="34" charset="0"/>
                <a:ea typeface="Georgia" pitchFamily="34" charset="-122"/>
                <a:cs typeface="Georgia" pitchFamily="34" charset="-120"/>
              </a:rPr>
              <a:t>Global mission</a:t>
            </a:r>
            <a:endParaRPr lang="en-US" sz="3200" dirty="0"/>
          </a:p>
        </p:txBody>
      </p:sp>
      <p:sp>
        <p:nvSpPr>
          <p:cNvPr id="4" name="Shape 2"/>
          <p:cNvSpPr/>
          <p:nvPr/>
        </p:nvSpPr>
        <p:spPr>
          <a:xfrm>
            <a:off x="640080" y="1828800"/>
            <a:ext cx="3703320" cy="3931920"/>
          </a:xfrm>
          <a:prstGeom prst="rect">
            <a:avLst/>
          </a:prstGeom>
          <a:solidFill>
            <a:srgbClr val="FFFFFF"/>
          </a:solidFill>
          <a:ln w="9525">
            <a:solidFill>
              <a:srgbClr val="E2E8F0"/>
            </a:solidFill>
            <a:prstDash val="solid"/>
          </a:ln>
          <a:effectLst>
            <a:outerShdw sx="100000" sy="100000" kx="0" ky="0" algn="bl" rotWithShape="0" blurRad="152400" dist="38100" dir="5400000">
              <a:srgbClr val="000000">
                <a:alpha val="8000"/>
              </a:srgbClr>
            </a:outerShdw>
          </a:effectLst>
        </p:spPr>
      </p:sp>
      <p:sp>
        <p:nvSpPr>
          <p:cNvPr id="5" name="Shape 3"/>
          <p:cNvSpPr/>
          <p:nvPr/>
        </p:nvSpPr>
        <p:spPr>
          <a:xfrm>
            <a:off x="640080" y="1828800"/>
            <a:ext cx="3703320" cy="137160"/>
          </a:xfrm>
          <a:prstGeom prst="rect">
            <a:avLst/>
          </a:prstGeom>
          <a:solidFill>
            <a:srgbClr val="00915A"/>
          </a:solidFill>
          <a:ln w="12700">
            <a:solidFill>
              <a:srgbClr val="00915A"/>
            </a:solidFill>
            <a:prstDash val="solid"/>
          </a:ln>
        </p:spPr>
      </p:sp>
      <p:sp>
        <p:nvSpPr>
          <p:cNvPr id="6" name="Text 4"/>
          <p:cNvSpPr/>
          <p:nvPr/>
        </p:nvSpPr>
        <p:spPr>
          <a:xfrm>
            <a:off x="1005840" y="2286000"/>
            <a:ext cx="1371600" cy="914400"/>
          </a:xfrm>
          <a:prstGeom prst="rect">
            <a:avLst/>
          </a:prstGeom>
          <a:noFill/>
          <a:ln/>
        </p:spPr>
        <p:txBody>
          <a:bodyPr wrap="square" lIns="0" tIns="0" rIns="0" bIns="0" rtlCol="0" anchor="ctr"/>
          <a:lstStyle/>
          <a:p>
            <a:pPr indent="0" marL="0">
              <a:buNone/>
            </a:pPr>
            <a:r>
              <a:rPr lang="en-US" sz="5400" b="1" dirty="0">
                <a:solidFill>
                  <a:srgbClr val="D4A840"/>
                </a:solidFill>
                <a:latin typeface="Georgia" pitchFamily="34" charset="0"/>
                <a:ea typeface="Georgia" pitchFamily="34" charset="-122"/>
                <a:cs typeface="Georgia" pitchFamily="34" charset="-120"/>
              </a:rPr>
              <a:t>01</a:t>
            </a:r>
            <a:endParaRPr lang="en-US" sz="5400" dirty="0"/>
          </a:p>
        </p:txBody>
      </p:sp>
      <p:sp>
        <p:nvSpPr>
          <p:cNvPr id="7" name="Text 5"/>
          <p:cNvSpPr/>
          <p:nvPr/>
        </p:nvSpPr>
        <p:spPr>
          <a:xfrm>
            <a:off x="1005840" y="3291840"/>
            <a:ext cx="2971800" cy="914400"/>
          </a:xfrm>
          <a:prstGeom prst="rect">
            <a:avLst/>
          </a:prstGeom>
          <a:noFill/>
          <a:ln/>
        </p:spPr>
        <p:txBody>
          <a:bodyPr wrap="square" lIns="0" tIns="0" rIns="0" bIns="0" rtlCol="0" anchor="ctr"/>
          <a:lstStyle/>
          <a:p>
            <a:pPr indent="0" marL="0">
              <a:lnSpc>
                <a:spcPct val="115000"/>
              </a:lnSpc>
              <a:buNone/>
            </a:pPr>
            <a:r>
              <a:rPr lang="en-US" sz="2200" b="1" dirty="0">
                <a:solidFill>
                  <a:srgbClr val="1A2E28"/>
                </a:solidFill>
                <a:latin typeface="Georgia" pitchFamily="34" charset="0"/>
                <a:ea typeface="Georgia" pitchFamily="34" charset="-122"/>
                <a:cs typeface="Georgia" pitchFamily="34" charset="-120"/>
              </a:rPr>
              <a:t>Drive the transformation</a:t>
            </a:r>
            <a:endParaRPr lang="en-US" sz="2200" dirty="0"/>
          </a:p>
        </p:txBody>
      </p:sp>
      <p:sp>
        <p:nvSpPr>
          <p:cNvPr id="8" name="Text 6"/>
          <p:cNvSpPr/>
          <p:nvPr/>
        </p:nvSpPr>
        <p:spPr>
          <a:xfrm>
            <a:off x="1005840" y="4297680"/>
            <a:ext cx="2971800" cy="1371600"/>
          </a:xfrm>
          <a:prstGeom prst="rect">
            <a:avLst/>
          </a:prstGeom>
          <a:noFill/>
          <a:ln/>
        </p:spPr>
        <p:txBody>
          <a:bodyPr wrap="square" lIns="0" tIns="0" rIns="0" bIns="0" rtlCol="0" anchor="ctr"/>
          <a:lstStyle/>
          <a:p>
            <a:pPr indent="0" marL="0">
              <a:lnSpc>
                <a:spcPct val="140000"/>
              </a:lnSpc>
              <a:buNone/>
            </a:pPr>
            <a:r>
              <a:rPr lang="en-US" sz="1300" dirty="0">
                <a:solidFill>
                  <a:srgbClr val="2C2C2C"/>
                </a:solidFill>
                <a:latin typeface="Calibri" pitchFamily="34" charset="0"/>
                <a:ea typeface="Calibri" pitchFamily="34" charset="-122"/>
                <a:cs typeface="Calibri" pitchFamily="34" charset="-120"/>
              </a:rPr>
              <a:t>PAAS V4 / FS Cloud transformation and Kubernetes industrialization for the CARD — Production Cardif entity.</a:t>
            </a:r>
            <a:endParaRPr lang="en-US" sz="1300" dirty="0"/>
          </a:p>
        </p:txBody>
      </p:sp>
      <p:sp>
        <p:nvSpPr>
          <p:cNvPr id="9" name="Shape 7"/>
          <p:cNvSpPr/>
          <p:nvPr/>
        </p:nvSpPr>
        <p:spPr>
          <a:xfrm>
            <a:off x="4572000" y="1828800"/>
            <a:ext cx="3703320" cy="3931920"/>
          </a:xfrm>
          <a:prstGeom prst="rect">
            <a:avLst/>
          </a:prstGeom>
          <a:solidFill>
            <a:srgbClr val="FFFFFF"/>
          </a:solidFill>
          <a:ln w="9525">
            <a:solidFill>
              <a:srgbClr val="E2E8F0"/>
            </a:solidFill>
            <a:prstDash val="solid"/>
          </a:ln>
          <a:effectLst>
            <a:outerShdw sx="100000" sy="100000" kx="0" ky="0" algn="bl" rotWithShape="0" blurRad="152400" dist="38100" dir="5400000">
              <a:srgbClr val="000000">
                <a:alpha val="8000"/>
              </a:srgbClr>
            </a:outerShdw>
          </a:effectLst>
        </p:spPr>
      </p:sp>
      <p:sp>
        <p:nvSpPr>
          <p:cNvPr id="10" name="Shape 8"/>
          <p:cNvSpPr/>
          <p:nvPr/>
        </p:nvSpPr>
        <p:spPr>
          <a:xfrm>
            <a:off x="4572000" y="1828800"/>
            <a:ext cx="3703320" cy="137160"/>
          </a:xfrm>
          <a:prstGeom prst="rect">
            <a:avLst/>
          </a:prstGeom>
          <a:solidFill>
            <a:srgbClr val="00915A"/>
          </a:solidFill>
          <a:ln w="12700">
            <a:solidFill>
              <a:srgbClr val="00915A"/>
            </a:solidFill>
            <a:prstDash val="solid"/>
          </a:ln>
        </p:spPr>
      </p:sp>
      <p:sp>
        <p:nvSpPr>
          <p:cNvPr id="11" name="Text 9"/>
          <p:cNvSpPr/>
          <p:nvPr/>
        </p:nvSpPr>
        <p:spPr>
          <a:xfrm>
            <a:off x="4937760" y="2286000"/>
            <a:ext cx="1371600" cy="914400"/>
          </a:xfrm>
          <a:prstGeom prst="rect">
            <a:avLst/>
          </a:prstGeom>
          <a:noFill/>
          <a:ln/>
        </p:spPr>
        <p:txBody>
          <a:bodyPr wrap="square" lIns="0" tIns="0" rIns="0" bIns="0" rtlCol="0" anchor="ctr"/>
          <a:lstStyle/>
          <a:p>
            <a:pPr indent="0" marL="0">
              <a:buNone/>
            </a:pPr>
            <a:r>
              <a:rPr lang="en-US" sz="5400" b="1" dirty="0">
                <a:solidFill>
                  <a:srgbClr val="D4A840"/>
                </a:solidFill>
                <a:latin typeface="Georgia" pitchFamily="34" charset="0"/>
                <a:ea typeface="Georgia" pitchFamily="34" charset="-122"/>
                <a:cs typeface="Georgia" pitchFamily="34" charset="-120"/>
              </a:rPr>
              <a:t>02</a:t>
            </a:r>
            <a:endParaRPr lang="en-US" sz="5400" dirty="0"/>
          </a:p>
        </p:txBody>
      </p:sp>
      <p:sp>
        <p:nvSpPr>
          <p:cNvPr id="12" name="Text 10"/>
          <p:cNvSpPr/>
          <p:nvPr/>
        </p:nvSpPr>
        <p:spPr>
          <a:xfrm>
            <a:off x="4937760" y="3291840"/>
            <a:ext cx="2971800" cy="914400"/>
          </a:xfrm>
          <a:prstGeom prst="rect">
            <a:avLst/>
          </a:prstGeom>
          <a:noFill/>
          <a:ln/>
        </p:spPr>
        <p:txBody>
          <a:bodyPr wrap="square" lIns="0" tIns="0" rIns="0" bIns="0" rtlCol="0" anchor="ctr"/>
          <a:lstStyle/>
          <a:p>
            <a:pPr indent="0" marL="0">
              <a:lnSpc>
                <a:spcPct val="115000"/>
              </a:lnSpc>
              <a:buNone/>
            </a:pPr>
            <a:r>
              <a:rPr lang="en-US" sz="2200" b="1" dirty="0">
                <a:solidFill>
                  <a:srgbClr val="1A2E28"/>
                </a:solidFill>
                <a:latin typeface="Georgia" pitchFamily="34" charset="0"/>
                <a:ea typeface="Georgia" pitchFamily="34" charset="-122"/>
                <a:cs typeface="Georgia" pitchFamily="34" charset="-120"/>
              </a:rPr>
              <a:t>Provide a common foundation</a:t>
            </a:r>
            <a:endParaRPr lang="en-US" sz="2200" dirty="0"/>
          </a:p>
        </p:txBody>
      </p:sp>
      <p:sp>
        <p:nvSpPr>
          <p:cNvPr id="13" name="Text 11"/>
          <p:cNvSpPr/>
          <p:nvPr/>
        </p:nvSpPr>
        <p:spPr>
          <a:xfrm>
            <a:off x="4937760" y="4297680"/>
            <a:ext cx="2971800" cy="1371600"/>
          </a:xfrm>
          <a:prstGeom prst="rect">
            <a:avLst/>
          </a:prstGeom>
          <a:noFill/>
          <a:ln/>
        </p:spPr>
        <p:txBody>
          <a:bodyPr wrap="square" lIns="0" tIns="0" rIns="0" bIns="0" rtlCol="0" anchor="ctr"/>
          <a:lstStyle/>
          <a:p>
            <a:pPr indent="0" marL="0">
              <a:lnSpc>
                <a:spcPct val="140000"/>
              </a:lnSpc>
              <a:buNone/>
            </a:pPr>
            <a:r>
              <a:rPr lang="en-US" sz="1300" dirty="0">
                <a:solidFill>
                  <a:srgbClr val="2C2C2C"/>
                </a:solidFill>
                <a:latin typeface="Calibri" pitchFamily="34" charset="0"/>
                <a:ea typeface="Calibri" pitchFamily="34" charset="-122"/>
                <a:cs typeface="Calibri" pitchFamily="34" charset="-120"/>
              </a:rPr>
              <a:t>Standards, toolchains, automation: quality, reliability and maintainability of transverse applications.</a:t>
            </a:r>
            <a:endParaRPr lang="en-US" sz="1300" dirty="0"/>
          </a:p>
        </p:txBody>
      </p:sp>
      <p:sp>
        <p:nvSpPr>
          <p:cNvPr id="14" name="Shape 12"/>
          <p:cNvSpPr/>
          <p:nvPr/>
        </p:nvSpPr>
        <p:spPr>
          <a:xfrm>
            <a:off x="8503920" y="1828800"/>
            <a:ext cx="3703320" cy="3931920"/>
          </a:xfrm>
          <a:prstGeom prst="rect">
            <a:avLst/>
          </a:prstGeom>
          <a:solidFill>
            <a:srgbClr val="FFFFFF"/>
          </a:solidFill>
          <a:ln w="9525">
            <a:solidFill>
              <a:srgbClr val="E2E8F0"/>
            </a:solidFill>
            <a:prstDash val="solid"/>
          </a:ln>
          <a:effectLst>
            <a:outerShdw sx="100000" sy="100000" kx="0" ky="0" algn="bl" rotWithShape="0" blurRad="152400" dist="38100" dir="5400000">
              <a:srgbClr val="000000">
                <a:alpha val="8000"/>
              </a:srgbClr>
            </a:outerShdw>
          </a:effectLst>
        </p:spPr>
      </p:sp>
      <p:sp>
        <p:nvSpPr>
          <p:cNvPr id="15" name="Shape 13"/>
          <p:cNvSpPr/>
          <p:nvPr/>
        </p:nvSpPr>
        <p:spPr>
          <a:xfrm>
            <a:off x="8503920" y="1828800"/>
            <a:ext cx="3703320" cy="137160"/>
          </a:xfrm>
          <a:prstGeom prst="rect">
            <a:avLst/>
          </a:prstGeom>
          <a:solidFill>
            <a:srgbClr val="00915A"/>
          </a:solidFill>
          <a:ln w="12700">
            <a:solidFill>
              <a:srgbClr val="00915A"/>
            </a:solidFill>
            <a:prstDash val="solid"/>
          </a:ln>
        </p:spPr>
      </p:sp>
      <p:sp>
        <p:nvSpPr>
          <p:cNvPr id="16" name="Text 14"/>
          <p:cNvSpPr/>
          <p:nvPr/>
        </p:nvSpPr>
        <p:spPr>
          <a:xfrm>
            <a:off x="8869680" y="2286000"/>
            <a:ext cx="1371600" cy="914400"/>
          </a:xfrm>
          <a:prstGeom prst="rect">
            <a:avLst/>
          </a:prstGeom>
          <a:noFill/>
          <a:ln/>
        </p:spPr>
        <p:txBody>
          <a:bodyPr wrap="square" lIns="0" tIns="0" rIns="0" bIns="0" rtlCol="0" anchor="ctr"/>
          <a:lstStyle/>
          <a:p>
            <a:pPr indent="0" marL="0">
              <a:buNone/>
            </a:pPr>
            <a:r>
              <a:rPr lang="en-US" sz="5400" b="1" dirty="0">
                <a:solidFill>
                  <a:srgbClr val="D4A840"/>
                </a:solidFill>
                <a:latin typeface="Georgia" pitchFamily="34" charset="0"/>
                <a:ea typeface="Georgia" pitchFamily="34" charset="-122"/>
                <a:cs typeface="Georgia" pitchFamily="34" charset="-120"/>
              </a:rPr>
              <a:t>03</a:t>
            </a:r>
            <a:endParaRPr lang="en-US" sz="5400" dirty="0"/>
          </a:p>
        </p:txBody>
      </p:sp>
      <p:sp>
        <p:nvSpPr>
          <p:cNvPr id="17" name="Text 15"/>
          <p:cNvSpPr/>
          <p:nvPr/>
        </p:nvSpPr>
        <p:spPr>
          <a:xfrm>
            <a:off x="8869680" y="3291840"/>
            <a:ext cx="2971800" cy="914400"/>
          </a:xfrm>
          <a:prstGeom prst="rect">
            <a:avLst/>
          </a:prstGeom>
          <a:noFill/>
          <a:ln/>
        </p:spPr>
        <p:txBody>
          <a:bodyPr wrap="square" lIns="0" tIns="0" rIns="0" bIns="0" rtlCol="0" anchor="ctr"/>
          <a:lstStyle/>
          <a:p>
            <a:pPr indent="0" marL="0">
              <a:lnSpc>
                <a:spcPct val="115000"/>
              </a:lnSpc>
              <a:buNone/>
            </a:pPr>
            <a:r>
              <a:rPr lang="en-US" sz="2200" b="1" dirty="0">
                <a:solidFill>
                  <a:srgbClr val="1A2E28"/>
                </a:solidFill>
                <a:latin typeface="Georgia" pitchFamily="34" charset="0"/>
                <a:ea typeface="Georgia" pitchFamily="34" charset="-122"/>
                <a:cs typeface="Georgia" pitchFamily="34" charset="-120"/>
              </a:rPr>
              <a:t>Empower the teams</a:t>
            </a:r>
            <a:endParaRPr lang="en-US" sz="2200" dirty="0"/>
          </a:p>
        </p:txBody>
      </p:sp>
      <p:sp>
        <p:nvSpPr>
          <p:cNvPr id="18" name="Text 16"/>
          <p:cNvSpPr/>
          <p:nvPr/>
        </p:nvSpPr>
        <p:spPr>
          <a:xfrm>
            <a:off x="8869680" y="4297680"/>
            <a:ext cx="2971800" cy="1371600"/>
          </a:xfrm>
          <a:prstGeom prst="rect">
            <a:avLst/>
          </a:prstGeom>
          <a:noFill/>
          <a:ln/>
        </p:spPr>
        <p:txBody>
          <a:bodyPr wrap="square" lIns="0" tIns="0" rIns="0" bIns="0" rtlCol="0" anchor="ctr"/>
          <a:lstStyle/>
          <a:p>
            <a:pPr indent="0" marL="0">
              <a:lnSpc>
                <a:spcPct val="140000"/>
              </a:lnSpc>
              <a:buNone/>
            </a:pPr>
            <a:r>
              <a:rPr lang="en-US" sz="1300" dirty="0">
                <a:solidFill>
                  <a:srgbClr val="2C2C2C"/>
                </a:solidFill>
                <a:latin typeface="Calibri" pitchFamily="34" charset="0"/>
                <a:ea typeface="Calibri" pitchFamily="34" charset="-122"/>
                <a:cs typeface="Calibri" pitchFamily="34" charset="-120"/>
              </a:rPr>
              <a:t>Tech-buddies, training, kits: ensure team autonomy despite turnover and multiple projects.</a:t>
            </a:r>
            <a:endParaRPr lang="en-US" sz="1300" dirty="0"/>
          </a:p>
        </p:txBody>
      </p:sp>
      <p:sp>
        <p:nvSpPr>
          <p:cNvPr id="19" name="Text 17"/>
          <p:cNvSpPr/>
          <p:nvPr/>
        </p:nvSpPr>
        <p:spPr>
          <a:xfrm>
            <a:off x="640080" y="6492240"/>
            <a:ext cx="6400800" cy="228600"/>
          </a:xfrm>
          <a:prstGeom prst="rect">
            <a:avLst/>
          </a:prstGeom>
          <a:noFill/>
          <a:ln/>
        </p:spPr>
        <p:txBody>
          <a:bodyPr wrap="square" lIns="0" tIns="0" rIns="0" bIns="0" rtlCol="0" anchor="ctr"/>
          <a:lstStyle/>
          <a:p>
            <a:pPr indent="0" marL="0">
              <a:buNone/>
            </a:pPr>
            <a:r>
              <a:rPr lang="en-US" sz="900" i="1" dirty="0">
                <a:solidFill>
                  <a:srgbClr val="9AA5A1"/>
                </a:solidFill>
                <a:latin typeface="Calibri" pitchFamily="34" charset="0"/>
                <a:ea typeface="Calibri" pitchFamily="34" charset="-122"/>
                <a:cs typeface="Calibri" pitchFamily="34" charset="-120"/>
              </a:rPr>
              <a:t>BNP Paribas Cardif · CARD Production</a:t>
            </a:r>
            <a:endParaRPr lang="en-US" sz="900" dirty="0"/>
          </a:p>
        </p:txBody>
      </p:sp>
      <p:sp>
        <p:nvSpPr>
          <p:cNvPr id="20" name="Text 18"/>
          <p:cNvSpPr/>
          <p:nvPr/>
        </p:nvSpPr>
        <p:spPr>
          <a:xfrm>
            <a:off x="8229600" y="6492240"/>
            <a:ext cx="3383280" cy="228600"/>
          </a:xfrm>
          <a:prstGeom prst="rect">
            <a:avLst/>
          </a:prstGeom>
          <a:noFill/>
          <a:ln/>
        </p:spPr>
        <p:txBody>
          <a:bodyPr wrap="square" lIns="0" tIns="0" rIns="0" bIns="0" rtlCol="0" anchor="ctr"/>
          <a:lstStyle/>
          <a:p>
            <a:pPr algn="r" indent="0" marL="0">
              <a:buNone/>
            </a:pPr>
            <a:r>
              <a:rPr lang="en-US" sz="900" dirty="0">
                <a:solidFill>
                  <a:srgbClr val="9AA5A1"/>
                </a:solidFill>
                <a:latin typeface="Calibri" pitchFamily="34" charset="0"/>
                <a:ea typeface="Calibri" pitchFamily="34" charset="-122"/>
                <a:cs typeface="Calibri" pitchFamily="34" charset="-120"/>
              </a:rPr>
              <a:t>14 · TOE</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9144000" cy="274320"/>
          </a:xfrm>
          <a:prstGeom prst="rect">
            <a:avLst/>
          </a:prstGeom>
          <a:noFill/>
          <a:ln/>
        </p:spPr>
        <p:txBody>
          <a:bodyPr wrap="square" lIns="0" tIns="0" rIns="0" bIns="0" rtlCol="0" anchor="ctr"/>
          <a:lstStyle/>
          <a:p>
            <a:pPr indent="0" marL="0">
              <a:buNone/>
            </a:pPr>
            <a:r>
              <a:rPr lang="en-US" sz="1100" b="1" spc="600" kern="0" dirty="0">
                <a:solidFill>
                  <a:srgbClr val="00915A"/>
                </a:solidFill>
                <a:latin typeface="Calibri" pitchFamily="34" charset="0"/>
                <a:ea typeface="Calibri" pitchFamily="34" charset="-122"/>
                <a:cs typeface="Calibri" pitchFamily="34" charset="-120"/>
              </a:rPr>
              <a:t>03 · TOE</a:t>
            </a:r>
            <a:endParaRPr lang="en-US" sz="1100" dirty="0"/>
          </a:p>
        </p:txBody>
      </p:sp>
      <p:sp>
        <p:nvSpPr>
          <p:cNvPr id="3" name="Text 1"/>
          <p:cNvSpPr/>
          <p:nvPr/>
        </p:nvSpPr>
        <p:spPr>
          <a:xfrm>
            <a:off x="640080" y="822960"/>
            <a:ext cx="10972800" cy="822960"/>
          </a:xfrm>
          <a:prstGeom prst="rect">
            <a:avLst/>
          </a:prstGeom>
          <a:noFill/>
          <a:ln/>
        </p:spPr>
        <p:txBody>
          <a:bodyPr wrap="square" lIns="0" tIns="0" rIns="0" bIns="0" rtlCol="0" anchor="ctr"/>
          <a:lstStyle/>
          <a:p>
            <a:pPr indent="0" marL="0">
              <a:buNone/>
            </a:pPr>
            <a:r>
              <a:rPr lang="en-US" sz="3200" b="1" dirty="0">
                <a:solidFill>
                  <a:srgbClr val="1A2E28"/>
                </a:solidFill>
                <a:latin typeface="Georgia" pitchFamily="34" charset="0"/>
                <a:ea typeface="Georgia" pitchFamily="34" charset="-122"/>
                <a:cs typeface="Georgia" pitchFamily="34" charset="-120"/>
              </a:rPr>
              <a:t>Focus areas</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10972800" cy="914400"/>
        </p:xfrm>
        <a:graphic>
          <a:graphicData uri="http://schemas.openxmlformats.org/drawingml/2006/table">
            <a:tbl>
              <a:tblPr/>
              <a:tblGrid>
                <a:gridCol w="3474720"/>
                <a:gridCol w="7498080"/>
              </a:tblGrid>
              <a:tr h="502920">
                <a:tc>
                  <a:txBody>
                    <a:bodyPr/>
                    <a:lstStyle/>
                    <a:p>
                      <a:pPr algn="l" indent="0" marL="0">
                        <a:buNone/>
                      </a:pPr>
                      <a:r>
                        <a:rPr lang="en-US" sz="1200" b="1" spc="400" kern="0" dirty="0">
                          <a:solidFill>
                            <a:srgbClr val="FFFFFF"/>
                          </a:solidFill>
                          <a:latin typeface="Calibri" pitchFamily="34" charset="0"/>
                          <a:ea typeface="Calibri" pitchFamily="34" charset="-122"/>
                          <a:cs typeface="Calibri" pitchFamily="34" charset="-120"/>
                        </a:rPr>
                        <a:t>AREA</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0915A"/>
                    </a:solidFill>
                  </a:tcPr>
                </a:tc>
                <a:tc>
                  <a:txBody>
                    <a:bodyPr/>
                    <a:lstStyle/>
                    <a:p>
                      <a:pPr algn="l" indent="0" marL="0">
                        <a:buNone/>
                      </a:pPr>
                      <a:r>
                        <a:rPr lang="en-US" sz="1200" b="1" spc="400" kern="0" dirty="0">
                          <a:solidFill>
                            <a:srgbClr val="FFFFFF"/>
                          </a:solidFill>
                          <a:latin typeface="Calibri" pitchFamily="34" charset="0"/>
                          <a:ea typeface="Calibri" pitchFamily="34" charset="-122"/>
                          <a:cs typeface="Calibri" pitchFamily="34" charset="-120"/>
                        </a:rPr>
                        <a:t>MAIN ACTIVITIES</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0915A"/>
                    </a:solidFill>
                  </a:tcPr>
                </a:tc>
              </a:tr>
              <a:tr h="685800">
                <a:tc>
                  <a:txBody>
                    <a:bodyPr/>
                    <a:lstStyle/>
                    <a:p>
                      <a:pPr indent="0" marL="0">
                        <a:buNone/>
                      </a:pPr>
                      <a:r>
                        <a:rPr lang="en-US" sz="1400" b="1" dirty="0">
                          <a:solidFill>
                            <a:srgbClr val="1A2E28"/>
                          </a:solidFill>
                          <a:latin typeface="Georgia" pitchFamily="34" charset="0"/>
                          <a:ea typeface="Georgia" pitchFamily="34" charset="-122"/>
                          <a:cs typeface="Georgia" pitchFamily="34" charset="-120"/>
                        </a:rPr>
                        <a:t>Support &amp; Operations</a:t>
                      </a:r>
                      <a:endParaRPr lang="en-US" sz="1400" dirty="0">
                        <a:latin typeface="Georgia" charset="0"/>
                        <a:ea typeface="Georgia" charset="0"/>
                        <a:cs typeface="Georgia"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2C2C2C"/>
                          </a:solidFill>
                          <a:latin typeface="Calibri" pitchFamily="34" charset="0"/>
                          <a:ea typeface="Calibri" pitchFamily="34" charset="-122"/>
                          <a:cs typeface="Calibri" pitchFamily="34" charset="-120"/>
                        </a:rPr>
                        <a:t>N2 / N3 incident management · SLA tracking · dashboards (Bastion Server) · alert automation.</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685800">
                <a:tc>
                  <a:txBody>
                    <a:bodyPr/>
                    <a:lstStyle/>
                    <a:p>
                      <a:pPr indent="0" marL="0">
                        <a:buNone/>
                      </a:pPr>
                      <a:r>
                        <a:rPr lang="en-US" sz="1400" b="1" dirty="0">
                          <a:solidFill>
                            <a:srgbClr val="1A2E28"/>
                          </a:solidFill>
                          <a:latin typeface="Georgia" pitchFamily="34" charset="0"/>
                          <a:ea typeface="Georgia" pitchFamily="34" charset="-122"/>
                          <a:cs typeface="Georgia" pitchFamily="34" charset="-120"/>
                        </a:rPr>
                        <a:t>Development &amp; Tooling</a:t>
                      </a:r>
                      <a:endParaRPr lang="en-US" sz="1400" dirty="0">
                        <a:latin typeface="Georgia" charset="0"/>
                        <a:ea typeface="Georgia" charset="0"/>
                        <a:cs typeface="Georgia"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2C2C2C"/>
                          </a:solidFill>
                          <a:latin typeface="Calibri" pitchFamily="34" charset="0"/>
                          <a:ea typeface="Calibri" pitchFamily="34" charset="-122"/>
                          <a:cs typeface="Calibri" pitchFamily="34" charset="-120"/>
                        </a:rPr>
                        <a:t>Internal tools (Adret, Iclés) · Ansible scripts · CI/CD pipelines · management of TOE assets (VMs, clusters).</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685800">
                <a:tc>
                  <a:txBody>
                    <a:bodyPr/>
                    <a:lstStyle/>
                    <a:p>
                      <a:pPr indent="0" marL="0">
                        <a:buNone/>
                      </a:pPr>
                      <a:r>
                        <a:rPr lang="en-US" sz="1400" b="1" dirty="0">
                          <a:solidFill>
                            <a:srgbClr val="1A2E28"/>
                          </a:solidFill>
                          <a:latin typeface="Georgia" pitchFamily="34" charset="0"/>
                          <a:ea typeface="Georgia" pitchFamily="34" charset="-122"/>
                          <a:cs typeface="Georgia" pitchFamily="34" charset="-120"/>
                        </a:rPr>
                        <a:t>CD &amp; Toolchain</a:t>
                      </a:r>
                      <a:endParaRPr lang="en-US" sz="1400" dirty="0">
                        <a:latin typeface="Georgia" charset="0"/>
                        <a:ea typeface="Georgia" charset="0"/>
                        <a:cs typeface="Georgia"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2C2C2C"/>
                          </a:solidFill>
                          <a:latin typeface="Calibri" pitchFamily="34" charset="0"/>
                          <a:ea typeface="Calibri" pitchFamily="34" charset="-122"/>
                          <a:cs typeface="Calibri" pitchFamily="34" charset="-120"/>
                        </a:rPr>
                        <a:t>Delivery chains standardization · rollout support · compliance with ODM standards.</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685800">
                <a:tc>
                  <a:txBody>
                    <a:bodyPr/>
                    <a:lstStyle/>
                    <a:p>
                      <a:pPr indent="0" marL="0">
                        <a:buNone/>
                      </a:pPr>
                      <a:r>
                        <a:rPr lang="en-US" sz="1400" b="1" dirty="0">
                          <a:solidFill>
                            <a:srgbClr val="1A2E28"/>
                          </a:solidFill>
                          <a:latin typeface="Georgia" pitchFamily="34" charset="0"/>
                          <a:ea typeface="Georgia" pitchFamily="34" charset="-122"/>
                          <a:cs typeface="Georgia" pitchFamily="34" charset="-120"/>
                        </a:rPr>
                        <a:t>Enablement &amp; Knowledge</a:t>
                      </a:r>
                      <a:endParaRPr lang="en-US" sz="1400" dirty="0">
                        <a:latin typeface="Georgia" charset="0"/>
                        <a:ea typeface="Georgia" charset="0"/>
                        <a:cs typeface="Georgia"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2C2C2C"/>
                          </a:solidFill>
                          <a:latin typeface="Calibri" pitchFamily="34" charset="0"/>
                          <a:ea typeface="Calibri" pitchFamily="34" charset="-122"/>
                          <a:cs typeface="Calibri" pitchFamily="34" charset="-120"/>
                        </a:rPr>
                        <a:t>Workshops · onboarding · video tutorials · knowledge base · tech-buddy assignment.</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685800">
                <a:tc>
                  <a:txBody>
                    <a:bodyPr/>
                    <a:lstStyle/>
                    <a:p>
                      <a:pPr indent="0" marL="0">
                        <a:buNone/>
                      </a:pPr>
                      <a:r>
                        <a:rPr lang="en-US" sz="1400" b="1" dirty="0">
                          <a:solidFill>
                            <a:srgbClr val="1A2E28"/>
                          </a:solidFill>
                          <a:latin typeface="Georgia" pitchFamily="34" charset="0"/>
                          <a:ea typeface="Georgia" pitchFamily="34" charset="-122"/>
                          <a:cs typeface="Georgia" pitchFamily="34" charset="-120"/>
                        </a:rPr>
                        <a:t>Continuous improvement / Audits</a:t>
                      </a:r>
                      <a:endParaRPr lang="en-US" sz="1400" dirty="0">
                        <a:latin typeface="Georgia" charset="0"/>
                        <a:ea typeface="Georgia" charset="0"/>
                        <a:cs typeface="Georgia"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2C2C2C"/>
                          </a:solidFill>
                          <a:latin typeface="Calibri" pitchFamily="34" charset="0"/>
                          <a:ea typeface="Calibri" pitchFamily="34" charset="-122"/>
                          <a:cs typeface="Calibri" pitchFamily="34" charset="-120"/>
                        </a:rPr>
                        <a:t>Scripts and chains audits · vulnerability fixes · performance optimization · practices review.</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5" name="Text 2"/>
          <p:cNvSpPr/>
          <p:nvPr/>
        </p:nvSpPr>
        <p:spPr>
          <a:xfrm>
            <a:off x="640080" y="6492240"/>
            <a:ext cx="6400800" cy="228600"/>
          </a:xfrm>
          <a:prstGeom prst="rect">
            <a:avLst/>
          </a:prstGeom>
          <a:noFill/>
          <a:ln/>
        </p:spPr>
        <p:txBody>
          <a:bodyPr wrap="square" lIns="0" tIns="0" rIns="0" bIns="0" rtlCol="0" anchor="ctr"/>
          <a:lstStyle/>
          <a:p>
            <a:pPr indent="0" marL="0">
              <a:buNone/>
            </a:pPr>
            <a:r>
              <a:rPr lang="en-US" sz="900" i="1" dirty="0">
                <a:solidFill>
                  <a:srgbClr val="9AA5A1"/>
                </a:solidFill>
                <a:latin typeface="Calibri" pitchFamily="34" charset="0"/>
                <a:ea typeface="Calibri" pitchFamily="34" charset="-122"/>
                <a:cs typeface="Calibri" pitchFamily="34" charset="-120"/>
              </a:rPr>
              <a:t>BNP Paribas Cardif · CARD Production</a:t>
            </a:r>
            <a:endParaRPr lang="en-US" sz="900" dirty="0"/>
          </a:p>
        </p:txBody>
      </p:sp>
      <p:sp>
        <p:nvSpPr>
          <p:cNvPr id="6" name="Text 3"/>
          <p:cNvSpPr/>
          <p:nvPr/>
        </p:nvSpPr>
        <p:spPr>
          <a:xfrm>
            <a:off x="8229600" y="6492240"/>
            <a:ext cx="3383280" cy="228600"/>
          </a:xfrm>
          <a:prstGeom prst="rect">
            <a:avLst/>
          </a:prstGeom>
          <a:noFill/>
          <a:ln/>
        </p:spPr>
        <p:txBody>
          <a:bodyPr wrap="square" lIns="0" tIns="0" rIns="0" bIns="0" rtlCol="0" anchor="ctr"/>
          <a:lstStyle/>
          <a:p>
            <a:pPr algn="r" indent="0" marL="0">
              <a:buNone/>
            </a:pPr>
            <a:r>
              <a:rPr lang="en-US" sz="900" dirty="0">
                <a:solidFill>
                  <a:srgbClr val="9AA5A1"/>
                </a:solidFill>
                <a:latin typeface="Calibri" pitchFamily="34" charset="0"/>
                <a:ea typeface="Calibri" pitchFamily="34" charset="-122"/>
                <a:cs typeface="Calibri" pitchFamily="34" charset="-120"/>
              </a:rPr>
              <a:t>15 · TOE</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9144000" cy="274320"/>
          </a:xfrm>
          <a:prstGeom prst="rect">
            <a:avLst/>
          </a:prstGeom>
          <a:noFill/>
          <a:ln/>
        </p:spPr>
        <p:txBody>
          <a:bodyPr wrap="square" lIns="0" tIns="0" rIns="0" bIns="0" rtlCol="0" anchor="ctr"/>
          <a:lstStyle/>
          <a:p>
            <a:pPr indent="0" marL="0">
              <a:buNone/>
            </a:pPr>
            <a:r>
              <a:rPr lang="en-US" sz="1100" b="1" spc="600" kern="0" dirty="0">
                <a:solidFill>
                  <a:srgbClr val="00915A"/>
                </a:solidFill>
                <a:latin typeface="Calibri" pitchFamily="34" charset="0"/>
                <a:ea typeface="Calibri" pitchFamily="34" charset="-122"/>
                <a:cs typeface="Calibri" pitchFamily="34" charset="-120"/>
              </a:rPr>
              <a:t>03 · TOE</a:t>
            </a:r>
            <a:endParaRPr lang="en-US" sz="1100" dirty="0"/>
          </a:p>
        </p:txBody>
      </p:sp>
      <p:sp>
        <p:nvSpPr>
          <p:cNvPr id="3" name="Text 1"/>
          <p:cNvSpPr/>
          <p:nvPr/>
        </p:nvSpPr>
        <p:spPr>
          <a:xfrm>
            <a:off x="640080" y="822960"/>
            <a:ext cx="10972800" cy="822960"/>
          </a:xfrm>
          <a:prstGeom prst="rect">
            <a:avLst/>
          </a:prstGeom>
          <a:noFill/>
          <a:ln/>
        </p:spPr>
        <p:txBody>
          <a:bodyPr wrap="square" lIns="0" tIns="0" rIns="0" bIns="0" rtlCol="0" anchor="ctr"/>
          <a:lstStyle/>
          <a:p>
            <a:pPr indent="0" marL="0">
              <a:buNone/>
            </a:pPr>
            <a:r>
              <a:rPr lang="en-US" sz="3200" b="1" dirty="0">
                <a:solidFill>
                  <a:srgbClr val="1A2E28"/>
                </a:solidFill>
                <a:latin typeface="Georgia" pitchFamily="34" charset="0"/>
                <a:ea typeface="Georgia" pitchFamily="34" charset="-122"/>
                <a:cs typeface="Georgia" pitchFamily="34" charset="-120"/>
              </a:rPr>
              <a:t>Interactions TOE · Marketplace · dMZR</a:t>
            </a:r>
            <a:endParaRPr lang="en-US" sz="3200" dirty="0"/>
          </a:p>
        </p:txBody>
      </p:sp>
      <p:sp>
        <p:nvSpPr>
          <p:cNvPr id="4" name="Shape 2"/>
          <p:cNvSpPr/>
          <p:nvPr/>
        </p:nvSpPr>
        <p:spPr>
          <a:xfrm>
            <a:off x="5180076" y="1645920"/>
            <a:ext cx="1828800" cy="1828800"/>
          </a:xfrm>
          <a:prstGeom prst="ellipse">
            <a:avLst/>
          </a:prstGeom>
          <a:solidFill>
            <a:srgbClr val="00915A"/>
          </a:solidFill>
          <a:ln w="12700">
            <a:solidFill>
              <a:srgbClr val="00915A"/>
            </a:solidFill>
            <a:prstDash val="solid"/>
          </a:ln>
        </p:spPr>
      </p:sp>
      <p:sp>
        <p:nvSpPr>
          <p:cNvPr id="5" name="Text 3"/>
          <p:cNvSpPr/>
          <p:nvPr/>
        </p:nvSpPr>
        <p:spPr>
          <a:xfrm>
            <a:off x="5180076" y="2240280"/>
            <a:ext cx="182880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TOE</a:t>
            </a:r>
            <a:endParaRPr lang="en-US" sz="2000" dirty="0"/>
          </a:p>
        </p:txBody>
      </p:sp>
      <p:sp>
        <p:nvSpPr>
          <p:cNvPr id="6" name="Text 4"/>
          <p:cNvSpPr/>
          <p:nvPr/>
        </p:nvSpPr>
        <p:spPr>
          <a:xfrm>
            <a:off x="5180076" y="2651760"/>
            <a:ext cx="1828800" cy="320040"/>
          </a:xfrm>
          <a:prstGeom prst="rect">
            <a:avLst/>
          </a:prstGeom>
          <a:noFill/>
          <a:ln/>
        </p:spPr>
        <p:txBody>
          <a:bodyPr wrap="square" lIns="0" tIns="0" rIns="0" bIns="0" rtlCol="0" anchor="ctr"/>
          <a:lstStyle/>
          <a:p>
            <a:pPr algn="ctr" indent="0" marL="0">
              <a:buNone/>
            </a:pPr>
            <a:r>
              <a:rPr lang="en-US" sz="1000" i="1" dirty="0">
                <a:solidFill>
                  <a:srgbClr val="D9E8E1"/>
                </a:solidFill>
                <a:latin typeface="Calibri" pitchFamily="34" charset="0"/>
                <a:ea typeface="Calibri" pitchFamily="34" charset="-122"/>
                <a:cs typeface="Calibri" pitchFamily="34" charset="-120"/>
              </a:rPr>
              <a:t>Expertise &amp; foundation</a:t>
            </a:r>
            <a:endParaRPr lang="en-US" sz="1000" dirty="0"/>
          </a:p>
        </p:txBody>
      </p:sp>
      <p:sp>
        <p:nvSpPr>
          <p:cNvPr id="7" name="Shape 5"/>
          <p:cNvSpPr/>
          <p:nvPr/>
        </p:nvSpPr>
        <p:spPr>
          <a:xfrm>
            <a:off x="2103120" y="4023360"/>
            <a:ext cx="1828800" cy="1828800"/>
          </a:xfrm>
          <a:prstGeom prst="ellipse">
            <a:avLst/>
          </a:prstGeom>
          <a:solidFill>
            <a:srgbClr val="00653F"/>
          </a:solidFill>
          <a:ln w="12700">
            <a:solidFill>
              <a:srgbClr val="00653F"/>
            </a:solidFill>
            <a:prstDash val="solid"/>
          </a:ln>
        </p:spPr>
      </p:sp>
      <p:sp>
        <p:nvSpPr>
          <p:cNvPr id="8" name="Text 6"/>
          <p:cNvSpPr/>
          <p:nvPr/>
        </p:nvSpPr>
        <p:spPr>
          <a:xfrm>
            <a:off x="2103120" y="4617720"/>
            <a:ext cx="182880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Marketplace</a:t>
            </a:r>
            <a:endParaRPr lang="en-US" sz="2000" dirty="0"/>
          </a:p>
        </p:txBody>
      </p:sp>
      <p:sp>
        <p:nvSpPr>
          <p:cNvPr id="9" name="Text 7"/>
          <p:cNvSpPr/>
          <p:nvPr/>
        </p:nvSpPr>
        <p:spPr>
          <a:xfrm>
            <a:off x="2103120" y="5029200"/>
            <a:ext cx="1828800" cy="320040"/>
          </a:xfrm>
          <a:prstGeom prst="rect">
            <a:avLst/>
          </a:prstGeom>
          <a:noFill/>
          <a:ln/>
        </p:spPr>
        <p:txBody>
          <a:bodyPr wrap="square" lIns="0" tIns="0" rIns="0" bIns="0" rtlCol="0" anchor="ctr"/>
          <a:lstStyle/>
          <a:p>
            <a:pPr algn="ctr" indent="0" marL="0">
              <a:buNone/>
            </a:pPr>
            <a:r>
              <a:rPr lang="en-US" sz="1000" i="1" dirty="0">
                <a:solidFill>
                  <a:srgbClr val="D9E8E1"/>
                </a:solidFill>
                <a:latin typeface="Calibri" pitchFamily="34" charset="0"/>
                <a:ea typeface="Calibri" pitchFamily="34" charset="-122"/>
                <a:cs typeface="Calibri" pitchFamily="34" charset="-120"/>
              </a:rPr>
              <a:t>Offers &amp; rights</a:t>
            </a:r>
            <a:endParaRPr lang="en-US" sz="1000" dirty="0"/>
          </a:p>
        </p:txBody>
      </p:sp>
      <p:sp>
        <p:nvSpPr>
          <p:cNvPr id="10" name="Shape 8"/>
          <p:cNvSpPr/>
          <p:nvPr/>
        </p:nvSpPr>
        <p:spPr>
          <a:xfrm>
            <a:off x="8257032" y="4023360"/>
            <a:ext cx="1828800" cy="1828800"/>
          </a:xfrm>
          <a:prstGeom prst="ellipse">
            <a:avLst/>
          </a:prstGeom>
          <a:solidFill>
            <a:srgbClr val="003A2B"/>
          </a:solidFill>
          <a:ln w="12700">
            <a:solidFill>
              <a:srgbClr val="003A2B"/>
            </a:solidFill>
            <a:prstDash val="solid"/>
          </a:ln>
        </p:spPr>
      </p:sp>
      <p:sp>
        <p:nvSpPr>
          <p:cNvPr id="11" name="Text 9"/>
          <p:cNvSpPr/>
          <p:nvPr/>
        </p:nvSpPr>
        <p:spPr>
          <a:xfrm>
            <a:off x="8257032" y="4617720"/>
            <a:ext cx="182880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dMZR</a:t>
            </a:r>
            <a:endParaRPr lang="en-US" sz="2000" dirty="0"/>
          </a:p>
        </p:txBody>
      </p:sp>
      <p:sp>
        <p:nvSpPr>
          <p:cNvPr id="12" name="Text 10"/>
          <p:cNvSpPr/>
          <p:nvPr/>
        </p:nvSpPr>
        <p:spPr>
          <a:xfrm>
            <a:off x="8257032" y="5029200"/>
            <a:ext cx="1828800" cy="320040"/>
          </a:xfrm>
          <a:prstGeom prst="rect">
            <a:avLst/>
          </a:prstGeom>
          <a:noFill/>
          <a:ln/>
        </p:spPr>
        <p:txBody>
          <a:bodyPr wrap="square" lIns="0" tIns="0" rIns="0" bIns="0" rtlCol="0" anchor="ctr"/>
          <a:lstStyle/>
          <a:p>
            <a:pPr algn="ctr" indent="0" marL="0">
              <a:buNone/>
            </a:pPr>
            <a:r>
              <a:rPr lang="en-US" sz="1000" i="1" dirty="0">
                <a:solidFill>
                  <a:srgbClr val="D9E8E1"/>
                </a:solidFill>
                <a:latin typeface="Calibri" pitchFamily="34" charset="0"/>
                <a:ea typeface="Calibri" pitchFamily="34" charset="-122"/>
                <a:cs typeface="Calibri" pitchFamily="34" charset="-120"/>
              </a:rPr>
              <a:t>Platform</a:t>
            </a:r>
            <a:endParaRPr lang="en-US" sz="1000" dirty="0"/>
          </a:p>
        </p:txBody>
      </p:sp>
      <p:sp>
        <p:nvSpPr>
          <p:cNvPr id="13" name="Shape 11"/>
          <p:cNvSpPr/>
          <p:nvPr/>
        </p:nvSpPr>
        <p:spPr>
          <a:xfrm>
            <a:off x="5317236" y="3063240"/>
            <a:ext cx="-1522476" cy="1371600"/>
          </a:xfrm>
          <a:prstGeom prst="line">
            <a:avLst/>
          </a:prstGeom>
          <a:noFill/>
          <a:ln w="25400">
            <a:solidFill>
              <a:srgbClr val="D4A840"/>
            </a:solidFill>
            <a:prstDash val="solid"/>
          </a:ln>
        </p:spPr>
      </p:sp>
      <p:sp>
        <p:nvSpPr>
          <p:cNvPr id="14" name="Shape 12"/>
          <p:cNvSpPr/>
          <p:nvPr/>
        </p:nvSpPr>
        <p:spPr>
          <a:xfrm>
            <a:off x="6871716" y="3063240"/>
            <a:ext cx="1522476" cy="1371600"/>
          </a:xfrm>
          <a:prstGeom prst="line">
            <a:avLst/>
          </a:prstGeom>
          <a:noFill/>
          <a:ln w="25400">
            <a:solidFill>
              <a:srgbClr val="D4A840"/>
            </a:solidFill>
            <a:prstDash val="solid"/>
          </a:ln>
        </p:spPr>
      </p:sp>
      <p:sp>
        <p:nvSpPr>
          <p:cNvPr id="15" name="Shape 13"/>
          <p:cNvSpPr/>
          <p:nvPr/>
        </p:nvSpPr>
        <p:spPr>
          <a:xfrm>
            <a:off x="3931920" y="4937760"/>
            <a:ext cx="4325112" cy="0"/>
          </a:xfrm>
          <a:prstGeom prst="line">
            <a:avLst/>
          </a:prstGeom>
          <a:noFill/>
          <a:ln w="25400">
            <a:solidFill>
              <a:srgbClr val="D4A840"/>
            </a:solidFill>
            <a:prstDash val="solid"/>
          </a:ln>
        </p:spPr>
      </p:sp>
      <p:sp>
        <p:nvSpPr>
          <p:cNvPr id="16" name="Text 14"/>
          <p:cNvSpPr/>
          <p:nvPr/>
        </p:nvSpPr>
        <p:spPr>
          <a:xfrm>
            <a:off x="3474720" y="3429000"/>
            <a:ext cx="2286000" cy="274320"/>
          </a:xfrm>
          <a:prstGeom prst="rect">
            <a:avLst/>
          </a:prstGeom>
          <a:noFill/>
          <a:ln/>
        </p:spPr>
        <p:txBody>
          <a:bodyPr wrap="square" lIns="0" tIns="0" rIns="0" bIns="0" rtlCol="0" anchor="ctr"/>
          <a:lstStyle/>
          <a:p>
            <a:pPr algn="ctr" indent="0" marL="0">
              <a:buNone/>
            </a:pPr>
            <a:r>
              <a:rPr lang="en-US" sz="1100" i="1" dirty="0">
                <a:solidFill>
                  <a:srgbClr val="6B7B78"/>
                </a:solidFill>
                <a:latin typeface="Calibri" pitchFamily="34" charset="0"/>
                <a:ea typeface="Calibri" pitchFamily="34" charset="-122"/>
                <a:cs typeface="Calibri" pitchFamily="34" charset="-120"/>
              </a:rPr>
              <a:t>publishes offers</a:t>
            </a:r>
            <a:endParaRPr lang="en-US" sz="1100" dirty="0"/>
          </a:p>
        </p:txBody>
      </p:sp>
      <p:sp>
        <p:nvSpPr>
          <p:cNvPr id="17" name="Text 15"/>
          <p:cNvSpPr/>
          <p:nvPr/>
        </p:nvSpPr>
        <p:spPr>
          <a:xfrm>
            <a:off x="6400800" y="3429000"/>
            <a:ext cx="2286000" cy="274320"/>
          </a:xfrm>
          <a:prstGeom prst="rect">
            <a:avLst/>
          </a:prstGeom>
          <a:noFill/>
          <a:ln/>
        </p:spPr>
        <p:txBody>
          <a:bodyPr wrap="square" lIns="0" tIns="0" rIns="0" bIns="0" rtlCol="0" anchor="ctr"/>
          <a:lstStyle/>
          <a:p>
            <a:pPr algn="ctr" indent="0" marL="0">
              <a:buNone/>
            </a:pPr>
            <a:r>
              <a:rPr lang="en-US" sz="1100" i="1" dirty="0">
                <a:solidFill>
                  <a:srgbClr val="6B7B78"/>
                </a:solidFill>
                <a:latin typeface="Calibri" pitchFamily="34" charset="0"/>
                <a:ea typeface="Calibri" pitchFamily="34" charset="-122"/>
                <a:cs typeface="Calibri" pitchFamily="34" charset="-120"/>
              </a:rPr>
              <a:t>operates on</a:t>
            </a:r>
            <a:endParaRPr lang="en-US" sz="1100" dirty="0"/>
          </a:p>
        </p:txBody>
      </p:sp>
      <p:sp>
        <p:nvSpPr>
          <p:cNvPr id="18" name="Text 16"/>
          <p:cNvSpPr/>
          <p:nvPr/>
        </p:nvSpPr>
        <p:spPr>
          <a:xfrm>
            <a:off x="4846320" y="4773168"/>
            <a:ext cx="2468880" cy="274320"/>
          </a:xfrm>
          <a:prstGeom prst="rect">
            <a:avLst/>
          </a:prstGeom>
          <a:noFill/>
          <a:ln/>
        </p:spPr>
        <p:txBody>
          <a:bodyPr wrap="square" lIns="0" tIns="0" rIns="0" bIns="0" rtlCol="0" anchor="ctr"/>
          <a:lstStyle/>
          <a:p>
            <a:pPr algn="ctr" indent="0" marL="0">
              <a:buNone/>
            </a:pPr>
            <a:r>
              <a:rPr lang="en-US" sz="1100" i="1" dirty="0">
                <a:solidFill>
                  <a:srgbClr val="FFFFFF"/>
                </a:solidFill>
                <a:latin typeface="Calibri" pitchFamily="34" charset="0"/>
                <a:ea typeface="Calibri" pitchFamily="34" charset="-122"/>
                <a:cs typeface="Calibri" pitchFamily="34" charset="-120"/>
              </a:rPr>
              <a:t>deploys via</a:t>
            </a:r>
            <a:endParaRPr lang="en-US" sz="1100" dirty="0"/>
          </a:p>
        </p:txBody>
      </p:sp>
      <p:sp>
        <p:nvSpPr>
          <p:cNvPr id="19" name="Shape 17"/>
          <p:cNvSpPr/>
          <p:nvPr/>
        </p:nvSpPr>
        <p:spPr>
          <a:xfrm>
            <a:off x="5074920" y="4800600"/>
            <a:ext cx="2011680" cy="228600"/>
          </a:xfrm>
          <a:prstGeom prst="rect">
            <a:avLst/>
          </a:prstGeom>
          <a:solidFill>
            <a:srgbClr val="FFFFFF"/>
          </a:solidFill>
          <a:ln w="12700">
            <a:solidFill>
              <a:srgbClr val="FFFFFF"/>
            </a:solidFill>
            <a:prstDash val="solid"/>
          </a:ln>
        </p:spPr>
      </p:sp>
      <p:sp>
        <p:nvSpPr>
          <p:cNvPr id="20" name="Text 18"/>
          <p:cNvSpPr/>
          <p:nvPr/>
        </p:nvSpPr>
        <p:spPr>
          <a:xfrm>
            <a:off x="5074920" y="4773168"/>
            <a:ext cx="2011680" cy="274320"/>
          </a:xfrm>
          <a:prstGeom prst="rect">
            <a:avLst/>
          </a:prstGeom>
          <a:noFill/>
          <a:ln/>
        </p:spPr>
        <p:txBody>
          <a:bodyPr wrap="square" lIns="0" tIns="0" rIns="0" bIns="0" rtlCol="0" anchor="ctr"/>
          <a:lstStyle/>
          <a:p>
            <a:pPr algn="ctr" indent="0" marL="0">
              <a:buNone/>
            </a:pPr>
            <a:r>
              <a:rPr lang="en-US" sz="1100" i="1" dirty="0">
                <a:solidFill>
                  <a:srgbClr val="6B7B78"/>
                </a:solidFill>
                <a:latin typeface="Calibri" pitchFamily="34" charset="0"/>
                <a:ea typeface="Calibri" pitchFamily="34" charset="-122"/>
                <a:cs typeface="Calibri" pitchFamily="34" charset="-120"/>
              </a:rPr>
              <a:t>deploys via</a:t>
            </a:r>
            <a:endParaRPr lang="en-US" sz="1100" dirty="0"/>
          </a:p>
        </p:txBody>
      </p:sp>
      <p:sp>
        <p:nvSpPr>
          <p:cNvPr id="21" name="Text 19"/>
          <p:cNvSpPr/>
          <p:nvPr/>
        </p:nvSpPr>
        <p:spPr>
          <a:xfrm>
            <a:off x="640080" y="5989320"/>
            <a:ext cx="10972800" cy="457200"/>
          </a:xfrm>
          <a:prstGeom prst="rect">
            <a:avLst/>
          </a:prstGeom>
          <a:noFill/>
          <a:ln/>
        </p:spPr>
        <p:txBody>
          <a:bodyPr wrap="square" lIns="0" tIns="0" rIns="0" bIns="0" rtlCol="0" anchor="ctr"/>
          <a:lstStyle/>
          <a:p>
            <a:pPr algn="ctr" indent="0" marL="0">
              <a:lnSpc>
                <a:spcPct val="130000"/>
              </a:lnSpc>
              <a:buNone/>
            </a:pPr>
            <a:r>
              <a:rPr lang="en-US" sz="1100" i="1" dirty="0">
                <a:solidFill>
                  <a:srgbClr val="6B7B78"/>
                </a:solidFill>
                <a:latin typeface="Georgia" pitchFamily="34" charset="0"/>
                <a:ea typeface="Georgia" pitchFamily="34" charset="-122"/>
                <a:cs typeface="Georgia" pitchFamily="34" charset="-120"/>
              </a:rPr>
              <a:t>The TOE consumes the Marketplace for its own needs and to tool transverse applications. It produces building blocks (toolchains, templates, kits) that it publishes. It operates daily on the dMZR, the natural contact point between application teams and the platform.</a:t>
            </a:r>
            <a:endParaRPr lang="en-US" sz="1100" dirty="0"/>
          </a:p>
        </p:txBody>
      </p:sp>
      <p:sp>
        <p:nvSpPr>
          <p:cNvPr id="22" name="Text 20"/>
          <p:cNvSpPr/>
          <p:nvPr/>
        </p:nvSpPr>
        <p:spPr>
          <a:xfrm>
            <a:off x="640080" y="6492240"/>
            <a:ext cx="6400800" cy="228600"/>
          </a:xfrm>
          <a:prstGeom prst="rect">
            <a:avLst/>
          </a:prstGeom>
          <a:noFill/>
          <a:ln/>
        </p:spPr>
        <p:txBody>
          <a:bodyPr wrap="square" lIns="0" tIns="0" rIns="0" bIns="0" rtlCol="0" anchor="ctr"/>
          <a:lstStyle/>
          <a:p>
            <a:pPr indent="0" marL="0">
              <a:buNone/>
            </a:pPr>
            <a:r>
              <a:rPr lang="en-US" sz="900" i="1" dirty="0">
                <a:solidFill>
                  <a:srgbClr val="9AA5A1"/>
                </a:solidFill>
                <a:latin typeface="Calibri" pitchFamily="34" charset="0"/>
                <a:ea typeface="Calibri" pitchFamily="34" charset="-122"/>
                <a:cs typeface="Calibri" pitchFamily="34" charset="-120"/>
              </a:rPr>
              <a:t>BNP Paribas Cardif · CARD Production</a:t>
            </a:r>
            <a:endParaRPr lang="en-US" sz="900" dirty="0"/>
          </a:p>
        </p:txBody>
      </p:sp>
      <p:sp>
        <p:nvSpPr>
          <p:cNvPr id="23" name="Text 21"/>
          <p:cNvSpPr/>
          <p:nvPr/>
        </p:nvSpPr>
        <p:spPr>
          <a:xfrm>
            <a:off x="8229600" y="6492240"/>
            <a:ext cx="3383280" cy="228600"/>
          </a:xfrm>
          <a:prstGeom prst="rect">
            <a:avLst/>
          </a:prstGeom>
          <a:noFill/>
          <a:ln/>
        </p:spPr>
        <p:txBody>
          <a:bodyPr wrap="square" lIns="0" tIns="0" rIns="0" bIns="0" rtlCol="0" anchor="ctr"/>
          <a:lstStyle/>
          <a:p>
            <a:pPr algn="r" indent="0" marL="0">
              <a:buNone/>
            </a:pPr>
            <a:r>
              <a:rPr lang="en-US" sz="900" dirty="0">
                <a:solidFill>
                  <a:srgbClr val="9AA5A1"/>
                </a:solidFill>
                <a:latin typeface="Calibri" pitchFamily="34" charset="0"/>
                <a:ea typeface="Calibri" pitchFamily="34" charset="-122"/>
                <a:cs typeface="Calibri" pitchFamily="34" charset="-120"/>
              </a:rPr>
              <a:t>16 · TOE</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9144000" cy="274320"/>
          </a:xfrm>
          <a:prstGeom prst="rect">
            <a:avLst/>
          </a:prstGeom>
          <a:noFill/>
          <a:ln/>
        </p:spPr>
        <p:txBody>
          <a:bodyPr wrap="square" lIns="0" tIns="0" rIns="0" bIns="0" rtlCol="0" anchor="ctr"/>
          <a:lstStyle/>
          <a:p>
            <a:pPr indent="0" marL="0">
              <a:buNone/>
            </a:pPr>
            <a:r>
              <a:rPr lang="en-US" sz="1100" b="1" spc="600" kern="0" dirty="0">
                <a:solidFill>
                  <a:srgbClr val="00915A"/>
                </a:solidFill>
                <a:latin typeface="Calibri" pitchFamily="34" charset="0"/>
                <a:ea typeface="Calibri" pitchFamily="34" charset="-122"/>
                <a:cs typeface="Calibri" pitchFamily="34" charset="-120"/>
              </a:rPr>
              <a:t>AGENDA</a:t>
            </a:r>
            <a:endParaRPr lang="en-US" sz="1100" dirty="0"/>
          </a:p>
        </p:txBody>
      </p:sp>
      <p:sp>
        <p:nvSpPr>
          <p:cNvPr id="3" name="Text 1"/>
          <p:cNvSpPr/>
          <p:nvPr/>
        </p:nvSpPr>
        <p:spPr>
          <a:xfrm>
            <a:off x="640080" y="822960"/>
            <a:ext cx="10972800" cy="822960"/>
          </a:xfrm>
          <a:prstGeom prst="rect">
            <a:avLst/>
          </a:prstGeom>
          <a:noFill/>
          <a:ln/>
        </p:spPr>
        <p:txBody>
          <a:bodyPr wrap="square" lIns="0" tIns="0" rIns="0" bIns="0" rtlCol="0" anchor="ctr"/>
          <a:lstStyle/>
          <a:p>
            <a:pPr indent="0" marL="0">
              <a:buNone/>
            </a:pPr>
            <a:r>
              <a:rPr lang="en-US" sz="3200" b="1" dirty="0">
                <a:solidFill>
                  <a:srgbClr val="1A2E28"/>
                </a:solidFill>
                <a:latin typeface="Georgia" pitchFamily="34" charset="0"/>
                <a:ea typeface="Georgia" pitchFamily="34" charset="-122"/>
                <a:cs typeface="Georgia" pitchFamily="34" charset="-120"/>
              </a:rPr>
              <a:t>Session outline · 2 hours</a:t>
            </a:r>
            <a:endParaRPr lang="en-US" sz="3200" dirty="0"/>
          </a:p>
        </p:txBody>
      </p:sp>
      <p:sp>
        <p:nvSpPr>
          <p:cNvPr id="4" name="Shape 2"/>
          <p:cNvSpPr/>
          <p:nvPr/>
        </p:nvSpPr>
        <p:spPr>
          <a:xfrm>
            <a:off x="640080" y="1984248"/>
            <a:ext cx="1737360" cy="457200"/>
          </a:xfrm>
          <a:prstGeom prst="rect">
            <a:avLst/>
          </a:prstGeom>
          <a:solidFill>
            <a:srgbClr val="00915A"/>
          </a:solidFill>
          <a:ln w="12700">
            <a:solidFill>
              <a:srgbClr val="00915A"/>
            </a:solidFill>
            <a:prstDash val="solid"/>
          </a:ln>
        </p:spPr>
      </p:sp>
      <p:sp>
        <p:nvSpPr>
          <p:cNvPr id="5" name="Text 3"/>
          <p:cNvSpPr/>
          <p:nvPr/>
        </p:nvSpPr>
        <p:spPr>
          <a:xfrm>
            <a:off x="640080" y="1984248"/>
            <a:ext cx="173736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0:00 – 0:20</a:t>
            </a:r>
            <a:endParaRPr lang="en-US" sz="1300" dirty="0"/>
          </a:p>
        </p:txBody>
      </p:sp>
      <p:sp>
        <p:nvSpPr>
          <p:cNvPr id="6" name="Text 4"/>
          <p:cNvSpPr/>
          <p:nvPr/>
        </p:nvSpPr>
        <p:spPr>
          <a:xfrm>
            <a:off x="2560320" y="1920240"/>
            <a:ext cx="8961120" cy="365760"/>
          </a:xfrm>
          <a:prstGeom prst="rect">
            <a:avLst/>
          </a:prstGeom>
          <a:noFill/>
          <a:ln/>
        </p:spPr>
        <p:txBody>
          <a:bodyPr wrap="square" lIns="0" tIns="0" rIns="0" bIns="0" rtlCol="0" anchor="ctr"/>
          <a:lstStyle/>
          <a:p>
            <a:pPr indent="0" marL="0">
              <a:buNone/>
            </a:pPr>
            <a:r>
              <a:rPr lang="en-US" sz="1800" b="1" dirty="0">
                <a:solidFill>
                  <a:srgbClr val="1A2E28"/>
                </a:solidFill>
                <a:latin typeface="Georgia" pitchFamily="34" charset="0"/>
                <a:ea typeface="Georgia" pitchFamily="34" charset="-122"/>
                <a:cs typeface="Georgia" pitchFamily="34" charset="-120"/>
              </a:rPr>
              <a:t>dMZR overview</a:t>
            </a:r>
            <a:endParaRPr lang="en-US" sz="1800" dirty="0"/>
          </a:p>
        </p:txBody>
      </p:sp>
      <p:sp>
        <p:nvSpPr>
          <p:cNvPr id="7" name="Text 5"/>
          <p:cNvSpPr/>
          <p:nvPr/>
        </p:nvSpPr>
        <p:spPr>
          <a:xfrm>
            <a:off x="2560320" y="2258568"/>
            <a:ext cx="8961120" cy="320040"/>
          </a:xfrm>
          <a:prstGeom prst="rect">
            <a:avLst/>
          </a:prstGeom>
          <a:noFill/>
          <a:ln/>
        </p:spPr>
        <p:txBody>
          <a:bodyPr wrap="square" lIns="0" tIns="0" rIns="0" bIns="0" rtlCol="0" anchor="ctr"/>
          <a:lstStyle/>
          <a:p>
            <a:pPr indent="0" marL="0">
              <a:buNone/>
            </a:pPr>
            <a:r>
              <a:rPr lang="en-US" sz="1200" dirty="0">
                <a:solidFill>
                  <a:srgbClr val="6B7B78"/>
                </a:solidFill>
                <a:latin typeface="Calibri" pitchFamily="34" charset="0"/>
                <a:ea typeface="Calibri" pitchFamily="34" charset="-122"/>
                <a:cs typeface="Calibri" pitchFamily="34" charset="-120"/>
              </a:rPr>
              <a:t>Architecture, zones, managed services, link with FS Cloud.</a:t>
            </a:r>
            <a:endParaRPr lang="en-US" sz="1200" dirty="0"/>
          </a:p>
        </p:txBody>
      </p:sp>
      <p:sp>
        <p:nvSpPr>
          <p:cNvPr id="8" name="Shape 6"/>
          <p:cNvSpPr/>
          <p:nvPr/>
        </p:nvSpPr>
        <p:spPr>
          <a:xfrm>
            <a:off x="640080" y="2679192"/>
            <a:ext cx="10972800" cy="0"/>
          </a:xfrm>
          <a:prstGeom prst="line">
            <a:avLst/>
          </a:prstGeom>
          <a:noFill/>
          <a:ln w="6350">
            <a:solidFill>
              <a:srgbClr val="E2E8F0"/>
            </a:solidFill>
            <a:prstDash val="solid"/>
          </a:ln>
        </p:spPr>
      </p:sp>
      <p:sp>
        <p:nvSpPr>
          <p:cNvPr id="9" name="Shape 7"/>
          <p:cNvSpPr/>
          <p:nvPr/>
        </p:nvSpPr>
        <p:spPr>
          <a:xfrm>
            <a:off x="640080" y="2788920"/>
            <a:ext cx="1737360" cy="457200"/>
          </a:xfrm>
          <a:prstGeom prst="rect">
            <a:avLst/>
          </a:prstGeom>
          <a:solidFill>
            <a:srgbClr val="00915A"/>
          </a:solidFill>
          <a:ln w="12700">
            <a:solidFill>
              <a:srgbClr val="00915A"/>
            </a:solidFill>
            <a:prstDash val="solid"/>
          </a:ln>
        </p:spPr>
      </p:sp>
      <p:sp>
        <p:nvSpPr>
          <p:cNvPr id="10" name="Text 8"/>
          <p:cNvSpPr/>
          <p:nvPr/>
        </p:nvSpPr>
        <p:spPr>
          <a:xfrm>
            <a:off x="640080" y="2788920"/>
            <a:ext cx="173736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0:20 – 0:50</a:t>
            </a:r>
            <a:endParaRPr lang="en-US" sz="1300" dirty="0"/>
          </a:p>
        </p:txBody>
      </p:sp>
      <p:sp>
        <p:nvSpPr>
          <p:cNvPr id="11" name="Text 9"/>
          <p:cNvSpPr/>
          <p:nvPr/>
        </p:nvSpPr>
        <p:spPr>
          <a:xfrm>
            <a:off x="2560320" y="2724912"/>
            <a:ext cx="8961120" cy="365760"/>
          </a:xfrm>
          <a:prstGeom prst="rect">
            <a:avLst/>
          </a:prstGeom>
          <a:noFill/>
          <a:ln/>
        </p:spPr>
        <p:txBody>
          <a:bodyPr wrap="square" lIns="0" tIns="0" rIns="0" bIns="0" rtlCol="0" anchor="ctr"/>
          <a:lstStyle/>
          <a:p>
            <a:pPr indent="0" marL="0">
              <a:buNone/>
            </a:pPr>
            <a:r>
              <a:rPr lang="en-US" sz="1800" b="1" dirty="0">
                <a:solidFill>
                  <a:srgbClr val="1A2E28"/>
                </a:solidFill>
                <a:latin typeface="Georgia" pitchFamily="34" charset="0"/>
                <a:ea typeface="Georgia" pitchFamily="34" charset="-122"/>
                <a:cs typeface="Georgia" pitchFamily="34" charset="-120"/>
              </a:rPr>
              <a:t>IT Marketplace</a:t>
            </a:r>
            <a:endParaRPr lang="en-US" sz="1800" dirty="0"/>
          </a:p>
        </p:txBody>
      </p:sp>
      <p:sp>
        <p:nvSpPr>
          <p:cNvPr id="12" name="Text 10"/>
          <p:cNvSpPr/>
          <p:nvPr/>
        </p:nvSpPr>
        <p:spPr>
          <a:xfrm>
            <a:off x="2560320" y="3063240"/>
            <a:ext cx="8961120" cy="320040"/>
          </a:xfrm>
          <a:prstGeom prst="rect">
            <a:avLst/>
          </a:prstGeom>
          <a:noFill/>
          <a:ln/>
        </p:spPr>
        <p:txBody>
          <a:bodyPr wrap="square" lIns="0" tIns="0" rIns="0" bIns="0" rtlCol="0" anchor="ctr"/>
          <a:lstStyle/>
          <a:p>
            <a:pPr indent="0" marL="0">
              <a:buNone/>
            </a:pPr>
            <a:r>
              <a:rPr lang="en-US" sz="1200" dirty="0">
                <a:solidFill>
                  <a:srgbClr val="6B7B78"/>
                </a:solidFill>
                <a:latin typeface="Calibri" pitchFamily="34" charset="0"/>
                <a:ea typeface="Calibri" pitchFamily="34" charset="-122"/>
                <a:cs typeface="Calibri" pitchFamily="34" charset="-120"/>
              </a:rPr>
              <a:t>Role, actors (producers / consumers), order lifecycle.</a:t>
            </a:r>
            <a:endParaRPr lang="en-US" sz="1200" dirty="0"/>
          </a:p>
        </p:txBody>
      </p:sp>
      <p:sp>
        <p:nvSpPr>
          <p:cNvPr id="13" name="Shape 11"/>
          <p:cNvSpPr/>
          <p:nvPr/>
        </p:nvSpPr>
        <p:spPr>
          <a:xfrm>
            <a:off x="640080" y="3483864"/>
            <a:ext cx="10972800" cy="0"/>
          </a:xfrm>
          <a:prstGeom prst="line">
            <a:avLst/>
          </a:prstGeom>
          <a:noFill/>
          <a:ln w="6350">
            <a:solidFill>
              <a:srgbClr val="E2E8F0"/>
            </a:solidFill>
            <a:prstDash val="solid"/>
          </a:ln>
        </p:spPr>
      </p:sp>
      <p:sp>
        <p:nvSpPr>
          <p:cNvPr id="14" name="Shape 12"/>
          <p:cNvSpPr/>
          <p:nvPr/>
        </p:nvSpPr>
        <p:spPr>
          <a:xfrm>
            <a:off x="640080" y="3593592"/>
            <a:ext cx="1737360" cy="457200"/>
          </a:xfrm>
          <a:prstGeom prst="rect">
            <a:avLst/>
          </a:prstGeom>
          <a:solidFill>
            <a:srgbClr val="00915A"/>
          </a:solidFill>
          <a:ln w="12700">
            <a:solidFill>
              <a:srgbClr val="00915A"/>
            </a:solidFill>
            <a:prstDash val="solid"/>
          </a:ln>
        </p:spPr>
      </p:sp>
      <p:sp>
        <p:nvSpPr>
          <p:cNvPr id="15" name="Text 13"/>
          <p:cNvSpPr/>
          <p:nvPr/>
        </p:nvSpPr>
        <p:spPr>
          <a:xfrm>
            <a:off x="640080" y="3593592"/>
            <a:ext cx="173736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0:50 – 1:20</a:t>
            </a:r>
            <a:endParaRPr lang="en-US" sz="1300" dirty="0"/>
          </a:p>
        </p:txBody>
      </p:sp>
      <p:sp>
        <p:nvSpPr>
          <p:cNvPr id="16" name="Text 14"/>
          <p:cNvSpPr/>
          <p:nvPr/>
        </p:nvSpPr>
        <p:spPr>
          <a:xfrm>
            <a:off x="2560320" y="3529584"/>
            <a:ext cx="8961120" cy="365760"/>
          </a:xfrm>
          <a:prstGeom prst="rect">
            <a:avLst/>
          </a:prstGeom>
          <a:noFill/>
          <a:ln/>
        </p:spPr>
        <p:txBody>
          <a:bodyPr wrap="square" lIns="0" tIns="0" rIns="0" bIns="0" rtlCol="0" anchor="ctr"/>
          <a:lstStyle/>
          <a:p>
            <a:pPr indent="0" marL="0">
              <a:buNone/>
            </a:pPr>
            <a:r>
              <a:rPr lang="en-US" sz="1800" b="1" dirty="0">
                <a:solidFill>
                  <a:srgbClr val="1A2E28"/>
                </a:solidFill>
                <a:latin typeface="Georgia" pitchFamily="34" charset="0"/>
                <a:ea typeface="Georgia" pitchFamily="34" charset="-122"/>
                <a:cs typeface="Georgia" pitchFamily="34" charset="-120"/>
              </a:rPr>
              <a:t>IBM Ecosystems</a:t>
            </a:r>
            <a:endParaRPr lang="en-US" sz="1800" dirty="0"/>
          </a:p>
        </p:txBody>
      </p:sp>
      <p:sp>
        <p:nvSpPr>
          <p:cNvPr id="17" name="Text 15"/>
          <p:cNvSpPr/>
          <p:nvPr/>
        </p:nvSpPr>
        <p:spPr>
          <a:xfrm>
            <a:off x="2560320" y="3867912"/>
            <a:ext cx="8961120" cy="320040"/>
          </a:xfrm>
          <a:prstGeom prst="rect">
            <a:avLst/>
          </a:prstGeom>
          <a:noFill/>
          <a:ln/>
        </p:spPr>
        <p:txBody>
          <a:bodyPr wrap="square" lIns="0" tIns="0" rIns="0" bIns="0" rtlCol="0" anchor="ctr"/>
          <a:lstStyle/>
          <a:p>
            <a:pPr indent="0" marL="0">
              <a:buNone/>
            </a:pPr>
            <a:r>
              <a:rPr lang="en-US" sz="1200" dirty="0">
                <a:solidFill>
                  <a:srgbClr val="6B7B78"/>
                </a:solidFill>
                <a:latin typeface="Calibri" pitchFamily="34" charset="0"/>
                <a:ea typeface="Calibri" pitchFamily="34" charset="-122"/>
                <a:cs typeface="Calibri" pitchFamily="34" charset="-120"/>
              </a:rPr>
              <a:t>Segmentation, attachment, rights, financial governance.</a:t>
            </a:r>
            <a:endParaRPr lang="en-US" sz="1200" dirty="0"/>
          </a:p>
        </p:txBody>
      </p:sp>
      <p:sp>
        <p:nvSpPr>
          <p:cNvPr id="18" name="Shape 16"/>
          <p:cNvSpPr/>
          <p:nvPr/>
        </p:nvSpPr>
        <p:spPr>
          <a:xfrm>
            <a:off x="640080" y="4288536"/>
            <a:ext cx="10972800" cy="0"/>
          </a:xfrm>
          <a:prstGeom prst="line">
            <a:avLst/>
          </a:prstGeom>
          <a:noFill/>
          <a:ln w="6350">
            <a:solidFill>
              <a:srgbClr val="E2E8F0"/>
            </a:solidFill>
            <a:prstDash val="solid"/>
          </a:ln>
        </p:spPr>
      </p:sp>
      <p:sp>
        <p:nvSpPr>
          <p:cNvPr id="19" name="Shape 17"/>
          <p:cNvSpPr/>
          <p:nvPr/>
        </p:nvSpPr>
        <p:spPr>
          <a:xfrm>
            <a:off x="640080" y="4398264"/>
            <a:ext cx="1737360" cy="457200"/>
          </a:xfrm>
          <a:prstGeom prst="rect">
            <a:avLst/>
          </a:prstGeom>
          <a:solidFill>
            <a:srgbClr val="00915A"/>
          </a:solidFill>
          <a:ln w="12700">
            <a:solidFill>
              <a:srgbClr val="00915A"/>
            </a:solidFill>
            <a:prstDash val="solid"/>
          </a:ln>
        </p:spPr>
      </p:sp>
      <p:sp>
        <p:nvSpPr>
          <p:cNvPr id="20" name="Text 18"/>
          <p:cNvSpPr/>
          <p:nvPr/>
        </p:nvSpPr>
        <p:spPr>
          <a:xfrm>
            <a:off x="640080" y="4398264"/>
            <a:ext cx="173736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1:20 – 1:45</a:t>
            </a:r>
            <a:endParaRPr lang="en-US" sz="1300" dirty="0"/>
          </a:p>
        </p:txBody>
      </p:sp>
      <p:sp>
        <p:nvSpPr>
          <p:cNvPr id="21" name="Text 19"/>
          <p:cNvSpPr/>
          <p:nvPr/>
        </p:nvSpPr>
        <p:spPr>
          <a:xfrm>
            <a:off x="2560320" y="4334256"/>
            <a:ext cx="8961120" cy="365760"/>
          </a:xfrm>
          <a:prstGeom prst="rect">
            <a:avLst/>
          </a:prstGeom>
          <a:noFill/>
          <a:ln/>
        </p:spPr>
        <p:txBody>
          <a:bodyPr wrap="square" lIns="0" tIns="0" rIns="0" bIns="0" rtlCol="0" anchor="ctr"/>
          <a:lstStyle/>
          <a:p>
            <a:pPr indent="0" marL="0">
              <a:buNone/>
            </a:pPr>
            <a:r>
              <a:rPr lang="en-US" sz="1800" b="1" dirty="0">
                <a:solidFill>
                  <a:srgbClr val="1A2E28"/>
                </a:solidFill>
                <a:latin typeface="Georgia" pitchFamily="34" charset="0"/>
                <a:ea typeface="Georgia" pitchFamily="34" charset="-122"/>
                <a:cs typeface="Georgia" pitchFamily="34" charset="-120"/>
              </a:rPr>
              <a:t>TOE</a:t>
            </a:r>
            <a:endParaRPr lang="en-US" sz="1800" dirty="0"/>
          </a:p>
        </p:txBody>
      </p:sp>
      <p:sp>
        <p:nvSpPr>
          <p:cNvPr id="22" name="Text 20"/>
          <p:cNvSpPr/>
          <p:nvPr/>
        </p:nvSpPr>
        <p:spPr>
          <a:xfrm>
            <a:off x="2560320" y="4672584"/>
            <a:ext cx="8961120" cy="320040"/>
          </a:xfrm>
          <a:prstGeom prst="rect">
            <a:avLst/>
          </a:prstGeom>
          <a:noFill/>
          <a:ln/>
        </p:spPr>
        <p:txBody>
          <a:bodyPr wrap="square" lIns="0" tIns="0" rIns="0" bIns="0" rtlCol="0" anchor="ctr"/>
          <a:lstStyle/>
          <a:p>
            <a:pPr indent="0" marL="0">
              <a:buNone/>
            </a:pPr>
            <a:r>
              <a:rPr lang="en-US" sz="1200" dirty="0">
                <a:solidFill>
                  <a:srgbClr val="6B7B78"/>
                </a:solidFill>
                <a:latin typeface="Calibri" pitchFamily="34" charset="0"/>
                <a:ea typeface="Calibri" pitchFamily="34" charset="-122"/>
                <a:cs typeface="Calibri" pitchFamily="34" charset="-120"/>
              </a:rPr>
              <a:t>Mission, focus areas, interactions with Marketplace and dMZR.</a:t>
            </a:r>
            <a:endParaRPr lang="en-US" sz="1200" dirty="0"/>
          </a:p>
        </p:txBody>
      </p:sp>
      <p:sp>
        <p:nvSpPr>
          <p:cNvPr id="23" name="Shape 21"/>
          <p:cNvSpPr/>
          <p:nvPr/>
        </p:nvSpPr>
        <p:spPr>
          <a:xfrm>
            <a:off x="640080" y="5093208"/>
            <a:ext cx="10972800" cy="0"/>
          </a:xfrm>
          <a:prstGeom prst="line">
            <a:avLst/>
          </a:prstGeom>
          <a:noFill/>
          <a:ln w="6350">
            <a:solidFill>
              <a:srgbClr val="E2E8F0"/>
            </a:solidFill>
            <a:prstDash val="solid"/>
          </a:ln>
        </p:spPr>
      </p:sp>
      <p:sp>
        <p:nvSpPr>
          <p:cNvPr id="24" name="Shape 22"/>
          <p:cNvSpPr/>
          <p:nvPr/>
        </p:nvSpPr>
        <p:spPr>
          <a:xfrm>
            <a:off x="640080" y="5202936"/>
            <a:ext cx="1737360" cy="457200"/>
          </a:xfrm>
          <a:prstGeom prst="rect">
            <a:avLst/>
          </a:prstGeom>
          <a:solidFill>
            <a:srgbClr val="00915A"/>
          </a:solidFill>
          <a:ln w="12700">
            <a:solidFill>
              <a:srgbClr val="00915A"/>
            </a:solidFill>
            <a:prstDash val="solid"/>
          </a:ln>
        </p:spPr>
      </p:sp>
      <p:sp>
        <p:nvSpPr>
          <p:cNvPr id="25" name="Text 23"/>
          <p:cNvSpPr/>
          <p:nvPr/>
        </p:nvSpPr>
        <p:spPr>
          <a:xfrm>
            <a:off x="640080" y="5202936"/>
            <a:ext cx="173736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1:45 – 2:00</a:t>
            </a:r>
            <a:endParaRPr lang="en-US" sz="1300" dirty="0"/>
          </a:p>
        </p:txBody>
      </p:sp>
      <p:sp>
        <p:nvSpPr>
          <p:cNvPr id="26" name="Text 24"/>
          <p:cNvSpPr/>
          <p:nvPr/>
        </p:nvSpPr>
        <p:spPr>
          <a:xfrm>
            <a:off x="2560320" y="5138928"/>
            <a:ext cx="8961120" cy="365760"/>
          </a:xfrm>
          <a:prstGeom prst="rect">
            <a:avLst/>
          </a:prstGeom>
          <a:noFill/>
          <a:ln/>
        </p:spPr>
        <p:txBody>
          <a:bodyPr wrap="square" lIns="0" tIns="0" rIns="0" bIns="0" rtlCol="0" anchor="ctr"/>
          <a:lstStyle/>
          <a:p>
            <a:pPr indent="0" marL="0">
              <a:buNone/>
            </a:pPr>
            <a:r>
              <a:rPr lang="en-US" sz="1800" b="1" dirty="0">
                <a:solidFill>
                  <a:srgbClr val="1A2E28"/>
                </a:solidFill>
                <a:latin typeface="Georgia" pitchFamily="34" charset="0"/>
                <a:ea typeface="Georgia" pitchFamily="34" charset="-122"/>
                <a:cs typeface="Georgia" pitchFamily="34" charset="-120"/>
              </a:rPr>
              <a:t>Q&amp;A and next steps</a:t>
            </a:r>
            <a:endParaRPr lang="en-US" sz="1800" dirty="0"/>
          </a:p>
        </p:txBody>
      </p:sp>
      <p:sp>
        <p:nvSpPr>
          <p:cNvPr id="27" name="Text 25"/>
          <p:cNvSpPr/>
          <p:nvPr/>
        </p:nvSpPr>
        <p:spPr>
          <a:xfrm>
            <a:off x="2560320" y="5477256"/>
            <a:ext cx="8961120" cy="320040"/>
          </a:xfrm>
          <a:prstGeom prst="rect">
            <a:avLst/>
          </a:prstGeom>
          <a:noFill/>
          <a:ln/>
        </p:spPr>
        <p:txBody>
          <a:bodyPr wrap="square" lIns="0" tIns="0" rIns="0" bIns="0" rtlCol="0" anchor="ctr"/>
          <a:lstStyle/>
          <a:p>
            <a:pPr indent="0" marL="0">
              <a:buNone/>
            </a:pPr>
            <a:r>
              <a:rPr lang="en-US" sz="1200" dirty="0">
                <a:solidFill>
                  <a:srgbClr val="6B7B78"/>
                </a:solidFill>
                <a:latin typeface="Calibri" pitchFamily="34" charset="0"/>
                <a:ea typeface="Calibri" pitchFamily="34" charset="-122"/>
                <a:cs typeface="Calibri" pitchFamily="34" charset="-120"/>
              </a:rPr>
              <a:t>Contacts, tech-buddies, knowledge base, shared backlog.</a:t>
            </a:r>
            <a:endParaRPr lang="en-US" sz="1200" dirty="0"/>
          </a:p>
        </p:txBody>
      </p:sp>
      <p:sp>
        <p:nvSpPr>
          <p:cNvPr id="28" name="Text 26"/>
          <p:cNvSpPr/>
          <p:nvPr/>
        </p:nvSpPr>
        <p:spPr>
          <a:xfrm>
            <a:off x="640080" y="6492240"/>
            <a:ext cx="6400800" cy="228600"/>
          </a:xfrm>
          <a:prstGeom prst="rect">
            <a:avLst/>
          </a:prstGeom>
          <a:noFill/>
          <a:ln/>
        </p:spPr>
        <p:txBody>
          <a:bodyPr wrap="square" lIns="0" tIns="0" rIns="0" bIns="0" rtlCol="0" anchor="ctr"/>
          <a:lstStyle/>
          <a:p>
            <a:pPr indent="0" marL="0">
              <a:buNone/>
            </a:pPr>
            <a:r>
              <a:rPr lang="en-US" sz="900" i="1" dirty="0">
                <a:solidFill>
                  <a:srgbClr val="9AA5A1"/>
                </a:solidFill>
                <a:latin typeface="Calibri" pitchFamily="34" charset="0"/>
                <a:ea typeface="Calibri" pitchFamily="34" charset="-122"/>
                <a:cs typeface="Calibri" pitchFamily="34" charset="-120"/>
              </a:rPr>
              <a:t>BNP Paribas Cardif · CARD Production</a:t>
            </a:r>
            <a:endParaRPr lang="en-US" sz="900" dirty="0"/>
          </a:p>
        </p:txBody>
      </p:sp>
      <p:sp>
        <p:nvSpPr>
          <p:cNvPr id="29" name="Text 27"/>
          <p:cNvSpPr/>
          <p:nvPr/>
        </p:nvSpPr>
        <p:spPr>
          <a:xfrm>
            <a:off x="8229600" y="6492240"/>
            <a:ext cx="3383280" cy="228600"/>
          </a:xfrm>
          <a:prstGeom prst="rect">
            <a:avLst/>
          </a:prstGeom>
          <a:noFill/>
          <a:ln/>
        </p:spPr>
        <p:txBody>
          <a:bodyPr wrap="square" lIns="0" tIns="0" rIns="0" bIns="0" rtlCol="0" anchor="ctr"/>
          <a:lstStyle/>
          <a:p>
            <a:pPr algn="r" indent="0" marL="0">
              <a:buNone/>
            </a:pPr>
            <a:r>
              <a:rPr lang="en-US" sz="900" dirty="0">
                <a:solidFill>
                  <a:srgbClr val="9AA5A1"/>
                </a:solidFill>
                <a:latin typeface="Calibri" pitchFamily="34" charset="0"/>
                <a:ea typeface="Calibri" pitchFamily="34" charset="-122"/>
                <a:cs typeface="Calibri" pitchFamily="34" charset="-120"/>
              </a:rPr>
              <a:t>17 · Agenda</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3A2B"/>
        </a:solidFill>
      </p:bgPr>
    </p:bg>
    <p:spTree>
      <p:nvGrpSpPr>
        <p:cNvPr id="1" name=""/>
        <p:cNvGrpSpPr/>
        <p:nvPr/>
      </p:nvGrpSpPr>
      <p:grpSpPr>
        <a:xfrm>
          <a:off x="0" y="0"/>
          <a:ext cx="0" cy="0"/>
          <a:chOff x="0" y="0"/>
          <a:chExt cx="0" cy="0"/>
        </a:xfrm>
      </p:grpSpPr>
      <p:sp>
        <p:nvSpPr>
          <p:cNvPr id="2" name="Shape 0"/>
          <p:cNvSpPr/>
          <p:nvPr/>
        </p:nvSpPr>
        <p:spPr>
          <a:xfrm>
            <a:off x="640080" y="2560320"/>
            <a:ext cx="548640" cy="36576"/>
          </a:xfrm>
          <a:prstGeom prst="rect">
            <a:avLst/>
          </a:prstGeom>
          <a:solidFill>
            <a:srgbClr val="D4A840"/>
          </a:solidFill>
          <a:ln w="12700">
            <a:solidFill>
              <a:srgbClr val="D4A840"/>
            </a:solidFill>
            <a:prstDash val="solid"/>
          </a:ln>
        </p:spPr>
      </p:sp>
      <p:sp>
        <p:nvSpPr>
          <p:cNvPr id="3" name="Text 1"/>
          <p:cNvSpPr/>
          <p:nvPr/>
        </p:nvSpPr>
        <p:spPr>
          <a:xfrm>
            <a:off x="640080" y="2743200"/>
            <a:ext cx="10972800" cy="1280160"/>
          </a:xfrm>
          <a:prstGeom prst="rect">
            <a:avLst/>
          </a:prstGeom>
          <a:noFill/>
          <a:ln/>
        </p:spPr>
        <p:txBody>
          <a:bodyPr wrap="square" lIns="0" tIns="0" rIns="0" bIns="0" rtlCol="0" anchor="ctr"/>
          <a:lstStyle/>
          <a:p>
            <a:pPr indent="0" marL="0">
              <a:buNone/>
            </a:pPr>
            <a:r>
              <a:rPr lang="en-US" sz="7200" b="1" dirty="0">
                <a:solidFill>
                  <a:srgbClr val="FFFFFF"/>
                </a:solidFill>
                <a:latin typeface="Georgia" pitchFamily="34" charset="0"/>
                <a:ea typeface="Georgia" pitchFamily="34" charset="-122"/>
                <a:cs typeface="Georgia" pitchFamily="34" charset="-120"/>
              </a:rPr>
              <a:t>Thank you.</a:t>
            </a:r>
            <a:endParaRPr lang="en-US" sz="7200" dirty="0"/>
          </a:p>
        </p:txBody>
      </p:sp>
      <p:sp>
        <p:nvSpPr>
          <p:cNvPr id="4" name="Text 2"/>
          <p:cNvSpPr/>
          <p:nvPr/>
        </p:nvSpPr>
        <p:spPr>
          <a:xfrm>
            <a:off x="640080" y="4023360"/>
            <a:ext cx="10972800" cy="457200"/>
          </a:xfrm>
          <a:prstGeom prst="rect">
            <a:avLst/>
          </a:prstGeom>
          <a:noFill/>
          <a:ln/>
        </p:spPr>
        <p:txBody>
          <a:bodyPr wrap="square" lIns="0" tIns="0" rIns="0" bIns="0" rtlCol="0" anchor="ctr"/>
          <a:lstStyle/>
          <a:p>
            <a:pPr indent="0" marL="0">
              <a:buNone/>
            </a:pPr>
            <a:r>
              <a:rPr lang="en-US" sz="2000" i="1" dirty="0">
                <a:solidFill>
                  <a:srgbClr val="C9D6CF"/>
                </a:solidFill>
                <a:latin typeface="Georgia" pitchFamily="34" charset="0"/>
                <a:ea typeface="Georgia" pitchFamily="34" charset="-122"/>
                <a:cs typeface="Georgia" pitchFamily="34" charset="-120"/>
              </a:rPr>
              <a:t>Questions, feedback, deep-dives.</a:t>
            </a:r>
            <a:endParaRPr lang="en-US" sz="2000" dirty="0"/>
          </a:p>
        </p:txBody>
      </p:sp>
      <p:sp>
        <p:nvSpPr>
          <p:cNvPr id="5" name="Text 3"/>
          <p:cNvSpPr/>
          <p:nvPr/>
        </p:nvSpPr>
        <p:spPr>
          <a:xfrm>
            <a:off x="640080" y="4526280"/>
            <a:ext cx="10972800" cy="365760"/>
          </a:xfrm>
          <a:prstGeom prst="rect">
            <a:avLst/>
          </a:prstGeom>
          <a:noFill/>
          <a:ln/>
        </p:spPr>
        <p:txBody>
          <a:bodyPr wrap="square" lIns="0" tIns="0" rIns="0" bIns="0" rtlCol="0" anchor="ctr"/>
          <a:lstStyle/>
          <a:p>
            <a:pPr indent="0" marL="0">
              <a:buNone/>
            </a:pPr>
            <a:r>
              <a:rPr lang="en-US" sz="1400" dirty="0">
                <a:solidFill>
                  <a:srgbClr val="A7BAB0"/>
                </a:solidFill>
                <a:latin typeface="Calibri" pitchFamily="34" charset="0"/>
                <a:ea typeface="Calibri" pitchFamily="34" charset="-122"/>
                <a:cs typeface="Calibri" pitchFamily="34" charset="-120"/>
              </a:rPr>
              <a:t>The TOE team remains available for follow-up discussions on any topic.</a:t>
            </a:r>
            <a:endParaRPr lang="en-US" sz="1400" dirty="0"/>
          </a:p>
        </p:txBody>
      </p:sp>
      <p:sp>
        <p:nvSpPr>
          <p:cNvPr id="6" name="Text 4"/>
          <p:cNvSpPr/>
          <p:nvPr/>
        </p:nvSpPr>
        <p:spPr>
          <a:xfrm>
            <a:off x="640080" y="6172200"/>
            <a:ext cx="5486400" cy="274320"/>
          </a:xfrm>
          <a:prstGeom prst="rect">
            <a:avLst/>
          </a:prstGeom>
          <a:noFill/>
          <a:ln/>
        </p:spPr>
        <p:txBody>
          <a:bodyPr wrap="square" lIns="0" tIns="0" rIns="0" bIns="0" rtlCol="0" anchor="ctr"/>
          <a:lstStyle/>
          <a:p>
            <a:pPr indent="0" marL="0">
              <a:buNone/>
            </a:pPr>
            <a:r>
              <a:rPr lang="en-US" sz="1100" b="1" spc="800" kern="0" dirty="0">
                <a:solidFill>
                  <a:srgbClr val="FFFFFF"/>
                </a:solidFill>
                <a:latin typeface="Calibri" pitchFamily="34" charset="0"/>
                <a:ea typeface="Calibri" pitchFamily="34" charset="-122"/>
                <a:cs typeface="Calibri" pitchFamily="34" charset="-120"/>
              </a:rPr>
              <a:t>BNP PARIBAS CARDIF</a:t>
            </a:r>
            <a:endParaRPr lang="en-US" sz="1100" dirty="0"/>
          </a:p>
        </p:txBody>
      </p:sp>
      <p:sp>
        <p:nvSpPr>
          <p:cNvPr id="7" name="Text 5"/>
          <p:cNvSpPr/>
          <p:nvPr/>
        </p:nvSpPr>
        <p:spPr>
          <a:xfrm>
            <a:off x="5760720" y="6172200"/>
            <a:ext cx="5943600" cy="274320"/>
          </a:xfrm>
          <a:prstGeom prst="rect">
            <a:avLst/>
          </a:prstGeom>
          <a:noFill/>
          <a:ln/>
        </p:spPr>
        <p:txBody>
          <a:bodyPr wrap="square" lIns="0" tIns="0" rIns="0" bIns="0" rtlCol="0" anchor="ctr"/>
          <a:lstStyle/>
          <a:p>
            <a:pPr algn="r" indent="0" marL="0">
              <a:buNone/>
            </a:pPr>
            <a:r>
              <a:rPr lang="en-US" sz="1000" i="1" dirty="0">
                <a:solidFill>
                  <a:srgbClr val="8FA69C"/>
                </a:solidFill>
                <a:latin typeface="Calibri" pitchFamily="34" charset="0"/>
                <a:ea typeface="Calibri" pitchFamily="34" charset="-122"/>
                <a:cs typeface="Calibri" pitchFamily="34" charset="-120"/>
              </a:rPr>
              <a:t>CARD — Production Cardif · Technology Office Expertise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BNP Paribas Cardif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dMZR · IT Marketplace · TOE</dc:title>
  <dc:subject>PptxGenJS Presentation</dc:subject>
  <dc:creator>BNP Paribas Cardif — Production</dc:creator>
  <cp:lastModifiedBy>BNP Paribas Cardif — Production</cp:lastModifiedBy>
  <cp:revision>1</cp:revision>
  <dcterms:created xsi:type="dcterms:W3CDTF">2026-04-26T20:59:04Z</dcterms:created>
  <dcterms:modified xsi:type="dcterms:W3CDTF">2026-04-26T20:59:04Z</dcterms:modified>
</cp:coreProperties>
</file>