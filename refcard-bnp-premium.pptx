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tous, et merci d'être présents pour cette session.
Aujourd'hui je vais vous présenter un guide pratique de déploiement de nos applications conteneurisées sur OpenShift ROKS, en conformité avec la RefCard Continuity &amp; Resilience que nous venons de finaliser dans sa version 1.0.6.
Cette présentation a un objectif clair : transformer un référentiel — qui peut paraître abstrait quand on le lit — en manifestes Kubernetes concrets, prêts à être déployés. Chacun des quatre niveaux de continuité Extreme, Serious, Moderate et Low se traduit par des choix très précis dans nos YAML, et c'est ça que nous allons décortiquer ensemble.
Le périmètre c'est notre cluster ROKS eu-fr2 en région Île-de-France, qui couvre Marne Nord et Marne Est, avec Bastogne en disaster recovery côté belge. La présentation dure environ 30 minutes, n'hésitez pas à m'interrompre.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comment nous allons procéder.
Je commencerai par un rappel rapide du contexte et des cinq axes structurants de la RefCard. Puis nous regarderons la vue comparée des quatre niveaux pour bien saisir ce qui les distingue.
Le bloc le plus dense — et le plus opérationnel — sera le quatrième : un manifeste détaillé pour chacun des niveaux, avec les déclinaisons à appliquer dans vos charts ou vos overlays Kustomize.
Je terminerai par les bonnes pratiques qui s'appliquent quel que soit le niveau, le mapping entre nos AZ logiques ROKS et les sites physiques ITGP — ce point a une vraie conséquence pour la conception, vous verrez — et une checklist directement utilisable en revue d'architecture.
L'idée n'est pas de mémoriser tout, mais de repartir avec un référentiel pratique sur lequel s'appuyer.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RefCard, c'est un contrat technique qui se décline sur cinq dimensions.
La première c'est la topologie : combien de zones de disponibilité, est-ce qu'on couvre une seule région ou plusieurs. La deuxième c'est l'Active Mode, autrement dit comment se comportent vos instances — toutes en charge en permanence, ou en standby chaud, ou en froid. La troisième concerne la donnée : c'est ici qu'on parle de réplication synchrone, near-sync, ou asynchrone. La quatrième c'est le backup, c'est-à-dire le nombre de copies et leur localisation. Et la cinquième concerne le mécanisme de restauration, c'est-à-dire les runbooks et les tests obligatoires.
Maintenant, le point que je veux que vous reteniez de cette première slide — c'est l'encadré en bas. La RefCard parle de Near Sync, pas de sync strict. Cette nuance est fondamentale. Le RPO réel n'est pas zéro, il est de l'ordre de la milliseconde. Si un client métier vous dit "il me faut un RPO de zéro absolu", c'est qu'on sort du cadre standard et qu'il faut une dérogation formelle, parce que ça implique des coûts et une latence applicative supplémentaire qui ne sont pas anodins.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tableau central de la RefCard. Il faut le lire ligne par ligne, et surtout colonne par colonne.
Le premier message c'est que la colonne Regional Data — la copie M:One vers Bastogne — est constante pour les quatre niveaux. Quel que soit votre criticité, vous avez le filet de sécurité régional. C'est non négociable.
Le deuxième message c'est ce qui distingue Extreme de Serious. La différence tient à un seul élément : le nombre d'AZ. Trois pour Extreme, deux pour Serious. Tout le reste est identique : All Active, HA, Near Sync, MUST sur le rebuild et le restore. Donc la promotion d'une application de Serious vers Extreme, c'est essentiellement un sujet de scaling et de spread topologique.
Le troisième message concerne le passage de Serious à Moderate. Là le saut est plus important : on passe de All Active à Hot standby, et de Near Sync à Async. Donc le RPO n'est plus en millisecondes mais en secondes ou en minutes. C'est un changement de paradigme.
Et enfin Low, c'est vraiment le minimum syndical : une seule AZ, mode Cold, mais la sauvegarde reste obligatoire — c'est l'unique filet de sécurité.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 cette slide on décrypte ce que signifie concrètement chaque mode.
All Active, c'est le mode qu'on retrouve sur Extreme et Serious. Toutes les instances reçoivent du trafic en permanence. Aucune n'est en veille, et c'est le load balancer — chez nous c'est le couple F5 et HAProxy d'OpenShift — qui désinscrit automatiquement les pods défaillants. Le RTO est inférieur à 30 secondes parce qu'il n'y a aucun délai de bascule, l'instance saine prend juste sa part de trafic. Le coût est élevé puisqu'on dimensionne pour avoir N nodes en charge avec marge.
Le mode Hot, c'est le pattern primary/standby classique. Une instance principale traite les requêtes, une standby est synchronisée et peut prendre le relais. Le RTO monte à quelques minutes le temps de la bascule, mais le coût est divisé en gros par deux.
Le mode Cold, on n'a pas d'instance secondaire en attente. En cas de défaillance, on reprovisionne depuis la sauvegarde la plus récente. Le RTO est en heures. C'est acceptable uniquement pour Low, et typiquement pour des outils internes ou des environnements d'expérimentation.
L'arbitrage qu'il faut comprendre, c'est : quel est le coût d'une indisponibilité de mon application pendant N minutes, comparé au coût d'une infrastructure trois fois plus chère.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approfondit le sujet Near Sync, parce que c'est probablement le concept le plus mal compris de la RefCard.
Je prends PostgreSQL comme exemple parce que c'est la base la plus utilisée dans nos applications, mais le raisonnement vaut pour toutes les bases avec réplication.
Le sync strict, c'est le mode remote_apply. Le primary attend que le standby ait écrit ET appliqué la transaction sur disque avant d'acquitter au client. RPO de zéro mathématique, mais on ajoute la latence d'un round trip réseau plus le fsync distant. Concrètement, sur nos clusters c'est entre 3 et 10 millisecondes ajoutées à chaque commit. Pour un service à fort débit, ça se sent vraiment.
Le Near Sync, c'est le mode synchronous_commit on, ou remote_write. Le primary attend juste que le standby ait reçu la trame WAL en mémoire, sans attendre son flush disque. La latence ajoutée tombe à 1 à 2 millisecondes. Le RPO réel c'est ce qui n'a pas encore été flushé en cas de panne — on parle de quelques transactions au pire, pas plus.
L'async c'est le mode off, on ne dépend pas du standby. Latence quasi nulle, mais RPO en secondes voire minutes selon le lag de réplication.
L'arbitrage à porter au métier, c'est : combien de millisecondes de latence en plus suis-je prêt à payer pour gagner combien de millisecondes de RPO en moins.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entre dans le vif du sujet avec le niveau Extreme. C'est notre niveau le plus exigeant, réservé aux flux de paiement temps réel, à la souscription en ligne, ou aux services qui tombent sous DORA pilier 1.
Les chiffres en haut résument la cible : 9 réplicas applicatifs, répartis 3 par 3 sur nos trois zones de disponibilité parisiennes. Le RPO est en millisecondes grâce au quorum Near Sync, et le RTO inférieur à 30 secondes grâce à la bascule automatique.
En bas, vous avez les 8 règles RefCard appliquées en colonnes. Topology M:Three : trois AZ minimum. AZ Status All Active : aucune en veille, toutes en charge. Local Failover HA : bascule automatique. Local Data Near Sync : c'est le synchronous_commit on. Regional Data M:One : copie async vers Bastogne. Local Backup M:Two : deux copies de sauvegarde, qui chez nous sont sur IBM COS plus snapshots Velero CSI. Et les deux dernières lignes, MUST sur le rebuild et le restore : ça veut dire qu'il faut un runbook GitOps documenté ET un test de restauration trimestriel — c'est une exigence DORA.
Sur les trois prochaines slides on va voir le code, donc le manifeste Kubernetes complet pour cette cible.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Deployment complet pour une application Extreme. Je passe en revue les éléments clés.
D'abord en haut à gauche : 9 réplicas, ça correspond à 3 pods par AZ multiplié par 3 AZ. Le strategy de rolling update est en zero downtime strict — maxUnavailable à zéro signifie qu'on ne descend jamais en dessous du nominal pendant un déploiement.
Le bloc topologySpreadConstraints, c'est ce qui force Kubernetes à répartir les pods sur les 3 AZ. La clé importante c'est whenUnsatisfiable: DoNotSchedule. Ça veut dire que si Kubernetes ne peut pas respecter la répartition, il refuse de scheduler le pod plutôt que de violer la contrainte. C'est strict pour Extreme — et c'est le seul niveau où ce sera strict.
À droite, l'anti-affinity de niveau hostname. Required, pas preferred. On garantit qu'on n'aura jamais 2 pods de la même app sur le même node. Si un node tombe, on perd au maximum 1 pod sur 9.
Enfin les ressources : requests et limits identiques. Ça donne la classe QoS Guaranteed, qui protège le pod contre l'éviction par le kubelet en cas de pression mémoire. Pour Extreme c'est non négociable.
Les probes et le preStop hook sont mentionnés en commentaire — on les détaillera dans la doc complète, ce sont des classiques mais ils sont indispensables.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slide complète le manifeste de l'application Extreme avec deux composants critiques.
À gauche, le PodDisruptionBudget. Le calcul est simple : 9 pods, on veut tolérer la perte d'une AZ entière, soit 3 pods. Donc minAvailable est à 6. Concrètement, ça empêche par exemple qu'une opération de drain sur un node OpenShift descende en dessous de 6 pods disponibles. C'est notre garde-fou contre les opérations de maintenance qui pourraient couper le service.
Toujours à gauche, la NetworkPolicy default-deny. Tout est bloqué par défaut, on ouvre ensuite explicitement ce qui est nécessaire. Depuis DORA et NIS2, c'est non négociable.
À droite, le cluster PostgreSQL géré par CloudNativePG. Trois instances : un primary et deux standbys, un par AZ. Le paramètre clé c'est minSyncReplicas à 1 — ça active le quorum sync. PostgreSQL ne va pas acquitter une transaction au client tant qu'au moins un standby n'a pas reçu le WAL. C'est exactement le comportement Near Sync qu'on a vu sur la slide précédente.
Le topologySpread sur le cluster, comme pour les pods applicatifs, force la répartition sur les 3 AZ. Et on configure un backup vers IBM COS avec rétention 30 jours, en gzip pour économiser le stockage.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passe au niveau Serious. Le but de cette slide c'est de vous montrer qu'on ne refait pas tout le travail — on adapte juste quelques paramètres.
À gauche, en lecture rapide : on passe de M:Three à M:Two, donc 2 AZ au lieu de 3. Mécaniquement, 6 réplicas au lieu de 9. Le PDB descend de minAvailable 6 à 3. Et le cluster PostgreSQL passe de 3 à 2 instances.
Ce qui est important c'est ce qu'on lit en bas à gauche : tout le RESTE est identique à Extreme. All Active, HA, Near Sync, M:Two backup, MUST sur le rebuild et le restore. Donc en termes de complexité opérationnelle, Serious est aussi exigeant qu'Extreme — c'est juste un facteur d'échelle différent.
À droite, le code montre exactement ce qu'on change. Le whenUnsatisfiable reste DoNotSchedule, l'anti-affinity reste required. Les ressources passent à 500m de CPU et 1 Gi de mémoire — toujours en QoS Guaranteed. Et le PDB en bas est à minAvailable 3, c'est-à-dire 6 moins 3 — la perte d'une AZ.
Cas d'usage type : back-office métier, applications de reporting interne, services API non temps réel critiques.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niveau Moderate, c'est là où on commence à vraiment relâcher les contraintes.
À gauche les changements majeurs : le mode bascule de All Active vers Hot. Une instance principale, une standby — pas toutes les deux en charge. Le whenUnsatisfiable passe de DoNotSchedule à ScheduleAnyway, donc Kubernetes va essayer de respecter la répartition mais ne refusera pas de scheduler si ce n'est pas possible. L'anti-affinity passe de required à preferred. Et côté base de données, le synchronous_commit passe à off — on est en réplication asynchrone.
La QoS Burstable devient acceptable, c'est-à-dire qu'on peut avoir des limits supérieures aux requests. Ça donne plus de flexibilité au scheduler mais le pod peut être évincé si la pression mémoire monte sur le node.
À droite, vous voyez que le code est globalement le même squelette mais avec ces paramètres assouplis. Le maxUnavailable rolling passe à 1 — on tolère une légère indisponibilité pendant un déploiement.
Cas d'usage : outils internes, batchs analytics non critiques, applications de support. Ce qui n'est pas tolérable pour un parcours client mais où une indisponibilité de quelques minutes est acceptable.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Niveau Low, c'est le minimum syndical.
Côté infrastructure : 1 AZ acceptée, mode Cold — donc pas d'instance secondaire en attente. Le PDB devient optionnel. Pas de topologySpread requis. Et les tests de restauration deviennent annuels au lieu de trimestriels.
MAIS — et c'est le point que je veux que vous reteniez — l'encart vert en bas à gauche le rappelle : Local Data Restore reste à MUST. Même pour Low, la sauvegarde régionale est obligatoire et les tests de restore sont obligatoires. Pourquoi ? Parce que sans redondance multi-AZ, sans standby, la sauvegarde devient l'UNIQUE filet de sécurité. Si on la perd ou si elle ne fonctionne pas, on a perdu la donnée définitivement. Donc paradoxalement, c'est sur Low qu'il faut être le plus rigoureux sur la qualité du backup.
À droite, le code montre un Deployment minimaliste : 2 réplicas — c'est juste pour pouvoir faire un rolling update sans coupure totale. Les ressources sont très basses. Pas de spread, pas d'anti-affinity. Et le cluster PostgreSQL en standalone, mais avec backup configuré, retention 7 jours.
Cas d'usage : outils internes ponctuels, environnements de test, applications obsolètes en cours de décommissionnement.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slide c'est le tableau récapitulatif que je vous invite à garder sous la main. Vous pouvez le coller dans vos design reviews, dans vos CAB, dans vos documents d'architecture.
Lecture en colonnes : pour une application donnée, on lit verticalement le niveau cible et on a tous les paramètres techniques à appliquer.
Lecture en lignes : pour un paramètre donné, on voit comment il évolue selon le niveau. Quelques observations.
Le whenUnsatisfiable est DoNotSchedule pour Extreme et Serious, puis ScheduleAnyway pour Moderate. C'est la frontière du All Active strict.
Le maxUnavailable rolling est à zéro pour Extreme et Serious, à 1 pour Moderate et Low. C'est la frontière du zero-downtime strict.
Le synchronous_commit est on pour Extreme et Serious, off pour Moderate et Low. C'est la frontière du Near Sync.
La QoS class est Guaranteed pour Extreme et Serious, Burstable pour les autres. C'est la frontière de la protection anti-éviction.
Et la fréquence des tests de restauration suit la même logique : trimestriel pour les niveaux exigeants, semestriel pour Moderate, annuel pour Low. Plus on monte, plus on teste.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bonnes pratiques qui s'appliquent à tous les niveaux, sans exception.
Numéro 1, les probes séparées. Liveness ne doit jamais dépendre d'une ressource externe — typiquement, ne pingez pas une base de données dans votre liveness, sinon une indisponibilité de la DB va provoquer des restarts en cascade qui n'arrangeront rien. Liveness teste le process, readiness teste la capacité à servir.
Numéro 2, la termination gracieuse. Le preStop hook avec un sleep de 10 à 15 secondes laisse le temps au controller endpoints de désinscrire le pod du service avant que SIGTERM soit envoyé. Sinon vous avez des erreurs 502 transitoires côté load balancer.
Numéro 3, les NetworkPolicies default-deny. Depuis DORA et NIS2 c'est non négociable à partir du niveau Moderate. La microsegmentation est une exigence réglementaire.
Numéro 4, image scan et signature. Trivy ou Snyk pour la détection de vulnérabilités, Cosign pour la signature, Kyverno pour vérifier la signature à l'admission. C'est notre Ring 4 sur le modèle 5 Rings.
Numéro 5, les audit logs cluster. Activés systématiquement, c'est notre Ring 1.
Et numéro 6, attention aux PV de type ibmc-block zonal pour les workloads HA. Un PV zonal est attaché à une AZ spécifique. Si l'AZ tombe, le PV est inaccessible. Privilégiez IBM Cloud Databases ou ODF, ou Portworx.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importante parce qu'elle fait le pont entre les concepts Kubernetes et la réalité de notre infrastructure ITGP.
Notre cluster ROKS eu-fr2 est étalé sur 3 zones de disponibilité. Mais derrière ces 3 AZ logiques, il y a 2 datacenters physiques en réalité : Marne Nord et Marne Est. Et c'est là que se cache le piège.
eu-fr2-1, qui correspond à Paris 1, est physiquement hébergé à Marne Nord. Et Marne Nord NE DISPOSE PAS d'une Backup zone. C'est un point qu'on oublie souvent et qui peut compromettre votre conformité RefCard.
eu-fr2-2 et eu-fr2-3 — Paris 2 et Paris 3 — sont à Marne Est, qui dispose bien d'une Backup zone.
Et Bastogne, en Belgique, c'est notre site DR à plus de 200 km. Latence de 2 à 4 millisecondes en réplication asynchrone. Réservé aux applications vitales.
Conséquences pour la conception, en bas de la slide. Un : vos backups M:Two doivent obligatoirement cibler Marne Est ou Bastogne — jamais Marne Nord seul, sinon vous n'avez juste pas de backup au sens RefCard. Deux : si vous avez des workloads stateful avec PV, préférez Marne Est pour bénéficier de la Backup zone colocalisée. Et trois : Bastogne reste réservé aux apps vitales, parce que c'est cher et que ça impose une réplication async.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termine la partie technique avec cette checklist directement utilisable en revue d'architecture.
14 points qui couvrent l'ensemble de ce qu'on vient de voir. Vous pouvez la reprendre telle quelle dans vos comités d'architecture, vos CAB, ou vos passages en production.
Quelques points méritent une attention particulière. Le cinquième : PodDisruptionBudget aligné sur le quorum AZ. C'est souvent oublié, mais sans ça vos opérations de drain peuvent vous faire passer en dessous du seuil de service. Le huitième : QoS class adaptée. Pour Extreme et Serious, Guaranteed est obligatoire — c'est ce qui protège contre l'éviction. Le dixième : backup configuré avec destination Marne Est ou Bastogne, on vient de voir pourquoi. Et le onzième : test de restauration planifié. Un backup qu'on ne teste jamais n'est pas un backup, c'est juste un fichier sur un stockage objet.
Mon conseil : en début de chaque projet, ouvrez cette checklist. Si vous ne pouvez pas cocher chaque case avant la mise en prod, vous savez ce qu'il vous reste à faire.
Cette checklist est extraite du guide markdown complet que j'ai partagé en amont, et qui est dans le repo de la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Voilà, c'était les 17 slides du guide.
Je suis disponible pour vos questions, mais avant de passer aux échanges, je voudrais évoquer rapidement les trois prochaines étapes que je propose.
Première étape, industrialiser. On a montré ici les manifestes en YAML brut, c'est pédagogique, mais en pratique on va vouloir un Helm chart paramétrable par niveau de continuité — values-extreme.yaml, values-serious.yaml, etc. Je peux préparer ce chart si vous validez l'approche.
Deuxième étape, GitOps. Plutôt qu'un chart Helm, on peut aussi partir sur un repo Kustomize avec une base et des overlays par niveau. C'est souvent plus simple à auditer en revue. À discuter selon les préférences de l'équipe Run.
Troisième étape, et c'est selon moi la plus importante : la validation à l'admission. On peut écrire des ClusterPolicies Kyverno qui contrôlent automatiquement la conformité RefCard. Par exemple : un namespace avec le label classification "extreme" doit avoir un Deployment avec au moins 9 réplicas, un PDB minAvailable au moins égal à 6, etc. On bascule du déclaratif au prescriptif. C'est ce que j'aimerais qu'on construise ensemble.
Maintenant, vos questions. Le guide markdown complet et la présentation sont dans le repo, vous pouvez les récupérer après la session. Merci à tous.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4D32"/>
        </a:solidFill>
      </p:bgPr>
    </p:bg>
    <p:spTree>
      <p:nvGrpSpPr>
        <p:cNvPr id="1" name=""/>
        <p:cNvGrpSpPr/>
        <p:nvPr/>
      </p:nvGrpSpPr>
      <p:grpSpPr>
        <a:xfrm>
          <a:off x="0" y="0"/>
          <a:ext cx="0" cy="0"/>
          <a:chOff x="0" y="0"/>
          <a:chExt cx="0" cy="0"/>
        </a:xfrm>
      </p:grpSpPr>
      <p:sp>
        <p:nvSpPr>
          <p:cNvPr id="2" name="Shape 0"/>
          <p:cNvSpPr/>
          <p:nvPr/>
        </p:nvSpPr>
        <p:spPr>
          <a:xfrm>
            <a:off x="548640" y="548640"/>
            <a:ext cx="548640" cy="45720"/>
          </a:xfrm>
          <a:prstGeom prst="rect">
            <a:avLst/>
          </a:prstGeom>
          <a:solidFill>
            <a:srgbClr val="B89653"/>
          </a:solidFill>
          <a:ln/>
        </p:spPr>
      </p:sp>
      <p:sp>
        <p:nvSpPr>
          <p:cNvPr id="3" name="Text 1"/>
          <p:cNvSpPr/>
          <p:nvPr/>
        </p:nvSpPr>
        <p:spPr>
          <a:xfrm>
            <a:off x="548640" y="713232"/>
            <a:ext cx="7315200" cy="320040"/>
          </a:xfrm>
          <a:prstGeom prst="rect">
            <a:avLst/>
          </a:prstGeom>
          <a:noFill/>
          <a:ln/>
        </p:spPr>
        <p:txBody>
          <a:bodyPr wrap="square" lIns="0" tIns="0" rIns="0" bIns="0" rtlCol="0" anchor="ctr"/>
          <a:lstStyle/>
          <a:p>
            <a:pPr indent="0" marL="0">
              <a:buNone/>
            </a:pPr>
            <a:r>
              <a:rPr lang="en-US" sz="1100" b="1" spc="600" kern="0" dirty="0">
                <a:solidFill>
                  <a:srgbClr val="B89653"/>
                </a:solidFill>
                <a:latin typeface="Calibri" pitchFamily="34" charset="0"/>
                <a:ea typeface="Calibri" pitchFamily="34" charset="-122"/>
                <a:cs typeface="Calibri" pitchFamily="34" charset="-120"/>
              </a:rPr>
              <a:t>BNP PARIBAS CARDIF</a:t>
            </a:r>
            <a:endParaRPr lang="en-US" sz="1100" dirty="0"/>
          </a:p>
        </p:txBody>
      </p:sp>
      <p:sp>
        <p:nvSpPr>
          <p:cNvPr id="4" name="Text 2"/>
          <p:cNvSpPr/>
          <p:nvPr/>
        </p:nvSpPr>
        <p:spPr>
          <a:xfrm>
            <a:off x="548640" y="2011680"/>
            <a:ext cx="10972800" cy="109728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Guide de déploiement OpenShift / ROKS</a:t>
            </a:r>
            <a:endParaRPr lang="en-US" sz="4400" dirty="0"/>
          </a:p>
        </p:txBody>
      </p:sp>
      <p:sp>
        <p:nvSpPr>
          <p:cNvPr id="5" name="Text 3"/>
          <p:cNvSpPr/>
          <p:nvPr/>
        </p:nvSpPr>
        <p:spPr>
          <a:xfrm>
            <a:off x="548640" y="3200400"/>
            <a:ext cx="10972800" cy="640080"/>
          </a:xfrm>
          <a:prstGeom prst="rect">
            <a:avLst/>
          </a:prstGeom>
          <a:noFill/>
          <a:ln/>
        </p:spPr>
        <p:txBody>
          <a:bodyPr wrap="square" lIns="0" tIns="0" rIns="0" bIns="0" rtlCol="0" anchor="ctr"/>
          <a:lstStyle/>
          <a:p>
            <a:pPr indent="0" marL="0">
              <a:buNone/>
            </a:pPr>
            <a:r>
              <a:rPr lang="en-US" sz="2600" i="1" dirty="0">
                <a:solidFill>
                  <a:srgbClr val="E8D9B8"/>
                </a:solidFill>
                <a:latin typeface="Cambria" pitchFamily="34" charset="0"/>
                <a:ea typeface="Cambria" pitchFamily="34" charset="-122"/>
                <a:cs typeface="Cambria" pitchFamily="34" charset="-120"/>
              </a:rPr>
              <a:t>IT RefCard Continuity &amp; Resilience for Cloud</a:t>
            </a:r>
            <a:endParaRPr lang="en-US" sz="2600" dirty="0"/>
          </a:p>
        </p:txBody>
      </p:sp>
      <p:sp>
        <p:nvSpPr>
          <p:cNvPr id="6" name="Text 4"/>
          <p:cNvSpPr/>
          <p:nvPr/>
        </p:nvSpPr>
        <p:spPr>
          <a:xfrm>
            <a:off x="548640" y="4023360"/>
            <a:ext cx="10972800" cy="457200"/>
          </a:xfrm>
          <a:prstGeom prst="rect">
            <a:avLst/>
          </a:prstGeom>
          <a:noFill/>
          <a:ln/>
        </p:spPr>
        <p:txBody>
          <a:bodyPr wrap="square" lIns="0" tIns="0" rIns="0" bIns="0" rtlCol="0" anchor="ctr"/>
          <a:lstStyle/>
          <a:p>
            <a:pPr indent="0" marL="0">
              <a:buNone/>
            </a:pPr>
            <a:r>
              <a:rPr lang="en-US" sz="1400" dirty="0">
                <a:solidFill>
                  <a:srgbClr val="C9D5CC"/>
                </a:solidFill>
                <a:latin typeface="Calibri" pitchFamily="34" charset="0"/>
                <a:ea typeface="Calibri" pitchFamily="34" charset="-122"/>
                <a:cs typeface="Calibri" pitchFamily="34" charset="-120"/>
              </a:rPr>
              <a:t>Manifestes Kubernetes pour les 4 niveaux de continuité — Extreme, Serious, Moderate, Low</a:t>
            </a:r>
            <a:endParaRPr lang="en-US" sz="1400" dirty="0"/>
          </a:p>
        </p:txBody>
      </p:sp>
      <p:sp>
        <p:nvSpPr>
          <p:cNvPr id="7" name="Shape 5"/>
          <p:cNvSpPr/>
          <p:nvPr/>
        </p:nvSpPr>
        <p:spPr>
          <a:xfrm>
            <a:off x="548640" y="5852160"/>
            <a:ext cx="1371600" cy="0"/>
          </a:xfrm>
          <a:prstGeom prst="line">
            <a:avLst/>
          </a:prstGeom>
          <a:noFill/>
          <a:ln w="12700">
            <a:solidFill>
              <a:srgbClr val="B89653"/>
            </a:solidFill>
            <a:prstDash val="solid"/>
          </a:ln>
        </p:spPr>
      </p:sp>
      <p:sp>
        <p:nvSpPr>
          <p:cNvPr id="8" name="Text 6"/>
          <p:cNvSpPr/>
          <p:nvPr/>
        </p:nvSpPr>
        <p:spPr>
          <a:xfrm>
            <a:off x="548640" y="5943600"/>
            <a:ext cx="7315200" cy="2743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Cloud Native Architect — Technology Office Expertise</a:t>
            </a:r>
            <a:endParaRPr lang="en-US" sz="1100" dirty="0"/>
          </a:p>
        </p:txBody>
      </p:sp>
      <p:sp>
        <p:nvSpPr>
          <p:cNvPr id="9" name="Text 7"/>
          <p:cNvSpPr/>
          <p:nvPr/>
        </p:nvSpPr>
        <p:spPr>
          <a:xfrm>
            <a:off x="548640" y="6263640"/>
            <a:ext cx="7315200" cy="274320"/>
          </a:xfrm>
          <a:prstGeom prst="rect">
            <a:avLst/>
          </a:prstGeom>
          <a:noFill/>
          <a:ln/>
        </p:spPr>
        <p:txBody>
          <a:bodyPr wrap="square" lIns="0" tIns="0" rIns="0" bIns="0" rtlCol="0" anchor="ctr"/>
          <a:lstStyle/>
          <a:p>
            <a:pPr indent="0" marL="0">
              <a:buNone/>
            </a:pPr>
            <a:r>
              <a:rPr lang="en-US" sz="1000" i="1" dirty="0">
                <a:solidFill>
                  <a:srgbClr val="C9D5CC"/>
                </a:solidFill>
                <a:latin typeface="Calibri" pitchFamily="34" charset="0"/>
                <a:ea typeface="Calibri" pitchFamily="34" charset="-122"/>
                <a:cs typeface="Calibri" pitchFamily="34" charset="-120"/>
              </a:rPr>
              <a:t>RefCard v1.0.6 (2023)  ·  Cluster ROKS eu-fr2</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lIns="0" tIns="0" rIns="0" bIns="0" rtlCol="0" anchor="ctr"/>
          <a:lstStyle/>
          <a:p>
            <a:pPr indent="0" marL="0">
              <a:buNone/>
            </a:pPr>
            <a:r>
              <a:rPr lang="en-US" sz="1000" b="1" spc="400" kern="0" dirty="0">
                <a:solidFill>
                  <a:srgbClr val="B89653"/>
                </a:solidFill>
                <a:latin typeface="Calibri" pitchFamily="34" charset="0"/>
                <a:ea typeface="Calibri" pitchFamily="34" charset="-122"/>
                <a:cs typeface="Calibri" pitchFamily="34" charset="-120"/>
              </a:rPr>
              <a:t>SOMMAIRE</a:t>
            </a:r>
            <a:endParaRPr lang="en-US" sz="1000" dirty="0"/>
          </a:p>
        </p:txBody>
      </p:sp>
      <p:sp>
        <p:nvSpPr>
          <p:cNvPr id="3" name="Text 1"/>
          <p:cNvSpPr/>
          <p:nvPr/>
        </p:nvSpPr>
        <p:spPr>
          <a:xfrm>
            <a:off x="548640" y="713232"/>
            <a:ext cx="10972800" cy="640080"/>
          </a:xfrm>
          <a:prstGeom prst="rect">
            <a:avLst/>
          </a:prstGeom>
          <a:noFill/>
          <a:ln/>
        </p:spPr>
        <p:txBody>
          <a:bodyPr wrap="square" lIns="0" tIns="0" rIns="0" bIns="0" rtlCol="0" anchor="ctr"/>
          <a:lstStyle/>
          <a:p>
            <a:pPr indent="0" marL="0">
              <a:buNone/>
            </a:pPr>
            <a:r>
              <a:rPr lang="en-US" sz="2800" b="1" dirty="0">
                <a:solidFill>
                  <a:srgbClr val="1A1A1A"/>
                </a:solidFill>
                <a:latin typeface="Cambria" pitchFamily="34" charset="0"/>
                <a:ea typeface="Cambria" pitchFamily="34" charset="-122"/>
                <a:cs typeface="Cambria" pitchFamily="34" charset="-120"/>
              </a:rPr>
              <a:t>Ce que ce guide couvre</a:t>
            </a:r>
            <a:endParaRPr lang="en-US" sz="2800" dirty="0"/>
          </a:p>
        </p:txBody>
      </p:sp>
      <p:sp>
        <p:nvSpPr>
          <p:cNvPr id="4" name="Text 2"/>
          <p:cNvSpPr/>
          <p:nvPr/>
        </p:nvSpPr>
        <p:spPr>
          <a:xfrm>
            <a:off x="548640" y="1737360"/>
            <a:ext cx="914400" cy="548640"/>
          </a:xfrm>
          <a:prstGeom prst="rect">
            <a:avLst/>
          </a:prstGeom>
          <a:noFill/>
          <a:ln/>
        </p:spPr>
        <p:txBody>
          <a:bodyPr wrap="square" lIns="0" tIns="0" rIns="0" bIns="0" rtlCol="0" anchor="ctr"/>
          <a:lstStyle/>
          <a:p>
            <a:pPr indent="0" marL="0">
              <a:buNone/>
            </a:pPr>
            <a:r>
              <a:rPr lang="en-US" sz="2800" b="1" dirty="0">
                <a:solidFill>
                  <a:srgbClr val="B89653"/>
                </a:solidFill>
                <a:latin typeface="Cambria" pitchFamily="34" charset="0"/>
                <a:ea typeface="Cambria" pitchFamily="34" charset="-122"/>
                <a:cs typeface="Cambria" pitchFamily="34" charset="-120"/>
              </a:rPr>
              <a:t>01</a:t>
            </a:r>
            <a:endParaRPr lang="en-US" sz="2800" dirty="0"/>
          </a:p>
        </p:txBody>
      </p:sp>
      <p:sp>
        <p:nvSpPr>
          <p:cNvPr id="5" name="Text 3"/>
          <p:cNvSpPr/>
          <p:nvPr/>
        </p:nvSpPr>
        <p:spPr>
          <a:xfrm>
            <a:off x="1554480" y="1755648"/>
            <a:ext cx="7315200" cy="292608"/>
          </a:xfrm>
          <a:prstGeom prst="rect">
            <a:avLst/>
          </a:prstGeom>
          <a:noFill/>
          <a:ln/>
        </p:spPr>
        <p:txBody>
          <a:bodyPr wrap="square" lIns="0" tIns="0" rIns="0" bIns="0" rtlCol="0" anchor="ctr"/>
          <a:lstStyle/>
          <a:p>
            <a:pPr indent="0" marL="0">
              <a:buNone/>
            </a:pPr>
            <a:r>
              <a:rPr lang="en-US" sz="1600" b="1" dirty="0">
                <a:solidFill>
                  <a:srgbClr val="1A1A1A"/>
                </a:solidFill>
                <a:latin typeface="Cambria" pitchFamily="34" charset="0"/>
                <a:ea typeface="Cambria" pitchFamily="34" charset="-122"/>
                <a:cs typeface="Cambria" pitchFamily="34" charset="-120"/>
              </a:rPr>
              <a:t>Contexte &amp; objectif</a:t>
            </a:r>
            <a:endParaRPr lang="en-US" sz="1600" dirty="0"/>
          </a:p>
        </p:txBody>
      </p:sp>
      <p:sp>
        <p:nvSpPr>
          <p:cNvPr id="6" name="Text 4"/>
          <p:cNvSpPr/>
          <p:nvPr/>
        </p:nvSpPr>
        <p:spPr>
          <a:xfrm>
            <a:off x="1554480" y="2048256"/>
            <a:ext cx="1005840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Les 5 axes de la RefCard, terminologie ITGP</a:t>
            </a:r>
            <a:endParaRPr lang="en-US" sz="1100" dirty="0"/>
          </a:p>
        </p:txBody>
      </p:sp>
      <p:sp>
        <p:nvSpPr>
          <p:cNvPr id="7" name="Shape 5"/>
          <p:cNvSpPr/>
          <p:nvPr/>
        </p:nvSpPr>
        <p:spPr>
          <a:xfrm>
            <a:off x="1554480" y="2377440"/>
            <a:ext cx="10058400" cy="0"/>
          </a:xfrm>
          <a:prstGeom prst="line">
            <a:avLst/>
          </a:prstGeom>
          <a:noFill/>
          <a:ln w="6350">
            <a:solidFill>
              <a:srgbClr val="E5E7EB"/>
            </a:solidFill>
            <a:prstDash val="solid"/>
          </a:ln>
        </p:spPr>
      </p:sp>
      <p:sp>
        <p:nvSpPr>
          <p:cNvPr id="8" name="Text 6"/>
          <p:cNvSpPr/>
          <p:nvPr/>
        </p:nvSpPr>
        <p:spPr>
          <a:xfrm>
            <a:off x="548640" y="2450592"/>
            <a:ext cx="914400" cy="548640"/>
          </a:xfrm>
          <a:prstGeom prst="rect">
            <a:avLst/>
          </a:prstGeom>
          <a:noFill/>
          <a:ln/>
        </p:spPr>
        <p:txBody>
          <a:bodyPr wrap="square" lIns="0" tIns="0" rIns="0" bIns="0" rtlCol="0" anchor="ctr"/>
          <a:lstStyle/>
          <a:p>
            <a:pPr indent="0" marL="0">
              <a:buNone/>
            </a:pPr>
            <a:r>
              <a:rPr lang="en-US" sz="2800" b="1" dirty="0">
                <a:solidFill>
                  <a:srgbClr val="B89653"/>
                </a:solidFill>
                <a:latin typeface="Cambria" pitchFamily="34" charset="0"/>
                <a:ea typeface="Cambria" pitchFamily="34" charset="-122"/>
                <a:cs typeface="Cambria" pitchFamily="34" charset="-120"/>
              </a:rPr>
              <a:t>02</a:t>
            </a:r>
            <a:endParaRPr lang="en-US" sz="2800" dirty="0"/>
          </a:p>
        </p:txBody>
      </p:sp>
      <p:sp>
        <p:nvSpPr>
          <p:cNvPr id="9" name="Text 7"/>
          <p:cNvSpPr/>
          <p:nvPr/>
        </p:nvSpPr>
        <p:spPr>
          <a:xfrm>
            <a:off x="1554480" y="2468880"/>
            <a:ext cx="7315200" cy="292608"/>
          </a:xfrm>
          <a:prstGeom prst="rect">
            <a:avLst/>
          </a:prstGeom>
          <a:noFill/>
          <a:ln/>
        </p:spPr>
        <p:txBody>
          <a:bodyPr wrap="square" lIns="0" tIns="0" rIns="0" bIns="0" rtlCol="0" anchor="ctr"/>
          <a:lstStyle/>
          <a:p>
            <a:pPr indent="0" marL="0">
              <a:buNone/>
            </a:pPr>
            <a:r>
              <a:rPr lang="en-US" sz="1600" b="1" dirty="0">
                <a:solidFill>
                  <a:srgbClr val="1A1A1A"/>
                </a:solidFill>
                <a:latin typeface="Cambria" pitchFamily="34" charset="0"/>
                <a:ea typeface="Cambria" pitchFamily="34" charset="-122"/>
                <a:cs typeface="Cambria" pitchFamily="34" charset="-120"/>
              </a:rPr>
              <a:t>Tableau de synthèse des 4 niveaux</a:t>
            </a:r>
            <a:endParaRPr lang="en-US" sz="1600" dirty="0"/>
          </a:p>
        </p:txBody>
      </p:sp>
      <p:sp>
        <p:nvSpPr>
          <p:cNvPr id="10" name="Text 8"/>
          <p:cNvSpPr/>
          <p:nvPr/>
        </p:nvSpPr>
        <p:spPr>
          <a:xfrm>
            <a:off x="1554480" y="2761488"/>
            <a:ext cx="1005840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Vue comparée Extreme → Low</a:t>
            </a:r>
            <a:endParaRPr lang="en-US" sz="1100" dirty="0"/>
          </a:p>
        </p:txBody>
      </p:sp>
      <p:sp>
        <p:nvSpPr>
          <p:cNvPr id="11" name="Shape 9"/>
          <p:cNvSpPr/>
          <p:nvPr/>
        </p:nvSpPr>
        <p:spPr>
          <a:xfrm>
            <a:off x="1554480" y="3090672"/>
            <a:ext cx="10058400" cy="0"/>
          </a:xfrm>
          <a:prstGeom prst="line">
            <a:avLst/>
          </a:prstGeom>
          <a:noFill/>
          <a:ln w="6350">
            <a:solidFill>
              <a:srgbClr val="E5E7EB"/>
            </a:solidFill>
            <a:prstDash val="solid"/>
          </a:ln>
        </p:spPr>
      </p:sp>
      <p:sp>
        <p:nvSpPr>
          <p:cNvPr id="12" name="Text 10"/>
          <p:cNvSpPr/>
          <p:nvPr/>
        </p:nvSpPr>
        <p:spPr>
          <a:xfrm>
            <a:off x="548640" y="3163824"/>
            <a:ext cx="914400" cy="548640"/>
          </a:xfrm>
          <a:prstGeom prst="rect">
            <a:avLst/>
          </a:prstGeom>
          <a:noFill/>
          <a:ln/>
        </p:spPr>
        <p:txBody>
          <a:bodyPr wrap="square" lIns="0" tIns="0" rIns="0" bIns="0" rtlCol="0" anchor="ctr"/>
          <a:lstStyle/>
          <a:p>
            <a:pPr indent="0" marL="0">
              <a:buNone/>
            </a:pPr>
            <a:r>
              <a:rPr lang="en-US" sz="2800" b="1" dirty="0">
                <a:solidFill>
                  <a:srgbClr val="B89653"/>
                </a:solidFill>
                <a:latin typeface="Cambria" pitchFamily="34" charset="0"/>
                <a:ea typeface="Cambria" pitchFamily="34" charset="-122"/>
                <a:cs typeface="Cambria" pitchFamily="34" charset="-120"/>
              </a:rPr>
              <a:t>03</a:t>
            </a:r>
            <a:endParaRPr lang="en-US" sz="2800" dirty="0"/>
          </a:p>
        </p:txBody>
      </p:sp>
      <p:sp>
        <p:nvSpPr>
          <p:cNvPr id="13" name="Text 11"/>
          <p:cNvSpPr/>
          <p:nvPr/>
        </p:nvSpPr>
        <p:spPr>
          <a:xfrm>
            <a:off x="1554480" y="3182112"/>
            <a:ext cx="7315200" cy="292608"/>
          </a:xfrm>
          <a:prstGeom prst="rect">
            <a:avLst/>
          </a:prstGeom>
          <a:noFill/>
          <a:ln/>
        </p:spPr>
        <p:txBody>
          <a:bodyPr wrap="square" lIns="0" tIns="0" rIns="0" bIns="0" rtlCol="0" anchor="ctr"/>
          <a:lstStyle/>
          <a:p>
            <a:pPr indent="0" marL="0">
              <a:buNone/>
            </a:pPr>
            <a:r>
              <a:rPr lang="en-US" sz="1600" b="1" dirty="0">
                <a:solidFill>
                  <a:srgbClr val="1A1A1A"/>
                </a:solidFill>
                <a:latin typeface="Cambria" pitchFamily="34" charset="0"/>
                <a:ea typeface="Cambria" pitchFamily="34" charset="-122"/>
                <a:cs typeface="Cambria" pitchFamily="34" charset="-120"/>
              </a:rPr>
              <a:t>Décodage des modes critiques</a:t>
            </a:r>
            <a:endParaRPr lang="en-US" sz="1600" dirty="0"/>
          </a:p>
        </p:txBody>
      </p:sp>
      <p:sp>
        <p:nvSpPr>
          <p:cNvPr id="14" name="Text 12"/>
          <p:cNvSpPr/>
          <p:nvPr/>
        </p:nvSpPr>
        <p:spPr>
          <a:xfrm>
            <a:off x="1554480" y="3474720"/>
            <a:ext cx="1005840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Active Mode et Near Sync expliqués</a:t>
            </a:r>
            <a:endParaRPr lang="en-US" sz="1100" dirty="0"/>
          </a:p>
        </p:txBody>
      </p:sp>
      <p:sp>
        <p:nvSpPr>
          <p:cNvPr id="15" name="Shape 13"/>
          <p:cNvSpPr/>
          <p:nvPr/>
        </p:nvSpPr>
        <p:spPr>
          <a:xfrm>
            <a:off x="1554480" y="3803904"/>
            <a:ext cx="10058400" cy="0"/>
          </a:xfrm>
          <a:prstGeom prst="line">
            <a:avLst/>
          </a:prstGeom>
          <a:noFill/>
          <a:ln w="6350">
            <a:solidFill>
              <a:srgbClr val="E5E7EB"/>
            </a:solidFill>
            <a:prstDash val="solid"/>
          </a:ln>
        </p:spPr>
      </p:sp>
      <p:sp>
        <p:nvSpPr>
          <p:cNvPr id="16" name="Text 14"/>
          <p:cNvSpPr/>
          <p:nvPr/>
        </p:nvSpPr>
        <p:spPr>
          <a:xfrm>
            <a:off x="548640" y="3877056"/>
            <a:ext cx="914400" cy="548640"/>
          </a:xfrm>
          <a:prstGeom prst="rect">
            <a:avLst/>
          </a:prstGeom>
          <a:noFill/>
          <a:ln/>
        </p:spPr>
        <p:txBody>
          <a:bodyPr wrap="square" lIns="0" tIns="0" rIns="0" bIns="0" rtlCol="0" anchor="ctr"/>
          <a:lstStyle/>
          <a:p>
            <a:pPr indent="0" marL="0">
              <a:buNone/>
            </a:pPr>
            <a:r>
              <a:rPr lang="en-US" sz="2800" b="1" dirty="0">
                <a:solidFill>
                  <a:srgbClr val="B89653"/>
                </a:solidFill>
                <a:latin typeface="Cambria" pitchFamily="34" charset="0"/>
                <a:ea typeface="Cambria" pitchFamily="34" charset="-122"/>
                <a:cs typeface="Cambria" pitchFamily="34" charset="-120"/>
              </a:rPr>
              <a:t>04</a:t>
            </a:r>
            <a:endParaRPr lang="en-US" sz="2800" dirty="0"/>
          </a:p>
        </p:txBody>
      </p:sp>
      <p:sp>
        <p:nvSpPr>
          <p:cNvPr id="17" name="Text 15"/>
          <p:cNvSpPr/>
          <p:nvPr/>
        </p:nvSpPr>
        <p:spPr>
          <a:xfrm>
            <a:off x="1554480" y="3895344"/>
            <a:ext cx="7315200" cy="292608"/>
          </a:xfrm>
          <a:prstGeom prst="rect">
            <a:avLst/>
          </a:prstGeom>
          <a:noFill/>
          <a:ln/>
        </p:spPr>
        <p:txBody>
          <a:bodyPr wrap="square" lIns="0" tIns="0" rIns="0" bIns="0" rtlCol="0" anchor="ctr"/>
          <a:lstStyle/>
          <a:p>
            <a:pPr indent="0" marL="0">
              <a:buNone/>
            </a:pPr>
            <a:r>
              <a:rPr lang="en-US" sz="1600" b="1" dirty="0">
                <a:solidFill>
                  <a:srgbClr val="1A1A1A"/>
                </a:solidFill>
                <a:latin typeface="Cambria" pitchFamily="34" charset="0"/>
                <a:ea typeface="Cambria" pitchFamily="34" charset="-122"/>
                <a:cs typeface="Cambria" pitchFamily="34" charset="-120"/>
              </a:rPr>
              <a:t>Manifestes par niveau</a:t>
            </a:r>
            <a:endParaRPr lang="en-US" sz="1600" dirty="0"/>
          </a:p>
        </p:txBody>
      </p:sp>
      <p:sp>
        <p:nvSpPr>
          <p:cNvPr id="18" name="Text 16"/>
          <p:cNvSpPr/>
          <p:nvPr/>
        </p:nvSpPr>
        <p:spPr>
          <a:xfrm>
            <a:off x="1554480" y="4187952"/>
            <a:ext cx="1005840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Extreme, Serious, Moderate, Low — code prêt à déployer</a:t>
            </a:r>
            <a:endParaRPr lang="en-US" sz="1100" dirty="0"/>
          </a:p>
        </p:txBody>
      </p:sp>
      <p:sp>
        <p:nvSpPr>
          <p:cNvPr id="19" name="Shape 17"/>
          <p:cNvSpPr/>
          <p:nvPr/>
        </p:nvSpPr>
        <p:spPr>
          <a:xfrm>
            <a:off x="1554480" y="4517136"/>
            <a:ext cx="10058400" cy="0"/>
          </a:xfrm>
          <a:prstGeom prst="line">
            <a:avLst/>
          </a:prstGeom>
          <a:noFill/>
          <a:ln w="6350">
            <a:solidFill>
              <a:srgbClr val="E5E7EB"/>
            </a:solidFill>
            <a:prstDash val="solid"/>
          </a:ln>
        </p:spPr>
      </p:sp>
      <p:sp>
        <p:nvSpPr>
          <p:cNvPr id="20" name="Text 18"/>
          <p:cNvSpPr/>
          <p:nvPr/>
        </p:nvSpPr>
        <p:spPr>
          <a:xfrm>
            <a:off x="548640" y="4590288"/>
            <a:ext cx="914400" cy="548640"/>
          </a:xfrm>
          <a:prstGeom prst="rect">
            <a:avLst/>
          </a:prstGeom>
          <a:noFill/>
          <a:ln/>
        </p:spPr>
        <p:txBody>
          <a:bodyPr wrap="square" lIns="0" tIns="0" rIns="0" bIns="0" rtlCol="0" anchor="ctr"/>
          <a:lstStyle/>
          <a:p>
            <a:pPr indent="0" marL="0">
              <a:buNone/>
            </a:pPr>
            <a:r>
              <a:rPr lang="en-US" sz="2800" b="1" dirty="0">
                <a:solidFill>
                  <a:srgbClr val="B89653"/>
                </a:solidFill>
                <a:latin typeface="Cambria" pitchFamily="34" charset="0"/>
                <a:ea typeface="Cambria" pitchFamily="34" charset="-122"/>
                <a:cs typeface="Cambria" pitchFamily="34" charset="-120"/>
              </a:rPr>
              <a:t>05</a:t>
            </a:r>
            <a:endParaRPr lang="en-US" sz="2800" dirty="0"/>
          </a:p>
        </p:txBody>
      </p:sp>
      <p:sp>
        <p:nvSpPr>
          <p:cNvPr id="21" name="Text 19"/>
          <p:cNvSpPr/>
          <p:nvPr/>
        </p:nvSpPr>
        <p:spPr>
          <a:xfrm>
            <a:off x="1554480" y="4608576"/>
            <a:ext cx="7315200" cy="292608"/>
          </a:xfrm>
          <a:prstGeom prst="rect">
            <a:avLst/>
          </a:prstGeom>
          <a:noFill/>
          <a:ln/>
        </p:spPr>
        <p:txBody>
          <a:bodyPr wrap="square" lIns="0" tIns="0" rIns="0" bIns="0" rtlCol="0" anchor="ctr"/>
          <a:lstStyle/>
          <a:p>
            <a:pPr indent="0" marL="0">
              <a:buNone/>
            </a:pPr>
            <a:r>
              <a:rPr lang="en-US" sz="1600" b="1" dirty="0">
                <a:solidFill>
                  <a:srgbClr val="1A1A1A"/>
                </a:solidFill>
                <a:latin typeface="Cambria" pitchFamily="34" charset="0"/>
                <a:ea typeface="Cambria" pitchFamily="34" charset="-122"/>
                <a:cs typeface="Cambria" pitchFamily="34" charset="-120"/>
              </a:rPr>
              <a:t>Bonnes pratiques transverses</a:t>
            </a:r>
            <a:endParaRPr lang="en-US" sz="1600" dirty="0"/>
          </a:p>
        </p:txBody>
      </p:sp>
      <p:sp>
        <p:nvSpPr>
          <p:cNvPr id="22" name="Text 20"/>
          <p:cNvSpPr/>
          <p:nvPr/>
        </p:nvSpPr>
        <p:spPr>
          <a:xfrm>
            <a:off x="1554480" y="4901184"/>
            <a:ext cx="1005840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Probes, NetworkPolicies, scan d'images</a:t>
            </a:r>
            <a:endParaRPr lang="en-US" sz="1100" dirty="0"/>
          </a:p>
        </p:txBody>
      </p:sp>
      <p:sp>
        <p:nvSpPr>
          <p:cNvPr id="23" name="Shape 21"/>
          <p:cNvSpPr/>
          <p:nvPr/>
        </p:nvSpPr>
        <p:spPr>
          <a:xfrm>
            <a:off x="1554480" y="5230368"/>
            <a:ext cx="10058400" cy="0"/>
          </a:xfrm>
          <a:prstGeom prst="line">
            <a:avLst/>
          </a:prstGeom>
          <a:noFill/>
          <a:ln w="6350">
            <a:solidFill>
              <a:srgbClr val="E5E7EB"/>
            </a:solidFill>
            <a:prstDash val="solid"/>
          </a:ln>
        </p:spPr>
      </p:sp>
      <p:sp>
        <p:nvSpPr>
          <p:cNvPr id="24" name="Text 22"/>
          <p:cNvSpPr/>
          <p:nvPr/>
        </p:nvSpPr>
        <p:spPr>
          <a:xfrm>
            <a:off x="548640" y="5303520"/>
            <a:ext cx="914400" cy="548640"/>
          </a:xfrm>
          <a:prstGeom prst="rect">
            <a:avLst/>
          </a:prstGeom>
          <a:noFill/>
          <a:ln/>
        </p:spPr>
        <p:txBody>
          <a:bodyPr wrap="square" lIns="0" tIns="0" rIns="0" bIns="0" rtlCol="0" anchor="ctr"/>
          <a:lstStyle/>
          <a:p>
            <a:pPr indent="0" marL="0">
              <a:buNone/>
            </a:pPr>
            <a:r>
              <a:rPr lang="en-US" sz="2800" b="1" dirty="0">
                <a:solidFill>
                  <a:srgbClr val="B89653"/>
                </a:solidFill>
                <a:latin typeface="Cambria" pitchFamily="34" charset="0"/>
                <a:ea typeface="Cambria" pitchFamily="34" charset="-122"/>
                <a:cs typeface="Cambria" pitchFamily="34" charset="-120"/>
              </a:rPr>
              <a:t>06</a:t>
            </a:r>
            <a:endParaRPr lang="en-US" sz="2800" dirty="0"/>
          </a:p>
        </p:txBody>
      </p:sp>
      <p:sp>
        <p:nvSpPr>
          <p:cNvPr id="25" name="Text 23"/>
          <p:cNvSpPr/>
          <p:nvPr/>
        </p:nvSpPr>
        <p:spPr>
          <a:xfrm>
            <a:off x="1554480" y="5321808"/>
            <a:ext cx="7315200" cy="292608"/>
          </a:xfrm>
          <a:prstGeom prst="rect">
            <a:avLst/>
          </a:prstGeom>
          <a:noFill/>
          <a:ln/>
        </p:spPr>
        <p:txBody>
          <a:bodyPr wrap="square" lIns="0" tIns="0" rIns="0" bIns="0" rtlCol="0" anchor="ctr"/>
          <a:lstStyle/>
          <a:p>
            <a:pPr indent="0" marL="0">
              <a:buNone/>
            </a:pPr>
            <a:r>
              <a:rPr lang="en-US" sz="1600" b="1" dirty="0">
                <a:solidFill>
                  <a:srgbClr val="1A1A1A"/>
                </a:solidFill>
                <a:latin typeface="Cambria" pitchFamily="34" charset="0"/>
                <a:ea typeface="Cambria" pitchFamily="34" charset="-122"/>
                <a:cs typeface="Cambria" pitchFamily="34" charset="-120"/>
              </a:rPr>
              <a:t>Mapping AZ → ITGP &amp; checklist</a:t>
            </a:r>
            <a:endParaRPr lang="en-US" sz="1600" dirty="0"/>
          </a:p>
        </p:txBody>
      </p:sp>
      <p:sp>
        <p:nvSpPr>
          <p:cNvPr id="26" name="Text 24"/>
          <p:cNvSpPr/>
          <p:nvPr/>
        </p:nvSpPr>
        <p:spPr>
          <a:xfrm>
            <a:off x="1554480" y="5614416"/>
            <a:ext cx="1005840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Sites Marne / Bastogne, revue d'architecture</a:t>
            </a:r>
            <a:endParaRPr lang="en-US" sz="1100" dirty="0"/>
          </a:p>
        </p:txBody>
      </p:sp>
      <p:sp>
        <p:nvSpPr>
          <p:cNvPr id="27" name="Shape 25"/>
          <p:cNvSpPr/>
          <p:nvPr/>
        </p:nvSpPr>
        <p:spPr>
          <a:xfrm>
            <a:off x="548640" y="6446520"/>
            <a:ext cx="11064240" cy="0"/>
          </a:xfrm>
          <a:prstGeom prst="line">
            <a:avLst/>
          </a:prstGeom>
          <a:noFill/>
          <a:ln w="6350">
            <a:solidFill>
              <a:srgbClr val="E5E7EB"/>
            </a:solidFill>
            <a:prstDash val="solid"/>
          </a:ln>
        </p:spPr>
      </p:sp>
      <p:sp>
        <p:nvSpPr>
          <p:cNvPr id="28" name="Text 26"/>
          <p:cNvSpPr/>
          <p:nvPr/>
        </p:nvSpPr>
        <p:spPr>
          <a:xfrm>
            <a:off x="548640" y="651052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BNP Paribas Cardif  ·  TOE  ·  Cloud Native Architecture</a:t>
            </a:r>
            <a:endParaRPr lang="en-US" sz="900" dirty="0"/>
          </a:p>
        </p:txBody>
      </p:sp>
      <p:sp>
        <p:nvSpPr>
          <p:cNvPr id="29" name="Text 27"/>
          <p:cNvSpPr/>
          <p:nvPr/>
        </p:nvSpPr>
        <p:spPr>
          <a:xfrm>
            <a:off x="10515600" y="6510528"/>
            <a:ext cx="109728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 / 17</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lIns="0" tIns="0" rIns="0" bIns="0" rtlCol="0" anchor="ctr"/>
          <a:lstStyle/>
          <a:p>
            <a:pPr indent="0" marL="0">
              <a:buNone/>
            </a:pPr>
            <a:r>
              <a:rPr lang="en-US" sz="1000" b="1" spc="400" kern="0" dirty="0">
                <a:solidFill>
                  <a:srgbClr val="B89653"/>
                </a:solidFill>
                <a:latin typeface="Calibri" pitchFamily="34" charset="0"/>
                <a:ea typeface="Calibri" pitchFamily="34" charset="-122"/>
                <a:cs typeface="Calibri" pitchFamily="34" charset="-120"/>
              </a:rPr>
              <a:t>01 · CONTEXTE</a:t>
            </a:r>
            <a:endParaRPr lang="en-US" sz="1000" dirty="0"/>
          </a:p>
        </p:txBody>
      </p:sp>
      <p:sp>
        <p:nvSpPr>
          <p:cNvPr id="3" name="Text 1"/>
          <p:cNvSpPr/>
          <p:nvPr/>
        </p:nvSpPr>
        <p:spPr>
          <a:xfrm>
            <a:off x="548640" y="713232"/>
            <a:ext cx="10972800" cy="640080"/>
          </a:xfrm>
          <a:prstGeom prst="rect">
            <a:avLst/>
          </a:prstGeom>
          <a:noFill/>
          <a:ln/>
        </p:spPr>
        <p:txBody>
          <a:bodyPr wrap="square" lIns="0" tIns="0" rIns="0" bIns="0" rtlCol="0" anchor="ctr"/>
          <a:lstStyle/>
          <a:p>
            <a:pPr indent="0" marL="0">
              <a:buNone/>
            </a:pPr>
            <a:r>
              <a:rPr lang="en-US" sz="2800" b="1" dirty="0">
                <a:solidFill>
                  <a:srgbClr val="1A1A1A"/>
                </a:solidFill>
                <a:latin typeface="Cambria" pitchFamily="34" charset="0"/>
                <a:ea typeface="Cambria" pitchFamily="34" charset="-122"/>
                <a:cs typeface="Cambria" pitchFamily="34" charset="-120"/>
              </a:rPr>
              <a:t>Les 5 axes de la RefCard Continuity &amp; Resilience</a:t>
            </a:r>
            <a:endParaRPr lang="en-US" sz="2800" dirty="0"/>
          </a:p>
        </p:txBody>
      </p:sp>
      <p:sp>
        <p:nvSpPr>
          <p:cNvPr id="4" name="Text 2"/>
          <p:cNvSpPr/>
          <p:nvPr/>
        </p:nvSpPr>
        <p:spPr>
          <a:xfrm>
            <a:off x="548640" y="1417320"/>
            <a:ext cx="10972800" cy="548640"/>
          </a:xfrm>
          <a:prstGeom prst="rect">
            <a:avLst/>
          </a:prstGeom>
          <a:noFill/>
          <a:ln/>
        </p:spPr>
        <p:txBody>
          <a:bodyPr wrap="square" lIns="0" tIns="0" rIns="0" bIns="0" rtlCol="0" anchor="ctr"/>
          <a:lstStyle/>
          <a:p>
            <a:pPr indent="0" marL="0">
              <a:buNone/>
            </a:pPr>
            <a:r>
              <a:rPr lang="en-US" sz="1300" dirty="0">
                <a:solidFill>
                  <a:srgbClr val="2C2C2C"/>
                </a:solidFill>
                <a:latin typeface="Calibri" pitchFamily="34" charset="0"/>
                <a:ea typeface="Calibri" pitchFamily="34" charset="-122"/>
                <a:cs typeface="Calibri" pitchFamily="34" charset="-120"/>
              </a:rPr>
              <a:t>Pour chaque application, la RefCard impose des règles MUST sur cinq dimensions techniques. Ces règles dépendent de la classification métier (Extreme → Low) et conditionnent toute la conception.</a:t>
            </a:r>
            <a:endParaRPr lang="en-US" sz="1300" dirty="0"/>
          </a:p>
        </p:txBody>
      </p:sp>
      <p:sp>
        <p:nvSpPr>
          <p:cNvPr id="5" name="Shape 3"/>
          <p:cNvSpPr/>
          <p:nvPr/>
        </p:nvSpPr>
        <p:spPr>
          <a:xfrm>
            <a:off x="548640" y="2286000"/>
            <a:ext cx="2157984" cy="2743200"/>
          </a:xfrm>
          <a:prstGeom prst="rect">
            <a:avLst/>
          </a:prstGeom>
          <a:solidFill>
            <a:srgbClr val="FFFFFF"/>
          </a:solidFill>
          <a:ln w="9525">
            <a:solidFill>
              <a:srgbClr val="E5E7EB"/>
            </a:solidFill>
            <a:prstDash val="solid"/>
          </a:ln>
          <a:effectLst>
            <a:outerShdw sx="100000" sy="100000" kx="0" ky="0" algn="bl" rotWithShape="0" blurRad="101600" dist="25400" dir="5400000">
              <a:srgbClr val="000000">
                <a:alpha val="6000"/>
              </a:srgbClr>
            </a:outerShdw>
          </a:effectLst>
        </p:spPr>
      </p:sp>
      <p:sp>
        <p:nvSpPr>
          <p:cNvPr id="6" name="Shape 4"/>
          <p:cNvSpPr/>
          <p:nvPr/>
        </p:nvSpPr>
        <p:spPr>
          <a:xfrm>
            <a:off x="548640" y="2286000"/>
            <a:ext cx="2157984" cy="548640"/>
          </a:xfrm>
          <a:prstGeom prst="rect">
            <a:avLst/>
          </a:prstGeom>
          <a:solidFill>
            <a:srgbClr val="008053"/>
          </a:solidFill>
          <a:ln/>
        </p:spPr>
      </p:sp>
      <p:sp>
        <p:nvSpPr>
          <p:cNvPr id="7" name="Text 5"/>
          <p:cNvSpPr/>
          <p:nvPr/>
        </p:nvSpPr>
        <p:spPr>
          <a:xfrm>
            <a:off x="685800" y="2377440"/>
            <a:ext cx="914400" cy="3657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01</a:t>
            </a:r>
            <a:endParaRPr lang="en-US" sz="1800" dirty="0"/>
          </a:p>
        </p:txBody>
      </p:sp>
      <p:sp>
        <p:nvSpPr>
          <p:cNvPr id="8" name="Text 6"/>
          <p:cNvSpPr/>
          <p:nvPr/>
        </p:nvSpPr>
        <p:spPr>
          <a:xfrm>
            <a:off x="731520" y="3063240"/>
            <a:ext cx="1792224" cy="640080"/>
          </a:xfrm>
          <a:prstGeom prst="rect">
            <a:avLst/>
          </a:prstGeom>
          <a:noFill/>
          <a:ln/>
        </p:spPr>
        <p:txBody>
          <a:bodyPr wrap="square" lIns="0" tIns="0" rIns="0" bIns="0" rtlCol="0" anchor="ctr"/>
          <a:lstStyle/>
          <a:p>
            <a:pPr indent="0" marL="0">
              <a:buNone/>
            </a:pPr>
            <a:r>
              <a:rPr lang="en-US" sz="1400" b="1" dirty="0">
                <a:solidFill>
                  <a:srgbClr val="1A1A1A"/>
                </a:solidFill>
                <a:latin typeface="Cambria" pitchFamily="34" charset="0"/>
                <a:ea typeface="Cambria" pitchFamily="34" charset="-122"/>
                <a:cs typeface="Cambria" pitchFamily="34" charset="-120"/>
              </a:rPr>
              <a:t>Topology Deployment</a:t>
            </a:r>
            <a:endParaRPr lang="en-US" sz="1400" dirty="0"/>
          </a:p>
        </p:txBody>
      </p:sp>
      <p:sp>
        <p:nvSpPr>
          <p:cNvPr id="9" name="Text 7"/>
          <p:cNvSpPr/>
          <p:nvPr/>
        </p:nvSpPr>
        <p:spPr>
          <a:xfrm>
            <a:off x="731520" y="3749040"/>
            <a:ext cx="1792224" cy="11887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Combien d'AZ et de régions doit couvrir le déploiement ?</a:t>
            </a:r>
            <a:endParaRPr lang="en-US" sz="1100" dirty="0"/>
          </a:p>
        </p:txBody>
      </p:sp>
      <p:sp>
        <p:nvSpPr>
          <p:cNvPr id="10" name="Shape 8"/>
          <p:cNvSpPr/>
          <p:nvPr/>
        </p:nvSpPr>
        <p:spPr>
          <a:xfrm>
            <a:off x="2852928" y="2286000"/>
            <a:ext cx="2157984" cy="2743200"/>
          </a:xfrm>
          <a:prstGeom prst="rect">
            <a:avLst/>
          </a:prstGeom>
          <a:solidFill>
            <a:srgbClr val="FFFFFF"/>
          </a:solidFill>
          <a:ln w="9525">
            <a:solidFill>
              <a:srgbClr val="E5E7EB"/>
            </a:solidFill>
            <a:prstDash val="solid"/>
          </a:ln>
          <a:effectLst>
            <a:outerShdw sx="100000" sy="100000" kx="0" ky="0" algn="bl" rotWithShape="0" blurRad="101600" dist="25400" dir="5400000">
              <a:srgbClr val="000000">
                <a:alpha val="6000"/>
              </a:srgbClr>
            </a:outerShdw>
          </a:effectLst>
        </p:spPr>
      </p:sp>
      <p:sp>
        <p:nvSpPr>
          <p:cNvPr id="11" name="Shape 9"/>
          <p:cNvSpPr/>
          <p:nvPr/>
        </p:nvSpPr>
        <p:spPr>
          <a:xfrm>
            <a:off x="2852928" y="2286000"/>
            <a:ext cx="2157984" cy="548640"/>
          </a:xfrm>
          <a:prstGeom prst="rect">
            <a:avLst/>
          </a:prstGeom>
          <a:solidFill>
            <a:srgbClr val="008053"/>
          </a:solidFill>
          <a:ln/>
        </p:spPr>
      </p:sp>
      <p:sp>
        <p:nvSpPr>
          <p:cNvPr id="12" name="Text 10"/>
          <p:cNvSpPr/>
          <p:nvPr/>
        </p:nvSpPr>
        <p:spPr>
          <a:xfrm>
            <a:off x="2990088" y="2377440"/>
            <a:ext cx="914400" cy="3657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02</a:t>
            </a:r>
            <a:endParaRPr lang="en-US" sz="1800" dirty="0"/>
          </a:p>
        </p:txBody>
      </p:sp>
      <p:sp>
        <p:nvSpPr>
          <p:cNvPr id="13" name="Text 11"/>
          <p:cNvSpPr/>
          <p:nvPr/>
        </p:nvSpPr>
        <p:spPr>
          <a:xfrm>
            <a:off x="3035808" y="3063240"/>
            <a:ext cx="1792224" cy="640080"/>
          </a:xfrm>
          <a:prstGeom prst="rect">
            <a:avLst/>
          </a:prstGeom>
          <a:noFill/>
          <a:ln/>
        </p:spPr>
        <p:txBody>
          <a:bodyPr wrap="square" lIns="0" tIns="0" rIns="0" bIns="0" rtlCol="0" anchor="ctr"/>
          <a:lstStyle/>
          <a:p>
            <a:pPr indent="0" marL="0">
              <a:buNone/>
            </a:pPr>
            <a:r>
              <a:rPr lang="en-US" sz="1400" b="1" dirty="0">
                <a:solidFill>
                  <a:srgbClr val="1A1A1A"/>
                </a:solidFill>
                <a:latin typeface="Cambria" pitchFamily="34" charset="0"/>
                <a:ea typeface="Cambria" pitchFamily="34" charset="-122"/>
                <a:cs typeface="Cambria" pitchFamily="34" charset="-120"/>
              </a:rPr>
              <a:t>Active Mode</a:t>
            </a:r>
            <a:endParaRPr lang="en-US" sz="1400" dirty="0"/>
          </a:p>
        </p:txBody>
      </p:sp>
      <p:sp>
        <p:nvSpPr>
          <p:cNvPr id="14" name="Text 12"/>
          <p:cNvSpPr/>
          <p:nvPr/>
        </p:nvSpPr>
        <p:spPr>
          <a:xfrm>
            <a:off x="3035808" y="3749040"/>
            <a:ext cx="1792224" cy="11887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Instances toutes actives, en hot standby, ou en cold ?</a:t>
            </a:r>
            <a:endParaRPr lang="en-US" sz="1100" dirty="0"/>
          </a:p>
        </p:txBody>
      </p:sp>
      <p:sp>
        <p:nvSpPr>
          <p:cNvPr id="15" name="Shape 13"/>
          <p:cNvSpPr/>
          <p:nvPr/>
        </p:nvSpPr>
        <p:spPr>
          <a:xfrm>
            <a:off x="5157216" y="2286000"/>
            <a:ext cx="2157984" cy="2743200"/>
          </a:xfrm>
          <a:prstGeom prst="rect">
            <a:avLst/>
          </a:prstGeom>
          <a:solidFill>
            <a:srgbClr val="FFFFFF"/>
          </a:solidFill>
          <a:ln w="9525">
            <a:solidFill>
              <a:srgbClr val="E5E7EB"/>
            </a:solidFill>
            <a:prstDash val="solid"/>
          </a:ln>
          <a:effectLst>
            <a:outerShdw sx="100000" sy="100000" kx="0" ky="0" algn="bl" rotWithShape="0" blurRad="101600" dist="25400" dir="5400000">
              <a:srgbClr val="000000">
                <a:alpha val="6000"/>
              </a:srgbClr>
            </a:outerShdw>
          </a:effectLst>
        </p:spPr>
      </p:sp>
      <p:sp>
        <p:nvSpPr>
          <p:cNvPr id="16" name="Shape 14"/>
          <p:cNvSpPr/>
          <p:nvPr/>
        </p:nvSpPr>
        <p:spPr>
          <a:xfrm>
            <a:off x="5157216" y="2286000"/>
            <a:ext cx="2157984" cy="548640"/>
          </a:xfrm>
          <a:prstGeom prst="rect">
            <a:avLst/>
          </a:prstGeom>
          <a:solidFill>
            <a:srgbClr val="008053"/>
          </a:solidFill>
          <a:ln/>
        </p:spPr>
      </p:sp>
      <p:sp>
        <p:nvSpPr>
          <p:cNvPr id="17" name="Text 15"/>
          <p:cNvSpPr/>
          <p:nvPr/>
        </p:nvSpPr>
        <p:spPr>
          <a:xfrm>
            <a:off x="5294376" y="2377440"/>
            <a:ext cx="914400" cy="3657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03</a:t>
            </a:r>
            <a:endParaRPr lang="en-US" sz="1800" dirty="0"/>
          </a:p>
        </p:txBody>
      </p:sp>
      <p:sp>
        <p:nvSpPr>
          <p:cNvPr id="18" name="Text 16"/>
          <p:cNvSpPr/>
          <p:nvPr/>
        </p:nvSpPr>
        <p:spPr>
          <a:xfrm>
            <a:off x="5340096" y="3063240"/>
            <a:ext cx="1792224" cy="640080"/>
          </a:xfrm>
          <a:prstGeom prst="rect">
            <a:avLst/>
          </a:prstGeom>
          <a:noFill/>
          <a:ln/>
        </p:spPr>
        <p:txBody>
          <a:bodyPr wrap="square" lIns="0" tIns="0" rIns="0" bIns="0" rtlCol="0" anchor="ctr"/>
          <a:lstStyle/>
          <a:p>
            <a:pPr indent="0" marL="0">
              <a:buNone/>
            </a:pPr>
            <a:r>
              <a:rPr lang="en-US" sz="1400" b="1" dirty="0">
                <a:solidFill>
                  <a:srgbClr val="1A1A1A"/>
                </a:solidFill>
                <a:latin typeface="Cambria" pitchFamily="34" charset="0"/>
                <a:ea typeface="Cambria" pitchFamily="34" charset="-122"/>
                <a:cs typeface="Cambria" pitchFamily="34" charset="-120"/>
              </a:rPr>
              <a:t>Data Distribution</a:t>
            </a:r>
            <a:endParaRPr lang="en-US" sz="1400" dirty="0"/>
          </a:p>
        </p:txBody>
      </p:sp>
      <p:sp>
        <p:nvSpPr>
          <p:cNvPr id="19" name="Text 17"/>
          <p:cNvSpPr/>
          <p:nvPr/>
        </p:nvSpPr>
        <p:spPr>
          <a:xfrm>
            <a:off x="5340096" y="3749040"/>
            <a:ext cx="1792224" cy="11887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Mode de réplication (sync / near-sync / async) intra &amp; inter-région</a:t>
            </a:r>
            <a:endParaRPr lang="en-US" sz="1100" dirty="0"/>
          </a:p>
        </p:txBody>
      </p:sp>
      <p:sp>
        <p:nvSpPr>
          <p:cNvPr id="20" name="Shape 18"/>
          <p:cNvSpPr/>
          <p:nvPr/>
        </p:nvSpPr>
        <p:spPr>
          <a:xfrm>
            <a:off x="7461504" y="2286000"/>
            <a:ext cx="2157984" cy="2743200"/>
          </a:xfrm>
          <a:prstGeom prst="rect">
            <a:avLst/>
          </a:prstGeom>
          <a:solidFill>
            <a:srgbClr val="FFFFFF"/>
          </a:solidFill>
          <a:ln w="9525">
            <a:solidFill>
              <a:srgbClr val="E5E7EB"/>
            </a:solidFill>
            <a:prstDash val="solid"/>
          </a:ln>
          <a:effectLst>
            <a:outerShdw sx="100000" sy="100000" kx="0" ky="0" algn="bl" rotWithShape="0" blurRad="101600" dist="25400" dir="5400000">
              <a:srgbClr val="000000">
                <a:alpha val="6000"/>
              </a:srgbClr>
            </a:outerShdw>
          </a:effectLst>
        </p:spPr>
      </p:sp>
      <p:sp>
        <p:nvSpPr>
          <p:cNvPr id="21" name="Shape 19"/>
          <p:cNvSpPr/>
          <p:nvPr/>
        </p:nvSpPr>
        <p:spPr>
          <a:xfrm>
            <a:off x="7461504" y="2286000"/>
            <a:ext cx="2157984" cy="548640"/>
          </a:xfrm>
          <a:prstGeom prst="rect">
            <a:avLst/>
          </a:prstGeom>
          <a:solidFill>
            <a:srgbClr val="008053"/>
          </a:solidFill>
          <a:ln/>
        </p:spPr>
      </p:sp>
      <p:sp>
        <p:nvSpPr>
          <p:cNvPr id="22" name="Text 20"/>
          <p:cNvSpPr/>
          <p:nvPr/>
        </p:nvSpPr>
        <p:spPr>
          <a:xfrm>
            <a:off x="7598664" y="2377440"/>
            <a:ext cx="914400" cy="3657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04</a:t>
            </a:r>
            <a:endParaRPr lang="en-US" sz="1800" dirty="0"/>
          </a:p>
        </p:txBody>
      </p:sp>
      <p:sp>
        <p:nvSpPr>
          <p:cNvPr id="23" name="Text 21"/>
          <p:cNvSpPr/>
          <p:nvPr/>
        </p:nvSpPr>
        <p:spPr>
          <a:xfrm>
            <a:off x="7644384" y="3063240"/>
            <a:ext cx="1792224" cy="640080"/>
          </a:xfrm>
          <a:prstGeom prst="rect">
            <a:avLst/>
          </a:prstGeom>
          <a:noFill/>
          <a:ln/>
        </p:spPr>
        <p:txBody>
          <a:bodyPr wrap="square" lIns="0" tIns="0" rIns="0" bIns="0" rtlCol="0" anchor="ctr"/>
          <a:lstStyle/>
          <a:p>
            <a:pPr indent="0" marL="0">
              <a:buNone/>
            </a:pPr>
            <a:r>
              <a:rPr lang="en-US" sz="1400" b="1" dirty="0">
                <a:solidFill>
                  <a:srgbClr val="1A1A1A"/>
                </a:solidFill>
                <a:latin typeface="Cambria" pitchFamily="34" charset="0"/>
                <a:ea typeface="Cambria" pitchFamily="34" charset="-122"/>
                <a:cs typeface="Cambria" pitchFamily="34" charset="-120"/>
              </a:rPr>
              <a:t>Backup</a:t>
            </a:r>
            <a:endParaRPr lang="en-US" sz="1400" dirty="0"/>
          </a:p>
        </p:txBody>
      </p:sp>
      <p:sp>
        <p:nvSpPr>
          <p:cNvPr id="24" name="Text 22"/>
          <p:cNvSpPr/>
          <p:nvPr/>
        </p:nvSpPr>
        <p:spPr>
          <a:xfrm>
            <a:off x="7644384" y="3749040"/>
            <a:ext cx="1792224" cy="11887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Combien de copies de sauvegarde et où sont-elles stockées ?</a:t>
            </a:r>
            <a:endParaRPr lang="en-US" sz="1100" dirty="0"/>
          </a:p>
        </p:txBody>
      </p:sp>
      <p:sp>
        <p:nvSpPr>
          <p:cNvPr id="25" name="Shape 23"/>
          <p:cNvSpPr/>
          <p:nvPr/>
        </p:nvSpPr>
        <p:spPr>
          <a:xfrm>
            <a:off x="9765792" y="2286000"/>
            <a:ext cx="2157984" cy="2743200"/>
          </a:xfrm>
          <a:prstGeom prst="rect">
            <a:avLst/>
          </a:prstGeom>
          <a:solidFill>
            <a:srgbClr val="FFFFFF"/>
          </a:solidFill>
          <a:ln w="9525">
            <a:solidFill>
              <a:srgbClr val="E5E7EB"/>
            </a:solidFill>
            <a:prstDash val="solid"/>
          </a:ln>
          <a:effectLst>
            <a:outerShdw sx="100000" sy="100000" kx="0" ky="0" algn="bl" rotWithShape="0" blurRad="101600" dist="25400" dir="5400000">
              <a:srgbClr val="000000">
                <a:alpha val="6000"/>
              </a:srgbClr>
            </a:outerShdw>
          </a:effectLst>
        </p:spPr>
      </p:sp>
      <p:sp>
        <p:nvSpPr>
          <p:cNvPr id="26" name="Shape 24"/>
          <p:cNvSpPr/>
          <p:nvPr/>
        </p:nvSpPr>
        <p:spPr>
          <a:xfrm>
            <a:off x="9765792" y="2286000"/>
            <a:ext cx="2157984" cy="548640"/>
          </a:xfrm>
          <a:prstGeom prst="rect">
            <a:avLst/>
          </a:prstGeom>
          <a:solidFill>
            <a:srgbClr val="008053"/>
          </a:solidFill>
          <a:ln/>
        </p:spPr>
      </p:sp>
      <p:sp>
        <p:nvSpPr>
          <p:cNvPr id="27" name="Text 25"/>
          <p:cNvSpPr/>
          <p:nvPr/>
        </p:nvSpPr>
        <p:spPr>
          <a:xfrm>
            <a:off x="9902952" y="2377440"/>
            <a:ext cx="914400" cy="3657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05</a:t>
            </a:r>
            <a:endParaRPr lang="en-US" sz="1800" dirty="0"/>
          </a:p>
        </p:txBody>
      </p:sp>
      <p:sp>
        <p:nvSpPr>
          <p:cNvPr id="28" name="Text 26"/>
          <p:cNvSpPr/>
          <p:nvPr/>
        </p:nvSpPr>
        <p:spPr>
          <a:xfrm>
            <a:off x="9948672" y="3063240"/>
            <a:ext cx="1792224" cy="640080"/>
          </a:xfrm>
          <a:prstGeom prst="rect">
            <a:avLst/>
          </a:prstGeom>
          <a:noFill/>
          <a:ln/>
        </p:spPr>
        <p:txBody>
          <a:bodyPr wrap="square" lIns="0" tIns="0" rIns="0" bIns="0" rtlCol="0" anchor="ctr"/>
          <a:lstStyle/>
          <a:p>
            <a:pPr indent="0" marL="0">
              <a:buNone/>
            </a:pPr>
            <a:r>
              <a:rPr lang="en-US" sz="1400" b="1" dirty="0">
                <a:solidFill>
                  <a:srgbClr val="1A1A1A"/>
                </a:solidFill>
                <a:latin typeface="Cambria" pitchFamily="34" charset="0"/>
                <a:ea typeface="Cambria" pitchFamily="34" charset="-122"/>
                <a:cs typeface="Cambria" pitchFamily="34" charset="-120"/>
              </a:rPr>
              <a:t>Recover Mechanism</a:t>
            </a:r>
            <a:endParaRPr lang="en-US" sz="1400" dirty="0"/>
          </a:p>
        </p:txBody>
      </p:sp>
      <p:sp>
        <p:nvSpPr>
          <p:cNvPr id="29" name="Text 27"/>
          <p:cNvSpPr/>
          <p:nvPr/>
        </p:nvSpPr>
        <p:spPr>
          <a:xfrm>
            <a:off x="9948672" y="3749040"/>
            <a:ext cx="1792224" cy="11887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Quels runbooks et tests de restauration sont obligatoires ?</a:t>
            </a:r>
            <a:endParaRPr lang="en-US" sz="1100" dirty="0"/>
          </a:p>
        </p:txBody>
      </p:sp>
      <p:sp>
        <p:nvSpPr>
          <p:cNvPr id="30" name="Shape 28"/>
          <p:cNvSpPr/>
          <p:nvPr/>
        </p:nvSpPr>
        <p:spPr>
          <a:xfrm>
            <a:off x="548640" y="5349240"/>
            <a:ext cx="11064240" cy="868680"/>
          </a:xfrm>
          <a:prstGeom prst="rect">
            <a:avLst/>
          </a:prstGeom>
          <a:solidFill>
            <a:srgbClr val="E6F2EC"/>
          </a:solidFill>
          <a:ln w="12700">
            <a:solidFill>
              <a:srgbClr val="008053"/>
            </a:solidFill>
            <a:prstDash val="solid"/>
          </a:ln>
        </p:spPr>
      </p:sp>
      <p:sp>
        <p:nvSpPr>
          <p:cNvPr id="31" name="Shape 29"/>
          <p:cNvSpPr/>
          <p:nvPr/>
        </p:nvSpPr>
        <p:spPr>
          <a:xfrm>
            <a:off x="548640" y="5349240"/>
            <a:ext cx="73152" cy="868680"/>
          </a:xfrm>
          <a:prstGeom prst="rect">
            <a:avLst/>
          </a:prstGeom>
          <a:solidFill>
            <a:srgbClr val="008053"/>
          </a:solidFill>
          <a:ln/>
        </p:spPr>
      </p:sp>
      <p:sp>
        <p:nvSpPr>
          <p:cNvPr id="32" name="Text 30"/>
          <p:cNvSpPr/>
          <p:nvPr/>
        </p:nvSpPr>
        <p:spPr>
          <a:xfrm>
            <a:off x="777240" y="5422392"/>
            <a:ext cx="10058400" cy="274320"/>
          </a:xfrm>
          <a:prstGeom prst="rect">
            <a:avLst/>
          </a:prstGeom>
          <a:noFill/>
          <a:ln/>
        </p:spPr>
        <p:txBody>
          <a:bodyPr wrap="square" lIns="0" tIns="0" rIns="0" bIns="0" rtlCol="0" anchor="ctr"/>
          <a:lstStyle/>
          <a:p>
            <a:pPr indent="0" marL="0">
              <a:buNone/>
            </a:pPr>
            <a:r>
              <a:rPr lang="en-US" sz="1000" b="1" spc="200" kern="0" dirty="0">
                <a:solidFill>
                  <a:srgbClr val="008053"/>
                </a:solidFill>
                <a:latin typeface="Calibri" pitchFamily="34" charset="0"/>
                <a:ea typeface="Calibri" pitchFamily="34" charset="-122"/>
                <a:cs typeface="Calibri" pitchFamily="34" charset="-120"/>
              </a:rPr>
              <a:t>Point clé souvent mal compris</a:t>
            </a:r>
            <a:endParaRPr lang="en-US" sz="1000" dirty="0"/>
          </a:p>
        </p:txBody>
      </p:sp>
      <p:sp>
        <p:nvSpPr>
          <p:cNvPr id="33" name="Text 31"/>
          <p:cNvSpPr/>
          <p:nvPr/>
        </p:nvSpPr>
        <p:spPr>
          <a:xfrm>
            <a:off x="777240" y="5715000"/>
            <a:ext cx="10698480" cy="457200"/>
          </a:xfrm>
          <a:prstGeom prst="rect">
            <a:avLst/>
          </a:prstGeom>
          <a:noFill/>
          <a:ln/>
        </p:spPr>
        <p:txBody>
          <a:bodyPr wrap="square" lIns="0" tIns="0" rIns="0" bIns="0" rtlCol="0" anchor="ctr"/>
          <a:lstStyle/>
          <a:p>
            <a:pPr indent="0" marL="0">
              <a:buNone/>
            </a:pPr>
            <a:r>
              <a:rPr lang="en-US" sz="1100" dirty="0">
                <a:solidFill>
                  <a:srgbClr val="2C2C2C"/>
                </a:solidFill>
                <a:latin typeface="Calibri" pitchFamily="34" charset="0"/>
                <a:ea typeface="Calibri" pitchFamily="34" charset="-122"/>
                <a:cs typeface="Calibri" pitchFamily="34" charset="-120"/>
              </a:rPr>
              <a:t>La RefCard parle de Near Sync (≠ sync strict). Cela autorise un RPO de l'ordre de quelques millisecondes — ce n'est pas un RPO mathématiquement nul. Toute exigence métier « RPO=0 absolu » sort du cadre standard et nécessite une dérogation formelle.</a:t>
            </a:r>
            <a:endParaRPr lang="en-US" sz="1100" dirty="0"/>
          </a:p>
        </p:txBody>
      </p:sp>
      <p:sp>
        <p:nvSpPr>
          <p:cNvPr id="34" name="Shape 32"/>
          <p:cNvSpPr/>
          <p:nvPr/>
        </p:nvSpPr>
        <p:spPr>
          <a:xfrm>
            <a:off x="548640" y="6446520"/>
            <a:ext cx="11064240" cy="0"/>
          </a:xfrm>
          <a:prstGeom prst="line">
            <a:avLst/>
          </a:prstGeom>
          <a:noFill/>
          <a:ln w="6350">
            <a:solidFill>
              <a:srgbClr val="E5E7EB"/>
            </a:solidFill>
            <a:prstDash val="solid"/>
          </a:ln>
        </p:spPr>
      </p:sp>
      <p:sp>
        <p:nvSpPr>
          <p:cNvPr id="35" name="Text 33"/>
          <p:cNvSpPr/>
          <p:nvPr/>
        </p:nvSpPr>
        <p:spPr>
          <a:xfrm>
            <a:off x="548640" y="651052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BNP Paribas Cardif  ·  TOE  ·  Cloud Native Architecture</a:t>
            </a:r>
            <a:endParaRPr lang="en-US" sz="900" dirty="0"/>
          </a:p>
        </p:txBody>
      </p:sp>
      <p:sp>
        <p:nvSpPr>
          <p:cNvPr id="36" name="Text 34"/>
          <p:cNvSpPr/>
          <p:nvPr/>
        </p:nvSpPr>
        <p:spPr>
          <a:xfrm>
            <a:off x="10515600" y="6510528"/>
            <a:ext cx="109728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 / 17</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lIns="0" tIns="0" rIns="0" bIns="0" rtlCol="0" anchor="ctr"/>
          <a:lstStyle/>
          <a:p>
            <a:pPr indent="0" marL="0">
              <a:buNone/>
            </a:pPr>
            <a:r>
              <a:rPr lang="en-US" sz="1000" b="1" spc="400" kern="0" dirty="0">
                <a:solidFill>
                  <a:srgbClr val="B89653"/>
                </a:solidFill>
                <a:latin typeface="Calibri" pitchFamily="34" charset="0"/>
                <a:ea typeface="Calibri" pitchFamily="34" charset="-122"/>
                <a:cs typeface="Calibri" pitchFamily="34" charset="-120"/>
              </a:rPr>
              <a:t>02 · SYNTHÈSE</a:t>
            </a:r>
            <a:endParaRPr lang="en-US" sz="1000" dirty="0"/>
          </a:p>
        </p:txBody>
      </p:sp>
      <p:sp>
        <p:nvSpPr>
          <p:cNvPr id="3" name="Text 1"/>
          <p:cNvSpPr/>
          <p:nvPr/>
        </p:nvSpPr>
        <p:spPr>
          <a:xfrm>
            <a:off x="548640" y="713232"/>
            <a:ext cx="10972800" cy="640080"/>
          </a:xfrm>
          <a:prstGeom prst="rect">
            <a:avLst/>
          </a:prstGeom>
          <a:noFill/>
          <a:ln/>
        </p:spPr>
        <p:txBody>
          <a:bodyPr wrap="square" lIns="0" tIns="0" rIns="0" bIns="0" rtlCol="0" anchor="ctr"/>
          <a:lstStyle/>
          <a:p>
            <a:pPr indent="0" marL="0">
              <a:buNone/>
            </a:pPr>
            <a:r>
              <a:rPr lang="en-US" sz="2800" b="1" dirty="0">
                <a:solidFill>
                  <a:srgbClr val="1A1A1A"/>
                </a:solidFill>
                <a:latin typeface="Cambria" pitchFamily="34" charset="0"/>
                <a:ea typeface="Cambria" pitchFamily="34" charset="-122"/>
                <a:cs typeface="Cambria" pitchFamily="34" charset="-120"/>
              </a:rPr>
              <a:t>Les 4 niveaux de continuité — vue comparée</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1371600"/>
                <a:gridCol w="1188720"/>
                <a:gridCol w="1188720"/>
                <a:gridCol w="1188720"/>
                <a:gridCol w="1371600"/>
                <a:gridCol w="1371600"/>
                <a:gridCol w="1188720"/>
                <a:gridCol w="2194560"/>
              </a:tblGrid>
              <a:tr h="50292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Niveau</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04D3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AZ Hosting</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04D3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AZ Status</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04D3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Local Failover</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04D3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Local Data</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04D3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Regional Data</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04D3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Backup</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04D3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Rebuild / Restore</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04D32"/>
                    </a:solidFill>
                  </a:tcPr>
                </a:tc>
              </a:tr>
              <a:tr h="50292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EXTREME</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B81E1E"/>
                    </a:solidFill>
                  </a:tcPr>
                </a:tc>
                <a:tc>
                  <a:txBody>
                    <a:bodyPr/>
                    <a:lstStyle/>
                    <a:p>
                      <a:pPr algn="ctr" indent="0" marL="0">
                        <a:buNone/>
                      </a:pPr>
                      <a:r>
                        <a:rPr lang="en-US" sz="1100" b="1" dirty="0">
                          <a:solidFill>
                            <a:srgbClr val="2C2C2C"/>
                          </a:solidFill>
                          <a:latin typeface="Calibri" pitchFamily="34" charset="0"/>
                          <a:ea typeface="Calibri" pitchFamily="34" charset="-122"/>
                          <a:cs typeface="Calibri" pitchFamily="34" charset="-120"/>
                        </a:rPr>
                        <a:t>M:Three</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C2C2C"/>
                          </a:solidFill>
                          <a:latin typeface="Calibri" pitchFamily="34" charset="0"/>
                          <a:ea typeface="Calibri" pitchFamily="34" charset="-122"/>
                          <a:cs typeface="Calibri" pitchFamily="34" charset="-120"/>
                        </a:rPr>
                        <a:t>All Active</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C2C2C"/>
                          </a:solidFill>
                          <a:latin typeface="Calibri" pitchFamily="34" charset="0"/>
                          <a:ea typeface="Calibri" pitchFamily="34" charset="-122"/>
                          <a:cs typeface="Calibri" pitchFamily="34" charset="-120"/>
                        </a:rPr>
                        <a:t>HA</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C2C2C"/>
                          </a:solidFill>
                          <a:latin typeface="Calibri" pitchFamily="34" charset="0"/>
                          <a:ea typeface="Calibri" pitchFamily="34" charset="-122"/>
                          <a:cs typeface="Calibri" pitchFamily="34" charset="-120"/>
                        </a:rPr>
                        <a:t>Near Sync</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C2C2C"/>
                          </a:solidFill>
                          <a:latin typeface="Calibri" pitchFamily="34" charset="0"/>
                          <a:ea typeface="Calibri" pitchFamily="34" charset="-122"/>
                          <a:cs typeface="Calibri" pitchFamily="34" charset="-120"/>
                        </a:rPr>
                        <a:t>M:One</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C2C2C"/>
                          </a:solidFill>
                          <a:latin typeface="Calibri" pitchFamily="34" charset="0"/>
                          <a:ea typeface="Calibri" pitchFamily="34" charset="-122"/>
                          <a:cs typeface="Calibri" pitchFamily="34" charset="-120"/>
                        </a:rPr>
                        <a:t>M:Two</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B81E1E"/>
                          </a:solidFill>
                          <a:latin typeface="Calibri" pitchFamily="34" charset="0"/>
                          <a:ea typeface="Calibri" pitchFamily="34" charset="-122"/>
                          <a:cs typeface="Calibri" pitchFamily="34" charset="-120"/>
                        </a:rPr>
                        <a:t>MUST / MUST</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50292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SERIOUS</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D97706"/>
                    </a:solidFill>
                  </a:tcPr>
                </a:tc>
                <a:tc>
                  <a:txBody>
                    <a:bodyPr/>
                    <a:lstStyle/>
                    <a:p>
                      <a:pPr algn="ctr" indent="0" marL="0">
                        <a:buNone/>
                      </a:pPr>
                      <a:r>
                        <a:rPr lang="en-US" sz="1100" b="1" dirty="0">
                          <a:solidFill>
                            <a:srgbClr val="2C2C2C"/>
                          </a:solidFill>
                          <a:latin typeface="Calibri" pitchFamily="34" charset="0"/>
                          <a:ea typeface="Calibri" pitchFamily="34" charset="-122"/>
                          <a:cs typeface="Calibri" pitchFamily="34" charset="-120"/>
                        </a:rPr>
                        <a:t>M:Two</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A"/>
                    </a:solidFill>
                  </a:tcPr>
                </a:tc>
                <a:tc>
                  <a:txBody>
                    <a:bodyPr/>
                    <a:lstStyle/>
                    <a:p>
                      <a:pPr algn="ctr" indent="0" marL="0">
                        <a:buNone/>
                      </a:pPr>
                      <a:r>
                        <a:rPr lang="en-US" sz="1100" dirty="0">
                          <a:solidFill>
                            <a:srgbClr val="2C2C2C"/>
                          </a:solidFill>
                          <a:latin typeface="Calibri" pitchFamily="34" charset="0"/>
                          <a:ea typeface="Calibri" pitchFamily="34" charset="-122"/>
                          <a:cs typeface="Calibri" pitchFamily="34" charset="-120"/>
                        </a:rPr>
                        <a:t>All Active</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A"/>
                    </a:solidFill>
                  </a:tcPr>
                </a:tc>
                <a:tc>
                  <a:txBody>
                    <a:bodyPr/>
                    <a:lstStyle/>
                    <a:p>
                      <a:pPr algn="ctr" indent="0" marL="0">
                        <a:buNone/>
                      </a:pPr>
                      <a:r>
                        <a:rPr lang="en-US" sz="1100" dirty="0">
                          <a:solidFill>
                            <a:srgbClr val="2C2C2C"/>
                          </a:solidFill>
                          <a:latin typeface="Calibri" pitchFamily="34" charset="0"/>
                          <a:ea typeface="Calibri" pitchFamily="34" charset="-122"/>
                          <a:cs typeface="Calibri" pitchFamily="34" charset="-120"/>
                        </a:rPr>
                        <a:t>HA</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A"/>
                    </a:solidFill>
                  </a:tcPr>
                </a:tc>
                <a:tc>
                  <a:txBody>
                    <a:bodyPr/>
                    <a:lstStyle/>
                    <a:p>
                      <a:pPr algn="ctr" indent="0" marL="0">
                        <a:buNone/>
                      </a:pPr>
                      <a:r>
                        <a:rPr lang="en-US" sz="1100" dirty="0">
                          <a:solidFill>
                            <a:srgbClr val="2C2C2C"/>
                          </a:solidFill>
                          <a:latin typeface="Calibri" pitchFamily="34" charset="0"/>
                          <a:ea typeface="Calibri" pitchFamily="34" charset="-122"/>
                          <a:cs typeface="Calibri" pitchFamily="34" charset="-120"/>
                        </a:rPr>
                        <a:t>Near Sync</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A"/>
                    </a:solidFill>
                  </a:tcPr>
                </a:tc>
                <a:tc>
                  <a:txBody>
                    <a:bodyPr/>
                    <a:lstStyle/>
                    <a:p>
                      <a:pPr algn="ctr" indent="0" marL="0">
                        <a:buNone/>
                      </a:pPr>
                      <a:r>
                        <a:rPr lang="en-US" sz="1100" dirty="0">
                          <a:solidFill>
                            <a:srgbClr val="2C2C2C"/>
                          </a:solidFill>
                          <a:latin typeface="Calibri" pitchFamily="34" charset="0"/>
                          <a:ea typeface="Calibri" pitchFamily="34" charset="-122"/>
                          <a:cs typeface="Calibri" pitchFamily="34" charset="-120"/>
                        </a:rPr>
                        <a:t>M:One</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A"/>
                    </a:solidFill>
                  </a:tcPr>
                </a:tc>
                <a:tc>
                  <a:txBody>
                    <a:bodyPr/>
                    <a:lstStyle/>
                    <a:p>
                      <a:pPr algn="ctr" indent="0" marL="0">
                        <a:buNone/>
                      </a:pPr>
                      <a:r>
                        <a:rPr lang="en-US" sz="1100" dirty="0">
                          <a:solidFill>
                            <a:srgbClr val="2C2C2C"/>
                          </a:solidFill>
                          <a:latin typeface="Calibri" pitchFamily="34" charset="0"/>
                          <a:ea typeface="Calibri" pitchFamily="34" charset="-122"/>
                          <a:cs typeface="Calibri" pitchFamily="34" charset="-120"/>
                        </a:rPr>
                        <a:t>M:Two</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A"/>
                    </a:solidFill>
                  </a:tcPr>
                </a:tc>
                <a:tc>
                  <a:txBody>
                    <a:bodyPr/>
                    <a:lstStyle/>
                    <a:p>
                      <a:pPr algn="ctr" indent="0" marL="0">
                        <a:buNone/>
                      </a:pPr>
                      <a:r>
                        <a:rPr lang="en-US" sz="1100" b="1" dirty="0">
                          <a:solidFill>
                            <a:srgbClr val="D97706"/>
                          </a:solidFill>
                          <a:latin typeface="Calibri" pitchFamily="34" charset="0"/>
                          <a:ea typeface="Calibri" pitchFamily="34" charset="-122"/>
                          <a:cs typeface="Calibri" pitchFamily="34" charset="-120"/>
                        </a:rPr>
                        <a:t>MUST / MUST</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A"/>
                    </a:solidFill>
                  </a:tcPr>
                </a:tc>
              </a:tr>
              <a:tr h="50292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MODERATE</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CA9A0E"/>
                    </a:solidFill>
                  </a:tcPr>
                </a:tc>
                <a:tc>
                  <a:txBody>
                    <a:bodyPr/>
                    <a:lstStyle/>
                    <a:p>
                      <a:pPr algn="ctr" indent="0" marL="0">
                        <a:buNone/>
                      </a:pPr>
                      <a:r>
                        <a:rPr lang="en-US" sz="1100" dirty="0">
                          <a:solidFill>
                            <a:srgbClr val="2C2C2C"/>
                          </a:solidFill>
                          <a:latin typeface="Calibri" pitchFamily="34" charset="0"/>
                          <a:ea typeface="Calibri" pitchFamily="34" charset="-122"/>
                          <a:cs typeface="Calibri" pitchFamily="34" charset="-120"/>
                        </a:rPr>
                        <a:t>M:Two</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9CA3AF"/>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C2C2C"/>
                          </a:solidFill>
                          <a:latin typeface="Calibri" pitchFamily="34" charset="0"/>
                          <a:ea typeface="Calibri" pitchFamily="34" charset="-122"/>
                          <a:cs typeface="Calibri" pitchFamily="34" charset="-120"/>
                        </a:rPr>
                        <a:t>Hot</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C2C2C"/>
                          </a:solidFill>
                          <a:latin typeface="Calibri" pitchFamily="34" charset="0"/>
                          <a:ea typeface="Calibri" pitchFamily="34" charset="-122"/>
                          <a:cs typeface="Calibri" pitchFamily="34" charset="-120"/>
                        </a:rPr>
                        <a:t>Async/Batch</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C2C2C"/>
                          </a:solidFill>
                          <a:latin typeface="Calibri" pitchFamily="34" charset="0"/>
                          <a:ea typeface="Calibri" pitchFamily="34" charset="-122"/>
                          <a:cs typeface="Calibri" pitchFamily="34" charset="-120"/>
                        </a:rPr>
                        <a:t>M:One</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C2C2C"/>
                          </a:solidFill>
                          <a:latin typeface="Calibri" pitchFamily="34" charset="0"/>
                          <a:ea typeface="Calibri" pitchFamily="34" charset="-122"/>
                          <a:cs typeface="Calibri" pitchFamily="34" charset="-120"/>
                        </a:rPr>
                        <a:t>M:Two</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CA9A0E"/>
                          </a:solidFill>
                          <a:latin typeface="Calibri" pitchFamily="34" charset="0"/>
                          <a:ea typeface="Calibri" pitchFamily="34" charset="-122"/>
                          <a:cs typeface="Calibri" pitchFamily="34" charset="-120"/>
                        </a:rPr>
                        <a:t>SHOULD / MUST</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50292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LOW</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59669"/>
                    </a:solidFill>
                  </a:tcPr>
                </a:tc>
                <a:tc>
                  <a:txBody>
                    <a:bodyPr/>
                    <a:lstStyle/>
                    <a:p>
                      <a:pPr algn="ctr" indent="0" marL="0">
                        <a:buNone/>
                      </a:pPr>
                      <a:r>
                        <a:rPr lang="en-US" sz="1100" dirty="0">
                          <a:solidFill>
                            <a:srgbClr val="2C2C2C"/>
                          </a:solidFill>
                          <a:latin typeface="Calibri" pitchFamily="34" charset="0"/>
                          <a:ea typeface="Calibri" pitchFamily="34" charset="-122"/>
                          <a:cs typeface="Calibri" pitchFamily="34" charset="-120"/>
                        </a:rPr>
                        <a:t>M:One</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A"/>
                    </a:solidFill>
                  </a:tcPr>
                </a:tc>
                <a:tc>
                  <a:txBody>
                    <a:bodyPr/>
                    <a:lstStyle/>
                    <a:p>
                      <a:pPr algn="ctr" indent="0" marL="0">
                        <a:buNone/>
                      </a:pPr>
                      <a:r>
                        <a:rPr lang="en-US" sz="1100" dirty="0">
                          <a:solidFill>
                            <a:srgbClr val="9CA3AF"/>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A"/>
                    </a:solidFill>
                  </a:tcPr>
                </a:tc>
                <a:tc>
                  <a:txBody>
                    <a:bodyPr/>
                    <a:lstStyle/>
                    <a:p>
                      <a:pPr algn="ctr" indent="0" marL="0">
                        <a:buNone/>
                      </a:pPr>
                      <a:r>
                        <a:rPr lang="en-US" sz="1100" b="1" dirty="0">
                          <a:solidFill>
                            <a:srgbClr val="2C2C2C"/>
                          </a:solidFill>
                          <a:latin typeface="Calibri" pitchFamily="34" charset="0"/>
                          <a:ea typeface="Calibri" pitchFamily="34" charset="-122"/>
                          <a:cs typeface="Calibri" pitchFamily="34" charset="-120"/>
                        </a:rPr>
                        <a:t>Cold</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A"/>
                    </a:solidFill>
                  </a:tcPr>
                </a:tc>
                <a:tc>
                  <a:txBody>
                    <a:bodyPr/>
                    <a:lstStyle/>
                    <a:p>
                      <a:pPr algn="ctr" indent="0" marL="0">
                        <a:buNone/>
                      </a:pPr>
                      <a:r>
                        <a:rPr lang="en-US" sz="1100" dirty="0">
                          <a:solidFill>
                            <a:srgbClr val="2C2C2C"/>
                          </a:solidFill>
                          <a:latin typeface="Calibri" pitchFamily="34" charset="0"/>
                          <a:ea typeface="Calibri" pitchFamily="34" charset="-122"/>
                          <a:cs typeface="Calibri" pitchFamily="34" charset="-120"/>
                        </a:rPr>
                        <a:t>Async/Batch</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A"/>
                    </a:solidFill>
                  </a:tcPr>
                </a:tc>
                <a:tc>
                  <a:txBody>
                    <a:bodyPr/>
                    <a:lstStyle/>
                    <a:p>
                      <a:pPr algn="ctr" indent="0" marL="0">
                        <a:buNone/>
                      </a:pPr>
                      <a:r>
                        <a:rPr lang="en-US" sz="1100" dirty="0">
                          <a:solidFill>
                            <a:srgbClr val="2C2C2C"/>
                          </a:solidFill>
                          <a:latin typeface="Calibri" pitchFamily="34" charset="0"/>
                          <a:ea typeface="Calibri" pitchFamily="34" charset="-122"/>
                          <a:cs typeface="Calibri" pitchFamily="34" charset="-120"/>
                        </a:rPr>
                        <a:t>M:One</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A"/>
                    </a:solidFill>
                  </a:tcPr>
                </a:tc>
                <a:tc>
                  <a:txBody>
                    <a:bodyPr/>
                    <a:lstStyle/>
                    <a:p>
                      <a:pPr algn="ctr" indent="0" marL="0">
                        <a:buNone/>
                      </a:pPr>
                      <a:r>
                        <a:rPr lang="en-US" sz="1100" dirty="0">
                          <a:solidFill>
                            <a:srgbClr val="2C2C2C"/>
                          </a:solidFill>
                          <a:latin typeface="Calibri" pitchFamily="34" charset="0"/>
                          <a:ea typeface="Calibri" pitchFamily="34" charset="-122"/>
                          <a:cs typeface="Calibri" pitchFamily="34" charset="-120"/>
                        </a:rPr>
                        <a:t>M:Two</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A"/>
                    </a:solidFill>
                  </a:tcPr>
                </a:tc>
                <a:tc>
                  <a:txBody>
                    <a:bodyPr/>
                    <a:lstStyle/>
                    <a:p>
                      <a:pPr algn="ctr" indent="0" marL="0">
                        <a:buNone/>
                      </a:pPr>
                      <a:r>
                        <a:rPr lang="en-US" sz="1100" b="1" dirty="0">
                          <a:solidFill>
                            <a:srgbClr val="059669"/>
                          </a:solidFill>
                          <a:latin typeface="Calibri" pitchFamily="34" charset="0"/>
                          <a:ea typeface="Calibri" pitchFamily="34" charset="-122"/>
                          <a:cs typeface="Calibri" pitchFamily="34" charset="-120"/>
                        </a:rPr>
                        <a:t>COULD / MUST</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A"/>
                    </a:solidFill>
                  </a:tcPr>
                </a:tc>
              </a:tr>
            </a:tbl>
          </a:graphicData>
        </a:graphic>
      </p:graphicFrame>
      <p:sp>
        <p:nvSpPr>
          <p:cNvPr id="5" name="Shape 2"/>
          <p:cNvSpPr/>
          <p:nvPr/>
        </p:nvSpPr>
        <p:spPr>
          <a:xfrm>
            <a:off x="548640" y="4572000"/>
            <a:ext cx="11064240" cy="1691640"/>
          </a:xfrm>
          <a:prstGeom prst="rect">
            <a:avLst/>
          </a:prstGeom>
          <a:solidFill>
            <a:srgbClr val="FAFAFA"/>
          </a:solidFill>
          <a:ln w="6350">
            <a:solidFill>
              <a:srgbClr val="E5E7EB"/>
            </a:solidFill>
            <a:prstDash val="solid"/>
          </a:ln>
        </p:spPr>
      </p:sp>
      <p:sp>
        <p:nvSpPr>
          <p:cNvPr id="6" name="Text 3"/>
          <p:cNvSpPr/>
          <p:nvPr/>
        </p:nvSpPr>
        <p:spPr>
          <a:xfrm>
            <a:off x="777240" y="4663440"/>
            <a:ext cx="7315200" cy="274320"/>
          </a:xfrm>
          <a:prstGeom prst="rect">
            <a:avLst/>
          </a:prstGeom>
          <a:noFill/>
          <a:ln/>
        </p:spPr>
        <p:txBody>
          <a:bodyPr wrap="square" lIns="0" tIns="0" rIns="0" bIns="0" rtlCol="0" anchor="ctr"/>
          <a:lstStyle/>
          <a:p>
            <a:pPr indent="0" marL="0">
              <a:buNone/>
            </a:pPr>
            <a:r>
              <a:rPr lang="en-US" sz="1000" b="1" spc="300" kern="0" dirty="0">
                <a:solidFill>
                  <a:srgbClr val="B89653"/>
                </a:solidFill>
                <a:latin typeface="Calibri" pitchFamily="34" charset="0"/>
                <a:ea typeface="Calibri" pitchFamily="34" charset="-122"/>
                <a:cs typeface="Calibri" pitchFamily="34" charset="-120"/>
              </a:rPr>
              <a:t>LECTURE DU TABLEAU</a:t>
            </a:r>
            <a:endParaRPr lang="en-US" sz="1000" dirty="0"/>
          </a:p>
        </p:txBody>
      </p:sp>
      <p:sp>
        <p:nvSpPr>
          <p:cNvPr id="7" name="Text 4"/>
          <p:cNvSpPr/>
          <p:nvPr/>
        </p:nvSpPr>
        <p:spPr>
          <a:xfrm>
            <a:off x="777240" y="4983480"/>
            <a:ext cx="10698480" cy="1280160"/>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2C2C2C"/>
                </a:solidFill>
                <a:latin typeface="Calibri" pitchFamily="34" charset="0"/>
                <a:ea typeface="Calibri" pitchFamily="34" charset="-122"/>
                <a:cs typeface="Calibri" pitchFamily="34" charset="-120"/>
              </a:rPr>
              <a:t>Le DR régional M:One reste constant pour tous les niveaux</a:t>
            </a:r>
            <a:endParaRPr lang="en-US" sz="1100" dirty="0"/>
          </a:p>
          <a:p>
            <a:pPr marL="342900" indent="-342900">
              <a:spcAft>
                <a:spcPts val="400"/>
              </a:spcAft>
              <a:buSzPct val="100000"/>
              <a:buChar char="•"/>
            </a:pPr>
            <a:r>
              <a:rPr lang="en-US" sz="1100" dirty="0">
                <a:solidFill>
                  <a:srgbClr val="2C2C2C"/>
                </a:solidFill>
                <a:latin typeface="Calibri" pitchFamily="34" charset="0"/>
                <a:ea typeface="Calibri" pitchFamily="34" charset="-122"/>
                <a:cs typeface="Calibri" pitchFamily="34" charset="-120"/>
              </a:rPr>
              <a:t>Différence Serious / Extreme = nombre d'AZ (2 vs 3) — sinon comportement identique</a:t>
            </a:r>
            <a:endParaRPr lang="en-US" sz="1100" dirty="0"/>
          </a:p>
          <a:p>
            <a:pPr marL="342900" indent="-342900">
              <a:spcAft>
                <a:spcPts val="400"/>
              </a:spcAft>
              <a:buSzPct val="100000"/>
              <a:buChar char="•"/>
            </a:pPr>
            <a:r>
              <a:rPr lang="en-US" sz="1100" dirty="0">
                <a:solidFill>
                  <a:srgbClr val="2C2C2C"/>
                </a:solidFill>
                <a:latin typeface="Calibri" pitchFamily="34" charset="0"/>
                <a:ea typeface="Calibri" pitchFamily="34" charset="-122"/>
                <a:cs typeface="Calibri" pitchFamily="34" charset="-120"/>
              </a:rPr>
              <a:t>Différence Moderate / Serious = mode de réplication (async vs near-sync) et failover (Hot vs All Active)</a:t>
            </a:r>
            <a:endParaRPr lang="en-US" sz="1100" dirty="0"/>
          </a:p>
          <a:p>
            <a:pPr marL="342900" indent="-342900">
              <a:spcAft>
                <a:spcPts val="400"/>
              </a:spcAft>
              <a:buSzPct val="100000"/>
              <a:buChar char="•"/>
            </a:pPr>
            <a:r>
              <a:rPr lang="en-US" sz="1100" dirty="0">
                <a:solidFill>
                  <a:srgbClr val="2C2C2C"/>
                </a:solidFill>
                <a:latin typeface="Calibri" pitchFamily="34" charset="0"/>
                <a:ea typeface="Calibri" pitchFamily="34" charset="-122"/>
                <a:cs typeface="Calibri" pitchFamily="34" charset="-120"/>
              </a:rPr>
              <a:t>Le niveau Low n'exige plus que la sauvegarde régionale comme filet de sécurité — pas de redondance multi-AZ</a:t>
            </a:r>
            <a:endParaRPr lang="en-US" sz="1100" dirty="0"/>
          </a:p>
        </p:txBody>
      </p:sp>
      <p:sp>
        <p:nvSpPr>
          <p:cNvPr id="8" name="Shape 5"/>
          <p:cNvSpPr/>
          <p:nvPr/>
        </p:nvSpPr>
        <p:spPr>
          <a:xfrm>
            <a:off x="548640" y="6446520"/>
            <a:ext cx="11064240" cy="0"/>
          </a:xfrm>
          <a:prstGeom prst="line">
            <a:avLst/>
          </a:prstGeom>
          <a:noFill/>
          <a:ln w="6350">
            <a:solidFill>
              <a:srgbClr val="E5E7EB"/>
            </a:solidFill>
            <a:prstDash val="solid"/>
          </a:ln>
        </p:spPr>
      </p:sp>
      <p:sp>
        <p:nvSpPr>
          <p:cNvPr id="9" name="Text 6"/>
          <p:cNvSpPr/>
          <p:nvPr/>
        </p:nvSpPr>
        <p:spPr>
          <a:xfrm>
            <a:off x="548640" y="651052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BNP Paribas Cardif  ·  TOE  ·  Cloud Native Architecture</a:t>
            </a:r>
            <a:endParaRPr lang="en-US" sz="900" dirty="0"/>
          </a:p>
        </p:txBody>
      </p:sp>
      <p:sp>
        <p:nvSpPr>
          <p:cNvPr id="10" name="Text 7"/>
          <p:cNvSpPr/>
          <p:nvPr/>
        </p:nvSpPr>
        <p:spPr>
          <a:xfrm>
            <a:off x="10515600" y="6510528"/>
            <a:ext cx="109728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 / 17</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lIns="0" tIns="0" rIns="0" bIns="0" rtlCol="0" anchor="ctr"/>
          <a:lstStyle/>
          <a:p>
            <a:pPr indent="0" marL="0">
              <a:buNone/>
            </a:pPr>
            <a:r>
              <a:rPr lang="en-US" sz="1000" b="1" spc="400" kern="0" dirty="0">
                <a:solidFill>
                  <a:srgbClr val="B89653"/>
                </a:solidFill>
                <a:latin typeface="Calibri" pitchFamily="34" charset="0"/>
                <a:ea typeface="Calibri" pitchFamily="34" charset="-122"/>
                <a:cs typeface="Calibri" pitchFamily="34" charset="-120"/>
              </a:rPr>
              <a:t>03 · DÉCODAGE</a:t>
            </a:r>
            <a:endParaRPr lang="en-US" sz="1000" dirty="0"/>
          </a:p>
        </p:txBody>
      </p:sp>
      <p:sp>
        <p:nvSpPr>
          <p:cNvPr id="3" name="Text 1"/>
          <p:cNvSpPr/>
          <p:nvPr/>
        </p:nvSpPr>
        <p:spPr>
          <a:xfrm>
            <a:off x="548640" y="713232"/>
            <a:ext cx="10972800" cy="640080"/>
          </a:xfrm>
          <a:prstGeom prst="rect">
            <a:avLst/>
          </a:prstGeom>
          <a:noFill/>
          <a:ln/>
        </p:spPr>
        <p:txBody>
          <a:bodyPr wrap="square" lIns="0" tIns="0" rIns="0" bIns="0" rtlCol="0" anchor="ctr"/>
          <a:lstStyle/>
          <a:p>
            <a:pPr indent="0" marL="0">
              <a:buNone/>
            </a:pPr>
            <a:r>
              <a:rPr lang="en-US" sz="2800" b="1" dirty="0">
                <a:solidFill>
                  <a:srgbClr val="1A1A1A"/>
                </a:solidFill>
                <a:latin typeface="Cambria" pitchFamily="34" charset="0"/>
                <a:ea typeface="Cambria" pitchFamily="34" charset="-122"/>
                <a:cs typeface="Cambria" pitchFamily="34" charset="-120"/>
              </a:rPr>
              <a:t>Active Mode — All Active vs Hot vs Cold</a:t>
            </a:r>
            <a:endParaRPr lang="en-US" sz="2800" dirty="0"/>
          </a:p>
        </p:txBody>
      </p:sp>
      <p:sp>
        <p:nvSpPr>
          <p:cNvPr id="4" name="Shape 2"/>
          <p:cNvSpPr/>
          <p:nvPr/>
        </p:nvSpPr>
        <p:spPr>
          <a:xfrm>
            <a:off x="548640" y="1691640"/>
            <a:ext cx="3584448" cy="4114800"/>
          </a:xfrm>
          <a:prstGeom prst="rect">
            <a:avLst/>
          </a:prstGeom>
          <a:solidFill>
            <a:srgbClr val="FFFFFF"/>
          </a:solidFill>
          <a:ln w="9525">
            <a:solidFill>
              <a:srgbClr val="E5E7EB"/>
            </a:solidFill>
            <a:prstDash val="solid"/>
          </a:ln>
          <a:effectLst>
            <a:outerShdw sx="100000" sy="100000" kx="0" ky="0" algn="bl" rotWithShape="0" blurRad="101600" dist="25400" dir="5400000">
              <a:srgbClr val="000000">
                <a:alpha val="8000"/>
              </a:srgbClr>
            </a:outerShdw>
          </a:effectLst>
        </p:spPr>
      </p:sp>
      <p:sp>
        <p:nvSpPr>
          <p:cNvPr id="5" name="Shape 3"/>
          <p:cNvSpPr/>
          <p:nvPr/>
        </p:nvSpPr>
        <p:spPr>
          <a:xfrm>
            <a:off x="548640" y="1691640"/>
            <a:ext cx="3584448" cy="777240"/>
          </a:xfrm>
          <a:prstGeom prst="rect">
            <a:avLst/>
          </a:prstGeom>
          <a:solidFill>
            <a:srgbClr val="B81E1E"/>
          </a:solidFill>
          <a:ln/>
        </p:spPr>
      </p:sp>
      <p:sp>
        <p:nvSpPr>
          <p:cNvPr id="6" name="Text 4"/>
          <p:cNvSpPr/>
          <p:nvPr/>
        </p:nvSpPr>
        <p:spPr>
          <a:xfrm>
            <a:off x="822960" y="1819656"/>
            <a:ext cx="3035808" cy="41148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All Active</a:t>
            </a:r>
            <a:endParaRPr lang="en-US" sz="2400" dirty="0"/>
          </a:p>
        </p:txBody>
      </p:sp>
      <p:sp>
        <p:nvSpPr>
          <p:cNvPr id="7" name="Text 5"/>
          <p:cNvSpPr/>
          <p:nvPr/>
        </p:nvSpPr>
        <p:spPr>
          <a:xfrm>
            <a:off x="822960" y="2194560"/>
            <a:ext cx="3035808" cy="228600"/>
          </a:xfrm>
          <a:prstGeom prst="rect">
            <a:avLst/>
          </a:prstGeom>
          <a:noFill/>
          <a:ln/>
        </p:spPr>
        <p:txBody>
          <a:bodyPr wrap="square" lIns="0" tIns="0" rIns="0" bIns="0" rtlCol="0" anchor="ctr"/>
          <a:lstStyle/>
          <a:p>
            <a:pPr indent="0" marL="0">
              <a:buNone/>
            </a:pPr>
            <a:r>
              <a:rPr lang="en-US" sz="900" b="1" spc="300" kern="0" dirty="0">
                <a:solidFill>
                  <a:srgbClr val="FFFFFF"/>
                </a:solidFill>
                <a:latin typeface="Calibri" pitchFamily="34" charset="0"/>
                <a:ea typeface="Calibri" pitchFamily="34" charset="-122"/>
                <a:cs typeface="Calibri" pitchFamily="34" charset="-120"/>
              </a:rPr>
              <a:t>EXTREME · SERIOUS</a:t>
            </a:r>
            <a:endParaRPr lang="en-US" sz="900" dirty="0"/>
          </a:p>
        </p:txBody>
      </p:sp>
      <p:sp>
        <p:nvSpPr>
          <p:cNvPr id="8" name="Text 6"/>
          <p:cNvSpPr/>
          <p:nvPr/>
        </p:nvSpPr>
        <p:spPr>
          <a:xfrm>
            <a:off x="822960" y="2651760"/>
            <a:ext cx="3035808" cy="201168"/>
          </a:xfrm>
          <a:prstGeom prst="rect">
            <a:avLst/>
          </a:prstGeom>
          <a:noFill/>
          <a:ln/>
        </p:spPr>
        <p:txBody>
          <a:bodyPr wrap="square" lIns="0" tIns="0" rIns="0" bIns="0" rtlCol="0" anchor="ctr"/>
          <a:lstStyle/>
          <a:p>
            <a:pPr indent="0" marL="0">
              <a:buNone/>
            </a:pPr>
            <a:r>
              <a:rPr lang="en-US" sz="900" b="1" spc="200" kern="0" dirty="0">
                <a:solidFill>
                  <a:srgbClr val="6B7280"/>
                </a:solidFill>
                <a:latin typeface="Calibri" pitchFamily="34" charset="0"/>
                <a:ea typeface="Calibri" pitchFamily="34" charset="-122"/>
                <a:cs typeface="Calibri" pitchFamily="34" charset="-120"/>
              </a:rPr>
              <a:t>RTO TYPIQUE</a:t>
            </a:r>
            <a:endParaRPr lang="en-US" sz="900" dirty="0"/>
          </a:p>
        </p:txBody>
      </p:sp>
      <p:sp>
        <p:nvSpPr>
          <p:cNvPr id="9" name="Text 7"/>
          <p:cNvSpPr/>
          <p:nvPr/>
        </p:nvSpPr>
        <p:spPr>
          <a:xfrm>
            <a:off x="822960" y="2852928"/>
            <a:ext cx="3035808" cy="411480"/>
          </a:xfrm>
          <a:prstGeom prst="rect">
            <a:avLst/>
          </a:prstGeom>
          <a:noFill/>
          <a:ln/>
        </p:spPr>
        <p:txBody>
          <a:bodyPr wrap="square" lIns="0" tIns="0" rIns="0" bIns="0" rtlCol="0" anchor="ctr"/>
          <a:lstStyle/>
          <a:p>
            <a:pPr indent="0" marL="0">
              <a:buNone/>
            </a:pPr>
            <a:r>
              <a:rPr lang="en-US" sz="2200" b="1" dirty="0">
                <a:solidFill>
                  <a:srgbClr val="1A1A1A"/>
                </a:solidFill>
                <a:latin typeface="Cambria" pitchFamily="34" charset="0"/>
                <a:ea typeface="Cambria" pitchFamily="34" charset="-122"/>
                <a:cs typeface="Cambria" pitchFamily="34" charset="-120"/>
              </a:rPr>
              <a:t>&lt; 30 s</a:t>
            </a:r>
            <a:endParaRPr lang="en-US" sz="2200" dirty="0"/>
          </a:p>
        </p:txBody>
      </p:sp>
      <p:sp>
        <p:nvSpPr>
          <p:cNvPr id="10" name="Text 8"/>
          <p:cNvSpPr/>
          <p:nvPr/>
        </p:nvSpPr>
        <p:spPr>
          <a:xfrm>
            <a:off x="822960" y="3429000"/>
            <a:ext cx="3035808" cy="201168"/>
          </a:xfrm>
          <a:prstGeom prst="rect">
            <a:avLst/>
          </a:prstGeom>
          <a:noFill/>
          <a:ln/>
        </p:spPr>
        <p:txBody>
          <a:bodyPr wrap="square" lIns="0" tIns="0" rIns="0" bIns="0" rtlCol="0" anchor="ctr"/>
          <a:lstStyle/>
          <a:p>
            <a:pPr indent="0" marL="0">
              <a:buNone/>
            </a:pPr>
            <a:r>
              <a:rPr lang="en-US" sz="900" b="1" spc="200" kern="0" dirty="0">
                <a:solidFill>
                  <a:srgbClr val="6B7280"/>
                </a:solidFill>
                <a:latin typeface="Calibri" pitchFamily="34" charset="0"/>
                <a:ea typeface="Calibri" pitchFamily="34" charset="-122"/>
                <a:cs typeface="Calibri" pitchFamily="34" charset="-120"/>
              </a:rPr>
              <a:t>COÛT INFRASTRUCTURE</a:t>
            </a:r>
            <a:endParaRPr lang="en-US" sz="900" dirty="0"/>
          </a:p>
        </p:txBody>
      </p:sp>
      <p:sp>
        <p:nvSpPr>
          <p:cNvPr id="11" name="Text 9"/>
          <p:cNvSpPr/>
          <p:nvPr/>
        </p:nvSpPr>
        <p:spPr>
          <a:xfrm>
            <a:off x="822960" y="3630168"/>
            <a:ext cx="3035808" cy="365760"/>
          </a:xfrm>
          <a:prstGeom prst="rect">
            <a:avLst/>
          </a:prstGeom>
          <a:noFill/>
          <a:ln/>
        </p:spPr>
        <p:txBody>
          <a:bodyPr wrap="square" lIns="0" tIns="0" rIns="0" bIns="0" rtlCol="0" anchor="ctr"/>
          <a:lstStyle/>
          <a:p>
            <a:pPr indent="0" marL="0">
              <a:buNone/>
            </a:pPr>
            <a:r>
              <a:rPr lang="en-US" sz="1800" b="1" dirty="0">
                <a:solidFill>
                  <a:srgbClr val="1A1A1A"/>
                </a:solidFill>
                <a:latin typeface="Cambria" pitchFamily="34" charset="0"/>
                <a:ea typeface="Cambria" pitchFamily="34" charset="-122"/>
                <a:cs typeface="Cambria" pitchFamily="34" charset="-120"/>
              </a:rPr>
              <a:t>Élevé</a:t>
            </a:r>
            <a:endParaRPr lang="en-US" sz="1800" dirty="0"/>
          </a:p>
        </p:txBody>
      </p:sp>
      <p:sp>
        <p:nvSpPr>
          <p:cNvPr id="12" name="Shape 10"/>
          <p:cNvSpPr/>
          <p:nvPr/>
        </p:nvSpPr>
        <p:spPr>
          <a:xfrm>
            <a:off x="822960" y="4663440"/>
            <a:ext cx="3035808" cy="0"/>
          </a:xfrm>
          <a:prstGeom prst="line">
            <a:avLst/>
          </a:prstGeom>
          <a:noFill/>
          <a:ln w="6350">
            <a:solidFill>
              <a:srgbClr val="E5E7EB"/>
            </a:solidFill>
            <a:prstDash val="solid"/>
          </a:ln>
        </p:spPr>
      </p:sp>
      <p:sp>
        <p:nvSpPr>
          <p:cNvPr id="13" name="Text 11"/>
          <p:cNvSpPr/>
          <p:nvPr/>
        </p:nvSpPr>
        <p:spPr>
          <a:xfrm>
            <a:off x="822960" y="4800600"/>
            <a:ext cx="3035808" cy="914400"/>
          </a:xfrm>
          <a:prstGeom prst="rect">
            <a:avLst/>
          </a:prstGeom>
          <a:noFill/>
          <a:ln/>
        </p:spPr>
        <p:txBody>
          <a:bodyPr wrap="square" lIns="0" tIns="0" rIns="0" bIns="0" rtlCol="0" anchor="ctr"/>
          <a:lstStyle/>
          <a:p>
            <a:pPr indent="0" marL="0">
              <a:buNone/>
            </a:pPr>
            <a:r>
              <a:rPr lang="en-US" sz="1050" dirty="0">
                <a:solidFill>
                  <a:srgbClr val="2C2C2C"/>
                </a:solidFill>
                <a:latin typeface="Calibri" pitchFamily="34" charset="0"/>
                <a:ea typeface="Calibri" pitchFamily="34" charset="-122"/>
                <a:cs typeface="Calibri" pitchFamily="34" charset="-120"/>
              </a:rPr>
              <a:t>Toutes les instances reçoivent du trafic en permanence. Aucune en veille. Bascule transparente assurée par le load balancer en cas de défaillance d'un pod ou d'une AZ.</a:t>
            </a:r>
            <a:endParaRPr lang="en-US" sz="1050" dirty="0"/>
          </a:p>
        </p:txBody>
      </p:sp>
      <p:sp>
        <p:nvSpPr>
          <p:cNvPr id="14" name="Shape 12"/>
          <p:cNvSpPr/>
          <p:nvPr/>
        </p:nvSpPr>
        <p:spPr>
          <a:xfrm>
            <a:off x="4297680" y="1691640"/>
            <a:ext cx="3584448" cy="4114800"/>
          </a:xfrm>
          <a:prstGeom prst="rect">
            <a:avLst/>
          </a:prstGeom>
          <a:solidFill>
            <a:srgbClr val="FFFFFF"/>
          </a:solidFill>
          <a:ln w="9525">
            <a:solidFill>
              <a:srgbClr val="E5E7EB"/>
            </a:solidFill>
            <a:prstDash val="solid"/>
          </a:ln>
          <a:effectLst>
            <a:outerShdw sx="100000" sy="100000" kx="0" ky="0" algn="bl" rotWithShape="0" blurRad="101600" dist="25400" dir="5400000">
              <a:srgbClr val="000000">
                <a:alpha val="8000"/>
              </a:srgbClr>
            </a:outerShdw>
          </a:effectLst>
        </p:spPr>
      </p:sp>
      <p:sp>
        <p:nvSpPr>
          <p:cNvPr id="15" name="Shape 13"/>
          <p:cNvSpPr/>
          <p:nvPr/>
        </p:nvSpPr>
        <p:spPr>
          <a:xfrm>
            <a:off x="4297680" y="1691640"/>
            <a:ext cx="3584448" cy="777240"/>
          </a:xfrm>
          <a:prstGeom prst="rect">
            <a:avLst/>
          </a:prstGeom>
          <a:solidFill>
            <a:srgbClr val="CA9A0E"/>
          </a:solidFill>
          <a:ln/>
        </p:spPr>
      </p:sp>
      <p:sp>
        <p:nvSpPr>
          <p:cNvPr id="16" name="Text 14"/>
          <p:cNvSpPr/>
          <p:nvPr/>
        </p:nvSpPr>
        <p:spPr>
          <a:xfrm>
            <a:off x="4572000" y="1819656"/>
            <a:ext cx="3035808" cy="41148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Hot</a:t>
            </a:r>
            <a:endParaRPr lang="en-US" sz="2400" dirty="0"/>
          </a:p>
        </p:txBody>
      </p:sp>
      <p:sp>
        <p:nvSpPr>
          <p:cNvPr id="17" name="Text 15"/>
          <p:cNvSpPr/>
          <p:nvPr/>
        </p:nvSpPr>
        <p:spPr>
          <a:xfrm>
            <a:off x="4572000" y="2194560"/>
            <a:ext cx="3035808" cy="228600"/>
          </a:xfrm>
          <a:prstGeom prst="rect">
            <a:avLst/>
          </a:prstGeom>
          <a:noFill/>
          <a:ln/>
        </p:spPr>
        <p:txBody>
          <a:bodyPr wrap="square" lIns="0" tIns="0" rIns="0" bIns="0" rtlCol="0" anchor="ctr"/>
          <a:lstStyle/>
          <a:p>
            <a:pPr indent="0" marL="0">
              <a:buNone/>
            </a:pPr>
            <a:r>
              <a:rPr lang="en-US" sz="900" b="1" spc="300" kern="0" dirty="0">
                <a:solidFill>
                  <a:srgbClr val="FFFFFF"/>
                </a:solidFill>
                <a:latin typeface="Calibri" pitchFamily="34" charset="0"/>
                <a:ea typeface="Calibri" pitchFamily="34" charset="-122"/>
                <a:cs typeface="Calibri" pitchFamily="34" charset="-120"/>
              </a:rPr>
              <a:t>MODERATE</a:t>
            </a:r>
            <a:endParaRPr lang="en-US" sz="900" dirty="0"/>
          </a:p>
        </p:txBody>
      </p:sp>
      <p:sp>
        <p:nvSpPr>
          <p:cNvPr id="18" name="Text 16"/>
          <p:cNvSpPr/>
          <p:nvPr/>
        </p:nvSpPr>
        <p:spPr>
          <a:xfrm>
            <a:off x="4572000" y="2651760"/>
            <a:ext cx="3035808" cy="201168"/>
          </a:xfrm>
          <a:prstGeom prst="rect">
            <a:avLst/>
          </a:prstGeom>
          <a:noFill/>
          <a:ln/>
        </p:spPr>
        <p:txBody>
          <a:bodyPr wrap="square" lIns="0" tIns="0" rIns="0" bIns="0" rtlCol="0" anchor="ctr"/>
          <a:lstStyle/>
          <a:p>
            <a:pPr indent="0" marL="0">
              <a:buNone/>
            </a:pPr>
            <a:r>
              <a:rPr lang="en-US" sz="900" b="1" spc="200" kern="0" dirty="0">
                <a:solidFill>
                  <a:srgbClr val="6B7280"/>
                </a:solidFill>
                <a:latin typeface="Calibri" pitchFamily="34" charset="0"/>
                <a:ea typeface="Calibri" pitchFamily="34" charset="-122"/>
                <a:cs typeface="Calibri" pitchFamily="34" charset="-120"/>
              </a:rPr>
              <a:t>RTO TYPIQUE</a:t>
            </a:r>
            <a:endParaRPr lang="en-US" sz="900" dirty="0"/>
          </a:p>
        </p:txBody>
      </p:sp>
      <p:sp>
        <p:nvSpPr>
          <p:cNvPr id="19" name="Text 17"/>
          <p:cNvSpPr/>
          <p:nvPr/>
        </p:nvSpPr>
        <p:spPr>
          <a:xfrm>
            <a:off x="4572000" y="2852928"/>
            <a:ext cx="3035808" cy="411480"/>
          </a:xfrm>
          <a:prstGeom prst="rect">
            <a:avLst/>
          </a:prstGeom>
          <a:noFill/>
          <a:ln/>
        </p:spPr>
        <p:txBody>
          <a:bodyPr wrap="square" lIns="0" tIns="0" rIns="0" bIns="0" rtlCol="0" anchor="ctr"/>
          <a:lstStyle/>
          <a:p>
            <a:pPr indent="0" marL="0">
              <a:buNone/>
            </a:pPr>
            <a:r>
              <a:rPr lang="en-US" sz="2200" b="1" dirty="0">
                <a:solidFill>
                  <a:srgbClr val="1A1A1A"/>
                </a:solidFill>
                <a:latin typeface="Cambria" pitchFamily="34" charset="0"/>
                <a:ea typeface="Cambria" pitchFamily="34" charset="-122"/>
                <a:cs typeface="Cambria" pitchFamily="34" charset="-120"/>
              </a:rPr>
              <a:t>1 – 5 min</a:t>
            </a:r>
            <a:endParaRPr lang="en-US" sz="2200" dirty="0"/>
          </a:p>
        </p:txBody>
      </p:sp>
      <p:sp>
        <p:nvSpPr>
          <p:cNvPr id="20" name="Text 18"/>
          <p:cNvSpPr/>
          <p:nvPr/>
        </p:nvSpPr>
        <p:spPr>
          <a:xfrm>
            <a:off x="4572000" y="3429000"/>
            <a:ext cx="3035808" cy="201168"/>
          </a:xfrm>
          <a:prstGeom prst="rect">
            <a:avLst/>
          </a:prstGeom>
          <a:noFill/>
          <a:ln/>
        </p:spPr>
        <p:txBody>
          <a:bodyPr wrap="square" lIns="0" tIns="0" rIns="0" bIns="0" rtlCol="0" anchor="ctr"/>
          <a:lstStyle/>
          <a:p>
            <a:pPr indent="0" marL="0">
              <a:buNone/>
            </a:pPr>
            <a:r>
              <a:rPr lang="en-US" sz="900" b="1" spc="200" kern="0" dirty="0">
                <a:solidFill>
                  <a:srgbClr val="6B7280"/>
                </a:solidFill>
                <a:latin typeface="Calibri" pitchFamily="34" charset="0"/>
                <a:ea typeface="Calibri" pitchFamily="34" charset="-122"/>
                <a:cs typeface="Calibri" pitchFamily="34" charset="-120"/>
              </a:rPr>
              <a:t>COÛT INFRASTRUCTURE</a:t>
            </a:r>
            <a:endParaRPr lang="en-US" sz="900" dirty="0"/>
          </a:p>
        </p:txBody>
      </p:sp>
      <p:sp>
        <p:nvSpPr>
          <p:cNvPr id="21" name="Text 19"/>
          <p:cNvSpPr/>
          <p:nvPr/>
        </p:nvSpPr>
        <p:spPr>
          <a:xfrm>
            <a:off x="4572000" y="3630168"/>
            <a:ext cx="3035808" cy="365760"/>
          </a:xfrm>
          <a:prstGeom prst="rect">
            <a:avLst/>
          </a:prstGeom>
          <a:noFill/>
          <a:ln/>
        </p:spPr>
        <p:txBody>
          <a:bodyPr wrap="square" lIns="0" tIns="0" rIns="0" bIns="0" rtlCol="0" anchor="ctr"/>
          <a:lstStyle/>
          <a:p>
            <a:pPr indent="0" marL="0">
              <a:buNone/>
            </a:pPr>
            <a:r>
              <a:rPr lang="en-US" sz="1800" b="1" dirty="0">
                <a:solidFill>
                  <a:srgbClr val="1A1A1A"/>
                </a:solidFill>
                <a:latin typeface="Cambria" pitchFamily="34" charset="0"/>
                <a:ea typeface="Cambria" pitchFamily="34" charset="-122"/>
                <a:cs typeface="Cambria" pitchFamily="34" charset="-120"/>
              </a:rPr>
              <a:t>Moyen</a:t>
            </a:r>
            <a:endParaRPr lang="en-US" sz="1800" dirty="0"/>
          </a:p>
        </p:txBody>
      </p:sp>
      <p:sp>
        <p:nvSpPr>
          <p:cNvPr id="22" name="Shape 20"/>
          <p:cNvSpPr/>
          <p:nvPr/>
        </p:nvSpPr>
        <p:spPr>
          <a:xfrm>
            <a:off x="4572000" y="4663440"/>
            <a:ext cx="3035808" cy="0"/>
          </a:xfrm>
          <a:prstGeom prst="line">
            <a:avLst/>
          </a:prstGeom>
          <a:noFill/>
          <a:ln w="6350">
            <a:solidFill>
              <a:srgbClr val="E5E7EB"/>
            </a:solidFill>
            <a:prstDash val="solid"/>
          </a:ln>
        </p:spPr>
      </p:sp>
      <p:sp>
        <p:nvSpPr>
          <p:cNvPr id="23" name="Text 21"/>
          <p:cNvSpPr/>
          <p:nvPr/>
        </p:nvSpPr>
        <p:spPr>
          <a:xfrm>
            <a:off x="4572000" y="4800600"/>
            <a:ext cx="3035808" cy="914400"/>
          </a:xfrm>
          <a:prstGeom prst="rect">
            <a:avLst/>
          </a:prstGeom>
          <a:noFill/>
          <a:ln/>
        </p:spPr>
        <p:txBody>
          <a:bodyPr wrap="square" lIns="0" tIns="0" rIns="0" bIns="0" rtlCol="0" anchor="ctr"/>
          <a:lstStyle/>
          <a:p>
            <a:pPr indent="0" marL="0">
              <a:buNone/>
            </a:pPr>
            <a:r>
              <a:rPr lang="en-US" sz="1050" dirty="0">
                <a:solidFill>
                  <a:srgbClr val="2C2C2C"/>
                </a:solidFill>
                <a:latin typeface="Calibri" pitchFamily="34" charset="0"/>
                <a:ea typeface="Calibri" pitchFamily="34" charset="-122"/>
                <a:cs typeface="Calibri" pitchFamily="34" charset="-120"/>
              </a:rPr>
              <a:t>Une instance principale reçoit le trafic. Une instance standby est pré-provisionnée et synchronisée, prête à prendre le relais sur déclenchement automatique ou manuel.</a:t>
            </a:r>
            <a:endParaRPr lang="en-US" sz="1050" dirty="0"/>
          </a:p>
        </p:txBody>
      </p:sp>
      <p:sp>
        <p:nvSpPr>
          <p:cNvPr id="24" name="Shape 22"/>
          <p:cNvSpPr/>
          <p:nvPr/>
        </p:nvSpPr>
        <p:spPr>
          <a:xfrm>
            <a:off x="8046720" y="1691640"/>
            <a:ext cx="3584448" cy="4114800"/>
          </a:xfrm>
          <a:prstGeom prst="rect">
            <a:avLst/>
          </a:prstGeom>
          <a:solidFill>
            <a:srgbClr val="FFFFFF"/>
          </a:solidFill>
          <a:ln w="9525">
            <a:solidFill>
              <a:srgbClr val="E5E7EB"/>
            </a:solidFill>
            <a:prstDash val="solid"/>
          </a:ln>
          <a:effectLst>
            <a:outerShdw sx="100000" sy="100000" kx="0" ky="0" algn="bl" rotWithShape="0" blurRad="101600" dist="25400" dir="5400000">
              <a:srgbClr val="000000">
                <a:alpha val="8000"/>
              </a:srgbClr>
            </a:outerShdw>
          </a:effectLst>
        </p:spPr>
      </p:sp>
      <p:sp>
        <p:nvSpPr>
          <p:cNvPr id="25" name="Shape 23"/>
          <p:cNvSpPr/>
          <p:nvPr/>
        </p:nvSpPr>
        <p:spPr>
          <a:xfrm>
            <a:off x="8046720" y="1691640"/>
            <a:ext cx="3584448" cy="777240"/>
          </a:xfrm>
          <a:prstGeom prst="rect">
            <a:avLst/>
          </a:prstGeom>
          <a:solidFill>
            <a:srgbClr val="059669"/>
          </a:solidFill>
          <a:ln/>
        </p:spPr>
      </p:sp>
      <p:sp>
        <p:nvSpPr>
          <p:cNvPr id="26" name="Text 24"/>
          <p:cNvSpPr/>
          <p:nvPr/>
        </p:nvSpPr>
        <p:spPr>
          <a:xfrm>
            <a:off x="8321040" y="1819656"/>
            <a:ext cx="3035808" cy="41148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Cold</a:t>
            </a:r>
            <a:endParaRPr lang="en-US" sz="2400" dirty="0"/>
          </a:p>
        </p:txBody>
      </p:sp>
      <p:sp>
        <p:nvSpPr>
          <p:cNvPr id="27" name="Text 25"/>
          <p:cNvSpPr/>
          <p:nvPr/>
        </p:nvSpPr>
        <p:spPr>
          <a:xfrm>
            <a:off x="8321040" y="2194560"/>
            <a:ext cx="3035808" cy="228600"/>
          </a:xfrm>
          <a:prstGeom prst="rect">
            <a:avLst/>
          </a:prstGeom>
          <a:noFill/>
          <a:ln/>
        </p:spPr>
        <p:txBody>
          <a:bodyPr wrap="square" lIns="0" tIns="0" rIns="0" bIns="0" rtlCol="0" anchor="ctr"/>
          <a:lstStyle/>
          <a:p>
            <a:pPr indent="0" marL="0">
              <a:buNone/>
            </a:pPr>
            <a:r>
              <a:rPr lang="en-US" sz="900" b="1" spc="300" kern="0" dirty="0">
                <a:solidFill>
                  <a:srgbClr val="FFFFFF"/>
                </a:solidFill>
                <a:latin typeface="Calibri" pitchFamily="34" charset="0"/>
                <a:ea typeface="Calibri" pitchFamily="34" charset="-122"/>
                <a:cs typeface="Calibri" pitchFamily="34" charset="-120"/>
              </a:rPr>
              <a:t>LOW</a:t>
            </a:r>
            <a:endParaRPr lang="en-US" sz="900" dirty="0"/>
          </a:p>
        </p:txBody>
      </p:sp>
      <p:sp>
        <p:nvSpPr>
          <p:cNvPr id="28" name="Text 26"/>
          <p:cNvSpPr/>
          <p:nvPr/>
        </p:nvSpPr>
        <p:spPr>
          <a:xfrm>
            <a:off x="8321040" y="2651760"/>
            <a:ext cx="3035808" cy="201168"/>
          </a:xfrm>
          <a:prstGeom prst="rect">
            <a:avLst/>
          </a:prstGeom>
          <a:noFill/>
          <a:ln/>
        </p:spPr>
        <p:txBody>
          <a:bodyPr wrap="square" lIns="0" tIns="0" rIns="0" bIns="0" rtlCol="0" anchor="ctr"/>
          <a:lstStyle/>
          <a:p>
            <a:pPr indent="0" marL="0">
              <a:buNone/>
            </a:pPr>
            <a:r>
              <a:rPr lang="en-US" sz="900" b="1" spc="200" kern="0" dirty="0">
                <a:solidFill>
                  <a:srgbClr val="6B7280"/>
                </a:solidFill>
                <a:latin typeface="Calibri" pitchFamily="34" charset="0"/>
                <a:ea typeface="Calibri" pitchFamily="34" charset="-122"/>
                <a:cs typeface="Calibri" pitchFamily="34" charset="-120"/>
              </a:rPr>
              <a:t>RTO TYPIQUE</a:t>
            </a:r>
            <a:endParaRPr lang="en-US" sz="900" dirty="0"/>
          </a:p>
        </p:txBody>
      </p:sp>
      <p:sp>
        <p:nvSpPr>
          <p:cNvPr id="29" name="Text 27"/>
          <p:cNvSpPr/>
          <p:nvPr/>
        </p:nvSpPr>
        <p:spPr>
          <a:xfrm>
            <a:off x="8321040" y="2852928"/>
            <a:ext cx="3035808" cy="411480"/>
          </a:xfrm>
          <a:prstGeom prst="rect">
            <a:avLst/>
          </a:prstGeom>
          <a:noFill/>
          <a:ln/>
        </p:spPr>
        <p:txBody>
          <a:bodyPr wrap="square" lIns="0" tIns="0" rIns="0" bIns="0" rtlCol="0" anchor="ctr"/>
          <a:lstStyle/>
          <a:p>
            <a:pPr indent="0" marL="0">
              <a:buNone/>
            </a:pPr>
            <a:r>
              <a:rPr lang="en-US" sz="2200" b="1" dirty="0">
                <a:solidFill>
                  <a:srgbClr val="1A1A1A"/>
                </a:solidFill>
                <a:latin typeface="Cambria" pitchFamily="34" charset="0"/>
                <a:ea typeface="Cambria" pitchFamily="34" charset="-122"/>
                <a:cs typeface="Cambria" pitchFamily="34" charset="-120"/>
              </a:rPr>
              <a:t>30 min – 4 h</a:t>
            </a:r>
            <a:endParaRPr lang="en-US" sz="2200" dirty="0"/>
          </a:p>
        </p:txBody>
      </p:sp>
      <p:sp>
        <p:nvSpPr>
          <p:cNvPr id="30" name="Text 28"/>
          <p:cNvSpPr/>
          <p:nvPr/>
        </p:nvSpPr>
        <p:spPr>
          <a:xfrm>
            <a:off x="8321040" y="3429000"/>
            <a:ext cx="3035808" cy="201168"/>
          </a:xfrm>
          <a:prstGeom prst="rect">
            <a:avLst/>
          </a:prstGeom>
          <a:noFill/>
          <a:ln/>
        </p:spPr>
        <p:txBody>
          <a:bodyPr wrap="square" lIns="0" tIns="0" rIns="0" bIns="0" rtlCol="0" anchor="ctr"/>
          <a:lstStyle/>
          <a:p>
            <a:pPr indent="0" marL="0">
              <a:buNone/>
            </a:pPr>
            <a:r>
              <a:rPr lang="en-US" sz="900" b="1" spc="200" kern="0" dirty="0">
                <a:solidFill>
                  <a:srgbClr val="6B7280"/>
                </a:solidFill>
                <a:latin typeface="Calibri" pitchFamily="34" charset="0"/>
                <a:ea typeface="Calibri" pitchFamily="34" charset="-122"/>
                <a:cs typeface="Calibri" pitchFamily="34" charset="-120"/>
              </a:rPr>
              <a:t>COÛT INFRASTRUCTURE</a:t>
            </a:r>
            <a:endParaRPr lang="en-US" sz="900" dirty="0"/>
          </a:p>
        </p:txBody>
      </p:sp>
      <p:sp>
        <p:nvSpPr>
          <p:cNvPr id="31" name="Text 29"/>
          <p:cNvSpPr/>
          <p:nvPr/>
        </p:nvSpPr>
        <p:spPr>
          <a:xfrm>
            <a:off x="8321040" y="3630168"/>
            <a:ext cx="3035808" cy="365760"/>
          </a:xfrm>
          <a:prstGeom prst="rect">
            <a:avLst/>
          </a:prstGeom>
          <a:noFill/>
          <a:ln/>
        </p:spPr>
        <p:txBody>
          <a:bodyPr wrap="square" lIns="0" tIns="0" rIns="0" bIns="0" rtlCol="0" anchor="ctr"/>
          <a:lstStyle/>
          <a:p>
            <a:pPr indent="0" marL="0">
              <a:buNone/>
            </a:pPr>
            <a:r>
              <a:rPr lang="en-US" sz="1800" b="1" dirty="0">
                <a:solidFill>
                  <a:srgbClr val="1A1A1A"/>
                </a:solidFill>
                <a:latin typeface="Cambria" pitchFamily="34" charset="0"/>
                <a:ea typeface="Cambria" pitchFamily="34" charset="-122"/>
                <a:cs typeface="Cambria" pitchFamily="34" charset="-120"/>
              </a:rPr>
              <a:t>Bas</a:t>
            </a:r>
            <a:endParaRPr lang="en-US" sz="1800" dirty="0"/>
          </a:p>
        </p:txBody>
      </p:sp>
      <p:sp>
        <p:nvSpPr>
          <p:cNvPr id="32" name="Shape 30"/>
          <p:cNvSpPr/>
          <p:nvPr/>
        </p:nvSpPr>
        <p:spPr>
          <a:xfrm>
            <a:off x="8321040" y="4663440"/>
            <a:ext cx="3035808" cy="0"/>
          </a:xfrm>
          <a:prstGeom prst="line">
            <a:avLst/>
          </a:prstGeom>
          <a:noFill/>
          <a:ln w="6350">
            <a:solidFill>
              <a:srgbClr val="E5E7EB"/>
            </a:solidFill>
            <a:prstDash val="solid"/>
          </a:ln>
        </p:spPr>
      </p:sp>
      <p:sp>
        <p:nvSpPr>
          <p:cNvPr id="33" name="Text 31"/>
          <p:cNvSpPr/>
          <p:nvPr/>
        </p:nvSpPr>
        <p:spPr>
          <a:xfrm>
            <a:off x="8321040" y="4800600"/>
            <a:ext cx="3035808" cy="914400"/>
          </a:xfrm>
          <a:prstGeom prst="rect">
            <a:avLst/>
          </a:prstGeom>
          <a:noFill/>
          <a:ln/>
        </p:spPr>
        <p:txBody>
          <a:bodyPr wrap="square" lIns="0" tIns="0" rIns="0" bIns="0" rtlCol="0" anchor="ctr"/>
          <a:lstStyle/>
          <a:p>
            <a:pPr indent="0" marL="0">
              <a:buNone/>
            </a:pPr>
            <a:r>
              <a:rPr lang="en-US" sz="1050" dirty="0">
                <a:solidFill>
                  <a:srgbClr val="2C2C2C"/>
                </a:solidFill>
                <a:latin typeface="Calibri" pitchFamily="34" charset="0"/>
                <a:ea typeface="Calibri" pitchFamily="34" charset="-122"/>
                <a:cs typeface="Calibri" pitchFamily="34" charset="-120"/>
              </a:rPr>
              <a:t>Pas d'instance secondaire en attente. En cas de défaillance, l'instance est reprovisionnée depuis la sauvegarde la plus récente. Acceptable uniquement pour Low.</a:t>
            </a:r>
            <a:endParaRPr lang="en-US" sz="1050" dirty="0"/>
          </a:p>
        </p:txBody>
      </p:sp>
      <p:sp>
        <p:nvSpPr>
          <p:cNvPr id="34" name="Shape 32"/>
          <p:cNvSpPr/>
          <p:nvPr/>
        </p:nvSpPr>
        <p:spPr>
          <a:xfrm>
            <a:off x="548640" y="6446520"/>
            <a:ext cx="11064240" cy="0"/>
          </a:xfrm>
          <a:prstGeom prst="line">
            <a:avLst/>
          </a:prstGeom>
          <a:noFill/>
          <a:ln w="6350">
            <a:solidFill>
              <a:srgbClr val="E5E7EB"/>
            </a:solidFill>
            <a:prstDash val="solid"/>
          </a:ln>
        </p:spPr>
      </p:sp>
      <p:sp>
        <p:nvSpPr>
          <p:cNvPr id="35" name="Text 33"/>
          <p:cNvSpPr/>
          <p:nvPr/>
        </p:nvSpPr>
        <p:spPr>
          <a:xfrm>
            <a:off x="548640" y="651052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BNP Paribas Cardif  ·  TOE  ·  Cloud Native Architecture</a:t>
            </a:r>
            <a:endParaRPr lang="en-US" sz="900" dirty="0"/>
          </a:p>
        </p:txBody>
      </p:sp>
      <p:sp>
        <p:nvSpPr>
          <p:cNvPr id="36" name="Text 34"/>
          <p:cNvSpPr/>
          <p:nvPr/>
        </p:nvSpPr>
        <p:spPr>
          <a:xfrm>
            <a:off x="10515600" y="6510528"/>
            <a:ext cx="109728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 / 17</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lIns="0" tIns="0" rIns="0" bIns="0" rtlCol="0" anchor="ctr"/>
          <a:lstStyle/>
          <a:p>
            <a:pPr indent="0" marL="0">
              <a:buNone/>
            </a:pPr>
            <a:r>
              <a:rPr lang="en-US" sz="1000" b="1" spc="400" kern="0" dirty="0">
                <a:solidFill>
                  <a:srgbClr val="B89653"/>
                </a:solidFill>
                <a:latin typeface="Calibri" pitchFamily="34" charset="0"/>
                <a:ea typeface="Calibri" pitchFamily="34" charset="-122"/>
                <a:cs typeface="Calibri" pitchFamily="34" charset="-120"/>
              </a:rPr>
              <a:t>03 · DÉCODAGE</a:t>
            </a:r>
            <a:endParaRPr lang="en-US" sz="1000" dirty="0"/>
          </a:p>
        </p:txBody>
      </p:sp>
      <p:sp>
        <p:nvSpPr>
          <p:cNvPr id="3" name="Text 1"/>
          <p:cNvSpPr/>
          <p:nvPr/>
        </p:nvSpPr>
        <p:spPr>
          <a:xfrm>
            <a:off x="548640" y="713232"/>
            <a:ext cx="10972800" cy="640080"/>
          </a:xfrm>
          <a:prstGeom prst="rect">
            <a:avLst/>
          </a:prstGeom>
          <a:noFill/>
          <a:ln/>
        </p:spPr>
        <p:txBody>
          <a:bodyPr wrap="square" lIns="0" tIns="0" rIns="0" bIns="0" rtlCol="0" anchor="ctr"/>
          <a:lstStyle/>
          <a:p>
            <a:pPr indent="0" marL="0">
              <a:buNone/>
            </a:pPr>
            <a:r>
              <a:rPr lang="en-US" sz="2800" b="1" dirty="0">
                <a:solidFill>
                  <a:srgbClr val="1A1A1A"/>
                </a:solidFill>
                <a:latin typeface="Cambria" pitchFamily="34" charset="0"/>
                <a:ea typeface="Cambria" pitchFamily="34" charset="-122"/>
                <a:cs typeface="Cambria" pitchFamily="34" charset="-120"/>
              </a:rPr>
              <a:t>Near Sync décrypté — exemple PostgreSQL</a:t>
            </a:r>
            <a:endParaRPr lang="en-US" sz="2800" dirty="0"/>
          </a:p>
        </p:txBody>
      </p:sp>
      <p:sp>
        <p:nvSpPr>
          <p:cNvPr id="4" name="Text 2"/>
          <p:cNvSpPr/>
          <p:nvPr/>
        </p:nvSpPr>
        <p:spPr>
          <a:xfrm>
            <a:off x="548640" y="1417320"/>
            <a:ext cx="11064240" cy="502920"/>
          </a:xfrm>
          <a:prstGeom prst="rect">
            <a:avLst/>
          </a:prstGeom>
          <a:noFill/>
          <a:ln/>
        </p:spPr>
        <p:txBody>
          <a:bodyPr wrap="square" lIns="0" tIns="0" rIns="0" bIns="0" rtlCol="0" anchor="ctr"/>
          <a:lstStyle/>
          <a:p>
            <a:pPr indent="0" marL="0">
              <a:buNone/>
            </a:pPr>
            <a:r>
              <a:rPr lang="en-US" sz="1250" i="1" dirty="0">
                <a:solidFill>
                  <a:srgbClr val="2C2C2C"/>
                </a:solidFill>
                <a:latin typeface="Calibri" pitchFamily="34" charset="0"/>
                <a:ea typeface="Calibri" pitchFamily="34" charset="-122"/>
                <a:cs typeface="Calibri" pitchFamily="34" charset="-120"/>
              </a:rPr>
              <a:t>La nuance entre sync strict, Near Sync et async se traduit par un paramètre PostgreSQL bien précis. Le choix conditionne directement le RPO réel et la latence applicative.</a:t>
            </a:r>
            <a:endParaRPr lang="en-US" sz="12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064240" cy="914400"/>
        </p:xfrm>
        <a:graphic>
          <a:graphicData uri="http://schemas.openxmlformats.org/drawingml/2006/table">
            <a:tbl>
              <a:tblPr/>
              <a:tblGrid>
                <a:gridCol w="2468880"/>
                <a:gridCol w="4297680"/>
                <a:gridCol w="2194560"/>
                <a:gridCol w="2103120"/>
              </a:tblGrid>
              <a:tr h="45720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Mode RefCard</a:t>
                      </a:r>
                      <a:endParaRPr lang="en-US" sz="12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04D32"/>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Configuration PostgreSQL</a:t>
                      </a:r>
                      <a:endParaRPr lang="en-US" sz="12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04D3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RPO réel</a:t>
                      </a:r>
                      <a:endParaRPr lang="en-US" sz="12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04D3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Latence ajoutée</a:t>
                      </a:r>
                      <a:endParaRPr lang="en-US" sz="12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04D32"/>
                    </a:solidFill>
                  </a:tcPr>
                </a:tc>
              </a:tr>
              <a:tr h="777240">
                <a:tc>
                  <a:txBody>
                    <a:bodyPr/>
                    <a:lstStyle/>
                    <a:p>
                      <a:pPr indent="0" marL="0">
                        <a:buNone/>
                      </a:pPr>
                      <a:r>
                        <a:rPr lang="en-US" sz="1200" b="1" dirty="0">
                          <a:solidFill>
                            <a:srgbClr val="2C2C2C"/>
                          </a:solidFill>
                          <a:latin typeface="Calibri" pitchFamily="34" charset="0"/>
                          <a:ea typeface="Calibri" pitchFamily="34" charset="-122"/>
                          <a:cs typeface="Calibri" pitchFamily="34" charset="-120"/>
                        </a:rPr>
                        <a:t>Sync strict</a:t>
                      </a:r>
                      <a:endParaRPr lang="en-US" sz="1200" dirty="0">
                        <a:latin typeface="Calibri" charset="0"/>
                        <a:ea typeface="Calibri" charset="0"/>
                        <a:cs typeface="Calibri" charset="0"/>
                      </a:endParaRPr>
                    </a:p>
                    <a:p>
                      <a:pPr indent="0" marL="0">
                        <a:buNone/>
                      </a:pPr>
                      <a:r>
                        <a:rPr lang="en-US" sz="1200" b="1" dirty="0">
                          <a:solidFill>
                            <a:srgbClr val="2C2C2C"/>
                          </a:solidFill>
                          <a:latin typeface="Calibri" pitchFamily="34" charset="0"/>
                          <a:ea typeface="Calibri" pitchFamily="34" charset="-122"/>
                          <a:cs typeface="Calibri" pitchFamily="34" charset="-120"/>
                        </a:rPr>
                        <a:t>(hors RefCard)</a:t>
                      </a:r>
                      <a:endParaRPr lang="en-US" sz="12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000" dirty="0">
                          <a:solidFill>
                            <a:srgbClr val="2C2C2C"/>
                          </a:solidFill>
                          <a:latin typeface="Consolas" pitchFamily="34" charset="0"/>
                          <a:ea typeface="Consolas" pitchFamily="34" charset="-122"/>
                          <a:cs typeface="Consolas" pitchFamily="34" charset="-120"/>
                        </a:rPr>
                        <a:t>synchronous_commit = remote_apply</a:t>
                      </a:r>
                      <a:endParaRPr lang="en-US" sz="1000" dirty="0">
                        <a:latin typeface="Consolas" charset="0"/>
                        <a:ea typeface="Consolas" charset="0"/>
                        <a:cs typeface="Consolas"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0 strict</a:t>
                      </a:r>
                      <a:endParaRPr lang="en-US" sz="12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B81E1E"/>
                          </a:solidFill>
                          <a:latin typeface="Calibri" pitchFamily="34" charset="0"/>
                          <a:ea typeface="Calibri" pitchFamily="34" charset="-122"/>
                          <a:cs typeface="Calibri" pitchFamily="34" charset="-120"/>
                        </a:rPr>
                        <a:t>~3 – 10 ms</a:t>
                      </a:r>
                      <a:endParaRPr lang="en-US" sz="12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777240">
                <a:tc>
                  <a:txBody>
                    <a:bodyPr/>
                    <a:lstStyle/>
                    <a:p>
                      <a:pPr indent="0" marL="0">
                        <a:buNone/>
                      </a:pPr>
                      <a:r>
                        <a:rPr lang="en-US" sz="1200" b="1" dirty="0">
                          <a:solidFill>
                            <a:srgbClr val="008053"/>
                          </a:solidFill>
                          <a:latin typeface="Calibri" pitchFamily="34" charset="0"/>
                          <a:ea typeface="Calibri" pitchFamily="34" charset="-122"/>
                          <a:cs typeface="Calibri" pitchFamily="34" charset="-120"/>
                        </a:rPr>
                        <a:t>Near Sync</a:t>
                      </a:r>
                      <a:endParaRPr lang="en-US" sz="1200" dirty="0">
                        <a:latin typeface="Calibri" charset="0"/>
                        <a:ea typeface="Calibri" charset="0"/>
                        <a:cs typeface="Calibri" charset="0"/>
                      </a:endParaRPr>
                    </a:p>
                    <a:p>
                      <a:pPr indent="0" marL="0">
                        <a:buNone/>
                      </a:pPr>
                      <a:r>
                        <a:rPr lang="en-US" sz="1200" b="1" dirty="0">
                          <a:solidFill>
                            <a:srgbClr val="008053"/>
                          </a:solidFill>
                          <a:latin typeface="Calibri" pitchFamily="34" charset="0"/>
                          <a:ea typeface="Calibri" pitchFamily="34" charset="-122"/>
                          <a:cs typeface="Calibri" pitchFamily="34" charset="-120"/>
                        </a:rPr>
                        <a:t>(Extreme · Serious)</a:t>
                      </a:r>
                      <a:endParaRPr lang="en-US" sz="12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6F2EC"/>
                    </a:solidFill>
                  </a:tcPr>
                </a:tc>
                <a:tc>
                  <a:txBody>
                    <a:bodyPr/>
                    <a:lstStyle/>
                    <a:p>
                      <a:pPr indent="0" marL="0">
                        <a:buNone/>
                      </a:pPr>
                      <a:r>
                        <a:rPr lang="en-US" sz="1000" dirty="0">
                          <a:solidFill>
                            <a:srgbClr val="2C2C2C"/>
                          </a:solidFill>
                          <a:latin typeface="Consolas" pitchFamily="34" charset="0"/>
                          <a:ea typeface="Consolas" pitchFamily="34" charset="-122"/>
                          <a:cs typeface="Consolas" pitchFamily="34" charset="-120"/>
                        </a:rPr>
                        <a:t>synchronous_commit = on  (ou remote_write)</a:t>
                      </a:r>
                      <a:endParaRPr lang="en-US" sz="1000" dirty="0">
                        <a:latin typeface="Consolas" charset="0"/>
                        <a:ea typeface="Consolas" charset="0"/>
                        <a:cs typeface="Consolas"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6F2EC"/>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ms</a:t>
                      </a:r>
                      <a:endParaRPr lang="en-US" sz="1200" dirty="0">
                        <a:latin typeface="Calibri" charset="0"/>
                        <a:ea typeface="Calibri" charset="0"/>
                        <a:cs typeface="Calibri" charset="0"/>
                      </a:endParaRPr>
                    </a:p>
                    <a:p>
                      <a:pPr algn="ctr" indent="0" marL="0">
                        <a:buNone/>
                      </a:pPr>
                      <a:r>
                        <a:rPr lang="en-US" sz="1200" dirty="0">
                          <a:solidFill>
                            <a:srgbClr val="2C2C2C"/>
                          </a:solidFill>
                          <a:latin typeface="Calibri" pitchFamily="34" charset="0"/>
                          <a:ea typeface="Calibri" pitchFamily="34" charset="-122"/>
                          <a:cs typeface="Calibri" pitchFamily="34" charset="-120"/>
                        </a:rPr>
                        <a:t>(perte non flushée)</a:t>
                      </a:r>
                      <a:endParaRPr lang="en-US" sz="12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6F2EC"/>
                    </a:solidFill>
                  </a:tcPr>
                </a:tc>
                <a:tc>
                  <a:txBody>
                    <a:bodyPr/>
                    <a:lstStyle/>
                    <a:p>
                      <a:pPr algn="ctr" indent="0" marL="0">
                        <a:buNone/>
                      </a:pPr>
                      <a:r>
                        <a:rPr lang="en-US" sz="1200" b="1" dirty="0">
                          <a:solidFill>
                            <a:srgbClr val="008053"/>
                          </a:solidFill>
                          <a:latin typeface="Calibri" pitchFamily="34" charset="0"/>
                          <a:ea typeface="Calibri" pitchFamily="34" charset="-122"/>
                          <a:cs typeface="Calibri" pitchFamily="34" charset="-120"/>
                        </a:rPr>
                        <a:t>~1 – 2 ms</a:t>
                      </a:r>
                      <a:endParaRPr lang="en-US" sz="12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6F2EC"/>
                    </a:solidFill>
                  </a:tcPr>
                </a:tc>
              </a:tr>
              <a:tr h="777240">
                <a:tc>
                  <a:txBody>
                    <a:bodyPr/>
                    <a:lstStyle/>
                    <a:p>
                      <a:pPr indent="0" marL="0">
                        <a:buNone/>
                      </a:pPr>
                      <a:r>
                        <a:rPr lang="en-US" sz="1200" b="1" dirty="0">
                          <a:solidFill>
                            <a:srgbClr val="2C2C2C"/>
                          </a:solidFill>
                          <a:latin typeface="Calibri" pitchFamily="34" charset="0"/>
                          <a:ea typeface="Calibri" pitchFamily="34" charset="-122"/>
                          <a:cs typeface="Calibri" pitchFamily="34" charset="-120"/>
                        </a:rPr>
                        <a:t>Async / Batch</a:t>
                      </a:r>
                      <a:endParaRPr lang="en-US" sz="1200" dirty="0">
                        <a:latin typeface="Calibri" charset="0"/>
                        <a:ea typeface="Calibri" charset="0"/>
                        <a:cs typeface="Calibri" charset="0"/>
                      </a:endParaRPr>
                    </a:p>
                    <a:p>
                      <a:pPr indent="0" marL="0">
                        <a:buNone/>
                      </a:pPr>
                      <a:r>
                        <a:rPr lang="en-US" sz="1200" b="1" dirty="0">
                          <a:solidFill>
                            <a:srgbClr val="2C2C2C"/>
                          </a:solidFill>
                          <a:latin typeface="Calibri" pitchFamily="34" charset="0"/>
                          <a:ea typeface="Calibri" pitchFamily="34" charset="-122"/>
                          <a:cs typeface="Calibri" pitchFamily="34" charset="-120"/>
                        </a:rPr>
                        <a:t>(Moderate · Low)</a:t>
                      </a:r>
                      <a:endParaRPr lang="en-US" sz="12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000" dirty="0">
                          <a:solidFill>
                            <a:srgbClr val="2C2C2C"/>
                          </a:solidFill>
                          <a:latin typeface="Consolas" pitchFamily="34" charset="0"/>
                          <a:ea typeface="Consolas" pitchFamily="34" charset="-122"/>
                          <a:cs typeface="Consolas" pitchFamily="34" charset="-120"/>
                        </a:rPr>
                        <a:t>synchronous_commit = off</a:t>
                      </a:r>
                      <a:endParaRPr lang="en-US" sz="1000" dirty="0">
                        <a:latin typeface="Consolas" charset="0"/>
                        <a:ea typeface="Consolas" charset="0"/>
                        <a:cs typeface="Consolas"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secondes à minutes</a:t>
                      </a:r>
                      <a:endParaRPr lang="en-US" sz="12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59669"/>
                          </a:solidFill>
                          <a:latin typeface="Calibri" pitchFamily="34" charset="0"/>
                          <a:ea typeface="Calibri" pitchFamily="34" charset="-122"/>
                          <a:cs typeface="Calibri" pitchFamily="34" charset="-120"/>
                        </a:rPr>
                        <a:t>~0 ms</a:t>
                      </a:r>
                      <a:endParaRPr lang="en-US" sz="12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6" name="Shape 3"/>
          <p:cNvSpPr/>
          <p:nvPr/>
        </p:nvSpPr>
        <p:spPr>
          <a:xfrm>
            <a:off x="548640" y="5532120"/>
            <a:ext cx="11064240" cy="777240"/>
          </a:xfrm>
          <a:prstGeom prst="rect">
            <a:avLst/>
          </a:prstGeom>
          <a:solidFill>
            <a:srgbClr val="E6F2EC"/>
          </a:solidFill>
          <a:ln/>
        </p:spPr>
      </p:sp>
      <p:sp>
        <p:nvSpPr>
          <p:cNvPr id="7" name="Shape 4"/>
          <p:cNvSpPr/>
          <p:nvPr/>
        </p:nvSpPr>
        <p:spPr>
          <a:xfrm>
            <a:off x="548640" y="5532120"/>
            <a:ext cx="73152" cy="777240"/>
          </a:xfrm>
          <a:prstGeom prst="rect">
            <a:avLst/>
          </a:prstGeom>
          <a:solidFill>
            <a:srgbClr val="008053"/>
          </a:solidFill>
          <a:ln/>
        </p:spPr>
      </p:sp>
      <p:sp>
        <p:nvSpPr>
          <p:cNvPr id="8" name="Text 5"/>
          <p:cNvSpPr/>
          <p:nvPr/>
        </p:nvSpPr>
        <p:spPr>
          <a:xfrm>
            <a:off x="777240" y="5650992"/>
            <a:ext cx="10698480" cy="640080"/>
          </a:xfrm>
          <a:prstGeom prst="rect">
            <a:avLst/>
          </a:prstGeom>
          <a:noFill/>
          <a:ln/>
        </p:spPr>
        <p:txBody>
          <a:bodyPr wrap="square" lIns="0" tIns="0" rIns="0" bIns="0" rtlCol="0" anchor="ctr"/>
          <a:lstStyle/>
          <a:p>
            <a:pPr indent="0" marL="0">
              <a:buNone/>
            </a:pPr>
            <a:r>
              <a:rPr lang="en-US" sz="1150" dirty="0">
                <a:solidFill>
                  <a:srgbClr val="2C2C2C"/>
                </a:solidFill>
                <a:latin typeface="Calibri" pitchFamily="34" charset="0"/>
                <a:ea typeface="Calibri" pitchFamily="34" charset="-122"/>
                <a:cs typeface="Calibri" pitchFamily="34" charset="-120"/>
              </a:rPr>
              <a:t>Le choix du paramètre est le levier d'arbitrage RPO ↔ latence applicative. Le mode remote_write (Near Sync) attend la réception du WAL par 1 standby, sans attendre son flush disque — RPO ≈ ms avec latence raisonnable.</a:t>
            </a:r>
            <a:endParaRPr lang="en-US" sz="1150" dirty="0"/>
          </a:p>
        </p:txBody>
      </p:sp>
      <p:sp>
        <p:nvSpPr>
          <p:cNvPr id="9" name="Shape 6"/>
          <p:cNvSpPr/>
          <p:nvPr/>
        </p:nvSpPr>
        <p:spPr>
          <a:xfrm>
            <a:off x="548640" y="6446520"/>
            <a:ext cx="11064240" cy="0"/>
          </a:xfrm>
          <a:prstGeom prst="line">
            <a:avLst/>
          </a:prstGeom>
          <a:noFill/>
          <a:ln w="6350">
            <a:solidFill>
              <a:srgbClr val="E5E7EB"/>
            </a:solidFill>
            <a:prstDash val="solid"/>
          </a:ln>
        </p:spPr>
      </p:sp>
      <p:sp>
        <p:nvSpPr>
          <p:cNvPr id="10" name="Text 7"/>
          <p:cNvSpPr/>
          <p:nvPr/>
        </p:nvSpPr>
        <p:spPr>
          <a:xfrm>
            <a:off x="548640" y="651052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BNP Paribas Cardif  ·  TOE  ·  Cloud Native Architecture</a:t>
            </a:r>
            <a:endParaRPr lang="en-US" sz="900" dirty="0"/>
          </a:p>
        </p:txBody>
      </p:sp>
      <p:sp>
        <p:nvSpPr>
          <p:cNvPr id="11" name="Text 8"/>
          <p:cNvSpPr/>
          <p:nvPr/>
        </p:nvSpPr>
        <p:spPr>
          <a:xfrm>
            <a:off x="10515600" y="6510528"/>
            <a:ext cx="109728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6 / 17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 cy="6858000"/>
          </a:xfrm>
          <a:prstGeom prst="rect">
            <a:avLst/>
          </a:prstGeom>
          <a:solidFill>
            <a:srgbClr val="B81E1E"/>
          </a:solidFill>
          <a:ln/>
        </p:spPr>
      </p:sp>
      <p:sp>
        <p:nvSpPr>
          <p:cNvPr id="3" name="Text 1"/>
          <p:cNvSpPr/>
          <p:nvPr/>
        </p:nvSpPr>
        <p:spPr>
          <a:xfrm>
            <a:off x="548640" y="411480"/>
            <a:ext cx="10972800" cy="274320"/>
          </a:xfrm>
          <a:prstGeom prst="rect">
            <a:avLst/>
          </a:prstGeom>
          <a:noFill/>
          <a:ln/>
        </p:spPr>
        <p:txBody>
          <a:bodyPr wrap="square" lIns="0" tIns="0" rIns="0" bIns="0" rtlCol="0" anchor="ctr"/>
          <a:lstStyle/>
          <a:p>
            <a:pPr indent="0" marL="0">
              <a:buNone/>
            </a:pPr>
            <a:r>
              <a:rPr lang="en-US" sz="1000" b="1" spc="400" kern="0" dirty="0">
                <a:solidFill>
                  <a:srgbClr val="B81E1E"/>
                </a:solidFill>
                <a:latin typeface="Calibri" pitchFamily="34" charset="0"/>
                <a:ea typeface="Calibri" pitchFamily="34" charset="-122"/>
                <a:cs typeface="Calibri" pitchFamily="34" charset="-120"/>
              </a:rPr>
              <a:t>NIVEAU 01 · 🔴 EXTREME</a:t>
            </a:r>
            <a:endParaRPr lang="en-US" sz="1000" dirty="0"/>
          </a:p>
        </p:txBody>
      </p:sp>
      <p:sp>
        <p:nvSpPr>
          <p:cNvPr id="4" name="Text 2"/>
          <p:cNvSpPr/>
          <p:nvPr/>
        </p:nvSpPr>
        <p:spPr>
          <a:xfrm>
            <a:off x="548640" y="713232"/>
            <a:ext cx="10972800" cy="594360"/>
          </a:xfrm>
          <a:prstGeom prst="rect">
            <a:avLst/>
          </a:prstGeom>
          <a:noFill/>
          <a:ln/>
        </p:spPr>
        <p:txBody>
          <a:bodyPr wrap="square" lIns="0" tIns="0" rIns="0" bIns="0" rtlCol="0" anchor="ctr"/>
          <a:lstStyle/>
          <a:p>
            <a:pPr indent="0" marL="0">
              <a:buNone/>
            </a:pPr>
            <a:r>
              <a:rPr lang="en-US" sz="2600" b="1" dirty="0">
                <a:solidFill>
                  <a:srgbClr val="1A1A1A"/>
                </a:solidFill>
                <a:latin typeface="Cambria" pitchFamily="34" charset="0"/>
                <a:ea typeface="Cambria" pitchFamily="34" charset="-122"/>
                <a:cs typeface="Cambria" pitchFamily="34" charset="-120"/>
              </a:rPr>
              <a:t>Continuité maximale — paiement temps réel, services réglementaires</a:t>
            </a:r>
            <a:endParaRPr lang="en-US" sz="2600" dirty="0"/>
          </a:p>
        </p:txBody>
      </p:sp>
      <p:sp>
        <p:nvSpPr>
          <p:cNvPr id="5" name="Shape 3"/>
          <p:cNvSpPr/>
          <p:nvPr/>
        </p:nvSpPr>
        <p:spPr>
          <a:xfrm>
            <a:off x="548640" y="1737360"/>
            <a:ext cx="2697480" cy="1463040"/>
          </a:xfrm>
          <a:prstGeom prst="rect">
            <a:avLst/>
          </a:prstGeom>
          <a:solidFill>
            <a:srgbClr val="FFFFFF"/>
          </a:solidFill>
          <a:ln w="6350">
            <a:solidFill>
              <a:srgbClr val="E5E7EB"/>
            </a:solidFill>
            <a:prstDash val="solid"/>
          </a:ln>
          <a:effectLst>
            <a:outerShdw sx="100000" sy="100000" kx="0" ky="0" algn="bl" rotWithShape="0" blurRad="76200" dist="25400" dir="5400000">
              <a:srgbClr val="000000">
                <a:alpha val="6000"/>
              </a:srgbClr>
            </a:outerShdw>
          </a:effectLst>
        </p:spPr>
      </p:sp>
      <p:sp>
        <p:nvSpPr>
          <p:cNvPr id="6" name="Text 4"/>
          <p:cNvSpPr/>
          <p:nvPr/>
        </p:nvSpPr>
        <p:spPr>
          <a:xfrm>
            <a:off x="731520" y="1874520"/>
            <a:ext cx="2331720" cy="777240"/>
          </a:xfrm>
          <a:prstGeom prst="rect">
            <a:avLst/>
          </a:prstGeom>
          <a:noFill/>
          <a:ln/>
        </p:spPr>
        <p:txBody>
          <a:bodyPr wrap="square" lIns="0" tIns="0" rIns="0" bIns="0" rtlCol="0" anchor="ctr"/>
          <a:lstStyle/>
          <a:p>
            <a:pPr indent="0" marL="0">
              <a:buNone/>
            </a:pPr>
            <a:r>
              <a:rPr lang="en-US" sz="5600" b="1" dirty="0">
                <a:solidFill>
                  <a:srgbClr val="B81E1E"/>
                </a:solidFill>
                <a:latin typeface="Cambria" pitchFamily="34" charset="0"/>
                <a:ea typeface="Cambria" pitchFamily="34" charset="-122"/>
                <a:cs typeface="Cambria" pitchFamily="34" charset="-120"/>
              </a:rPr>
              <a:t>9</a:t>
            </a:r>
            <a:endParaRPr lang="en-US" sz="5600" dirty="0"/>
          </a:p>
        </p:txBody>
      </p:sp>
      <p:sp>
        <p:nvSpPr>
          <p:cNvPr id="7" name="Text 5"/>
          <p:cNvSpPr/>
          <p:nvPr/>
        </p:nvSpPr>
        <p:spPr>
          <a:xfrm>
            <a:off x="731520" y="2651760"/>
            <a:ext cx="2331720" cy="228600"/>
          </a:xfrm>
          <a:prstGeom prst="rect">
            <a:avLst/>
          </a:prstGeom>
          <a:noFill/>
          <a:ln/>
        </p:spPr>
        <p:txBody>
          <a:bodyPr wrap="square" lIns="0" tIns="0" rIns="0" bIns="0" rtlCol="0" anchor="ctr"/>
          <a:lstStyle/>
          <a:p>
            <a:pPr indent="0" marL="0">
              <a:buNone/>
            </a:pPr>
            <a:r>
              <a:rPr lang="en-US" sz="900" b="1" spc="200" kern="0" dirty="0">
                <a:solidFill>
                  <a:srgbClr val="6B7280"/>
                </a:solidFill>
                <a:latin typeface="Calibri" pitchFamily="34" charset="0"/>
                <a:ea typeface="Calibri" pitchFamily="34" charset="-122"/>
                <a:cs typeface="Calibri" pitchFamily="34" charset="-120"/>
              </a:rPr>
              <a:t>RÉPLICAS APPLICATIFS</a:t>
            </a:r>
            <a:endParaRPr lang="en-US" sz="900" dirty="0"/>
          </a:p>
        </p:txBody>
      </p:sp>
      <p:sp>
        <p:nvSpPr>
          <p:cNvPr id="8" name="Text 6"/>
          <p:cNvSpPr/>
          <p:nvPr/>
        </p:nvSpPr>
        <p:spPr>
          <a:xfrm>
            <a:off x="731520" y="2880360"/>
            <a:ext cx="2331720" cy="274320"/>
          </a:xfrm>
          <a:prstGeom prst="rect">
            <a:avLst/>
          </a:prstGeom>
          <a:noFill/>
          <a:ln/>
        </p:spPr>
        <p:txBody>
          <a:bodyPr wrap="square" lIns="0" tIns="0" rIns="0" bIns="0" rtlCol="0" anchor="ctr"/>
          <a:lstStyle/>
          <a:p>
            <a:pPr indent="0" marL="0">
              <a:buNone/>
            </a:pPr>
            <a:r>
              <a:rPr lang="en-US" sz="1100" dirty="0">
                <a:solidFill>
                  <a:srgbClr val="2C2C2C"/>
                </a:solidFill>
                <a:latin typeface="Calibri" pitchFamily="34" charset="0"/>
                <a:ea typeface="Calibri" pitchFamily="34" charset="-122"/>
                <a:cs typeface="Calibri" pitchFamily="34" charset="-120"/>
              </a:rPr>
              <a:t>3 par AZ</a:t>
            </a:r>
            <a:endParaRPr lang="en-US" sz="1100" dirty="0"/>
          </a:p>
        </p:txBody>
      </p:sp>
      <p:sp>
        <p:nvSpPr>
          <p:cNvPr id="9" name="Shape 7"/>
          <p:cNvSpPr/>
          <p:nvPr/>
        </p:nvSpPr>
        <p:spPr>
          <a:xfrm>
            <a:off x="3364992" y="1737360"/>
            <a:ext cx="2697480" cy="1463040"/>
          </a:xfrm>
          <a:prstGeom prst="rect">
            <a:avLst/>
          </a:prstGeom>
          <a:solidFill>
            <a:srgbClr val="FFFFFF"/>
          </a:solidFill>
          <a:ln w="6350">
            <a:solidFill>
              <a:srgbClr val="E5E7EB"/>
            </a:solidFill>
            <a:prstDash val="solid"/>
          </a:ln>
          <a:effectLst>
            <a:outerShdw sx="100000" sy="100000" kx="0" ky="0" algn="bl" rotWithShape="0" blurRad="76200" dist="25400" dir="5400000">
              <a:srgbClr val="000000">
                <a:alpha val="6000"/>
              </a:srgbClr>
            </a:outerShdw>
          </a:effectLst>
        </p:spPr>
      </p:sp>
      <p:sp>
        <p:nvSpPr>
          <p:cNvPr id="10" name="Text 8"/>
          <p:cNvSpPr/>
          <p:nvPr/>
        </p:nvSpPr>
        <p:spPr>
          <a:xfrm>
            <a:off x="3547872" y="1874520"/>
            <a:ext cx="2331720" cy="777240"/>
          </a:xfrm>
          <a:prstGeom prst="rect">
            <a:avLst/>
          </a:prstGeom>
          <a:noFill/>
          <a:ln/>
        </p:spPr>
        <p:txBody>
          <a:bodyPr wrap="square" lIns="0" tIns="0" rIns="0" bIns="0" rtlCol="0" anchor="ctr"/>
          <a:lstStyle/>
          <a:p>
            <a:pPr indent="0" marL="0">
              <a:buNone/>
            </a:pPr>
            <a:r>
              <a:rPr lang="en-US" sz="5600" b="1" dirty="0">
                <a:solidFill>
                  <a:srgbClr val="B81E1E"/>
                </a:solidFill>
                <a:latin typeface="Cambria" pitchFamily="34" charset="0"/>
                <a:ea typeface="Cambria" pitchFamily="34" charset="-122"/>
                <a:cs typeface="Cambria" pitchFamily="34" charset="-120"/>
              </a:rPr>
              <a:t>3</a:t>
            </a:r>
            <a:endParaRPr lang="en-US" sz="5600" dirty="0"/>
          </a:p>
        </p:txBody>
      </p:sp>
      <p:sp>
        <p:nvSpPr>
          <p:cNvPr id="11" name="Text 9"/>
          <p:cNvSpPr/>
          <p:nvPr/>
        </p:nvSpPr>
        <p:spPr>
          <a:xfrm>
            <a:off x="3547872" y="2651760"/>
            <a:ext cx="2331720" cy="228600"/>
          </a:xfrm>
          <a:prstGeom prst="rect">
            <a:avLst/>
          </a:prstGeom>
          <a:noFill/>
          <a:ln/>
        </p:spPr>
        <p:txBody>
          <a:bodyPr wrap="square" lIns="0" tIns="0" rIns="0" bIns="0" rtlCol="0" anchor="ctr"/>
          <a:lstStyle/>
          <a:p>
            <a:pPr indent="0" marL="0">
              <a:buNone/>
            </a:pPr>
            <a:r>
              <a:rPr lang="en-US" sz="900" b="1" spc="200" kern="0" dirty="0">
                <a:solidFill>
                  <a:srgbClr val="6B7280"/>
                </a:solidFill>
                <a:latin typeface="Calibri" pitchFamily="34" charset="0"/>
                <a:ea typeface="Calibri" pitchFamily="34" charset="-122"/>
                <a:cs typeface="Calibri" pitchFamily="34" charset="-120"/>
              </a:rPr>
              <a:t>ZONES DE DISPO.</a:t>
            </a:r>
            <a:endParaRPr lang="en-US" sz="900" dirty="0"/>
          </a:p>
        </p:txBody>
      </p:sp>
      <p:sp>
        <p:nvSpPr>
          <p:cNvPr id="12" name="Text 10"/>
          <p:cNvSpPr/>
          <p:nvPr/>
        </p:nvSpPr>
        <p:spPr>
          <a:xfrm>
            <a:off x="3547872" y="2880360"/>
            <a:ext cx="2331720" cy="274320"/>
          </a:xfrm>
          <a:prstGeom prst="rect">
            <a:avLst/>
          </a:prstGeom>
          <a:noFill/>
          <a:ln/>
        </p:spPr>
        <p:txBody>
          <a:bodyPr wrap="square" lIns="0" tIns="0" rIns="0" bIns="0" rtlCol="0" anchor="ctr"/>
          <a:lstStyle/>
          <a:p>
            <a:pPr indent="0" marL="0">
              <a:buNone/>
            </a:pPr>
            <a:r>
              <a:rPr lang="en-US" sz="1100" dirty="0">
                <a:solidFill>
                  <a:srgbClr val="2C2C2C"/>
                </a:solidFill>
                <a:latin typeface="Calibri" pitchFamily="34" charset="0"/>
                <a:ea typeface="Calibri" pitchFamily="34" charset="-122"/>
                <a:cs typeface="Calibri" pitchFamily="34" charset="-120"/>
              </a:rPr>
              <a:t>Paris 1 / 2 / 3</a:t>
            </a:r>
            <a:endParaRPr lang="en-US" sz="1100" dirty="0"/>
          </a:p>
        </p:txBody>
      </p:sp>
      <p:sp>
        <p:nvSpPr>
          <p:cNvPr id="13" name="Shape 11"/>
          <p:cNvSpPr/>
          <p:nvPr/>
        </p:nvSpPr>
        <p:spPr>
          <a:xfrm>
            <a:off x="6181344" y="1737360"/>
            <a:ext cx="2697480" cy="1463040"/>
          </a:xfrm>
          <a:prstGeom prst="rect">
            <a:avLst/>
          </a:prstGeom>
          <a:solidFill>
            <a:srgbClr val="FFFFFF"/>
          </a:solidFill>
          <a:ln w="6350">
            <a:solidFill>
              <a:srgbClr val="E5E7EB"/>
            </a:solidFill>
            <a:prstDash val="solid"/>
          </a:ln>
          <a:effectLst>
            <a:outerShdw sx="100000" sy="100000" kx="0" ky="0" algn="bl" rotWithShape="0" blurRad="76200" dist="25400" dir="5400000">
              <a:srgbClr val="000000">
                <a:alpha val="6000"/>
              </a:srgbClr>
            </a:outerShdw>
          </a:effectLst>
        </p:spPr>
      </p:sp>
      <p:sp>
        <p:nvSpPr>
          <p:cNvPr id="14" name="Text 12"/>
          <p:cNvSpPr/>
          <p:nvPr/>
        </p:nvSpPr>
        <p:spPr>
          <a:xfrm>
            <a:off x="6364224" y="1874520"/>
            <a:ext cx="2331720" cy="777240"/>
          </a:xfrm>
          <a:prstGeom prst="rect">
            <a:avLst/>
          </a:prstGeom>
          <a:noFill/>
          <a:ln/>
        </p:spPr>
        <p:txBody>
          <a:bodyPr wrap="square" lIns="0" tIns="0" rIns="0" bIns="0" rtlCol="0" anchor="ctr"/>
          <a:lstStyle/>
          <a:p>
            <a:pPr indent="0" marL="0">
              <a:buNone/>
            </a:pPr>
            <a:r>
              <a:rPr lang="en-US" sz="5600" b="1" dirty="0">
                <a:solidFill>
                  <a:srgbClr val="B81E1E"/>
                </a:solidFill>
                <a:latin typeface="Cambria" pitchFamily="34" charset="0"/>
                <a:ea typeface="Cambria" pitchFamily="34" charset="-122"/>
                <a:cs typeface="Cambria" pitchFamily="34" charset="-120"/>
              </a:rPr>
              <a:t>ms</a:t>
            </a:r>
            <a:endParaRPr lang="en-US" sz="5600" dirty="0"/>
          </a:p>
        </p:txBody>
      </p:sp>
      <p:sp>
        <p:nvSpPr>
          <p:cNvPr id="15" name="Text 13"/>
          <p:cNvSpPr/>
          <p:nvPr/>
        </p:nvSpPr>
        <p:spPr>
          <a:xfrm>
            <a:off x="6364224" y="2651760"/>
            <a:ext cx="2331720" cy="228600"/>
          </a:xfrm>
          <a:prstGeom prst="rect">
            <a:avLst/>
          </a:prstGeom>
          <a:noFill/>
          <a:ln/>
        </p:spPr>
        <p:txBody>
          <a:bodyPr wrap="square" lIns="0" tIns="0" rIns="0" bIns="0" rtlCol="0" anchor="ctr"/>
          <a:lstStyle/>
          <a:p>
            <a:pPr indent="0" marL="0">
              <a:buNone/>
            </a:pPr>
            <a:r>
              <a:rPr lang="en-US" sz="900" b="1" spc="200" kern="0" dirty="0">
                <a:solidFill>
                  <a:srgbClr val="6B7280"/>
                </a:solidFill>
                <a:latin typeface="Calibri" pitchFamily="34" charset="0"/>
                <a:ea typeface="Calibri" pitchFamily="34" charset="-122"/>
                <a:cs typeface="Calibri" pitchFamily="34" charset="-120"/>
              </a:rPr>
              <a:t>RPO CIBLE</a:t>
            </a:r>
            <a:endParaRPr lang="en-US" sz="900" dirty="0"/>
          </a:p>
        </p:txBody>
      </p:sp>
      <p:sp>
        <p:nvSpPr>
          <p:cNvPr id="16" name="Text 14"/>
          <p:cNvSpPr/>
          <p:nvPr/>
        </p:nvSpPr>
        <p:spPr>
          <a:xfrm>
            <a:off x="6364224" y="2880360"/>
            <a:ext cx="2331720" cy="274320"/>
          </a:xfrm>
          <a:prstGeom prst="rect">
            <a:avLst/>
          </a:prstGeom>
          <a:noFill/>
          <a:ln/>
        </p:spPr>
        <p:txBody>
          <a:bodyPr wrap="square" lIns="0" tIns="0" rIns="0" bIns="0" rtlCol="0" anchor="ctr"/>
          <a:lstStyle/>
          <a:p>
            <a:pPr indent="0" marL="0">
              <a:buNone/>
            </a:pPr>
            <a:r>
              <a:rPr lang="en-US" sz="1100" dirty="0">
                <a:solidFill>
                  <a:srgbClr val="2C2C2C"/>
                </a:solidFill>
                <a:latin typeface="Calibri" pitchFamily="34" charset="0"/>
                <a:ea typeface="Calibri" pitchFamily="34" charset="-122"/>
                <a:cs typeface="Calibri" pitchFamily="34" charset="-120"/>
              </a:rPr>
              <a:t>Near Sync quorum</a:t>
            </a:r>
            <a:endParaRPr lang="en-US" sz="1100" dirty="0"/>
          </a:p>
        </p:txBody>
      </p:sp>
      <p:sp>
        <p:nvSpPr>
          <p:cNvPr id="17" name="Shape 15"/>
          <p:cNvSpPr/>
          <p:nvPr/>
        </p:nvSpPr>
        <p:spPr>
          <a:xfrm>
            <a:off x="8997696" y="1737360"/>
            <a:ext cx="2697480" cy="1463040"/>
          </a:xfrm>
          <a:prstGeom prst="rect">
            <a:avLst/>
          </a:prstGeom>
          <a:solidFill>
            <a:srgbClr val="FFFFFF"/>
          </a:solidFill>
          <a:ln w="6350">
            <a:solidFill>
              <a:srgbClr val="E5E7EB"/>
            </a:solidFill>
            <a:prstDash val="solid"/>
          </a:ln>
          <a:effectLst>
            <a:outerShdw sx="100000" sy="100000" kx="0" ky="0" algn="bl" rotWithShape="0" blurRad="76200" dist="25400" dir="5400000">
              <a:srgbClr val="000000">
                <a:alpha val="6000"/>
              </a:srgbClr>
            </a:outerShdw>
          </a:effectLst>
        </p:spPr>
      </p:sp>
      <p:sp>
        <p:nvSpPr>
          <p:cNvPr id="18" name="Text 16"/>
          <p:cNvSpPr/>
          <p:nvPr/>
        </p:nvSpPr>
        <p:spPr>
          <a:xfrm>
            <a:off x="9180576" y="1874520"/>
            <a:ext cx="2331720" cy="777240"/>
          </a:xfrm>
          <a:prstGeom prst="rect">
            <a:avLst/>
          </a:prstGeom>
          <a:noFill/>
          <a:ln/>
        </p:spPr>
        <p:txBody>
          <a:bodyPr wrap="square" lIns="0" tIns="0" rIns="0" bIns="0" rtlCol="0" anchor="ctr"/>
          <a:lstStyle/>
          <a:p>
            <a:pPr indent="0" marL="0">
              <a:buNone/>
            </a:pPr>
            <a:r>
              <a:rPr lang="en-US" sz="5600" b="1" dirty="0">
                <a:solidFill>
                  <a:srgbClr val="B81E1E"/>
                </a:solidFill>
                <a:latin typeface="Cambria" pitchFamily="34" charset="0"/>
                <a:ea typeface="Cambria" pitchFamily="34" charset="-122"/>
                <a:cs typeface="Cambria" pitchFamily="34" charset="-120"/>
              </a:rPr>
              <a:t>&lt;30s</a:t>
            </a:r>
            <a:endParaRPr lang="en-US" sz="5600" dirty="0"/>
          </a:p>
        </p:txBody>
      </p:sp>
      <p:sp>
        <p:nvSpPr>
          <p:cNvPr id="19" name="Text 17"/>
          <p:cNvSpPr/>
          <p:nvPr/>
        </p:nvSpPr>
        <p:spPr>
          <a:xfrm>
            <a:off x="9180576" y="2651760"/>
            <a:ext cx="2331720" cy="228600"/>
          </a:xfrm>
          <a:prstGeom prst="rect">
            <a:avLst/>
          </a:prstGeom>
          <a:noFill/>
          <a:ln/>
        </p:spPr>
        <p:txBody>
          <a:bodyPr wrap="square" lIns="0" tIns="0" rIns="0" bIns="0" rtlCol="0" anchor="ctr"/>
          <a:lstStyle/>
          <a:p>
            <a:pPr indent="0" marL="0">
              <a:buNone/>
            </a:pPr>
            <a:r>
              <a:rPr lang="en-US" sz="900" b="1" spc="200" kern="0" dirty="0">
                <a:solidFill>
                  <a:srgbClr val="6B7280"/>
                </a:solidFill>
                <a:latin typeface="Calibri" pitchFamily="34" charset="0"/>
                <a:ea typeface="Calibri" pitchFamily="34" charset="-122"/>
                <a:cs typeface="Calibri" pitchFamily="34" charset="-120"/>
              </a:rPr>
              <a:t>RTO CIBLE</a:t>
            </a:r>
            <a:endParaRPr lang="en-US" sz="900" dirty="0"/>
          </a:p>
        </p:txBody>
      </p:sp>
      <p:sp>
        <p:nvSpPr>
          <p:cNvPr id="20" name="Text 18"/>
          <p:cNvSpPr/>
          <p:nvPr/>
        </p:nvSpPr>
        <p:spPr>
          <a:xfrm>
            <a:off x="9180576" y="2880360"/>
            <a:ext cx="2331720" cy="274320"/>
          </a:xfrm>
          <a:prstGeom prst="rect">
            <a:avLst/>
          </a:prstGeom>
          <a:noFill/>
          <a:ln/>
        </p:spPr>
        <p:txBody>
          <a:bodyPr wrap="square" lIns="0" tIns="0" rIns="0" bIns="0" rtlCol="0" anchor="ctr"/>
          <a:lstStyle/>
          <a:p>
            <a:pPr indent="0" marL="0">
              <a:buNone/>
            </a:pPr>
            <a:r>
              <a:rPr lang="en-US" sz="1100" dirty="0">
                <a:solidFill>
                  <a:srgbClr val="2C2C2C"/>
                </a:solidFill>
                <a:latin typeface="Calibri" pitchFamily="34" charset="0"/>
                <a:ea typeface="Calibri" pitchFamily="34" charset="-122"/>
                <a:cs typeface="Calibri" pitchFamily="34" charset="-120"/>
              </a:rPr>
              <a:t>Bascule HA auto</a:t>
            </a:r>
            <a:endParaRPr lang="en-US" sz="1100" dirty="0"/>
          </a:p>
        </p:txBody>
      </p:sp>
      <p:sp>
        <p:nvSpPr>
          <p:cNvPr id="21" name="Text 19"/>
          <p:cNvSpPr/>
          <p:nvPr/>
        </p:nvSpPr>
        <p:spPr>
          <a:xfrm>
            <a:off x="548640" y="3520440"/>
            <a:ext cx="10972800" cy="274320"/>
          </a:xfrm>
          <a:prstGeom prst="rect">
            <a:avLst/>
          </a:prstGeom>
          <a:noFill/>
          <a:ln/>
        </p:spPr>
        <p:txBody>
          <a:bodyPr wrap="square" lIns="0" tIns="0" rIns="0" bIns="0" rtlCol="0" anchor="ctr"/>
          <a:lstStyle/>
          <a:p>
            <a:pPr indent="0" marL="0">
              <a:buNone/>
            </a:pPr>
            <a:r>
              <a:rPr lang="en-US" sz="1000" b="1" spc="300" kern="0" dirty="0">
                <a:solidFill>
                  <a:srgbClr val="B89653"/>
                </a:solidFill>
                <a:latin typeface="Calibri" pitchFamily="34" charset="0"/>
                <a:ea typeface="Calibri" pitchFamily="34" charset="-122"/>
                <a:cs typeface="Calibri" pitchFamily="34" charset="-120"/>
              </a:rPr>
              <a:t>RÈGLES REFCARD APPLIQUÉES</a:t>
            </a:r>
            <a:endParaRPr lang="en-US" sz="1000" dirty="0"/>
          </a:p>
        </p:txBody>
      </p:sp>
      <p:sp>
        <p:nvSpPr>
          <p:cNvPr id="22" name="Shape 20"/>
          <p:cNvSpPr/>
          <p:nvPr/>
        </p:nvSpPr>
        <p:spPr>
          <a:xfrm>
            <a:off x="548640" y="3931920"/>
            <a:ext cx="5440680" cy="457200"/>
          </a:xfrm>
          <a:prstGeom prst="rect">
            <a:avLst/>
          </a:prstGeom>
          <a:solidFill>
            <a:srgbClr val="FAFAFA"/>
          </a:solidFill>
          <a:ln/>
        </p:spPr>
      </p:sp>
      <p:sp>
        <p:nvSpPr>
          <p:cNvPr id="23" name="Shape 21"/>
          <p:cNvSpPr/>
          <p:nvPr/>
        </p:nvSpPr>
        <p:spPr>
          <a:xfrm>
            <a:off x="548640" y="3931920"/>
            <a:ext cx="54864" cy="457200"/>
          </a:xfrm>
          <a:prstGeom prst="rect">
            <a:avLst/>
          </a:prstGeom>
          <a:solidFill>
            <a:srgbClr val="B81E1E"/>
          </a:solidFill>
          <a:ln/>
        </p:spPr>
      </p:sp>
      <p:sp>
        <p:nvSpPr>
          <p:cNvPr id="24" name="Text 22"/>
          <p:cNvSpPr/>
          <p:nvPr/>
        </p:nvSpPr>
        <p:spPr>
          <a:xfrm>
            <a:off x="731520" y="3995928"/>
            <a:ext cx="1554480" cy="329184"/>
          </a:xfrm>
          <a:prstGeom prst="rect">
            <a:avLst/>
          </a:prstGeom>
          <a:noFill/>
          <a:ln/>
        </p:spPr>
        <p:txBody>
          <a:bodyPr wrap="square" lIns="0" tIns="0" rIns="0" bIns="0" rtlCol="0" anchor="ctr"/>
          <a:lstStyle/>
          <a:p>
            <a:pPr indent="0" marL="0">
              <a:buNone/>
            </a:pPr>
            <a:r>
              <a:rPr lang="en-US" sz="1100" b="1" dirty="0">
                <a:solidFill>
                  <a:srgbClr val="1A1A1A"/>
                </a:solidFill>
                <a:latin typeface="Calibri" pitchFamily="34" charset="0"/>
                <a:ea typeface="Calibri" pitchFamily="34" charset="-122"/>
                <a:cs typeface="Calibri" pitchFamily="34" charset="-120"/>
              </a:rPr>
              <a:t>Topology</a:t>
            </a:r>
            <a:endParaRPr lang="en-US" sz="1100" dirty="0"/>
          </a:p>
        </p:txBody>
      </p:sp>
      <p:sp>
        <p:nvSpPr>
          <p:cNvPr id="25" name="Text 23"/>
          <p:cNvSpPr/>
          <p:nvPr/>
        </p:nvSpPr>
        <p:spPr>
          <a:xfrm>
            <a:off x="2331720" y="3995928"/>
            <a:ext cx="3566160" cy="329184"/>
          </a:xfrm>
          <a:prstGeom prst="rect">
            <a:avLst/>
          </a:prstGeom>
          <a:noFill/>
          <a:ln/>
        </p:spPr>
        <p:txBody>
          <a:bodyPr wrap="square" lIns="0" tIns="0" rIns="0" bIns="0" rtlCol="0" anchor="ctr"/>
          <a:lstStyle/>
          <a:p>
            <a:pPr indent="0" marL="0">
              <a:buNone/>
            </a:pPr>
            <a:r>
              <a:rPr lang="en-US" sz="1100" dirty="0">
                <a:solidFill>
                  <a:srgbClr val="2C2C2C"/>
                </a:solidFill>
                <a:latin typeface="Calibri" pitchFamily="34" charset="0"/>
                <a:ea typeface="Calibri" pitchFamily="34" charset="-122"/>
                <a:cs typeface="Calibri" pitchFamily="34" charset="-120"/>
              </a:rPr>
              <a:t>M:Three (3 AZ minimum)</a:t>
            </a:r>
            <a:endParaRPr lang="en-US" sz="1100" dirty="0"/>
          </a:p>
        </p:txBody>
      </p:sp>
      <p:sp>
        <p:nvSpPr>
          <p:cNvPr id="26" name="Shape 24"/>
          <p:cNvSpPr/>
          <p:nvPr/>
        </p:nvSpPr>
        <p:spPr>
          <a:xfrm>
            <a:off x="6080760" y="3931920"/>
            <a:ext cx="5440680" cy="457200"/>
          </a:xfrm>
          <a:prstGeom prst="rect">
            <a:avLst/>
          </a:prstGeom>
          <a:solidFill>
            <a:srgbClr val="FAFAFA"/>
          </a:solidFill>
          <a:ln/>
        </p:spPr>
      </p:sp>
      <p:sp>
        <p:nvSpPr>
          <p:cNvPr id="27" name="Shape 25"/>
          <p:cNvSpPr/>
          <p:nvPr/>
        </p:nvSpPr>
        <p:spPr>
          <a:xfrm>
            <a:off x="6080760" y="3931920"/>
            <a:ext cx="54864" cy="457200"/>
          </a:xfrm>
          <a:prstGeom prst="rect">
            <a:avLst/>
          </a:prstGeom>
          <a:solidFill>
            <a:srgbClr val="B81E1E"/>
          </a:solidFill>
          <a:ln/>
        </p:spPr>
      </p:sp>
      <p:sp>
        <p:nvSpPr>
          <p:cNvPr id="28" name="Text 26"/>
          <p:cNvSpPr/>
          <p:nvPr/>
        </p:nvSpPr>
        <p:spPr>
          <a:xfrm>
            <a:off x="6263640" y="3995928"/>
            <a:ext cx="1554480" cy="329184"/>
          </a:xfrm>
          <a:prstGeom prst="rect">
            <a:avLst/>
          </a:prstGeom>
          <a:noFill/>
          <a:ln/>
        </p:spPr>
        <p:txBody>
          <a:bodyPr wrap="square" lIns="0" tIns="0" rIns="0" bIns="0" rtlCol="0" anchor="ctr"/>
          <a:lstStyle/>
          <a:p>
            <a:pPr indent="0" marL="0">
              <a:buNone/>
            </a:pPr>
            <a:r>
              <a:rPr lang="en-US" sz="1100" b="1" dirty="0">
                <a:solidFill>
                  <a:srgbClr val="1A1A1A"/>
                </a:solidFill>
                <a:latin typeface="Calibri" pitchFamily="34" charset="0"/>
                <a:ea typeface="Calibri" pitchFamily="34" charset="-122"/>
                <a:cs typeface="Calibri" pitchFamily="34" charset="-120"/>
              </a:rPr>
              <a:t>AZ Status</a:t>
            </a:r>
            <a:endParaRPr lang="en-US" sz="1100" dirty="0"/>
          </a:p>
        </p:txBody>
      </p:sp>
      <p:sp>
        <p:nvSpPr>
          <p:cNvPr id="29" name="Text 27"/>
          <p:cNvSpPr/>
          <p:nvPr/>
        </p:nvSpPr>
        <p:spPr>
          <a:xfrm>
            <a:off x="7863840" y="3995928"/>
            <a:ext cx="3566160" cy="329184"/>
          </a:xfrm>
          <a:prstGeom prst="rect">
            <a:avLst/>
          </a:prstGeom>
          <a:noFill/>
          <a:ln/>
        </p:spPr>
        <p:txBody>
          <a:bodyPr wrap="square" lIns="0" tIns="0" rIns="0" bIns="0" rtlCol="0" anchor="ctr"/>
          <a:lstStyle/>
          <a:p>
            <a:pPr indent="0" marL="0">
              <a:buNone/>
            </a:pPr>
            <a:r>
              <a:rPr lang="en-US" sz="1100" dirty="0">
                <a:solidFill>
                  <a:srgbClr val="2C2C2C"/>
                </a:solidFill>
                <a:latin typeface="Calibri" pitchFamily="34" charset="0"/>
                <a:ea typeface="Calibri" pitchFamily="34" charset="-122"/>
                <a:cs typeface="Calibri" pitchFamily="34" charset="-120"/>
              </a:rPr>
              <a:t>All Active — aucune en veille</a:t>
            </a:r>
            <a:endParaRPr lang="en-US" sz="1100" dirty="0"/>
          </a:p>
        </p:txBody>
      </p:sp>
      <p:sp>
        <p:nvSpPr>
          <p:cNvPr id="30" name="Shape 28"/>
          <p:cNvSpPr/>
          <p:nvPr/>
        </p:nvSpPr>
        <p:spPr>
          <a:xfrm>
            <a:off x="548640" y="4498848"/>
            <a:ext cx="5440680" cy="457200"/>
          </a:xfrm>
          <a:prstGeom prst="rect">
            <a:avLst/>
          </a:prstGeom>
          <a:solidFill>
            <a:srgbClr val="FAFAFA"/>
          </a:solidFill>
          <a:ln/>
        </p:spPr>
      </p:sp>
      <p:sp>
        <p:nvSpPr>
          <p:cNvPr id="31" name="Shape 29"/>
          <p:cNvSpPr/>
          <p:nvPr/>
        </p:nvSpPr>
        <p:spPr>
          <a:xfrm>
            <a:off x="548640" y="4498848"/>
            <a:ext cx="54864" cy="457200"/>
          </a:xfrm>
          <a:prstGeom prst="rect">
            <a:avLst/>
          </a:prstGeom>
          <a:solidFill>
            <a:srgbClr val="B81E1E"/>
          </a:solidFill>
          <a:ln/>
        </p:spPr>
      </p:sp>
      <p:sp>
        <p:nvSpPr>
          <p:cNvPr id="32" name="Text 30"/>
          <p:cNvSpPr/>
          <p:nvPr/>
        </p:nvSpPr>
        <p:spPr>
          <a:xfrm>
            <a:off x="731520" y="4562856"/>
            <a:ext cx="1554480" cy="329184"/>
          </a:xfrm>
          <a:prstGeom prst="rect">
            <a:avLst/>
          </a:prstGeom>
          <a:noFill/>
          <a:ln/>
        </p:spPr>
        <p:txBody>
          <a:bodyPr wrap="square" lIns="0" tIns="0" rIns="0" bIns="0" rtlCol="0" anchor="ctr"/>
          <a:lstStyle/>
          <a:p>
            <a:pPr indent="0" marL="0">
              <a:buNone/>
            </a:pPr>
            <a:r>
              <a:rPr lang="en-US" sz="1100" b="1" dirty="0">
                <a:solidFill>
                  <a:srgbClr val="1A1A1A"/>
                </a:solidFill>
                <a:latin typeface="Calibri" pitchFamily="34" charset="0"/>
                <a:ea typeface="Calibri" pitchFamily="34" charset="-122"/>
                <a:cs typeface="Calibri" pitchFamily="34" charset="-120"/>
              </a:rPr>
              <a:t>Local Failover</a:t>
            </a:r>
            <a:endParaRPr lang="en-US" sz="1100" dirty="0"/>
          </a:p>
        </p:txBody>
      </p:sp>
      <p:sp>
        <p:nvSpPr>
          <p:cNvPr id="33" name="Text 31"/>
          <p:cNvSpPr/>
          <p:nvPr/>
        </p:nvSpPr>
        <p:spPr>
          <a:xfrm>
            <a:off x="2331720" y="4562856"/>
            <a:ext cx="3566160" cy="329184"/>
          </a:xfrm>
          <a:prstGeom prst="rect">
            <a:avLst/>
          </a:prstGeom>
          <a:noFill/>
          <a:ln/>
        </p:spPr>
        <p:txBody>
          <a:bodyPr wrap="square" lIns="0" tIns="0" rIns="0" bIns="0" rtlCol="0" anchor="ctr"/>
          <a:lstStyle/>
          <a:p>
            <a:pPr indent="0" marL="0">
              <a:buNone/>
            </a:pPr>
            <a:r>
              <a:rPr lang="en-US" sz="1100" dirty="0">
                <a:solidFill>
                  <a:srgbClr val="2C2C2C"/>
                </a:solidFill>
                <a:latin typeface="Calibri" pitchFamily="34" charset="0"/>
                <a:ea typeface="Calibri" pitchFamily="34" charset="-122"/>
                <a:cs typeface="Calibri" pitchFamily="34" charset="-120"/>
              </a:rPr>
              <a:t>HA — bascule automatique &lt; 30 s</a:t>
            </a:r>
            <a:endParaRPr lang="en-US" sz="1100" dirty="0"/>
          </a:p>
        </p:txBody>
      </p:sp>
      <p:sp>
        <p:nvSpPr>
          <p:cNvPr id="34" name="Shape 32"/>
          <p:cNvSpPr/>
          <p:nvPr/>
        </p:nvSpPr>
        <p:spPr>
          <a:xfrm>
            <a:off x="6080760" y="4498848"/>
            <a:ext cx="5440680" cy="457200"/>
          </a:xfrm>
          <a:prstGeom prst="rect">
            <a:avLst/>
          </a:prstGeom>
          <a:solidFill>
            <a:srgbClr val="FAFAFA"/>
          </a:solidFill>
          <a:ln/>
        </p:spPr>
      </p:sp>
      <p:sp>
        <p:nvSpPr>
          <p:cNvPr id="35" name="Shape 33"/>
          <p:cNvSpPr/>
          <p:nvPr/>
        </p:nvSpPr>
        <p:spPr>
          <a:xfrm>
            <a:off x="6080760" y="4498848"/>
            <a:ext cx="54864" cy="457200"/>
          </a:xfrm>
          <a:prstGeom prst="rect">
            <a:avLst/>
          </a:prstGeom>
          <a:solidFill>
            <a:srgbClr val="B81E1E"/>
          </a:solidFill>
          <a:ln/>
        </p:spPr>
      </p:sp>
      <p:sp>
        <p:nvSpPr>
          <p:cNvPr id="36" name="Text 34"/>
          <p:cNvSpPr/>
          <p:nvPr/>
        </p:nvSpPr>
        <p:spPr>
          <a:xfrm>
            <a:off x="6263640" y="4562856"/>
            <a:ext cx="1554480" cy="329184"/>
          </a:xfrm>
          <a:prstGeom prst="rect">
            <a:avLst/>
          </a:prstGeom>
          <a:noFill/>
          <a:ln/>
        </p:spPr>
        <p:txBody>
          <a:bodyPr wrap="square" lIns="0" tIns="0" rIns="0" bIns="0" rtlCol="0" anchor="ctr"/>
          <a:lstStyle/>
          <a:p>
            <a:pPr indent="0" marL="0">
              <a:buNone/>
            </a:pPr>
            <a:r>
              <a:rPr lang="en-US" sz="1100" b="1" dirty="0">
                <a:solidFill>
                  <a:srgbClr val="1A1A1A"/>
                </a:solidFill>
                <a:latin typeface="Calibri" pitchFamily="34" charset="0"/>
                <a:ea typeface="Calibri" pitchFamily="34" charset="-122"/>
                <a:cs typeface="Calibri" pitchFamily="34" charset="-120"/>
              </a:rPr>
              <a:t>Local Data</a:t>
            </a:r>
            <a:endParaRPr lang="en-US" sz="1100" dirty="0"/>
          </a:p>
        </p:txBody>
      </p:sp>
      <p:sp>
        <p:nvSpPr>
          <p:cNvPr id="37" name="Text 35"/>
          <p:cNvSpPr/>
          <p:nvPr/>
        </p:nvSpPr>
        <p:spPr>
          <a:xfrm>
            <a:off x="7863840" y="4562856"/>
            <a:ext cx="3566160" cy="329184"/>
          </a:xfrm>
          <a:prstGeom prst="rect">
            <a:avLst/>
          </a:prstGeom>
          <a:noFill/>
          <a:ln/>
        </p:spPr>
        <p:txBody>
          <a:bodyPr wrap="square" lIns="0" tIns="0" rIns="0" bIns="0" rtlCol="0" anchor="ctr"/>
          <a:lstStyle/>
          <a:p>
            <a:pPr indent="0" marL="0">
              <a:buNone/>
            </a:pPr>
            <a:r>
              <a:rPr lang="en-US" sz="1100" dirty="0">
                <a:solidFill>
                  <a:srgbClr val="2C2C2C"/>
                </a:solidFill>
                <a:latin typeface="Calibri" pitchFamily="34" charset="0"/>
                <a:ea typeface="Calibri" pitchFamily="34" charset="-122"/>
                <a:cs typeface="Calibri" pitchFamily="34" charset="-120"/>
              </a:rPr>
              <a:t>Near Sync (synchronous_commit = on)</a:t>
            </a:r>
            <a:endParaRPr lang="en-US" sz="1100" dirty="0"/>
          </a:p>
        </p:txBody>
      </p:sp>
      <p:sp>
        <p:nvSpPr>
          <p:cNvPr id="38" name="Shape 36"/>
          <p:cNvSpPr/>
          <p:nvPr/>
        </p:nvSpPr>
        <p:spPr>
          <a:xfrm>
            <a:off x="548640" y="5065776"/>
            <a:ext cx="5440680" cy="457200"/>
          </a:xfrm>
          <a:prstGeom prst="rect">
            <a:avLst/>
          </a:prstGeom>
          <a:solidFill>
            <a:srgbClr val="FAFAFA"/>
          </a:solidFill>
          <a:ln/>
        </p:spPr>
      </p:sp>
      <p:sp>
        <p:nvSpPr>
          <p:cNvPr id="39" name="Shape 37"/>
          <p:cNvSpPr/>
          <p:nvPr/>
        </p:nvSpPr>
        <p:spPr>
          <a:xfrm>
            <a:off x="548640" y="5065776"/>
            <a:ext cx="54864" cy="457200"/>
          </a:xfrm>
          <a:prstGeom prst="rect">
            <a:avLst/>
          </a:prstGeom>
          <a:solidFill>
            <a:srgbClr val="B81E1E"/>
          </a:solidFill>
          <a:ln/>
        </p:spPr>
      </p:sp>
      <p:sp>
        <p:nvSpPr>
          <p:cNvPr id="40" name="Text 38"/>
          <p:cNvSpPr/>
          <p:nvPr/>
        </p:nvSpPr>
        <p:spPr>
          <a:xfrm>
            <a:off x="731520" y="5129784"/>
            <a:ext cx="1554480" cy="329184"/>
          </a:xfrm>
          <a:prstGeom prst="rect">
            <a:avLst/>
          </a:prstGeom>
          <a:noFill/>
          <a:ln/>
        </p:spPr>
        <p:txBody>
          <a:bodyPr wrap="square" lIns="0" tIns="0" rIns="0" bIns="0" rtlCol="0" anchor="ctr"/>
          <a:lstStyle/>
          <a:p>
            <a:pPr indent="0" marL="0">
              <a:buNone/>
            </a:pPr>
            <a:r>
              <a:rPr lang="en-US" sz="1100" b="1" dirty="0">
                <a:solidFill>
                  <a:srgbClr val="1A1A1A"/>
                </a:solidFill>
                <a:latin typeface="Calibri" pitchFamily="34" charset="0"/>
                <a:ea typeface="Calibri" pitchFamily="34" charset="-122"/>
                <a:cs typeface="Calibri" pitchFamily="34" charset="-120"/>
              </a:rPr>
              <a:t>Regional Data</a:t>
            </a:r>
            <a:endParaRPr lang="en-US" sz="1100" dirty="0"/>
          </a:p>
        </p:txBody>
      </p:sp>
      <p:sp>
        <p:nvSpPr>
          <p:cNvPr id="41" name="Text 39"/>
          <p:cNvSpPr/>
          <p:nvPr/>
        </p:nvSpPr>
        <p:spPr>
          <a:xfrm>
            <a:off x="2331720" y="5129784"/>
            <a:ext cx="3566160" cy="329184"/>
          </a:xfrm>
          <a:prstGeom prst="rect">
            <a:avLst/>
          </a:prstGeom>
          <a:noFill/>
          <a:ln/>
        </p:spPr>
        <p:txBody>
          <a:bodyPr wrap="square" lIns="0" tIns="0" rIns="0" bIns="0" rtlCol="0" anchor="ctr"/>
          <a:lstStyle/>
          <a:p>
            <a:pPr indent="0" marL="0">
              <a:buNone/>
            </a:pPr>
            <a:r>
              <a:rPr lang="en-US" sz="1100" dirty="0">
                <a:solidFill>
                  <a:srgbClr val="2C2C2C"/>
                </a:solidFill>
                <a:latin typeface="Calibri" pitchFamily="34" charset="0"/>
                <a:ea typeface="Calibri" pitchFamily="34" charset="-122"/>
                <a:cs typeface="Calibri" pitchFamily="34" charset="-120"/>
              </a:rPr>
              <a:t>M:One — copie async vers Bastogne</a:t>
            </a:r>
            <a:endParaRPr lang="en-US" sz="1100" dirty="0"/>
          </a:p>
        </p:txBody>
      </p:sp>
      <p:sp>
        <p:nvSpPr>
          <p:cNvPr id="42" name="Shape 40"/>
          <p:cNvSpPr/>
          <p:nvPr/>
        </p:nvSpPr>
        <p:spPr>
          <a:xfrm>
            <a:off x="6080760" y="5065776"/>
            <a:ext cx="5440680" cy="457200"/>
          </a:xfrm>
          <a:prstGeom prst="rect">
            <a:avLst/>
          </a:prstGeom>
          <a:solidFill>
            <a:srgbClr val="FAFAFA"/>
          </a:solidFill>
          <a:ln/>
        </p:spPr>
      </p:sp>
      <p:sp>
        <p:nvSpPr>
          <p:cNvPr id="43" name="Shape 41"/>
          <p:cNvSpPr/>
          <p:nvPr/>
        </p:nvSpPr>
        <p:spPr>
          <a:xfrm>
            <a:off x="6080760" y="5065776"/>
            <a:ext cx="54864" cy="457200"/>
          </a:xfrm>
          <a:prstGeom prst="rect">
            <a:avLst/>
          </a:prstGeom>
          <a:solidFill>
            <a:srgbClr val="B81E1E"/>
          </a:solidFill>
          <a:ln/>
        </p:spPr>
      </p:sp>
      <p:sp>
        <p:nvSpPr>
          <p:cNvPr id="44" name="Text 42"/>
          <p:cNvSpPr/>
          <p:nvPr/>
        </p:nvSpPr>
        <p:spPr>
          <a:xfrm>
            <a:off x="6263640" y="5129784"/>
            <a:ext cx="1554480" cy="329184"/>
          </a:xfrm>
          <a:prstGeom prst="rect">
            <a:avLst/>
          </a:prstGeom>
          <a:noFill/>
          <a:ln/>
        </p:spPr>
        <p:txBody>
          <a:bodyPr wrap="square" lIns="0" tIns="0" rIns="0" bIns="0" rtlCol="0" anchor="ctr"/>
          <a:lstStyle/>
          <a:p>
            <a:pPr indent="0" marL="0">
              <a:buNone/>
            </a:pPr>
            <a:r>
              <a:rPr lang="en-US" sz="1100" b="1" dirty="0">
                <a:solidFill>
                  <a:srgbClr val="1A1A1A"/>
                </a:solidFill>
                <a:latin typeface="Calibri" pitchFamily="34" charset="0"/>
                <a:ea typeface="Calibri" pitchFamily="34" charset="-122"/>
                <a:cs typeface="Calibri" pitchFamily="34" charset="-120"/>
              </a:rPr>
              <a:t>Local Backup</a:t>
            </a:r>
            <a:endParaRPr lang="en-US" sz="1100" dirty="0"/>
          </a:p>
        </p:txBody>
      </p:sp>
      <p:sp>
        <p:nvSpPr>
          <p:cNvPr id="45" name="Text 43"/>
          <p:cNvSpPr/>
          <p:nvPr/>
        </p:nvSpPr>
        <p:spPr>
          <a:xfrm>
            <a:off x="7863840" y="5129784"/>
            <a:ext cx="3566160" cy="329184"/>
          </a:xfrm>
          <a:prstGeom prst="rect">
            <a:avLst/>
          </a:prstGeom>
          <a:noFill/>
          <a:ln/>
        </p:spPr>
        <p:txBody>
          <a:bodyPr wrap="square" lIns="0" tIns="0" rIns="0" bIns="0" rtlCol="0" anchor="ctr"/>
          <a:lstStyle/>
          <a:p>
            <a:pPr indent="0" marL="0">
              <a:buNone/>
            </a:pPr>
            <a:r>
              <a:rPr lang="en-US" sz="1100" dirty="0">
                <a:solidFill>
                  <a:srgbClr val="2C2C2C"/>
                </a:solidFill>
                <a:latin typeface="Calibri" pitchFamily="34" charset="0"/>
                <a:ea typeface="Calibri" pitchFamily="34" charset="-122"/>
                <a:cs typeface="Calibri" pitchFamily="34" charset="-120"/>
              </a:rPr>
              <a:t>M:Two — IBM COS + Velero CSI snapshots</a:t>
            </a:r>
            <a:endParaRPr lang="en-US" sz="1100" dirty="0"/>
          </a:p>
        </p:txBody>
      </p:sp>
      <p:sp>
        <p:nvSpPr>
          <p:cNvPr id="46" name="Shape 44"/>
          <p:cNvSpPr/>
          <p:nvPr/>
        </p:nvSpPr>
        <p:spPr>
          <a:xfrm>
            <a:off x="548640" y="5632704"/>
            <a:ext cx="5440680" cy="457200"/>
          </a:xfrm>
          <a:prstGeom prst="rect">
            <a:avLst/>
          </a:prstGeom>
          <a:solidFill>
            <a:srgbClr val="FAFAFA"/>
          </a:solidFill>
          <a:ln/>
        </p:spPr>
      </p:sp>
      <p:sp>
        <p:nvSpPr>
          <p:cNvPr id="47" name="Shape 45"/>
          <p:cNvSpPr/>
          <p:nvPr/>
        </p:nvSpPr>
        <p:spPr>
          <a:xfrm>
            <a:off x="548640" y="5632704"/>
            <a:ext cx="54864" cy="457200"/>
          </a:xfrm>
          <a:prstGeom prst="rect">
            <a:avLst/>
          </a:prstGeom>
          <a:solidFill>
            <a:srgbClr val="B81E1E"/>
          </a:solidFill>
          <a:ln/>
        </p:spPr>
      </p:sp>
      <p:sp>
        <p:nvSpPr>
          <p:cNvPr id="48" name="Text 46"/>
          <p:cNvSpPr/>
          <p:nvPr/>
        </p:nvSpPr>
        <p:spPr>
          <a:xfrm>
            <a:off x="731520" y="5696712"/>
            <a:ext cx="1554480" cy="329184"/>
          </a:xfrm>
          <a:prstGeom prst="rect">
            <a:avLst/>
          </a:prstGeom>
          <a:noFill/>
          <a:ln/>
        </p:spPr>
        <p:txBody>
          <a:bodyPr wrap="square" lIns="0" tIns="0" rIns="0" bIns="0" rtlCol="0" anchor="ctr"/>
          <a:lstStyle/>
          <a:p>
            <a:pPr indent="0" marL="0">
              <a:buNone/>
            </a:pPr>
            <a:r>
              <a:rPr lang="en-US" sz="1100" b="1" dirty="0">
                <a:solidFill>
                  <a:srgbClr val="1A1A1A"/>
                </a:solidFill>
                <a:latin typeface="Calibri" pitchFamily="34" charset="0"/>
                <a:ea typeface="Calibri" pitchFamily="34" charset="-122"/>
                <a:cs typeface="Calibri" pitchFamily="34" charset="-120"/>
              </a:rPr>
              <a:t>Local Rebuild</a:t>
            </a:r>
            <a:endParaRPr lang="en-US" sz="1100" dirty="0"/>
          </a:p>
        </p:txBody>
      </p:sp>
      <p:sp>
        <p:nvSpPr>
          <p:cNvPr id="49" name="Text 47"/>
          <p:cNvSpPr/>
          <p:nvPr/>
        </p:nvSpPr>
        <p:spPr>
          <a:xfrm>
            <a:off x="2331720" y="5696712"/>
            <a:ext cx="3566160" cy="329184"/>
          </a:xfrm>
          <a:prstGeom prst="rect">
            <a:avLst/>
          </a:prstGeom>
          <a:noFill/>
          <a:ln/>
        </p:spPr>
        <p:txBody>
          <a:bodyPr wrap="square" lIns="0" tIns="0" rIns="0" bIns="0" rtlCol="0" anchor="ctr"/>
          <a:lstStyle/>
          <a:p>
            <a:pPr indent="0" marL="0">
              <a:buNone/>
            </a:pPr>
            <a:r>
              <a:rPr lang="en-US" sz="1100" dirty="0">
                <a:solidFill>
                  <a:srgbClr val="2C2C2C"/>
                </a:solidFill>
                <a:latin typeface="Calibri" pitchFamily="34" charset="0"/>
                <a:ea typeface="Calibri" pitchFamily="34" charset="-122"/>
                <a:cs typeface="Calibri" pitchFamily="34" charset="-120"/>
              </a:rPr>
              <a:t>MUST — runbook GitOps documenté</a:t>
            </a:r>
            <a:endParaRPr lang="en-US" sz="1100" dirty="0"/>
          </a:p>
        </p:txBody>
      </p:sp>
      <p:sp>
        <p:nvSpPr>
          <p:cNvPr id="50" name="Shape 48"/>
          <p:cNvSpPr/>
          <p:nvPr/>
        </p:nvSpPr>
        <p:spPr>
          <a:xfrm>
            <a:off x="6080760" y="5632704"/>
            <a:ext cx="5440680" cy="457200"/>
          </a:xfrm>
          <a:prstGeom prst="rect">
            <a:avLst/>
          </a:prstGeom>
          <a:solidFill>
            <a:srgbClr val="FAFAFA"/>
          </a:solidFill>
          <a:ln/>
        </p:spPr>
      </p:sp>
      <p:sp>
        <p:nvSpPr>
          <p:cNvPr id="51" name="Shape 49"/>
          <p:cNvSpPr/>
          <p:nvPr/>
        </p:nvSpPr>
        <p:spPr>
          <a:xfrm>
            <a:off x="6080760" y="5632704"/>
            <a:ext cx="54864" cy="457200"/>
          </a:xfrm>
          <a:prstGeom prst="rect">
            <a:avLst/>
          </a:prstGeom>
          <a:solidFill>
            <a:srgbClr val="B81E1E"/>
          </a:solidFill>
          <a:ln/>
        </p:spPr>
      </p:sp>
      <p:sp>
        <p:nvSpPr>
          <p:cNvPr id="52" name="Text 50"/>
          <p:cNvSpPr/>
          <p:nvPr/>
        </p:nvSpPr>
        <p:spPr>
          <a:xfrm>
            <a:off x="6263640" y="5696712"/>
            <a:ext cx="1554480" cy="329184"/>
          </a:xfrm>
          <a:prstGeom prst="rect">
            <a:avLst/>
          </a:prstGeom>
          <a:noFill/>
          <a:ln/>
        </p:spPr>
        <p:txBody>
          <a:bodyPr wrap="square" lIns="0" tIns="0" rIns="0" bIns="0" rtlCol="0" anchor="ctr"/>
          <a:lstStyle/>
          <a:p>
            <a:pPr indent="0" marL="0">
              <a:buNone/>
            </a:pPr>
            <a:r>
              <a:rPr lang="en-US" sz="1100" b="1" dirty="0">
                <a:solidFill>
                  <a:srgbClr val="1A1A1A"/>
                </a:solidFill>
                <a:latin typeface="Calibri" pitchFamily="34" charset="0"/>
                <a:ea typeface="Calibri" pitchFamily="34" charset="-122"/>
                <a:cs typeface="Calibri" pitchFamily="34" charset="-120"/>
              </a:rPr>
              <a:t>Local Restore</a:t>
            </a:r>
            <a:endParaRPr lang="en-US" sz="1100" dirty="0"/>
          </a:p>
        </p:txBody>
      </p:sp>
      <p:sp>
        <p:nvSpPr>
          <p:cNvPr id="53" name="Text 51"/>
          <p:cNvSpPr/>
          <p:nvPr/>
        </p:nvSpPr>
        <p:spPr>
          <a:xfrm>
            <a:off x="7863840" y="5696712"/>
            <a:ext cx="3566160" cy="329184"/>
          </a:xfrm>
          <a:prstGeom prst="rect">
            <a:avLst/>
          </a:prstGeom>
          <a:noFill/>
          <a:ln/>
        </p:spPr>
        <p:txBody>
          <a:bodyPr wrap="square" lIns="0" tIns="0" rIns="0" bIns="0" rtlCol="0" anchor="ctr"/>
          <a:lstStyle/>
          <a:p>
            <a:pPr indent="0" marL="0">
              <a:buNone/>
            </a:pPr>
            <a:r>
              <a:rPr lang="en-US" sz="1100" dirty="0">
                <a:solidFill>
                  <a:srgbClr val="2C2C2C"/>
                </a:solidFill>
                <a:latin typeface="Calibri" pitchFamily="34" charset="0"/>
                <a:ea typeface="Calibri" pitchFamily="34" charset="-122"/>
                <a:cs typeface="Calibri" pitchFamily="34" charset="-120"/>
              </a:rPr>
              <a:t>MUST — test trimestriel obligatoire (DORA)</a:t>
            </a:r>
            <a:endParaRPr lang="en-US" sz="1100" dirty="0"/>
          </a:p>
        </p:txBody>
      </p:sp>
      <p:sp>
        <p:nvSpPr>
          <p:cNvPr id="54" name="Shape 52"/>
          <p:cNvSpPr/>
          <p:nvPr/>
        </p:nvSpPr>
        <p:spPr>
          <a:xfrm>
            <a:off x="548640" y="6446520"/>
            <a:ext cx="11064240" cy="0"/>
          </a:xfrm>
          <a:prstGeom prst="line">
            <a:avLst/>
          </a:prstGeom>
          <a:noFill/>
          <a:ln w="6350">
            <a:solidFill>
              <a:srgbClr val="E5E7EB"/>
            </a:solidFill>
            <a:prstDash val="solid"/>
          </a:ln>
        </p:spPr>
      </p:sp>
      <p:sp>
        <p:nvSpPr>
          <p:cNvPr id="55" name="Text 53"/>
          <p:cNvSpPr/>
          <p:nvPr/>
        </p:nvSpPr>
        <p:spPr>
          <a:xfrm>
            <a:off x="548640" y="651052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BNP Paribas Cardif  ·  TOE  ·  Cloud Native Architecture</a:t>
            </a:r>
            <a:endParaRPr lang="en-US" sz="900" dirty="0"/>
          </a:p>
        </p:txBody>
      </p:sp>
      <p:sp>
        <p:nvSpPr>
          <p:cNvPr id="56" name="Text 54"/>
          <p:cNvSpPr/>
          <p:nvPr/>
        </p:nvSpPr>
        <p:spPr>
          <a:xfrm>
            <a:off x="10515600" y="6510528"/>
            <a:ext cx="109728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7 / 17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 cy="6858000"/>
          </a:xfrm>
          <a:prstGeom prst="rect">
            <a:avLst/>
          </a:prstGeom>
          <a:solidFill>
            <a:srgbClr val="B81E1E"/>
          </a:solidFill>
          <a:ln/>
        </p:spPr>
      </p:sp>
      <p:sp>
        <p:nvSpPr>
          <p:cNvPr id="3" name="Text 1"/>
          <p:cNvSpPr/>
          <p:nvPr/>
        </p:nvSpPr>
        <p:spPr>
          <a:xfrm>
            <a:off x="548640" y="411480"/>
            <a:ext cx="10972800" cy="274320"/>
          </a:xfrm>
          <a:prstGeom prst="rect">
            <a:avLst/>
          </a:prstGeom>
          <a:noFill/>
          <a:ln/>
        </p:spPr>
        <p:txBody>
          <a:bodyPr wrap="square" lIns="0" tIns="0" rIns="0" bIns="0" rtlCol="0" anchor="ctr"/>
          <a:lstStyle/>
          <a:p>
            <a:pPr indent="0" marL="0">
              <a:buNone/>
            </a:pPr>
            <a:r>
              <a:rPr lang="en-US" sz="1000" b="1" spc="400" kern="0" dirty="0">
                <a:solidFill>
                  <a:srgbClr val="B81E1E"/>
                </a:solidFill>
                <a:latin typeface="Calibri" pitchFamily="34" charset="0"/>
                <a:ea typeface="Calibri" pitchFamily="34" charset="-122"/>
                <a:cs typeface="Calibri" pitchFamily="34" charset="-120"/>
              </a:rPr>
              <a:t>NIVEAU 01 · 🔴 EXTREME</a:t>
            </a:r>
            <a:endParaRPr lang="en-US" sz="1000" dirty="0"/>
          </a:p>
        </p:txBody>
      </p:sp>
      <p:sp>
        <p:nvSpPr>
          <p:cNvPr id="4" name="Text 2"/>
          <p:cNvSpPr/>
          <p:nvPr/>
        </p:nvSpPr>
        <p:spPr>
          <a:xfrm>
            <a:off x="548640" y="713232"/>
            <a:ext cx="10972800" cy="502920"/>
          </a:xfrm>
          <a:prstGeom prst="rect">
            <a:avLst/>
          </a:prstGeom>
          <a:noFill/>
          <a:ln/>
        </p:spPr>
        <p:txBody>
          <a:bodyPr wrap="square" lIns="0" tIns="0" rIns="0" bIns="0" rtlCol="0" anchor="ctr"/>
          <a:lstStyle/>
          <a:p>
            <a:pPr indent="0" marL="0">
              <a:buNone/>
            </a:pPr>
            <a:r>
              <a:rPr lang="en-US" sz="2200" b="1" dirty="0">
                <a:solidFill>
                  <a:srgbClr val="1A1A1A"/>
                </a:solidFill>
                <a:latin typeface="Cambria" pitchFamily="34" charset="0"/>
                <a:ea typeface="Cambria" pitchFamily="34" charset="-122"/>
                <a:cs typeface="Cambria" pitchFamily="34" charset="-120"/>
              </a:rPr>
              <a:t>Deployment manifest — 9 réplicas, DoNotSchedule strict</a:t>
            </a:r>
            <a:endParaRPr lang="en-US" sz="2200" dirty="0"/>
          </a:p>
        </p:txBody>
      </p:sp>
      <p:sp>
        <p:nvSpPr>
          <p:cNvPr id="5" name="Shape 3"/>
          <p:cNvSpPr/>
          <p:nvPr/>
        </p:nvSpPr>
        <p:spPr>
          <a:xfrm>
            <a:off x="548640" y="1417320"/>
            <a:ext cx="5440680" cy="365760"/>
          </a:xfrm>
          <a:prstGeom prst="rect">
            <a:avLst/>
          </a:prstGeom>
          <a:solidFill>
            <a:srgbClr val="1A1A1A"/>
          </a:solidFill>
          <a:ln/>
        </p:spPr>
      </p:sp>
      <p:sp>
        <p:nvSpPr>
          <p:cNvPr id="6" name="Text 4"/>
          <p:cNvSpPr/>
          <p:nvPr/>
        </p:nvSpPr>
        <p:spPr>
          <a:xfrm>
            <a:off x="685800" y="1417320"/>
            <a:ext cx="5166360" cy="365760"/>
          </a:xfrm>
          <a:prstGeom prst="rect">
            <a:avLst/>
          </a:prstGeom>
          <a:noFill/>
          <a:ln/>
        </p:spPr>
        <p:txBody>
          <a:bodyPr wrap="square" lIns="0" tIns="0" rIns="0" bIns="0" rtlCol="0" anchor="ctr"/>
          <a:lstStyle/>
          <a:p>
            <a:pPr indent="0" marL="0">
              <a:buNone/>
            </a:pPr>
            <a:r>
              <a:rPr lang="en-US" sz="1000" b="1" dirty="0">
                <a:solidFill>
                  <a:srgbClr val="B89653"/>
                </a:solidFill>
                <a:latin typeface="Consolas" pitchFamily="34" charset="0"/>
                <a:ea typeface="Consolas" pitchFamily="34" charset="-122"/>
                <a:cs typeface="Consolas" pitchFamily="34" charset="-120"/>
              </a:rPr>
              <a:t># 02-deployment.yaml — partie 1</a:t>
            </a:r>
            <a:endParaRPr lang="en-US" sz="1000" dirty="0"/>
          </a:p>
        </p:txBody>
      </p:sp>
      <p:sp>
        <p:nvSpPr>
          <p:cNvPr id="7" name="Shape 5"/>
          <p:cNvSpPr/>
          <p:nvPr/>
        </p:nvSpPr>
        <p:spPr>
          <a:xfrm>
            <a:off x="548640" y="1783080"/>
            <a:ext cx="5440680" cy="4526280"/>
          </a:xfrm>
          <a:prstGeom prst="rect">
            <a:avLst/>
          </a:prstGeom>
          <a:solidFill>
            <a:srgbClr val="0F1419"/>
          </a:solidFill>
          <a:ln/>
        </p:spPr>
      </p:sp>
      <p:sp>
        <p:nvSpPr>
          <p:cNvPr id="8" name="Text 6"/>
          <p:cNvSpPr/>
          <p:nvPr/>
        </p:nvSpPr>
        <p:spPr>
          <a:xfrm>
            <a:off x="731520" y="1920240"/>
            <a:ext cx="5120640" cy="4251960"/>
          </a:xfrm>
          <a:prstGeom prst="rect">
            <a:avLst/>
          </a:prstGeom>
          <a:noFill/>
          <a:ln/>
        </p:spPr>
        <p:txBody>
          <a:bodyPr wrap="square" lIns="0" tIns="0" rIns="0" bIns="0" rtlCol="0" anchor="t"/>
          <a:lstStyle/>
          <a:p>
            <a:pPr indent="0" marL="0">
              <a:buNone/>
            </a:pPr>
            <a:r>
              <a:rPr lang="en-US" sz="1000" dirty="0">
                <a:solidFill>
                  <a:srgbClr val="E6E6E6"/>
                </a:solidFill>
                <a:latin typeface="Consolas" pitchFamily="34" charset="0"/>
                <a:ea typeface="Consolas" pitchFamily="34" charset="-122"/>
                <a:cs typeface="Consolas" pitchFamily="34" charset="-120"/>
              </a:rPr>
              <a:t>apiVersion: apps/v1</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kind: Deployment</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metadata:</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name: app-extreme</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spec:</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replicas: 9            # 3 par AZ × 3 AZ</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strategy:</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rollingUpdate:</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maxSurge: 1</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maxUnavailable: 0  # zero-downtime</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template:</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spec:</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terminationGracePeriodSeconds: 60</a:t>
            </a:r>
            <a:endParaRPr lang="en-US" sz="1000" dirty="0"/>
          </a:p>
          <a:p>
            <a:pPr indent="0" marL="0">
              <a:buNone/>
            </a:pP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 === M:Three All Active ===</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topologySpreadConstraints:</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 maxSkew: 1</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topologyKey:</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topology.kubernetes.io/zone</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whenUnsatisfiable: DoNotSchedule</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labelSelector:</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matchLabels: { app: app-extreme }</a:t>
            </a:r>
            <a:endParaRPr lang="en-US" sz="1000" dirty="0"/>
          </a:p>
        </p:txBody>
      </p:sp>
      <p:sp>
        <p:nvSpPr>
          <p:cNvPr id="9" name="Shape 7"/>
          <p:cNvSpPr/>
          <p:nvPr/>
        </p:nvSpPr>
        <p:spPr>
          <a:xfrm>
            <a:off x="6172200" y="1417320"/>
            <a:ext cx="5440680" cy="365760"/>
          </a:xfrm>
          <a:prstGeom prst="rect">
            <a:avLst/>
          </a:prstGeom>
          <a:solidFill>
            <a:srgbClr val="1A1A1A"/>
          </a:solidFill>
          <a:ln/>
        </p:spPr>
      </p:sp>
      <p:sp>
        <p:nvSpPr>
          <p:cNvPr id="10" name="Text 8"/>
          <p:cNvSpPr/>
          <p:nvPr/>
        </p:nvSpPr>
        <p:spPr>
          <a:xfrm>
            <a:off x="6309360" y="1417320"/>
            <a:ext cx="5166360" cy="365760"/>
          </a:xfrm>
          <a:prstGeom prst="rect">
            <a:avLst/>
          </a:prstGeom>
          <a:noFill/>
          <a:ln/>
        </p:spPr>
        <p:txBody>
          <a:bodyPr wrap="square" lIns="0" tIns="0" rIns="0" bIns="0" rtlCol="0" anchor="ctr"/>
          <a:lstStyle/>
          <a:p>
            <a:pPr indent="0" marL="0">
              <a:buNone/>
            </a:pPr>
            <a:r>
              <a:rPr lang="en-US" sz="1000" b="1" dirty="0">
                <a:solidFill>
                  <a:srgbClr val="B89653"/>
                </a:solidFill>
                <a:latin typeface="Consolas" pitchFamily="34" charset="0"/>
                <a:ea typeface="Consolas" pitchFamily="34" charset="-122"/>
                <a:cs typeface="Consolas" pitchFamily="34" charset="-120"/>
              </a:rPr>
              <a:t># 02-deployment.yaml — partie 2</a:t>
            </a:r>
            <a:endParaRPr lang="en-US" sz="1000" dirty="0"/>
          </a:p>
        </p:txBody>
      </p:sp>
      <p:sp>
        <p:nvSpPr>
          <p:cNvPr id="11" name="Shape 9"/>
          <p:cNvSpPr/>
          <p:nvPr/>
        </p:nvSpPr>
        <p:spPr>
          <a:xfrm>
            <a:off x="6172200" y="1783080"/>
            <a:ext cx="5440680" cy="4526280"/>
          </a:xfrm>
          <a:prstGeom prst="rect">
            <a:avLst/>
          </a:prstGeom>
          <a:solidFill>
            <a:srgbClr val="0F1419"/>
          </a:solidFill>
          <a:ln/>
        </p:spPr>
      </p:sp>
      <p:sp>
        <p:nvSpPr>
          <p:cNvPr id="12" name="Text 10"/>
          <p:cNvSpPr/>
          <p:nvPr/>
        </p:nvSpPr>
        <p:spPr>
          <a:xfrm>
            <a:off x="6355080" y="1920240"/>
            <a:ext cx="5120640" cy="4251960"/>
          </a:xfrm>
          <a:prstGeom prst="rect">
            <a:avLst/>
          </a:prstGeom>
          <a:noFill/>
          <a:ln/>
        </p:spPr>
        <p:txBody>
          <a:bodyPr wrap="square" lIns="0" tIns="0" rIns="0" bIns="0" rtlCol="0" anchor="t"/>
          <a:lstStyle/>
          <a:p>
            <a:pPr indent="0" marL="0">
              <a:buNone/>
            </a:pPr>
            <a:r>
              <a:rPr lang="en-US" sz="1000" dirty="0">
                <a:solidFill>
                  <a:srgbClr val="E6E6E6"/>
                </a:solidFill>
                <a:latin typeface="Consolas" pitchFamily="34" charset="0"/>
                <a:ea typeface="Consolas" pitchFamily="34" charset="-122"/>
                <a:cs typeface="Consolas" pitchFamily="34" charset="-120"/>
              </a:rPr>
              <a:t>      # === Anti-affinity ===</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affinity:</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podAntiAffinity:</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requiredDuringSchedulingIgnored...:</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 labelSelector:</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matchLabels: { app: app-extreme }</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topologyKey:</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kubernetes.io/hostname</a:t>
            </a:r>
            <a:endParaRPr lang="en-US" sz="1000" dirty="0"/>
          </a:p>
          <a:p>
            <a:pPr indent="0" marL="0">
              <a:buNone/>
            </a:pP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containers:</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 name: app</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 QoS Guaranteed</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resources:</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requests:</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cpu: "1000m"</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memory: "2Gi"</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limits:</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cpu: "1000m"</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memory: "2Gi"</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 + probes startup/liveness/readiness</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 + preStop: sleep 15</a:t>
            </a:r>
            <a:endParaRPr lang="en-US" sz="1000" dirty="0"/>
          </a:p>
        </p:txBody>
      </p:sp>
      <p:sp>
        <p:nvSpPr>
          <p:cNvPr id="13" name="Shape 11"/>
          <p:cNvSpPr/>
          <p:nvPr/>
        </p:nvSpPr>
        <p:spPr>
          <a:xfrm>
            <a:off x="548640" y="6446520"/>
            <a:ext cx="11064240" cy="0"/>
          </a:xfrm>
          <a:prstGeom prst="line">
            <a:avLst/>
          </a:prstGeom>
          <a:noFill/>
          <a:ln w="6350">
            <a:solidFill>
              <a:srgbClr val="E5E7EB"/>
            </a:solidFill>
            <a:prstDash val="solid"/>
          </a:ln>
        </p:spPr>
      </p:sp>
      <p:sp>
        <p:nvSpPr>
          <p:cNvPr id="14" name="Text 12"/>
          <p:cNvSpPr/>
          <p:nvPr/>
        </p:nvSpPr>
        <p:spPr>
          <a:xfrm>
            <a:off x="548640" y="651052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BNP Paribas Cardif  ·  TOE  ·  Cloud Native Architecture</a:t>
            </a:r>
            <a:endParaRPr lang="en-US" sz="900" dirty="0"/>
          </a:p>
        </p:txBody>
      </p:sp>
      <p:sp>
        <p:nvSpPr>
          <p:cNvPr id="15" name="Text 13"/>
          <p:cNvSpPr/>
          <p:nvPr/>
        </p:nvSpPr>
        <p:spPr>
          <a:xfrm>
            <a:off x="10515600" y="6510528"/>
            <a:ext cx="109728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8 / 17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 cy="6858000"/>
          </a:xfrm>
          <a:prstGeom prst="rect">
            <a:avLst/>
          </a:prstGeom>
          <a:solidFill>
            <a:srgbClr val="B81E1E"/>
          </a:solidFill>
          <a:ln/>
        </p:spPr>
      </p:sp>
      <p:sp>
        <p:nvSpPr>
          <p:cNvPr id="3" name="Text 1"/>
          <p:cNvSpPr/>
          <p:nvPr/>
        </p:nvSpPr>
        <p:spPr>
          <a:xfrm>
            <a:off x="548640" y="411480"/>
            <a:ext cx="10972800" cy="274320"/>
          </a:xfrm>
          <a:prstGeom prst="rect">
            <a:avLst/>
          </a:prstGeom>
          <a:noFill/>
          <a:ln/>
        </p:spPr>
        <p:txBody>
          <a:bodyPr wrap="square" lIns="0" tIns="0" rIns="0" bIns="0" rtlCol="0" anchor="ctr"/>
          <a:lstStyle/>
          <a:p>
            <a:pPr indent="0" marL="0">
              <a:buNone/>
            </a:pPr>
            <a:r>
              <a:rPr lang="en-US" sz="1000" b="1" spc="400" kern="0" dirty="0">
                <a:solidFill>
                  <a:srgbClr val="B81E1E"/>
                </a:solidFill>
                <a:latin typeface="Calibri" pitchFamily="34" charset="0"/>
                <a:ea typeface="Calibri" pitchFamily="34" charset="-122"/>
                <a:cs typeface="Calibri" pitchFamily="34" charset="-120"/>
              </a:rPr>
              <a:t>NIVEAU 01 · 🔴 EXTREME</a:t>
            </a:r>
            <a:endParaRPr lang="en-US" sz="1000" dirty="0"/>
          </a:p>
        </p:txBody>
      </p:sp>
      <p:sp>
        <p:nvSpPr>
          <p:cNvPr id="4" name="Text 2"/>
          <p:cNvSpPr/>
          <p:nvPr/>
        </p:nvSpPr>
        <p:spPr>
          <a:xfrm>
            <a:off x="548640" y="713232"/>
            <a:ext cx="10972800" cy="502920"/>
          </a:xfrm>
          <a:prstGeom prst="rect">
            <a:avLst/>
          </a:prstGeom>
          <a:noFill/>
          <a:ln/>
        </p:spPr>
        <p:txBody>
          <a:bodyPr wrap="square" lIns="0" tIns="0" rIns="0" bIns="0" rtlCol="0" anchor="ctr"/>
          <a:lstStyle/>
          <a:p>
            <a:pPr indent="0" marL="0">
              <a:buNone/>
            </a:pPr>
            <a:r>
              <a:rPr lang="en-US" sz="2200" b="1" dirty="0">
                <a:solidFill>
                  <a:srgbClr val="1A1A1A"/>
                </a:solidFill>
                <a:latin typeface="Cambria" pitchFamily="34" charset="0"/>
                <a:ea typeface="Cambria" pitchFamily="34" charset="-122"/>
                <a:cs typeface="Cambria" pitchFamily="34" charset="-120"/>
              </a:rPr>
              <a:t>PodDisruptionBudget + PostgreSQL CloudNativePG</a:t>
            </a:r>
            <a:endParaRPr lang="en-US" sz="2200" dirty="0"/>
          </a:p>
        </p:txBody>
      </p:sp>
      <p:sp>
        <p:nvSpPr>
          <p:cNvPr id="5" name="Shape 3"/>
          <p:cNvSpPr/>
          <p:nvPr/>
        </p:nvSpPr>
        <p:spPr>
          <a:xfrm>
            <a:off x="548640" y="1417320"/>
            <a:ext cx="5440680" cy="365760"/>
          </a:xfrm>
          <a:prstGeom prst="rect">
            <a:avLst/>
          </a:prstGeom>
          <a:solidFill>
            <a:srgbClr val="1A1A1A"/>
          </a:solidFill>
          <a:ln/>
        </p:spPr>
      </p:sp>
      <p:sp>
        <p:nvSpPr>
          <p:cNvPr id="6" name="Text 4"/>
          <p:cNvSpPr/>
          <p:nvPr/>
        </p:nvSpPr>
        <p:spPr>
          <a:xfrm>
            <a:off x="685800" y="1417320"/>
            <a:ext cx="5166360" cy="365760"/>
          </a:xfrm>
          <a:prstGeom prst="rect">
            <a:avLst/>
          </a:prstGeom>
          <a:noFill/>
          <a:ln/>
        </p:spPr>
        <p:txBody>
          <a:bodyPr wrap="square" lIns="0" tIns="0" rIns="0" bIns="0" rtlCol="0" anchor="ctr"/>
          <a:lstStyle/>
          <a:p>
            <a:pPr indent="0" marL="0">
              <a:buNone/>
            </a:pPr>
            <a:r>
              <a:rPr lang="en-US" sz="1000" b="1" dirty="0">
                <a:solidFill>
                  <a:srgbClr val="B89653"/>
                </a:solidFill>
                <a:latin typeface="Consolas" pitchFamily="34" charset="0"/>
                <a:ea typeface="Consolas" pitchFamily="34" charset="-122"/>
                <a:cs typeface="Consolas" pitchFamily="34" charset="-120"/>
              </a:rPr>
              <a:t># 03-pdb-netpol.yaml</a:t>
            </a:r>
            <a:endParaRPr lang="en-US" sz="1000" dirty="0"/>
          </a:p>
        </p:txBody>
      </p:sp>
      <p:sp>
        <p:nvSpPr>
          <p:cNvPr id="7" name="Shape 5"/>
          <p:cNvSpPr/>
          <p:nvPr/>
        </p:nvSpPr>
        <p:spPr>
          <a:xfrm>
            <a:off x="548640" y="1783080"/>
            <a:ext cx="5440680" cy="4526280"/>
          </a:xfrm>
          <a:prstGeom prst="rect">
            <a:avLst/>
          </a:prstGeom>
          <a:solidFill>
            <a:srgbClr val="0F1419"/>
          </a:solidFill>
          <a:ln/>
        </p:spPr>
      </p:sp>
      <p:sp>
        <p:nvSpPr>
          <p:cNvPr id="8" name="Text 6"/>
          <p:cNvSpPr/>
          <p:nvPr/>
        </p:nvSpPr>
        <p:spPr>
          <a:xfrm>
            <a:off x="731520" y="1920240"/>
            <a:ext cx="5120640" cy="4251960"/>
          </a:xfrm>
          <a:prstGeom prst="rect">
            <a:avLst/>
          </a:prstGeom>
          <a:noFill/>
          <a:ln/>
        </p:spPr>
        <p:txBody>
          <a:bodyPr wrap="square" lIns="0" tIns="0" rIns="0" bIns="0" rtlCol="0" anchor="t"/>
          <a:lstStyle/>
          <a:p>
            <a:pPr indent="0" marL="0">
              <a:buNone/>
            </a:pPr>
            <a:r>
              <a:rPr lang="en-US" sz="1000" dirty="0">
                <a:solidFill>
                  <a:srgbClr val="E6E6E6"/>
                </a:solidFill>
                <a:latin typeface="Consolas" pitchFamily="34" charset="0"/>
                <a:ea typeface="Consolas" pitchFamily="34" charset="-122"/>
                <a:cs typeface="Consolas" pitchFamily="34" charset="-120"/>
              </a:rPr>
              <a:t>apiVersion: policy/v1</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kind: PodDisruptionBudget</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metadata:</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name: app-extreme-pdb</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namespace: app-extreme-prod</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spec:</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 9 pods - 3 (perte d'1 AZ) = 6 minimum garantis</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minAvailable: 6</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selector:</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matchLabels: { app: app-extreme }</a:t>
            </a:r>
            <a:endParaRPr lang="en-US" sz="1000" dirty="0"/>
          </a:p>
          <a:p>
            <a:pPr indent="0" marL="0">
              <a:buNone/>
            </a:pP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apiVersion: networking.k8s.io/v1</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kind: NetworkPolicy</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metadata:</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name: default-deny</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namespace: app-extreme-prod</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spec:</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podSelector: {}</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policyTypes: ["Ingress", "Egress"]</a:t>
            </a:r>
            <a:endParaRPr lang="en-US" sz="1000" dirty="0"/>
          </a:p>
        </p:txBody>
      </p:sp>
      <p:sp>
        <p:nvSpPr>
          <p:cNvPr id="9" name="Shape 7"/>
          <p:cNvSpPr/>
          <p:nvPr/>
        </p:nvSpPr>
        <p:spPr>
          <a:xfrm>
            <a:off x="6172200" y="1417320"/>
            <a:ext cx="5440680" cy="365760"/>
          </a:xfrm>
          <a:prstGeom prst="rect">
            <a:avLst/>
          </a:prstGeom>
          <a:solidFill>
            <a:srgbClr val="1A1A1A"/>
          </a:solidFill>
          <a:ln/>
        </p:spPr>
      </p:sp>
      <p:sp>
        <p:nvSpPr>
          <p:cNvPr id="10" name="Text 8"/>
          <p:cNvSpPr/>
          <p:nvPr/>
        </p:nvSpPr>
        <p:spPr>
          <a:xfrm>
            <a:off x="6309360" y="1417320"/>
            <a:ext cx="5166360" cy="365760"/>
          </a:xfrm>
          <a:prstGeom prst="rect">
            <a:avLst/>
          </a:prstGeom>
          <a:noFill/>
          <a:ln/>
        </p:spPr>
        <p:txBody>
          <a:bodyPr wrap="square" lIns="0" tIns="0" rIns="0" bIns="0" rtlCol="0" anchor="ctr"/>
          <a:lstStyle/>
          <a:p>
            <a:pPr indent="0" marL="0">
              <a:buNone/>
            </a:pPr>
            <a:r>
              <a:rPr lang="en-US" sz="1000" b="1" dirty="0">
                <a:solidFill>
                  <a:srgbClr val="B89653"/>
                </a:solidFill>
                <a:latin typeface="Consolas" pitchFamily="34" charset="0"/>
                <a:ea typeface="Consolas" pitchFamily="34" charset="-122"/>
                <a:cs typeface="Consolas" pitchFamily="34" charset="-120"/>
              </a:rPr>
              <a:t># 04-postgresql.yaml — Near Sync quorum</a:t>
            </a:r>
            <a:endParaRPr lang="en-US" sz="1000" dirty="0"/>
          </a:p>
        </p:txBody>
      </p:sp>
      <p:sp>
        <p:nvSpPr>
          <p:cNvPr id="11" name="Shape 9"/>
          <p:cNvSpPr/>
          <p:nvPr/>
        </p:nvSpPr>
        <p:spPr>
          <a:xfrm>
            <a:off x="6172200" y="1783080"/>
            <a:ext cx="5440680" cy="4526280"/>
          </a:xfrm>
          <a:prstGeom prst="rect">
            <a:avLst/>
          </a:prstGeom>
          <a:solidFill>
            <a:srgbClr val="0F1419"/>
          </a:solidFill>
          <a:ln/>
        </p:spPr>
      </p:sp>
      <p:sp>
        <p:nvSpPr>
          <p:cNvPr id="12" name="Text 10"/>
          <p:cNvSpPr/>
          <p:nvPr/>
        </p:nvSpPr>
        <p:spPr>
          <a:xfrm>
            <a:off x="6355080" y="1920240"/>
            <a:ext cx="5120640" cy="4251960"/>
          </a:xfrm>
          <a:prstGeom prst="rect">
            <a:avLst/>
          </a:prstGeom>
          <a:noFill/>
          <a:ln/>
        </p:spPr>
        <p:txBody>
          <a:bodyPr wrap="square" lIns="0" tIns="0" rIns="0" bIns="0" rtlCol="0" anchor="t"/>
          <a:lstStyle/>
          <a:p>
            <a:pPr indent="0" marL="0">
              <a:buNone/>
            </a:pPr>
            <a:r>
              <a:rPr lang="en-US" sz="1000" dirty="0">
                <a:solidFill>
                  <a:srgbClr val="E6E6E6"/>
                </a:solidFill>
                <a:latin typeface="Consolas" pitchFamily="34" charset="0"/>
                <a:ea typeface="Consolas" pitchFamily="34" charset="-122"/>
                <a:cs typeface="Consolas" pitchFamily="34" charset="-120"/>
              </a:rPr>
              <a:t>apiVersion: postgresql.cnpg.io/v1</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kind: Cluster</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metadata:</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name: db-extreme</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spec:</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instances: 3       # 1 primary + 2 standby (1/AZ)</a:t>
            </a:r>
            <a:endParaRPr lang="en-US" sz="1000" dirty="0"/>
          </a:p>
          <a:p>
            <a:pPr indent="0" marL="0">
              <a:buNone/>
            </a:pP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 === Quorum Near Sync RefCard ===</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postgresql:</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parameters:</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synchronous_commit: "on"</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wal_level: "replica"</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hot_standby: "on"</a:t>
            </a:r>
            <a:endParaRPr lang="en-US" sz="1000" dirty="0"/>
          </a:p>
          <a:p>
            <a:pPr indent="0" marL="0">
              <a:buNone/>
            </a:pP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minSyncReplicas: 1   # quorum requis : 1 standby</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maxSyncReplicas: 1</a:t>
            </a:r>
            <a:endParaRPr lang="en-US" sz="1000" dirty="0"/>
          </a:p>
          <a:p>
            <a:pPr indent="0" marL="0">
              <a:buNone/>
            </a:pP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topologySpreadConstraints:</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 maxSkew: 1</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topologyKey: topology.kubernetes.io/zone</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whenUnsatisfiable: DoNotSchedule</a:t>
            </a:r>
            <a:endParaRPr lang="en-US" sz="1000" dirty="0"/>
          </a:p>
          <a:p>
            <a:pPr indent="0" marL="0">
              <a:buNone/>
            </a:pP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 === Backup M:Two ===</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backup:</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retentionPolicy: "30d"</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barmanObjectStore:</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destinationPath: "s3://backup-cos/db-extreme"</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wal: { compression: gzip }</a:t>
            </a:r>
            <a:endParaRPr lang="en-US" sz="1000" dirty="0"/>
          </a:p>
        </p:txBody>
      </p:sp>
      <p:sp>
        <p:nvSpPr>
          <p:cNvPr id="13" name="Shape 11"/>
          <p:cNvSpPr/>
          <p:nvPr/>
        </p:nvSpPr>
        <p:spPr>
          <a:xfrm>
            <a:off x="548640" y="6446520"/>
            <a:ext cx="11064240" cy="0"/>
          </a:xfrm>
          <a:prstGeom prst="line">
            <a:avLst/>
          </a:prstGeom>
          <a:noFill/>
          <a:ln w="6350">
            <a:solidFill>
              <a:srgbClr val="E5E7EB"/>
            </a:solidFill>
            <a:prstDash val="solid"/>
          </a:ln>
        </p:spPr>
      </p:sp>
      <p:sp>
        <p:nvSpPr>
          <p:cNvPr id="14" name="Text 12"/>
          <p:cNvSpPr/>
          <p:nvPr/>
        </p:nvSpPr>
        <p:spPr>
          <a:xfrm>
            <a:off x="548640" y="651052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BNP Paribas Cardif  ·  TOE  ·  Cloud Native Architecture</a:t>
            </a:r>
            <a:endParaRPr lang="en-US" sz="900" dirty="0"/>
          </a:p>
        </p:txBody>
      </p:sp>
      <p:sp>
        <p:nvSpPr>
          <p:cNvPr id="15" name="Text 13"/>
          <p:cNvSpPr/>
          <p:nvPr/>
        </p:nvSpPr>
        <p:spPr>
          <a:xfrm>
            <a:off x="10515600" y="6510528"/>
            <a:ext cx="109728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9 / 17</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 cy="6858000"/>
          </a:xfrm>
          <a:prstGeom prst="rect">
            <a:avLst/>
          </a:prstGeom>
          <a:solidFill>
            <a:srgbClr val="D97706"/>
          </a:solidFill>
          <a:ln/>
        </p:spPr>
      </p:sp>
      <p:sp>
        <p:nvSpPr>
          <p:cNvPr id="3" name="Text 1"/>
          <p:cNvSpPr/>
          <p:nvPr/>
        </p:nvSpPr>
        <p:spPr>
          <a:xfrm>
            <a:off x="548640" y="411480"/>
            <a:ext cx="10972800" cy="274320"/>
          </a:xfrm>
          <a:prstGeom prst="rect">
            <a:avLst/>
          </a:prstGeom>
          <a:noFill/>
          <a:ln/>
        </p:spPr>
        <p:txBody>
          <a:bodyPr wrap="square" lIns="0" tIns="0" rIns="0" bIns="0" rtlCol="0" anchor="ctr"/>
          <a:lstStyle/>
          <a:p>
            <a:pPr indent="0" marL="0">
              <a:buNone/>
            </a:pPr>
            <a:r>
              <a:rPr lang="en-US" sz="1000" b="1" spc="400" kern="0" dirty="0">
                <a:solidFill>
                  <a:srgbClr val="D97706"/>
                </a:solidFill>
                <a:latin typeface="Calibri" pitchFamily="34" charset="0"/>
                <a:ea typeface="Calibri" pitchFamily="34" charset="-122"/>
                <a:cs typeface="Calibri" pitchFamily="34" charset="-120"/>
              </a:rPr>
              <a:t>NIVEAU 02 · 🟠 SERIOUS</a:t>
            </a:r>
            <a:endParaRPr lang="en-US" sz="1000" dirty="0"/>
          </a:p>
        </p:txBody>
      </p:sp>
      <p:sp>
        <p:nvSpPr>
          <p:cNvPr id="4" name="Text 2"/>
          <p:cNvSpPr/>
          <p:nvPr/>
        </p:nvSpPr>
        <p:spPr>
          <a:xfrm>
            <a:off x="548640" y="713232"/>
            <a:ext cx="10972800" cy="548640"/>
          </a:xfrm>
          <a:prstGeom prst="rect">
            <a:avLst/>
          </a:prstGeom>
          <a:noFill/>
          <a:ln/>
        </p:spPr>
        <p:txBody>
          <a:bodyPr wrap="square" lIns="0" tIns="0" rIns="0" bIns="0" rtlCol="0" anchor="ctr"/>
          <a:lstStyle/>
          <a:p>
            <a:pPr indent="0" marL="0">
              <a:buNone/>
            </a:pPr>
            <a:r>
              <a:rPr lang="en-US" sz="2400" b="1" dirty="0">
                <a:solidFill>
                  <a:srgbClr val="1A1A1A"/>
                </a:solidFill>
                <a:latin typeface="Cambria" pitchFamily="34" charset="0"/>
                <a:ea typeface="Cambria" pitchFamily="34" charset="-122"/>
                <a:cs typeface="Cambria" pitchFamily="34" charset="-120"/>
              </a:rPr>
              <a:t>Continuité élevée — back-office métier, reporting interne</a:t>
            </a:r>
            <a:endParaRPr lang="en-US" sz="2400" dirty="0"/>
          </a:p>
        </p:txBody>
      </p:sp>
      <p:sp>
        <p:nvSpPr>
          <p:cNvPr id="5" name="Text 3"/>
          <p:cNvSpPr/>
          <p:nvPr/>
        </p:nvSpPr>
        <p:spPr>
          <a:xfrm>
            <a:off x="548640" y="1508760"/>
            <a:ext cx="5486400" cy="274320"/>
          </a:xfrm>
          <a:prstGeom prst="rect">
            <a:avLst/>
          </a:prstGeom>
          <a:noFill/>
          <a:ln/>
        </p:spPr>
        <p:txBody>
          <a:bodyPr wrap="square" lIns="0" tIns="0" rIns="0" bIns="0" rtlCol="0" anchor="ctr"/>
          <a:lstStyle/>
          <a:p>
            <a:pPr indent="0" marL="0">
              <a:buNone/>
            </a:pPr>
            <a:r>
              <a:rPr lang="en-US" sz="1000" b="1" spc="300" kern="0" dirty="0">
                <a:solidFill>
                  <a:srgbClr val="B89653"/>
                </a:solidFill>
                <a:latin typeface="Calibri" pitchFamily="34" charset="0"/>
                <a:ea typeface="Calibri" pitchFamily="34" charset="-122"/>
                <a:cs typeface="Calibri" pitchFamily="34" charset="-120"/>
              </a:rPr>
              <a:t>CHANGEMENTS PAR RAPPORT À EXTREME</a:t>
            </a:r>
            <a:endParaRPr lang="en-US" sz="1000" dirty="0"/>
          </a:p>
        </p:txBody>
      </p:sp>
      <p:sp>
        <p:nvSpPr>
          <p:cNvPr id="6" name="Shape 4"/>
          <p:cNvSpPr/>
          <p:nvPr/>
        </p:nvSpPr>
        <p:spPr>
          <a:xfrm>
            <a:off x="548640" y="1874520"/>
            <a:ext cx="5394960" cy="594360"/>
          </a:xfrm>
          <a:prstGeom prst="rect">
            <a:avLst/>
          </a:prstGeom>
          <a:solidFill>
            <a:srgbClr val="FAFAFA"/>
          </a:solidFill>
          <a:ln/>
        </p:spPr>
      </p:sp>
      <p:sp>
        <p:nvSpPr>
          <p:cNvPr id="7" name="Text 5"/>
          <p:cNvSpPr/>
          <p:nvPr/>
        </p:nvSpPr>
        <p:spPr>
          <a:xfrm>
            <a:off x="685800" y="1947672"/>
            <a:ext cx="5120640" cy="228600"/>
          </a:xfrm>
          <a:prstGeom prst="rect">
            <a:avLst/>
          </a:prstGeom>
          <a:noFill/>
          <a:ln/>
        </p:spPr>
        <p:txBody>
          <a:bodyPr wrap="square" lIns="0" tIns="0" rIns="0" bIns="0" rtlCol="0" anchor="ctr"/>
          <a:lstStyle/>
          <a:p>
            <a:pPr indent="0" marL="0">
              <a:buNone/>
            </a:pPr>
            <a:r>
              <a:rPr lang="en-US" sz="1100" strike="sngStrike" dirty="0">
                <a:solidFill>
                  <a:srgbClr val="6B7280"/>
                </a:solidFill>
                <a:latin typeface="Calibri" pitchFamily="34" charset="0"/>
                <a:ea typeface="Calibri" pitchFamily="34" charset="-122"/>
                <a:cs typeface="Calibri" pitchFamily="34" charset="-120"/>
              </a:rPr>
              <a:t>M:Three (3 AZ)</a:t>
            </a:r>
            <a:endParaRPr lang="en-US" sz="1100" dirty="0"/>
          </a:p>
        </p:txBody>
      </p:sp>
      <p:sp>
        <p:nvSpPr>
          <p:cNvPr id="8" name="Text 6"/>
          <p:cNvSpPr/>
          <p:nvPr/>
        </p:nvSpPr>
        <p:spPr>
          <a:xfrm>
            <a:off x="685800" y="2167128"/>
            <a:ext cx="5120640" cy="274320"/>
          </a:xfrm>
          <a:prstGeom prst="rect">
            <a:avLst/>
          </a:prstGeom>
          <a:noFill/>
          <a:ln/>
        </p:spPr>
        <p:txBody>
          <a:bodyPr wrap="square" lIns="0" tIns="0" rIns="0" bIns="0" rtlCol="0" anchor="ctr"/>
          <a:lstStyle/>
          <a:p>
            <a:pPr indent="0" marL="0">
              <a:buNone/>
            </a:pPr>
            <a:r>
              <a:rPr lang="en-US" sz="1200" b="1" dirty="0">
                <a:solidFill>
                  <a:srgbClr val="D97706"/>
                </a:solidFill>
                <a:latin typeface="Calibri" pitchFamily="34" charset="0"/>
                <a:ea typeface="Calibri" pitchFamily="34" charset="-122"/>
                <a:cs typeface="Calibri" pitchFamily="34" charset="-120"/>
              </a:rPr>
              <a:t>→  M:Two (2 AZ)</a:t>
            </a:r>
            <a:endParaRPr lang="en-US" sz="1200" dirty="0"/>
          </a:p>
        </p:txBody>
      </p:sp>
      <p:sp>
        <p:nvSpPr>
          <p:cNvPr id="9" name="Shape 7"/>
          <p:cNvSpPr/>
          <p:nvPr/>
        </p:nvSpPr>
        <p:spPr>
          <a:xfrm>
            <a:off x="548640" y="2587752"/>
            <a:ext cx="5394960" cy="594360"/>
          </a:xfrm>
          <a:prstGeom prst="rect">
            <a:avLst/>
          </a:prstGeom>
          <a:solidFill>
            <a:srgbClr val="FAFAFA"/>
          </a:solidFill>
          <a:ln/>
        </p:spPr>
      </p:sp>
      <p:sp>
        <p:nvSpPr>
          <p:cNvPr id="10" name="Text 8"/>
          <p:cNvSpPr/>
          <p:nvPr/>
        </p:nvSpPr>
        <p:spPr>
          <a:xfrm>
            <a:off x="685800" y="2660904"/>
            <a:ext cx="5120640" cy="228600"/>
          </a:xfrm>
          <a:prstGeom prst="rect">
            <a:avLst/>
          </a:prstGeom>
          <a:noFill/>
          <a:ln/>
        </p:spPr>
        <p:txBody>
          <a:bodyPr wrap="square" lIns="0" tIns="0" rIns="0" bIns="0" rtlCol="0" anchor="ctr"/>
          <a:lstStyle/>
          <a:p>
            <a:pPr indent="0" marL="0">
              <a:buNone/>
            </a:pPr>
            <a:r>
              <a:rPr lang="en-US" sz="1100" strike="sngStrike" dirty="0">
                <a:solidFill>
                  <a:srgbClr val="6B7280"/>
                </a:solidFill>
                <a:latin typeface="Calibri" pitchFamily="34" charset="0"/>
                <a:ea typeface="Calibri" pitchFamily="34" charset="-122"/>
                <a:cs typeface="Calibri" pitchFamily="34" charset="-120"/>
              </a:rPr>
              <a:t>9 réplicas</a:t>
            </a:r>
            <a:endParaRPr lang="en-US" sz="1100" dirty="0"/>
          </a:p>
        </p:txBody>
      </p:sp>
      <p:sp>
        <p:nvSpPr>
          <p:cNvPr id="11" name="Text 9"/>
          <p:cNvSpPr/>
          <p:nvPr/>
        </p:nvSpPr>
        <p:spPr>
          <a:xfrm>
            <a:off x="685800" y="2880360"/>
            <a:ext cx="5120640" cy="274320"/>
          </a:xfrm>
          <a:prstGeom prst="rect">
            <a:avLst/>
          </a:prstGeom>
          <a:noFill/>
          <a:ln/>
        </p:spPr>
        <p:txBody>
          <a:bodyPr wrap="square" lIns="0" tIns="0" rIns="0" bIns="0" rtlCol="0" anchor="ctr"/>
          <a:lstStyle/>
          <a:p>
            <a:pPr indent="0" marL="0">
              <a:buNone/>
            </a:pPr>
            <a:r>
              <a:rPr lang="en-US" sz="1200" b="1" dirty="0">
                <a:solidFill>
                  <a:srgbClr val="D97706"/>
                </a:solidFill>
                <a:latin typeface="Calibri" pitchFamily="34" charset="0"/>
                <a:ea typeface="Calibri" pitchFamily="34" charset="-122"/>
                <a:cs typeface="Calibri" pitchFamily="34" charset="-120"/>
              </a:rPr>
              <a:t>→  6 réplicas</a:t>
            </a:r>
            <a:endParaRPr lang="en-US" sz="1200" dirty="0"/>
          </a:p>
        </p:txBody>
      </p:sp>
      <p:sp>
        <p:nvSpPr>
          <p:cNvPr id="12" name="Shape 10"/>
          <p:cNvSpPr/>
          <p:nvPr/>
        </p:nvSpPr>
        <p:spPr>
          <a:xfrm>
            <a:off x="548640" y="3300984"/>
            <a:ext cx="5394960" cy="594360"/>
          </a:xfrm>
          <a:prstGeom prst="rect">
            <a:avLst/>
          </a:prstGeom>
          <a:solidFill>
            <a:srgbClr val="FAFAFA"/>
          </a:solidFill>
          <a:ln/>
        </p:spPr>
      </p:sp>
      <p:sp>
        <p:nvSpPr>
          <p:cNvPr id="13" name="Text 11"/>
          <p:cNvSpPr/>
          <p:nvPr/>
        </p:nvSpPr>
        <p:spPr>
          <a:xfrm>
            <a:off x="685800" y="3374136"/>
            <a:ext cx="5120640" cy="228600"/>
          </a:xfrm>
          <a:prstGeom prst="rect">
            <a:avLst/>
          </a:prstGeom>
          <a:noFill/>
          <a:ln/>
        </p:spPr>
        <p:txBody>
          <a:bodyPr wrap="square" lIns="0" tIns="0" rIns="0" bIns="0" rtlCol="0" anchor="ctr"/>
          <a:lstStyle/>
          <a:p>
            <a:pPr indent="0" marL="0">
              <a:buNone/>
            </a:pPr>
            <a:r>
              <a:rPr lang="en-US" sz="1100" strike="sngStrike" dirty="0">
                <a:solidFill>
                  <a:srgbClr val="6B7280"/>
                </a:solidFill>
                <a:latin typeface="Calibri" pitchFamily="34" charset="0"/>
                <a:ea typeface="Calibri" pitchFamily="34" charset="-122"/>
                <a:cs typeface="Calibri" pitchFamily="34" charset="-120"/>
              </a:rPr>
              <a:t>PDB minAvailable: 6</a:t>
            </a:r>
            <a:endParaRPr lang="en-US" sz="1100" dirty="0"/>
          </a:p>
        </p:txBody>
      </p:sp>
      <p:sp>
        <p:nvSpPr>
          <p:cNvPr id="14" name="Text 12"/>
          <p:cNvSpPr/>
          <p:nvPr/>
        </p:nvSpPr>
        <p:spPr>
          <a:xfrm>
            <a:off x="685800" y="3593592"/>
            <a:ext cx="5120640" cy="274320"/>
          </a:xfrm>
          <a:prstGeom prst="rect">
            <a:avLst/>
          </a:prstGeom>
          <a:noFill/>
          <a:ln/>
        </p:spPr>
        <p:txBody>
          <a:bodyPr wrap="square" lIns="0" tIns="0" rIns="0" bIns="0" rtlCol="0" anchor="ctr"/>
          <a:lstStyle/>
          <a:p>
            <a:pPr indent="0" marL="0">
              <a:buNone/>
            </a:pPr>
            <a:r>
              <a:rPr lang="en-US" sz="1200" b="1" dirty="0">
                <a:solidFill>
                  <a:srgbClr val="D97706"/>
                </a:solidFill>
                <a:latin typeface="Calibri" pitchFamily="34" charset="0"/>
                <a:ea typeface="Calibri" pitchFamily="34" charset="-122"/>
                <a:cs typeface="Calibri" pitchFamily="34" charset="-120"/>
              </a:rPr>
              <a:t>→  PDB minAvailable: 3</a:t>
            </a:r>
            <a:endParaRPr lang="en-US" sz="1200" dirty="0"/>
          </a:p>
        </p:txBody>
      </p:sp>
      <p:sp>
        <p:nvSpPr>
          <p:cNvPr id="15" name="Shape 13"/>
          <p:cNvSpPr/>
          <p:nvPr/>
        </p:nvSpPr>
        <p:spPr>
          <a:xfrm>
            <a:off x="548640" y="4014216"/>
            <a:ext cx="5394960" cy="594360"/>
          </a:xfrm>
          <a:prstGeom prst="rect">
            <a:avLst/>
          </a:prstGeom>
          <a:solidFill>
            <a:srgbClr val="FAFAFA"/>
          </a:solidFill>
          <a:ln/>
        </p:spPr>
      </p:sp>
      <p:sp>
        <p:nvSpPr>
          <p:cNvPr id="16" name="Text 14"/>
          <p:cNvSpPr/>
          <p:nvPr/>
        </p:nvSpPr>
        <p:spPr>
          <a:xfrm>
            <a:off x="685800" y="4087368"/>
            <a:ext cx="5120640" cy="228600"/>
          </a:xfrm>
          <a:prstGeom prst="rect">
            <a:avLst/>
          </a:prstGeom>
          <a:noFill/>
          <a:ln/>
        </p:spPr>
        <p:txBody>
          <a:bodyPr wrap="square" lIns="0" tIns="0" rIns="0" bIns="0" rtlCol="0" anchor="ctr"/>
          <a:lstStyle/>
          <a:p>
            <a:pPr indent="0" marL="0">
              <a:buNone/>
            </a:pPr>
            <a:r>
              <a:rPr lang="en-US" sz="1100" strike="sngStrike" dirty="0">
                <a:solidFill>
                  <a:srgbClr val="6B7280"/>
                </a:solidFill>
                <a:latin typeface="Calibri" pitchFamily="34" charset="0"/>
                <a:ea typeface="Calibri" pitchFamily="34" charset="-122"/>
                <a:cs typeface="Calibri" pitchFamily="34" charset="-120"/>
              </a:rPr>
              <a:t>PostgreSQL 3 instances</a:t>
            </a:r>
            <a:endParaRPr lang="en-US" sz="1100" dirty="0"/>
          </a:p>
        </p:txBody>
      </p:sp>
      <p:sp>
        <p:nvSpPr>
          <p:cNvPr id="17" name="Text 15"/>
          <p:cNvSpPr/>
          <p:nvPr/>
        </p:nvSpPr>
        <p:spPr>
          <a:xfrm>
            <a:off x="685800" y="4306824"/>
            <a:ext cx="5120640" cy="274320"/>
          </a:xfrm>
          <a:prstGeom prst="rect">
            <a:avLst/>
          </a:prstGeom>
          <a:noFill/>
          <a:ln/>
        </p:spPr>
        <p:txBody>
          <a:bodyPr wrap="square" lIns="0" tIns="0" rIns="0" bIns="0" rtlCol="0" anchor="ctr"/>
          <a:lstStyle/>
          <a:p>
            <a:pPr indent="0" marL="0">
              <a:buNone/>
            </a:pPr>
            <a:r>
              <a:rPr lang="en-US" sz="1200" b="1" dirty="0">
                <a:solidFill>
                  <a:srgbClr val="D97706"/>
                </a:solidFill>
                <a:latin typeface="Calibri" pitchFamily="34" charset="0"/>
                <a:ea typeface="Calibri" pitchFamily="34" charset="-122"/>
                <a:cs typeface="Calibri" pitchFamily="34" charset="-120"/>
              </a:rPr>
              <a:t>→  PostgreSQL 2 instances</a:t>
            </a:r>
            <a:endParaRPr lang="en-US" sz="1200" dirty="0"/>
          </a:p>
        </p:txBody>
      </p:sp>
      <p:sp>
        <p:nvSpPr>
          <p:cNvPr id="18" name="Text 16"/>
          <p:cNvSpPr/>
          <p:nvPr/>
        </p:nvSpPr>
        <p:spPr>
          <a:xfrm>
            <a:off x="548640" y="4937760"/>
            <a:ext cx="5394960" cy="1097280"/>
          </a:xfrm>
          <a:prstGeom prst="rect">
            <a:avLst/>
          </a:prstGeom>
          <a:noFill/>
          <a:ln/>
        </p:spPr>
        <p:txBody>
          <a:bodyPr wrap="square" lIns="0" tIns="0" rIns="0" bIns="0" rtlCol="0" anchor="ctr"/>
          <a:lstStyle/>
          <a:p>
            <a:pPr indent="0" marL="0">
              <a:buNone/>
            </a:pPr>
            <a:r>
              <a:rPr lang="en-US" sz="1100" i="1" dirty="0">
                <a:solidFill>
                  <a:srgbClr val="2C2C2C"/>
                </a:solidFill>
                <a:latin typeface="Calibri" pitchFamily="34" charset="0"/>
                <a:ea typeface="Calibri" pitchFamily="34" charset="-122"/>
                <a:cs typeface="Calibri" pitchFamily="34" charset="-120"/>
              </a:rPr>
              <a:t>Reste IDENTIQUE à Extreme : All Active · HA · Near Sync · M:Two backup · MUST rebuild &amp; restore</a:t>
            </a:r>
            <a:endParaRPr lang="en-US" sz="1100" dirty="0"/>
          </a:p>
        </p:txBody>
      </p:sp>
      <p:sp>
        <p:nvSpPr>
          <p:cNvPr id="19" name="Shape 17"/>
          <p:cNvSpPr/>
          <p:nvPr/>
        </p:nvSpPr>
        <p:spPr>
          <a:xfrm>
            <a:off x="6126480" y="1463040"/>
            <a:ext cx="5486400" cy="365760"/>
          </a:xfrm>
          <a:prstGeom prst="rect">
            <a:avLst/>
          </a:prstGeom>
          <a:solidFill>
            <a:srgbClr val="1A1A1A"/>
          </a:solidFill>
          <a:ln/>
        </p:spPr>
      </p:sp>
      <p:sp>
        <p:nvSpPr>
          <p:cNvPr id="20" name="Text 18"/>
          <p:cNvSpPr/>
          <p:nvPr/>
        </p:nvSpPr>
        <p:spPr>
          <a:xfrm>
            <a:off x="6263640" y="1463040"/>
            <a:ext cx="5303520" cy="365760"/>
          </a:xfrm>
          <a:prstGeom prst="rect">
            <a:avLst/>
          </a:prstGeom>
          <a:noFill/>
          <a:ln/>
        </p:spPr>
        <p:txBody>
          <a:bodyPr wrap="square" lIns="0" tIns="0" rIns="0" bIns="0" rtlCol="0" anchor="ctr"/>
          <a:lstStyle/>
          <a:p>
            <a:pPr indent="0" marL="0">
              <a:buNone/>
            </a:pPr>
            <a:r>
              <a:rPr lang="en-US" sz="1000" b="1" dirty="0">
                <a:solidFill>
                  <a:srgbClr val="B89653"/>
                </a:solidFill>
                <a:latin typeface="Consolas" pitchFamily="34" charset="0"/>
                <a:ea typeface="Consolas" pitchFamily="34" charset="-122"/>
                <a:cs typeface="Consolas" pitchFamily="34" charset="-120"/>
              </a:rPr>
              <a:t># Deployment Serious — extrait clé</a:t>
            </a:r>
            <a:endParaRPr lang="en-US" sz="1000" dirty="0"/>
          </a:p>
        </p:txBody>
      </p:sp>
      <p:sp>
        <p:nvSpPr>
          <p:cNvPr id="21" name="Shape 19"/>
          <p:cNvSpPr/>
          <p:nvPr/>
        </p:nvSpPr>
        <p:spPr>
          <a:xfrm>
            <a:off x="6126480" y="1828800"/>
            <a:ext cx="5486400" cy="4434840"/>
          </a:xfrm>
          <a:prstGeom prst="rect">
            <a:avLst/>
          </a:prstGeom>
          <a:solidFill>
            <a:srgbClr val="0F1419"/>
          </a:solidFill>
          <a:ln/>
        </p:spPr>
      </p:sp>
      <p:sp>
        <p:nvSpPr>
          <p:cNvPr id="22" name="Text 20"/>
          <p:cNvSpPr/>
          <p:nvPr/>
        </p:nvSpPr>
        <p:spPr>
          <a:xfrm>
            <a:off x="6309360" y="1965960"/>
            <a:ext cx="5120640" cy="4206240"/>
          </a:xfrm>
          <a:prstGeom prst="rect">
            <a:avLst/>
          </a:prstGeom>
          <a:noFill/>
          <a:ln/>
        </p:spPr>
        <p:txBody>
          <a:bodyPr wrap="square" lIns="0" tIns="0" rIns="0" bIns="0" rtlCol="0" anchor="t"/>
          <a:lstStyle/>
          <a:p>
            <a:pPr indent="0" marL="0">
              <a:buNone/>
            </a:pPr>
            <a:r>
              <a:rPr lang="en-US" sz="1000" dirty="0">
                <a:solidFill>
                  <a:srgbClr val="E6E6E6"/>
                </a:solidFill>
                <a:latin typeface="Consolas" pitchFamily="34" charset="0"/>
                <a:ea typeface="Consolas" pitchFamily="34" charset="-122"/>
                <a:cs typeface="Consolas" pitchFamily="34" charset="-120"/>
              </a:rPr>
              <a:t>apiVersion: apps/v1</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kind: Deployment</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metadata:</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name: app-serious</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spec:</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replicas: 6                # 3 / AZ × 2 AZ</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strategy:</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rollingUpdate:</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maxSurge: 1</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maxUnavailable: 0</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template:</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spec:</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topologySpreadConstraints:</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 maxSkew: 1</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topologyKey: topology.kubernetes.io/zone</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whenUnsatisfiable: DoNotSchedule</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affinity:</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podAntiAffinity:</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requiredDuring...:</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 topologyKey: kubernetes.io/hostname</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containers:</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 name: app</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resources:</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requests: { cpu: 500m, memory: 1Gi }</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limits:   { cpu: 500m, memory: 1Gi }</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 PodDisruptionBudget minAvailable: 3</a:t>
            </a:r>
            <a:endParaRPr lang="en-US" sz="1000" dirty="0"/>
          </a:p>
        </p:txBody>
      </p:sp>
      <p:sp>
        <p:nvSpPr>
          <p:cNvPr id="23" name="Shape 21"/>
          <p:cNvSpPr/>
          <p:nvPr/>
        </p:nvSpPr>
        <p:spPr>
          <a:xfrm>
            <a:off x="548640" y="6446520"/>
            <a:ext cx="11064240" cy="0"/>
          </a:xfrm>
          <a:prstGeom prst="line">
            <a:avLst/>
          </a:prstGeom>
          <a:noFill/>
          <a:ln w="6350">
            <a:solidFill>
              <a:srgbClr val="E5E7EB"/>
            </a:solidFill>
            <a:prstDash val="solid"/>
          </a:ln>
        </p:spPr>
      </p:sp>
      <p:sp>
        <p:nvSpPr>
          <p:cNvPr id="24" name="Text 22"/>
          <p:cNvSpPr/>
          <p:nvPr/>
        </p:nvSpPr>
        <p:spPr>
          <a:xfrm>
            <a:off x="548640" y="651052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BNP Paribas Cardif  ·  TOE  ·  Cloud Native Architecture</a:t>
            </a:r>
            <a:endParaRPr lang="en-US" sz="900" dirty="0"/>
          </a:p>
        </p:txBody>
      </p:sp>
      <p:sp>
        <p:nvSpPr>
          <p:cNvPr id="25" name="Text 23"/>
          <p:cNvSpPr/>
          <p:nvPr/>
        </p:nvSpPr>
        <p:spPr>
          <a:xfrm>
            <a:off x="10515600" y="6510528"/>
            <a:ext cx="109728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10 / 17</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 cy="6858000"/>
          </a:xfrm>
          <a:prstGeom prst="rect">
            <a:avLst/>
          </a:prstGeom>
          <a:solidFill>
            <a:srgbClr val="CA9A0E"/>
          </a:solidFill>
          <a:ln/>
        </p:spPr>
      </p:sp>
      <p:sp>
        <p:nvSpPr>
          <p:cNvPr id="3" name="Text 1"/>
          <p:cNvSpPr/>
          <p:nvPr/>
        </p:nvSpPr>
        <p:spPr>
          <a:xfrm>
            <a:off x="548640" y="411480"/>
            <a:ext cx="10972800" cy="274320"/>
          </a:xfrm>
          <a:prstGeom prst="rect">
            <a:avLst/>
          </a:prstGeom>
          <a:noFill/>
          <a:ln/>
        </p:spPr>
        <p:txBody>
          <a:bodyPr wrap="square" lIns="0" tIns="0" rIns="0" bIns="0" rtlCol="0" anchor="ctr"/>
          <a:lstStyle/>
          <a:p>
            <a:pPr indent="0" marL="0">
              <a:buNone/>
            </a:pPr>
            <a:r>
              <a:rPr lang="en-US" sz="1000" b="1" spc="400" kern="0" dirty="0">
                <a:solidFill>
                  <a:srgbClr val="CA9A0E"/>
                </a:solidFill>
                <a:latin typeface="Calibri" pitchFamily="34" charset="0"/>
                <a:ea typeface="Calibri" pitchFamily="34" charset="-122"/>
                <a:cs typeface="Calibri" pitchFamily="34" charset="-120"/>
              </a:rPr>
              <a:t>NIVEAU 03 · 🟡 MODERATE</a:t>
            </a:r>
            <a:endParaRPr lang="en-US" sz="1000" dirty="0"/>
          </a:p>
        </p:txBody>
      </p:sp>
      <p:sp>
        <p:nvSpPr>
          <p:cNvPr id="4" name="Text 2"/>
          <p:cNvSpPr/>
          <p:nvPr/>
        </p:nvSpPr>
        <p:spPr>
          <a:xfrm>
            <a:off x="548640" y="713232"/>
            <a:ext cx="10972800" cy="548640"/>
          </a:xfrm>
          <a:prstGeom prst="rect">
            <a:avLst/>
          </a:prstGeom>
          <a:noFill/>
          <a:ln/>
        </p:spPr>
        <p:txBody>
          <a:bodyPr wrap="square" lIns="0" tIns="0" rIns="0" bIns="0" rtlCol="0" anchor="ctr"/>
          <a:lstStyle/>
          <a:p>
            <a:pPr indent="0" marL="0">
              <a:buNone/>
            </a:pPr>
            <a:r>
              <a:rPr lang="en-US" sz="2400" b="1" dirty="0">
                <a:solidFill>
                  <a:srgbClr val="1A1A1A"/>
                </a:solidFill>
                <a:latin typeface="Cambria" pitchFamily="34" charset="0"/>
                <a:ea typeface="Cambria" pitchFamily="34" charset="-122"/>
                <a:cs typeface="Cambria" pitchFamily="34" charset="-120"/>
              </a:rPr>
              <a:t>Continuité moyenne — outils internes, batchs analytics</a:t>
            </a:r>
            <a:endParaRPr lang="en-US" sz="2400" dirty="0"/>
          </a:p>
        </p:txBody>
      </p:sp>
      <p:sp>
        <p:nvSpPr>
          <p:cNvPr id="5" name="Text 3"/>
          <p:cNvSpPr/>
          <p:nvPr/>
        </p:nvSpPr>
        <p:spPr>
          <a:xfrm>
            <a:off x="548640" y="1508760"/>
            <a:ext cx="5486400" cy="274320"/>
          </a:xfrm>
          <a:prstGeom prst="rect">
            <a:avLst/>
          </a:prstGeom>
          <a:noFill/>
          <a:ln/>
        </p:spPr>
        <p:txBody>
          <a:bodyPr wrap="square" lIns="0" tIns="0" rIns="0" bIns="0" rtlCol="0" anchor="ctr"/>
          <a:lstStyle/>
          <a:p>
            <a:pPr indent="0" marL="0">
              <a:buNone/>
            </a:pPr>
            <a:r>
              <a:rPr lang="en-US" sz="1000" b="1" spc="300" kern="0" dirty="0">
                <a:solidFill>
                  <a:srgbClr val="B89653"/>
                </a:solidFill>
                <a:latin typeface="Calibri" pitchFamily="34" charset="0"/>
                <a:ea typeface="Calibri" pitchFamily="34" charset="-122"/>
                <a:cs typeface="Calibri" pitchFamily="34" charset="-120"/>
              </a:rPr>
              <a:t>ASSOUPLISSEMENTS MAJEURS</a:t>
            </a:r>
            <a:endParaRPr lang="en-US" sz="1000" dirty="0"/>
          </a:p>
        </p:txBody>
      </p:sp>
      <p:sp>
        <p:nvSpPr>
          <p:cNvPr id="6" name="Shape 4"/>
          <p:cNvSpPr/>
          <p:nvPr/>
        </p:nvSpPr>
        <p:spPr>
          <a:xfrm>
            <a:off x="548640" y="1874520"/>
            <a:ext cx="5394960" cy="502920"/>
          </a:xfrm>
          <a:prstGeom prst="rect">
            <a:avLst/>
          </a:prstGeom>
          <a:solidFill>
            <a:srgbClr val="FAFAFA"/>
          </a:solidFill>
          <a:ln/>
        </p:spPr>
      </p:sp>
      <p:sp>
        <p:nvSpPr>
          <p:cNvPr id="7" name="Text 5"/>
          <p:cNvSpPr/>
          <p:nvPr/>
        </p:nvSpPr>
        <p:spPr>
          <a:xfrm>
            <a:off x="685800" y="1911096"/>
            <a:ext cx="5120640" cy="210312"/>
          </a:xfrm>
          <a:prstGeom prst="rect">
            <a:avLst/>
          </a:prstGeom>
          <a:noFill/>
          <a:ln/>
        </p:spPr>
        <p:txBody>
          <a:bodyPr wrap="square" lIns="0" tIns="0" rIns="0" bIns="0" rtlCol="0" anchor="ctr"/>
          <a:lstStyle/>
          <a:p>
            <a:pPr indent="0" marL="0">
              <a:buNone/>
            </a:pPr>
            <a:r>
              <a:rPr lang="en-US" sz="1050" strike="sngStrike" dirty="0">
                <a:solidFill>
                  <a:srgbClr val="6B7280"/>
                </a:solidFill>
                <a:latin typeface="Calibri" pitchFamily="34" charset="0"/>
                <a:ea typeface="Calibri" pitchFamily="34" charset="-122"/>
                <a:cs typeface="Calibri" pitchFamily="34" charset="-120"/>
              </a:rPr>
              <a:t>All Active</a:t>
            </a:r>
            <a:endParaRPr lang="en-US" sz="1050" dirty="0"/>
          </a:p>
        </p:txBody>
      </p:sp>
      <p:sp>
        <p:nvSpPr>
          <p:cNvPr id="8" name="Text 6"/>
          <p:cNvSpPr/>
          <p:nvPr/>
        </p:nvSpPr>
        <p:spPr>
          <a:xfrm>
            <a:off x="685800" y="2121408"/>
            <a:ext cx="5120640" cy="237744"/>
          </a:xfrm>
          <a:prstGeom prst="rect">
            <a:avLst/>
          </a:prstGeom>
          <a:noFill/>
          <a:ln/>
        </p:spPr>
        <p:txBody>
          <a:bodyPr wrap="square" lIns="0" tIns="0" rIns="0" bIns="0" rtlCol="0" anchor="ctr"/>
          <a:lstStyle/>
          <a:p>
            <a:pPr indent="0" marL="0">
              <a:buNone/>
            </a:pPr>
            <a:r>
              <a:rPr lang="en-US" sz="1150" b="1" dirty="0">
                <a:solidFill>
                  <a:srgbClr val="CA9A0E"/>
                </a:solidFill>
                <a:latin typeface="Calibri" pitchFamily="34" charset="0"/>
                <a:ea typeface="Calibri" pitchFamily="34" charset="-122"/>
                <a:cs typeface="Calibri" pitchFamily="34" charset="-120"/>
              </a:rPr>
              <a:t>→  Hot standby</a:t>
            </a:r>
            <a:endParaRPr lang="en-US" sz="1150" dirty="0"/>
          </a:p>
        </p:txBody>
      </p:sp>
      <p:sp>
        <p:nvSpPr>
          <p:cNvPr id="9" name="Shape 7"/>
          <p:cNvSpPr/>
          <p:nvPr/>
        </p:nvSpPr>
        <p:spPr>
          <a:xfrm>
            <a:off x="548640" y="2468880"/>
            <a:ext cx="5394960" cy="502920"/>
          </a:xfrm>
          <a:prstGeom prst="rect">
            <a:avLst/>
          </a:prstGeom>
          <a:solidFill>
            <a:srgbClr val="FAFAFA"/>
          </a:solidFill>
          <a:ln/>
        </p:spPr>
      </p:sp>
      <p:sp>
        <p:nvSpPr>
          <p:cNvPr id="10" name="Text 8"/>
          <p:cNvSpPr/>
          <p:nvPr/>
        </p:nvSpPr>
        <p:spPr>
          <a:xfrm>
            <a:off x="685800" y="2505456"/>
            <a:ext cx="5120640" cy="210312"/>
          </a:xfrm>
          <a:prstGeom prst="rect">
            <a:avLst/>
          </a:prstGeom>
          <a:noFill/>
          <a:ln/>
        </p:spPr>
        <p:txBody>
          <a:bodyPr wrap="square" lIns="0" tIns="0" rIns="0" bIns="0" rtlCol="0" anchor="ctr"/>
          <a:lstStyle/>
          <a:p>
            <a:pPr indent="0" marL="0">
              <a:buNone/>
            </a:pPr>
            <a:r>
              <a:rPr lang="en-US" sz="1050" strike="sngStrike" dirty="0">
                <a:solidFill>
                  <a:srgbClr val="6B7280"/>
                </a:solidFill>
                <a:latin typeface="Calibri" pitchFamily="34" charset="0"/>
                <a:ea typeface="Calibri" pitchFamily="34" charset="-122"/>
                <a:cs typeface="Calibri" pitchFamily="34" charset="-120"/>
              </a:rPr>
              <a:t>DoNotSchedule</a:t>
            </a:r>
            <a:endParaRPr lang="en-US" sz="1050" dirty="0"/>
          </a:p>
        </p:txBody>
      </p:sp>
      <p:sp>
        <p:nvSpPr>
          <p:cNvPr id="11" name="Text 9"/>
          <p:cNvSpPr/>
          <p:nvPr/>
        </p:nvSpPr>
        <p:spPr>
          <a:xfrm>
            <a:off x="685800" y="2715768"/>
            <a:ext cx="5120640" cy="237744"/>
          </a:xfrm>
          <a:prstGeom prst="rect">
            <a:avLst/>
          </a:prstGeom>
          <a:noFill/>
          <a:ln/>
        </p:spPr>
        <p:txBody>
          <a:bodyPr wrap="square" lIns="0" tIns="0" rIns="0" bIns="0" rtlCol="0" anchor="ctr"/>
          <a:lstStyle/>
          <a:p>
            <a:pPr indent="0" marL="0">
              <a:buNone/>
            </a:pPr>
            <a:r>
              <a:rPr lang="en-US" sz="1150" b="1" dirty="0">
                <a:solidFill>
                  <a:srgbClr val="CA9A0E"/>
                </a:solidFill>
                <a:latin typeface="Calibri" pitchFamily="34" charset="0"/>
                <a:ea typeface="Calibri" pitchFamily="34" charset="-122"/>
                <a:cs typeface="Calibri" pitchFamily="34" charset="-120"/>
              </a:rPr>
              <a:t>→  ScheduleAnyway</a:t>
            </a:r>
            <a:endParaRPr lang="en-US" sz="1150" dirty="0"/>
          </a:p>
        </p:txBody>
      </p:sp>
      <p:sp>
        <p:nvSpPr>
          <p:cNvPr id="12" name="Shape 10"/>
          <p:cNvSpPr/>
          <p:nvPr/>
        </p:nvSpPr>
        <p:spPr>
          <a:xfrm>
            <a:off x="548640" y="3063240"/>
            <a:ext cx="5394960" cy="502920"/>
          </a:xfrm>
          <a:prstGeom prst="rect">
            <a:avLst/>
          </a:prstGeom>
          <a:solidFill>
            <a:srgbClr val="FAFAFA"/>
          </a:solidFill>
          <a:ln/>
        </p:spPr>
      </p:sp>
      <p:sp>
        <p:nvSpPr>
          <p:cNvPr id="13" name="Text 11"/>
          <p:cNvSpPr/>
          <p:nvPr/>
        </p:nvSpPr>
        <p:spPr>
          <a:xfrm>
            <a:off x="685800" y="3099816"/>
            <a:ext cx="5120640" cy="210312"/>
          </a:xfrm>
          <a:prstGeom prst="rect">
            <a:avLst/>
          </a:prstGeom>
          <a:noFill/>
          <a:ln/>
        </p:spPr>
        <p:txBody>
          <a:bodyPr wrap="square" lIns="0" tIns="0" rIns="0" bIns="0" rtlCol="0" anchor="ctr"/>
          <a:lstStyle/>
          <a:p>
            <a:pPr indent="0" marL="0">
              <a:buNone/>
            </a:pPr>
            <a:r>
              <a:rPr lang="en-US" sz="1050" strike="sngStrike" dirty="0">
                <a:solidFill>
                  <a:srgbClr val="6B7280"/>
                </a:solidFill>
                <a:latin typeface="Calibri" pitchFamily="34" charset="0"/>
                <a:ea typeface="Calibri" pitchFamily="34" charset="-122"/>
                <a:cs typeface="Calibri" pitchFamily="34" charset="-120"/>
              </a:rPr>
              <a:t>anti-affinity required</a:t>
            </a:r>
            <a:endParaRPr lang="en-US" sz="1050" dirty="0"/>
          </a:p>
        </p:txBody>
      </p:sp>
      <p:sp>
        <p:nvSpPr>
          <p:cNvPr id="14" name="Text 12"/>
          <p:cNvSpPr/>
          <p:nvPr/>
        </p:nvSpPr>
        <p:spPr>
          <a:xfrm>
            <a:off x="685800" y="3310128"/>
            <a:ext cx="5120640" cy="237744"/>
          </a:xfrm>
          <a:prstGeom prst="rect">
            <a:avLst/>
          </a:prstGeom>
          <a:noFill/>
          <a:ln/>
        </p:spPr>
        <p:txBody>
          <a:bodyPr wrap="square" lIns="0" tIns="0" rIns="0" bIns="0" rtlCol="0" anchor="ctr"/>
          <a:lstStyle/>
          <a:p>
            <a:pPr indent="0" marL="0">
              <a:buNone/>
            </a:pPr>
            <a:r>
              <a:rPr lang="en-US" sz="1150" b="1" dirty="0">
                <a:solidFill>
                  <a:srgbClr val="CA9A0E"/>
                </a:solidFill>
                <a:latin typeface="Calibri" pitchFamily="34" charset="0"/>
                <a:ea typeface="Calibri" pitchFamily="34" charset="-122"/>
                <a:cs typeface="Calibri" pitchFamily="34" charset="-120"/>
              </a:rPr>
              <a:t>→  anti-affinity preferred</a:t>
            </a:r>
            <a:endParaRPr lang="en-US" sz="1150" dirty="0"/>
          </a:p>
        </p:txBody>
      </p:sp>
      <p:sp>
        <p:nvSpPr>
          <p:cNvPr id="15" name="Shape 13"/>
          <p:cNvSpPr/>
          <p:nvPr/>
        </p:nvSpPr>
        <p:spPr>
          <a:xfrm>
            <a:off x="548640" y="3657600"/>
            <a:ext cx="5394960" cy="502920"/>
          </a:xfrm>
          <a:prstGeom prst="rect">
            <a:avLst/>
          </a:prstGeom>
          <a:solidFill>
            <a:srgbClr val="FAFAFA"/>
          </a:solidFill>
          <a:ln/>
        </p:spPr>
      </p:sp>
      <p:sp>
        <p:nvSpPr>
          <p:cNvPr id="16" name="Text 14"/>
          <p:cNvSpPr/>
          <p:nvPr/>
        </p:nvSpPr>
        <p:spPr>
          <a:xfrm>
            <a:off x="685800" y="3694176"/>
            <a:ext cx="5120640" cy="210312"/>
          </a:xfrm>
          <a:prstGeom prst="rect">
            <a:avLst/>
          </a:prstGeom>
          <a:noFill/>
          <a:ln/>
        </p:spPr>
        <p:txBody>
          <a:bodyPr wrap="square" lIns="0" tIns="0" rIns="0" bIns="0" rtlCol="0" anchor="ctr"/>
          <a:lstStyle/>
          <a:p>
            <a:pPr indent="0" marL="0">
              <a:buNone/>
            </a:pPr>
            <a:r>
              <a:rPr lang="en-US" sz="1050" strike="sngStrike" dirty="0">
                <a:solidFill>
                  <a:srgbClr val="6B7280"/>
                </a:solidFill>
                <a:latin typeface="Calibri" pitchFamily="34" charset="0"/>
                <a:ea typeface="Calibri" pitchFamily="34" charset="-122"/>
                <a:cs typeface="Calibri" pitchFamily="34" charset="-120"/>
              </a:rPr>
              <a:t>synchronous_commit = on</a:t>
            </a:r>
            <a:endParaRPr lang="en-US" sz="1050" dirty="0"/>
          </a:p>
        </p:txBody>
      </p:sp>
      <p:sp>
        <p:nvSpPr>
          <p:cNvPr id="17" name="Text 15"/>
          <p:cNvSpPr/>
          <p:nvPr/>
        </p:nvSpPr>
        <p:spPr>
          <a:xfrm>
            <a:off x="685800" y="3904488"/>
            <a:ext cx="5120640" cy="237744"/>
          </a:xfrm>
          <a:prstGeom prst="rect">
            <a:avLst/>
          </a:prstGeom>
          <a:noFill/>
          <a:ln/>
        </p:spPr>
        <p:txBody>
          <a:bodyPr wrap="square" lIns="0" tIns="0" rIns="0" bIns="0" rtlCol="0" anchor="ctr"/>
          <a:lstStyle/>
          <a:p>
            <a:pPr indent="0" marL="0">
              <a:buNone/>
            </a:pPr>
            <a:r>
              <a:rPr lang="en-US" sz="1150" b="1" dirty="0">
                <a:solidFill>
                  <a:srgbClr val="CA9A0E"/>
                </a:solidFill>
                <a:latin typeface="Calibri" pitchFamily="34" charset="0"/>
                <a:ea typeface="Calibri" pitchFamily="34" charset="-122"/>
                <a:cs typeface="Calibri" pitchFamily="34" charset="-120"/>
              </a:rPr>
              <a:t>→  synchronous_commit = off</a:t>
            </a:r>
            <a:endParaRPr lang="en-US" sz="1150" dirty="0"/>
          </a:p>
        </p:txBody>
      </p:sp>
      <p:sp>
        <p:nvSpPr>
          <p:cNvPr id="18" name="Shape 16"/>
          <p:cNvSpPr/>
          <p:nvPr/>
        </p:nvSpPr>
        <p:spPr>
          <a:xfrm>
            <a:off x="548640" y="4251960"/>
            <a:ext cx="5394960" cy="502920"/>
          </a:xfrm>
          <a:prstGeom prst="rect">
            <a:avLst/>
          </a:prstGeom>
          <a:solidFill>
            <a:srgbClr val="FAFAFA"/>
          </a:solidFill>
          <a:ln/>
        </p:spPr>
      </p:sp>
      <p:sp>
        <p:nvSpPr>
          <p:cNvPr id="19" name="Text 17"/>
          <p:cNvSpPr/>
          <p:nvPr/>
        </p:nvSpPr>
        <p:spPr>
          <a:xfrm>
            <a:off x="685800" y="4288536"/>
            <a:ext cx="5120640" cy="210312"/>
          </a:xfrm>
          <a:prstGeom prst="rect">
            <a:avLst/>
          </a:prstGeom>
          <a:noFill/>
          <a:ln/>
        </p:spPr>
        <p:txBody>
          <a:bodyPr wrap="square" lIns="0" tIns="0" rIns="0" bIns="0" rtlCol="0" anchor="ctr"/>
          <a:lstStyle/>
          <a:p>
            <a:pPr indent="0" marL="0">
              <a:buNone/>
            </a:pPr>
            <a:r>
              <a:rPr lang="en-US" sz="1050" strike="sngStrike" dirty="0">
                <a:solidFill>
                  <a:srgbClr val="6B7280"/>
                </a:solidFill>
                <a:latin typeface="Calibri" pitchFamily="34" charset="0"/>
                <a:ea typeface="Calibri" pitchFamily="34" charset="-122"/>
                <a:cs typeface="Calibri" pitchFamily="34" charset="-120"/>
              </a:rPr>
              <a:t>QoS Guaranteed</a:t>
            </a:r>
            <a:endParaRPr lang="en-US" sz="1050" dirty="0"/>
          </a:p>
        </p:txBody>
      </p:sp>
      <p:sp>
        <p:nvSpPr>
          <p:cNvPr id="20" name="Text 18"/>
          <p:cNvSpPr/>
          <p:nvPr/>
        </p:nvSpPr>
        <p:spPr>
          <a:xfrm>
            <a:off x="685800" y="4498848"/>
            <a:ext cx="5120640" cy="237744"/>
          </a:xfrm>
          <a:prstGeom prst="rect">
            <a:avLst/>
          </a:prstGeom>
          <a:noFill/>
          <a:ln/>
        </p:spPr>
        <p:txBody>
          <a:bodyPr wrap="square" lIns="0" tIns="0" rIns="0" bIns="0" rtlCol="0" anchor="ctr"/>
          <a:lstStyle/>
          <a:p>
            <a:pPr indent="0" marL="0">
              <a:buNone/>
            </a:pPr>
            <a:r>
              <a:rPr lang="en-US" sz="1150" b="1" dirty="0">
                <a:solidFill>
                  <a:srgbClr val="CA9A0E"/>
                </a:solidFill>
                <a:latin typeface="Calibri" pitchFamily="34" charset="0"/>
                <a:ea typeface="Calibri" pitchFamily="34" charset="-122"/>
                <a:cs typeface="Calibri" pitchFamily="34" charset="-120"/>
              </a:rPr>
              <a:t>→  QoS Burstable accepté</a:t>
            </a:r>
            <a:endParaRPr lang="en-US" sz="1150" dirty="0"/>
          </a:p>
        </p:txBody>
      </p:sp>
      <p:sp>
        <p:nvSpPr>
          <p:cNvPr id="21" name="Shape 19"/>
          <p:cNvSpPr/>
          <p:nvPr/>
        </p:nvSpPr>
        <p:spPr>
          <a:xfrm>
            <a:off x="6126480" y="1463040"/>
            <a:ext cx="5486400" cy="365760"/>
          </a:xfrm>
          <a:prstGeom prst="rect">
            <a:avLst/>
          </a:prstGeom>
          <a:solidFill>
            <a:srgbClr val="1A1A1A"/>
          </a:solidFill>
          <a:ln/>
        </p:spPr>
      </p:sp>
      <p:sp>
        <p:nvSpPr>
          <p:cNvPr id="22" name="Text 20"/>
          <p:cNvSpPr/>
          <p:nvPr/>
        </p:nvSpPr>
        <p:spPr>
          <a:xfrm>
            <a:off x="6263640" y="1463040"/>
            <a:ext cx="5303520" cy="365760"/>
          </a:xfrm>
          <a:prstGeom prst="rect">
            <a:avLst/>
          </a:prstGeom>
          <a:noFill/>
          <a:ln/>
        </p:spPr>
        <p:txBody>
          <a:bodyPr wrap="square" lIns="0" tIns="0" rIns="0" bIns="0" rtlCol="0" anchor="ctr"/>
          <a:lstStyle/>
          <a:p>
            <a:pPr indent="0" marL="0">
              <a:buNone/>
            </a:pPr>
            <a:r>
              <a:rPr lang="en-US" sz="1000" b="1" dirty="0">
                <a:solidFill>
                  <a:srgbClr val="B89653"/>
                </a:solidFill>
                <a:latin typeface="Consolas" pitchFamily="34" charset="0"/>
                <a:ea typeface="Consolas" pitchFamily="34" charset="-122"/>
                <a:cs typeface="Consolas" pitchFamily="34" charset="-120"/>
              </a:rPr>
              <a:t># Deployment Moderate — extrait clé</a:t>
            </a:r>
            <a:endParaRPr lang="en-US" sz="1000" dirty="0"/>
          </a:p>
        </p:txBody>
      </p:sp>
      <p:sp>
        <p:nvSpPr>
          <p:cNvPr id="23" name="Shape 21"/>
          <p:cNvSpPr/>
          <p:nvPr/>
        </p:nvSpPr>
        <p:spPr>
          <a:xfrm>
            <a:off x="6126480" y="1828800"/>
            <a:ext cx="5486400" cy="4434840"/>
          </a:xfrm>
          <a:prstGeom prst="rect">
            <a:avLst/>
          </a:prstGeom>
          <a:solidFill>
            <a:srgbClr val="0F1419"/>
          </a:solidFill>
          <a:ln/>
        </p:spPr>
      </p:sp>
      <p:sp>
        <p:nvSpPr>
          <p:cNvPr id="24" name="Text 22"/>
          <p:cNvSpPr/>
          <p:nvPr/>
        </p:nvSpPr>
        <p:spPr>
          <a:xfrm>
            <a:off x="6309360" y="1965960"/>
            <a:ext cx="5120640" cy="4206240"/>
          </a:xfrm>
          <a:prstGeom prst="rect">
            <a:avLst/>
          </a:prstGeom>
          <a:noFill/>
          <a:ln/>
        </p:spPr>
        <p:txBody>
          <a:bodyPr wrap="square" lIns="0" tIns="0" rIns="0" bIns="0" rtlCol="0" anchor="t"/>
          <a:lstStyle/>
          <a:p>
            <a:pPr indent="0" marL="0">
              <a:buNone/>
            </a:pPr>
            <a:r>
              <a:rPr lang="en-US" sz="1000" dirty="0">
                <a:solidFill>
                  <a:srgbClr val="E6E6E6"/>
                </a:solidFill>
                <a:latin typeface="Consolas" pitchFamily="34" charset="0"/>
                <a:ea typeface="Consolas" pitchFamily="34" charset="-122"/>
                <a:cs typeface="Consolas" pitchFamily="34" charset="-120"/>
              </a:rPr>
              <a:t>apiVersion: apps/v1</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kind: Deployment</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metadata:</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name: app-moderate</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spec:</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replicas: 4</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strategy:</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rollingUpdate:</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maxSurge: 1</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maxUnavailable: 1     # tolérance OK</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template:</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spec:</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topologySpreadConstraints:</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 topologyKey: topology.kubernetes.io/zone</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whenUnsatisfiable: ScheduleAnyway</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affinity:</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podAntiAffinity:</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preferredDuring...:</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 weight: 100</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podAffinityTerm: {...}</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containers:</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 name: app</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resources:</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requests: { cpu: 250m, memory: 512Mi }</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limits:   { cpu: 1000m, memory: 1Gi }</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 PostgreSQL : synchronous_commit = "off"</a:t>
            </a:r>
            <a:endParaRPr lang="en-US" sz="1000" dirty="0"/>
          </a:p>
        </p:txBody>
      </p:sp>
      <p:sp>
        <p:nvSpPr>
          <p:cNvPr id="25" name="Shape 23"/>
          <p:cNvSpPr/>
          <p:nvPr/>
        </p:nvSpPr>
        <p:spPr>
          <a:xfrm>
            <a:off x="548640" y="6446520"/>
            <a:ext cx="11064240" cy="0"/>
          </a:xfrm>
          <a:prstGeom prst="line">
            <a:avLst/>
          </a:prstGeom>
          <a:noFill/>
          <a:ln w="6350">
            <a:solidFill>
              <a:srgbClr val="E5E7EB"/>
            </a:solidFill>
            <a:prstDash val="solid"/>
          </a:ln>
        </p:spPr>
      </p:sp>
      <p:sp>
        <p:nvSpPr>
          <p:cNvPr id="26" name="Text 24"/>
          <p:cNvSpPr/>
          <p:nvPr/>
        </p:nvSpPr>
        <p:spPr>
          <a:xfrm>
            <a:off x="548640" y="651052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BNP Paribas Cardif  ·  TOE  ·  Cloud Native Architecture</a:t>
            </a:r>
            <a:endParaRPr lang="en-US" sz="900" dirty="0"/>
          </a:p>
        </p:txBody>
      </p:sp>
      <p:sp>
        <p:nvSpPr>
          <p:cNvPr id="27" name="Text 25"/>
          <p:cNvSpPr/>
          <p:nvPr/>
        </p:nvSpPr>
        <p:spPr>
          <a:xfrm>
            <a:off x="10515600" y="6510528"/>
            <a:ext cx="109728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11 / 17</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 cy="6858000"/>
          </a:xfrm>
          <a:prstGeom prst="rect">
            <a:avLst/>
          </a:prstGeom>
          <a:solidFill>
            <a:srgbClr val="059669"/>
          </a:solidFill>
          <a:ln/>
        </p:spPr>
      </p:sp>
      <p:sp>
        <p:nvSpPr>
          <p:cNvPr id="3" name="Text 1"/>
          <p:cNvSpPr/>
          <p:nvPr/>
        </p:nvSpPr>
        <p:spPr>
          <a:xfrm>
            <a:off x="548640" y="411480"/>
            <a:ext cx="10972800" cy="274320"/>
          </a:xfrm>
          <a:prstGeom prst="rect">
            <a:avLst/>
          </a:prstGeom>
          <a:noFill/>
          <a:ln/>
        </p:spPr>
        <p:txBody>
          <a:bodyPr wrap="square" lIns="0" tIns="0" rIns="0" bIns="0" rtlCol="0" anchor="ctr"/>
          <a:lstStyle/>
          <a:p>
            <a:pPr indent="0" marL="0">
              <a:buNone/>
            </a:pPr>
            <a:r>
              <a:rPr lang="en-US" sz="1000" b="1" spc="400" kern="0" dirty="0">
                <a:solidFill>
                  <a:srgbClr val="059669"/>
                </a:solidFill>
                <a:latin typeface="Calibri" pitchFamily="34" charset="0"/>
                <a:ea typeface="Calibri" pitchFamily="34" charset="-122"/>
                <a:cs typeface="Calibri" pitchFamily="34" charset="-120"/>
              </a:rPr>
              <a:t>NIVEAU 04 · 🟢 LOW</a:t>
            </a:r>
            <a:endParaRPr lang="en-US" sz="1000" dirty="0"/>
          </a:p>
        </p:txBody>
      </p:sp>
      <p:sp>
        <p:nvSpPr>
          <p:cNvPr id="4" name="Text 2"/>
          <p:cNvSpPr/>
          <p:nvPr/>
        </p:nvSpPr>
        <p:spPr>
          <a:xfrm>
            <a:off x="548640" y="713232"/>
            <a:ext cx="10972800" cy="548640"/>
          </a:xfrm>
          <a:prstGeom prst="rect">
            <a:avLst/>
          </a:prstGeom>
          <a:noFill/>
          <a:ln/>
        </p:spPr>
        <p:txBody>
          <a:bodyPr wrap="square" lIns="0" tIns="0" rIns="0" bIns="0" rtlCol="0" anchor="ctr"/>
          <a:lstStyle/>
          <a:p>
            <a:pPr indent="0" marL="0">
              <a:buNone/>
            </a:pPr>
            <a:r>
              <a:rPr lang="en-US" sz="2200" b="1" dirty="0">
                <a:solidFill>
                  <a:srgbClr val="1A1A1A"/>
                </a:solidFill>
                <a:latin typeface="Cambria" pitchFamily="34" charset="0"/>
                <a:ea typeface="Cambria" pitchFamily="34" charset="-122"/>
                <a:cs typeface="Cambria" pitchFamily="34" charset="-120"/>
              </a:rPr>
              <a:t>Continuité minimale — outils ponctuels, environnements d'expérimentation</a:t>
            </a:r>
            <a:endParaRPr lang="en-US" sz="2200" dirty="0"/>
          </a:p>
        </p:txBody>
      </p:sp>
      <p:sp>
        <p:nvSpPr>
          <p:cNvPr id="5" name="Text 3"/>
          <p:cNvSpPr/>
          <p:nvPr/>
        </p:nvSpPr>
        <p:spPr>
          <a:xfrm>
            <a:off x="548640" y="1508760"/>
            <a:ext cx="5486400" cy="274320"/>
          </a:xfrm>
          <a:prstGeom prst="rect">
            <a:avLst/>
          </a:prstGeom>
          <a:noFill/>
          <a:ln/>
        </p:spPr>
        <p:txBody>
          <a:bodyPr wrap="square" lIns="0" tIns="0" rIns="0" bIns="0" rtlCol="0" anchor="ctr"/>
          <a:lstStyle/>
          <a:p>
            <a:pPr indent="0" marL="0">
              <a:buNone/>
            </a:pPr>
            <a:r>
              <a:rPr lang="en-US" sz="1000" b="1" spc="300" kern="0" dirty="0">
                <a:solidFill>
                  <a:srgbClr val="B89653"/>
                </a:solidFill>
                <a:latin typeface="Calibri" pitchFamily="34" charset="0"/>
                <a:ea typeface="Calibri" pitchFamily="34" charset="-122"/>
                <a:cs typeface="Calibri" pitchFamily="34" charset="-120"/>
              </a:rPr>
              <a:t>SIMPLIFICATIONS MAJEURES</a:t>
            </a:r>
            <a:endParaRPr lang="en-US" sz="1000" dirty="0"/>
          </a:p>
        </p:txBody>
      </p:sp>
      <p:sp>
        <p:nvSpPr>
          <p:cNvPr id="6" name="Shape 4"/>
          <p:cNvSpPr/>
          <p:nvPr/>
        </p:nvSpPr>
        <p:spPr>
          <a:xfrm>
            <a:off x="548640" y="1874520"/>
            <a:ext cx="5394960" cy="502920"/>
          </a:xfrm>
          <a:prstGeom prst="rect">
            <a:avLst/>
          </a:prstGeom>
          <a:solidFill>
            <a:srgbClr val="FAFAFA"/>
          </a:solidFill>
          <a:ln/>
        </p:spPr>
      </p:sp>
      <p:sp>
        <p:nvSpPr>
          <p:cNvPr id="7" name="Text 5"/>
          <p:cNvSpPr/>
          <p:nvPr/>
        </p:nvSpPr>
        <p:spPr>
          <a:xfrm>
            <a:off x="685800" y="1911096"/>
            <a:ext cx="5120640" cy="210312"/>
          </a:xfrm>
          <a:prstGeom prst="rect">
            <a:avLst/>
          </a:prstGeom>
          <a:noFill/>
          <a:ln/>
        </p:spPr>
        <p:txBody>
          <a:bodyPr wrap="square" lIns="0" tIns="0" rIns="0" bIns="0" rtlCol="0" anchor="ctr"/>
          <a:lstStyle/>
          <a:p>
            <a:pPr indent="0" marL="0">
              <a:buNone/>
            </a:pPr>
            <a:r>
              <a:rPr lang="en-US" sz="1050" strike="sngStrike" dirty="0">
                <a:solidFill>
                  <a:srgbClr val="6B7280"/>
                </a:solidFill>
                <a:latin typeface="Calibri" pitchFamily="34" charset="0"/>
                <a:ea typeface="Calibri" pitchFamily="34" charset="-122"/>
                <a:cs typeface="Calibri" pitchFamily="34" charset="-120"/>
              </a:rPr>
              <a:t>M:Two (2 AZ)</a:t>
            </a:r>
            <a:endParaRPr lang="en-US" sz="1050" dirty="0"/>
          </a:p>
        </p:txBody>
      </p:sp>
      <p:sp>
        <p:nvSpPr>
          <p:cNvPr id="8" name="Text 6"/>
          <p:cNvSpPr/>
          <p:nvPr/>
        </p:nvSpPr>
        <p:spPr>
          <a:xfrm>
            <a:off x="685800" y="2121408"/>
            <a:ext cx="5120640" cy="237744"/>
          </a:xfrm>
          <a:prstGeom prst="rect">
            <a:avLst/>
          </a:prstGeom>
          <a:noFill/>
          <a:ln/>
        </p:spPr>
        <p:txBody>
          <a:bodyPr wrap="square" lIns="0" tIns="0" rIns="0" bIns="0" rtlCol="0" anchor="ctr"/>
          <a:lstStyle/>
          <a:p>
            <a:pPr indent="0" marL="0">
              <a:buNone/>
            </a:pPr>
            <a:r>
              <a:rPr lang="en-US" sz="1150" b="1" dirty="0">
                <a:solidFill>
                  <a:srgbClr val="059669"/>
                </a:solidFill>
                <a:latin typeface="Calibri" pitchFamily="34" charset="0"/>
                <a:ea typeface="Calibri" pitchFamily="34" charset="-122"/>
                <a:cs typeface="Calibri" pitchFamily="34" charset="-120"/>
              </a:rPr>
              <a:t>→  M:One (1 AZ acceptée)</a:t>
            </a:r>
            <a:endParaRPr lang="en-US" sz="1150" dirty="0"/>
          </a:p>
        </p:txBody>
      </p:sp>
      <p:sp>
        <p:nvSpPr>
          <p:cNvPr id="9" name="Shape 7"/>
          <p:cNvSpPr/>
          <p:nvPr/>
        </p:nvSpPr>
        <p:spPr>
          <a:xfrm>
            <a:off x="548640" y="2468880"/>
            <a:ext cx="5394960" cy="502920"/>
          </a:xfrm>
          <a:prstGeom prst="rect">
            <a:avLst/>
          </a:prstGeom>
          <a:solidFill>
            <a:srgbClr val="FAFAFA"/>
          </a:solidFill>
          <a:ln/>
        </p:spPr>
      </p:sp>
      <p:sp>
        <p:nvSpPr>
          <p:cNvPr id="10" name="Text 8"/>
          <p:cNvSpPr/>
          <p:nvPr/>
        </p:nvSpPr>
        <p:spPr>
          <a:xfrm>
            <a:off x="685800" y="2505456"/>
            <a:ext cx="5120640" cy="210312"/>
          </a:xfrm>
          <a:prstGeom prst="rect">
            <a:avLst/>
          </a:prstGeom>
          <a:noFill/>
          <a:ln/>
        </p:spPr>
        <p:txBody>
          <a:bodyPr wrap="square" lIns="0" tIns="0" rIns="0" bIns="0" rtlCol="0" anchor="ctr"/>
          <a:lstStyle/>
          <a:p>
            <a:pPr indent="0" marL="0">
              <a:buNone/>
            </a:pPr>
            <a:r>
              <a:rPr lang="en-US" sz="1050" strike="sngStrike" dirty="0">
                <a:solidFill>
                  <a:srgbClr val="6B7280"/>
                </a:solidFill>
                <a:latin typeface="Calibri" pitchFamily="34" charset="0"/>
                <a:ea typeface="Calibri" pitchFamily="34" charset="-122"/>
                <a:cs typeface="Calibri" pitchFamily="34" charset="-120"/>
              </a:rPr>
              <a:t>Hot standby</a:t>
            </a:r>
            <a:endParaRPr lang="en-US" sz="1050" dirty="0"/>
          </a:p>
        </p:txBody>
      </p:sp>
      <p:sp>
        <p:nvSpPr>
          <p:cNvPr id="11" name="Text 9"/>
          <p:cNvSpPr/>
          <p:nvPr/>
        </p:nvSpPr>
        <p:spPr>
          <a:xfrm>
            <a:off x="685800" y="2715768"/>
            <a:ext cx="5120640" cy="237744"/>
          </a:xfrm>
          <a:prstGeom prst="rect">
            <a:avLst/>
          </a:prstGeom>
          <a:noFill/>
          <a:ln/>
        </p:spPr>
        <p:txBody>
          <a:bodyPr wrap="square" lIns="0" tIns="0" rIns="0" bIns="0" rtlCol="0" anchor="ctr"/>
          <a:lstStyle/>
          <a:p>
            <a:pPr indent="0" marL="0">
              <a:buNone/>
            </a:pPr>
            <a:r>
              <a:rPr lang="en-US" sz="1150" b="1" dirty="0">
                <a:solidFill>
                  <a:srgbClr val="059669"/>
                </a:solidFill>
                <a:latin typeface="Calibri" pitchFamily="34" charset="0"/>
                <a:ea typeface="Calibri" pitchFamily="34" charset="-122"/>
                <a:cs typeface="Calibri" pitchFamily="34" charset="-120"/>
              </a:rPr>
              <a:t>→  Cold (reprovisionnement depuis backup)</a:t>
            </a:r>
            <a:endParaRPr lang="en-US" sz="1150" dirty="0"/>
          </a:p>
        </p:txBody>
      </p:sp>
      <p:sp>
        <p:nvSpPr>
          <p:cNvPr id="12" name="Shape 10"/>
          <p:cNvSpPr/>
          <p:nvPr/>
        </p:nvSpPr>
        <p:spPr>
          <a:xfrm>
            <a:off x="548640" y="3063240"/>
            <a:ext cx="5394960" cy="502920"/>
          </a:xfrm>
          <a:prstGeom prst="rect">
            <a:avLst/>
          </a:prstGeom>
          <a:solidFill>
            <a:srgbClr val="FAFAFA"/>
          </a:solidFill>
          <a:ln/>
        </p:spPr>
      </p:sp>
      <p:sp>
        <p:nvSpPr>
          <p:cNvPr id="13" name="Text 11"/>
          <p:cNvSpPr/>
          <p:nvPr/>
        </p:nvSpPr>
        <p:spPr>
          <a:xfrm>
            <a:off x="685800" y="3099816"/>
            <a:ext cx="5120640" cy="210312"/>
          </a:xfrm>
          <a:prstGeom prst="rect">
            <a:avLst/>
          </a:prstGeom>
          <a:noFill/>
          <a:ln/>
        </p:spPr>
        <p:txBody>
          <a:bodyPr wrap="square" lIns="0" tIns="0" rIns="0" bIns="0" rtlCol="0" anchor="ctr"/>
          <a:lstStyle/>
          <a:p>
            <a:pPr indent="0" marL="0">
              <a:buNone/>
            </a:pPr>
            <a:r>
              <a:rPr lang="en-US" sz="1050" strike="sngStrike" dirty="0">
                <a:solidFill>
                  <a:srgbClr val="6B7280"/>
                </a:solidFill>
                <a:latin typeface="Calibri" pitchFamily="34" charset="0"/>
                <a:ea typeface="Calibri" pitchFamily="34" charset="-122"/>
                <a:cs typeface="Calibri" pitchFamily="34" charset="-120"/>
              </a:rPr>
              <a:t>PDB obligatoire</a:t>
            </a:r>
            <a:endParaRPr lang="en-US" sz="1050" dirty="0"/>
          </a:p>
        </p:txBody>
      </p:sp>
      <p:sp>
        <p:nvSpPr>
          <p:cNvPr id="14" name="Text 12"/>
          <p:cNvSpPr/>
          <p:nvPr/>
        </p:nvSpPr>
        <p:spPr>
          <a:xfrm>
            <a:off x="685800" y="3310128"/>
            <a:ext cx="5120640" cy="237744"/>
          </a:xfrm>
          <a:prstGeom prst="rect">
            <a:avLst/>
          </a:prstGeom>
          <a:noFill/>
          <a:ln/>
        </p:spPr>
        <p:txBody>
          <a:bodyPr wrap="square" lIns="0" tIns="0" rIns="0" bIns="0" rtlCol="0" anchor="ctr"/>
          <a:lstStyle/>
          <a:p>
            <a:pPr indent="0" marL="0">
              <a:buNone/>
            </a:pPr>
            <a:r>
              <a:rPr lang="en-US" sz="1150" b="1" dirty="0">
                <a:solidFill>
                  <a:srgbClr val="059669"/>
                </a:solidFill>
                <a:latin typeface="Calibri" pitchFamily="34" charset="0"/>
                <a:ea typeface="Calibri" pitchFamily="34" charset="-122"/>
                <a:cs typeface="Calibri" pitchFamily="34" charset="-120"/>
              </a:rPr>
              <a:t>→  PDB optionnel</a:t>
            </a:r>
            <a:endParaRPr lang="en-US" sz="1150" dirty="0"/>
          </a:p>
        </p:txBody>
      </p:sp>
      <p:sp>
        <p:nvSpPr>
          <p:cNvPr id="15" name="Shape 13"/>
          <p:cNvSpPr/>
          <p:nvPr/>
        </p:nvSpPr>
        <p:spPr>
          <a:xfrm>
            <a:off x="548640" y="3657600"/>
            <a:ext cx="5394960" cy="502920"/>
          </a:xfrm>
          <a:prstGeom prst="rect">
            <a:avLst/>
          </a:prstGeom>
          <a:solidFill>
            <a:srgbClr val="FAFAFA"/>
          </a:solidFill>
          <a:ln/>
        </p:spPr>
      </p:sp>
      <p:sp>
        <p:nvSpPr>
          <p:cNvPr id="16" name="Text 14"/>
          <p:cNvSpPr/>
          <p:nvPr/>
        </p:nvSpPr>
        <p:spPr>
          <a:xfrm>
            <a:off x="685800" y="3694176"/>
            <a:ext cx="5120640" cy="210312"/>
          </a:xfrm>
          <a:prstGeom prst="rect">
            <a:avLst/>
          </a:prstGeom>
          <a:noFill/>
          <a:ln/>
        </p:spPr>
        <p:txBody>
          <a:bodyPr wrap="square" lIns="0" tIns="0" rIns="0" bIns="0" rtlCol="0" anchor="ctr"/>
          <a:lstStyle/>
          <a:p>
            <a:pPr indent="0" marL="0">
              <a:buNone/>
            </a:pPr>
            <a:r>
              <a:rPr lang="en-US" sz="1050" strike="sngStrike" dirty="0">
                <a:solidFill>
                  <a:srgbClr val="6B7280"/>
                </a:solidFill>
                <a:latin typeface="Calibri" pitchFamily="34" charset="0"/>
                <a:ea typeface="Calibri" pitchFamily="34" charset="-122"/>
                <a:cs typeface="Calibri" pitchFamily="34" charset="-120"/>
              </a:rPr>
              <a:t>topologySpread strict</a:t>
            </a:r>
            <a:endParaRPr lang="en-US" sz="1050" dirty="0"/>
          </a:p>
        </p:txBody>
      </p:sp>
      <p:sp>
        <p:nvSpPr>
          <p:cNvPr id="17" name="Text 15"/>
          <p:cNvSpPr/>
          <p:nvPr/>
        </p:nvSpPr>
        <p:spPr>
          <a:xfrm>
            <a:off x="685800" y="3904488"/>
            <a:ext cx="5120640" cy="237744"/>
          </a:xfrm>
          <a:prstGeom prst="rect">
            <a:avLst/>
          </a:prstGeom>
          <a:noFill/>
          <a:ln/>
        </p:spPr>
        <p:txBody>
          <a:bodyPr wrap="square" lIns="0" tIns="0" rIns="0" bIns="0" rtlCol="0" anchor="ctr"/>
          <a:lstStyle/>
          <a:p>
            <a:pPr indent="0" marL="0">
              <a:buNone/>
            </a:pPr>
            <a:r>
              <a:rPr lang="en-US" sz="1150" b="1" dirty="0">
                <a:solidFill>
                  <a:srgbClr val="059669"/>
                </a:solidFill>
                <a:latin typeface="Calibri" pitchFamily="34" charset="0"/>
                <a:ea typeface="Calibri" pitchFamily="34" charset="-122"/>
                <a:cs typeface="Calibri" pitchFamily="34" charset="-120"/>
              </a:rPr>
              <a:t>→  Pas de topologySpread requis</a:t>
            </a:r>
            <a:endParaRPr lang="en-US" sz="1150" dirty="0"/>
          </a:p>
        </p:txBody>
      </p:sp>
      <p:sp>
        <p:nvSpPr>
          <p:cNvPr id="18" name="Shape 16"/>
          <p:cNvSpPr/>
          <p:nvPr/>
        </p:nvSpPr>
        <p:spPr>
          <a:xfrm>
            <a:off x="548640" y="4251960"/>
            <a:ext cx="5394960" cy="502920"/>
          </a:xfrm>
          <a:prstGeom prst="rect">
            <a:avLst/>
          </a:prstGeom>
          <a:solidFill>
            <a:srgbClr val="FAFAFA"/>
          </a:solidFill>
          <a:ln/>
        </p:spPr>
      </p:sp>
      <p:sp>
        <p:nvSpPr>
          <p:cNvPr id="19" name="Text 17"/>
          <p:cNvSpPr/>
          <p:nvPr/>
        </p:nvSpPr>
        <p:spPr>
          <a:xfrm>
            <a:off x="685800" y="4288536"/>
            <a:ext cx="5120640" cy="210312"/>
          </a:xfrm>
          <a:prstGeom prst="rect">
            <a:avLst/>
          </a:prstGeom>
          <a:noFill/>
          <a:ln/>
        </p:spPr>
        <p:txBody>
          <a:bodyPr wrap="square" lIns="0" tIns="0" rIns="0" bIns="0" rtlCol="0" anchor="ctr"/>
          <a:lstStyle/>
          <a:p>
            <a:pPr indent="0" marL="0">
              <a:buNone/>
            </a:pPr>
            <a:r>
              <a:rPr lang="en-US" sz="1050" strike="sngStrike" dirty="0">
                <a:solidFill>
                  <a:srgbClr val="6B7280"/>
                </a:solidFill>
                <a:latin typeface="Calibri" pitchFamily="34" charset="0"/>
                <a:ea typeface="Calibri" pitchFamily="34" charset="-122"/>
                <a:cs typeface="Calibri" pitchFamily="34" charset="-120"/>
              </a:rPr>
              <a:t>Test restore trimestriel</a:t>
            </a:r>
            <a:endParaRPr lang="en-US" sz="1050" dirty="0"/>
          </a:p>
        </p:txBody>
      </p:sp>
      <p:sp>
        <p:nvSpPr>
          <p:cNvPr id="20" name="Text 18"/>
          <p:cNvSpPr/>
          <p:nvPr/>
        </p:nvSpPr>
        <p:spPr>
          <a:xfrm>
            <a:off x="685800" y="4498848"/>
            <a:ext cx="5120640" cy="237744"/>
          </a:xfrm>
          <a:prstGeom prst="rect">
            <a:avLst/>
          </a:prstGeom>
          <a:noFill/>
          <a:ln/>
        </p:spPr>
        <p:txBody>
          <a:bodyPr wrap="square" lIns="0" tIns="0" rIns="0" bIns="0" rtlCol="0" anchor="ctr"/>
          <a:lstStyle/>
          <a:p>
            <a:pPr indent="0" marL="0">
              <a:buNone/>
            </a:pPr>
            <a:r>
              <a:rPr lang="en-US" sz="1150" b="1" dirty="0">
                <a:solidFill>
                  <a:srgbClr val="059669"/>
                </a:solidFill>
                <a:latin typeface="Calibri" pitchFamily="34" charset="0"/>
                <a:ea typeface="Calibri" pitchFamily="34" charset="-122"/>
                <a:cs typeface="Calibri" pitchFamily="34" charset="-120"/>
              </a:rPr>
              <a:t>→  Test restore annuel suffisant</a:t>
            </a:r>
            <a:endParaRPr lang="en-US" sz="1150" dirty="0"/>
          </a:p>
        </p:txBody>
      </p:sp>
      <p:sp>
        <p:nvSpPr>
          <p:cNvPr id="21" name="Shape 19"/>
          <p:cNvSpPr/>
          <p:nvPr/>
        </p:nvSpPr>
        <p:spPr>
          <a:xfrm>
            <a:off x="548640" y="5120640"/>
            <a:ext cx="5394960" cy="914400"/>
          </a:xfrm>
          <a:prstGeom prst="rect">
            <a:avLst/>
          </a:prstGeom>
          <a:solidFill>
            <a:srgbClr val="E6F2EC"/>
          </a:solidFill>
          <a:ln/>
        </p:spPr>
      </p:sp>
      <p:sp>
        <p:nvSpPr>
          <p:cNvPr id="22" name="Shape 20"/>
          <p:cNvSpPr/>
          <p:nvPr/>
        </p:nvSpPr>
        <p:spPr>
          <a:xfrm>
            <a:off x="548640" y="5120640"/>
            <a:ext cx="54864" cy="914400"/>
          </a:xfrm>
          <a:prstGeom prst="rect">
            <a:avLst/>
          </a:prstGeom>
          <a:solidFill>
            <a:srgbClr val="008053"/>
          </a:solidFill>
          <a:ln/>
        </p:spPr>
      </p:sp>
      <p:sp>
        <p:nvSpPr>
          <p:cNvPr id="23" name="Text 21"/>
          <p:cNvSpPr/>
          <p:nvPr/>
        </p:nvSpPr>
        <p:spPr>
          <a:xfrm>
            <a:off x="731520" y="5212080"/>
            <a:ext cx="5120640" cy="274320"/>
          </a:xfrm>
          <a:prstGeom prst="rect">
            <a:avLst/>
          </a:prstGeom>
          <a:noFill/>
          <a:ln/>
        </p:spPr>
        <p:txBody>
          <a:bodyPr wrap="square" lIns="0" tIns="0" rIns="0" bIns="0" rtlCol="0" anchor="ctr"/>
          <a:lstStyle/>
          <a:p>
            <a:pPr indent="0" marL="0">
              <a:buNone/>
            </a:pPr>
            <a:r>
              <a:rPr lang="en-US" sz="1100" b="1" dirty="0">
                <a:solidFill>
                  <a:srgbClr val="008053"/>
                </a:solidFill>
                <a:latin typeface="Calibri" pitchFamily="34" charset="0"/>
                <a:ea typeface="Calibri" pitchFamily="34" charset="-122"/>
                <a:cs typeface="Calibri" pitchFamily="34" charset="-120"/>
              </a:rPr>
              <a:t>Local Data Restore = MUST même pour Low</a:t>
            </a:r>
            <a:endParaRPr lang="en-US" sz="1100" dirty="0"/>
          </a:p>
        </p:txBody>
      </p:sp>
      <p:sp>
        <p:nvSpPr>
          <p:cNvPr id="24" name="Text 22"/>
          <p:cNvSpPr/>
          <p:nvPr/>
        </p:nvSpPr>
        <p:spPr>
          <a:xfrm>
            <a:off x="731520" y="5486400"/>
            <a:ext cx="5120640" cy="502920"/>
          </a:xfrm>
          <a:prstGeom prst="rect">
            <a:avLst/>
          </a:prstGeom>
          <a:noFill/>
          <a:ln/>
        </p:spPr>
        <p:txBody>
          <a:bodyPr wrap="square" lIns="0" tIns="0" rIns="0" bIns="0" rtlCol="0" anchor="ctr"/>
          <a:lstStyle/>
          <a:p>
            <a:pPr indent="0" marL="0">
              <a:buNone/>
            </a:pPr>
            <a:r>
              <a:rPr lang="en-US" sz="1050" dirty="0">
                <a:solidFill>
                  <a:srgbClr val="2C2C2C"/>
                </a:solidFill>
                <a:latin typeface="Calibri" pitchFamily="34" charset="0"/>
                <a:ea typeface="Calibri" pitchFamily="34" charset="-122"/>
                <a:cs typeface="Calibri" pitchFamily="34" charset="-120"/>
              </a:rPr>
              <a:t>La sauvegarde reste l'unique filet de sécurité — tests de restauration obligatoires.</a:t>
            </a:r>
            <a:endParaRPr lang="en-US" sz="1050" dirty="0"/>
          </a:p>
        </p:txBody>
      </p:sp>
      <p:sp>
        <p:nvSpPr>
          <p:cNvPr id="25" name="Shape 23"/>
          <p:cNvSpPr/>
          <p:nvPr/>
        </p:nvSpPr>
        <p:spPr>
          <a:xfrm>
            <a:off x="6126480" y="1463040"/>
            <a:ext cx="5486400" cy="365760"/>
          </a:xfrm>
          <a:prstGeom prst="rect">
            <a:avLst/>
          </a:prstGeom>
          <a:solidFill>
            <a:srgbClr val="1A1A1A"/>
          </a:solidFill>
          <a:ln/>
        </p:spPr>
      </p:sp>
      <p:sp>
        <p:nvSpPr>
          <p:cNvPr id="26" name="Text 24"/>
          <p:cNvSpPr/>
          <p:nvPr/>
        </p:nvSpPr>
        <p:spPr>
          <a:xfrm>
            <a:off x="6263640" y="1463040"/>
            <a:ext cx="5303520" cy="365760"/>
          </a:xfrm>
          <a:prstGeom prst="rect">
            <a:avLst/>
          </a:prstGeom>
          <a:noFill/>
          <a:ln/>
        </p:spPr>
        <p:txBody>
          <a:bodyPr wrap="square" lIns="0" tIns="0" rIns="0" bIns="0" rtlCol="0" anchor="ctr"/>
          <a:lstStyle/>
          <a:p>
            <a:pPr indent="0" marL="0">
              <a:buNone/>
            </a:pPr>
            <a:r>
              <a:rPr lang="en-US" sz="1000" b="1" dirty="0">
                <a:solidFill>
                  <a:srgbClr val="B89653"/>
                </a:solidFill>
                <a:latin typeface="Consolas" pitchFamily="34" charset="0"/>
                <a:ea typeface="Consolas" pitchFamily="34" charset="-122"/>
                <a:cs typeface="Consolas" pitchFamily="34" charset="-120"/>
              </a:rPr>
              <a:t># Deployment Low — minimaliste</a:t>
            </a:r>
            <a:endParaRPr lang="en-US" sz="1000" dirty="0"/>
          </a:p>
        </p:txBody>
      </p:sp>
      <p:sp>
        <p:nvSpPr>
          <p:cNvPr id="27" name="Shape 25"/>
          <p:cNvSpPr/>
          <p:nvPr/>
        </p:nvSpPr>
        <p:spPr>
          <a:xfrm>
            <a:off x="6126480" y="1828800"/>
            <a:ext cx="5486400" cy="4434840"/>
          </a:xfrm>
          <a:prstGeom prst="rect">
            <a:avLst/>
          </a:prstGeom>
          <a:solidFill>
            <a:srgbClr val="0F1419"/>
          </a:solidFill>
          <a:ln/>
        </p:spPr>
      </p:sp>
      <p:sp>
        <p:nvSpPr>
          <p:cNvPr id="28" name="Text 26"/>
          <p:cNvSpPr/>
          <p:nvPr/>
        </p:nvSpPr>
        <p:spPr>
          <a:xfrm>
            <a:off x="6309360" y="1965960"/>
            <a:ext cx="5120640" cy="4206240"/>
          </a:xfrm>
          <a:prstGeom prst="rect">
            <a:avLst/>
          </a:prstGeom>
          <a:noFill/>
          <a:ln/>
        </p:spPr>
        <p:txBody>
          <a:bodyPr wrap="square" lIns="0" tIns="0" rIns="0" bIns="0" rtlCol="0" anchor="t"/>
          <a:lstStyle/>
          <a:p>
            <a:pPr indent="0" marL="0">
              <a:buNone/>
            </a:pPr>
            <a:r>
              <a:rPr lang="en-US" sz="1000" dirty="0">
                <a:solidFill>
                  <a:srgbClr val="E6E6E6"/>
                </a:solidFill>
                <a:latin typeface="Consolas" pitchFamily="34" charset="0"/>
                <a:ea typeface="Consolas" pitchFamily="34" charset="-122"/>
                <a:cs typeface="Consolas" pitchFamily="34" charset="-120"/>
              </a:rPr>
              <a:t>apiVersion: apps/v1</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kind: Deployment</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metadata:</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name: app-low</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spec:</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replicas: 2     # min pour rolling sans coupure</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strategy:</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rollingUpdate:</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maxSurge: 1</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maxUnavailable: 1</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template:</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spec:</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 Pas de topologySpread requis</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 Pas d'anti-affinity stricte</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containers:</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 name: app</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resources:</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requests: { cpu: 100m, memory: 256Mi }</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limits:   { cpu: 500m, memory: 512Mi }</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livenessProbe:</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httpGet: { path: /health, port: 8080 }</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apiVersion: postgresql.cnpg.io/v1</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kind: Cluster</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spec:</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instances: 1                  # standalone</a:t>
            </a:r>
            <a:endParaRPr lang="en-US" sz="1000" dirty="0"/>
          </a:p>
          <a:p>
            <a:pPr indent="0" marL="0">
              <a:buNone/>
            </a:pPr>
            <a:r>
              <a:rPr lang="en-US" sz="1000" dirty="0">
                <a:solidFill>
                  <a:srgbClr val="E6E6E6"/>
                </a:solidFill>
                <a:latin typeface="Consolas" pitchFamily="34" charset="0"/>
                <a:ea typeface="Consolas" pitchFamily="34" charset="-122"/>
                <a:cs typeface="Consolas" pitchFamily="34" charset="-120"/>
              </a:rPr>
              <a:t># + backup MUST même Low (retention 7d)</a:t>
            </a:r>
            <a:endParaRPr lang="en-US" sz="1000" dirty="0"/>
          </a:p>
        </p:txBody>
      </p:sp>
      <p:sp>
        <p:nvSpPr>
          <p:cNvPr id="29" name="Shape 27"/>
          <p:cNvSpPr/>
          <p:nvPr/>
        </p:nvSpPr>
        <p:spPr>
          <a:xfrm>
            <a:off x="548640" y="6446520"/>
            <a:ext cx="11064240" cy="0"/>
          </a:xfrm>
          <a:prstGeom prst="line">
            <a:avLst/>
          </a:prstGeom>
          <a:noFill/>
          <a:ln w="6350">
            <a:solidFill>
              <a:srgbClr val="E5E7EB"/>
            </a:solidFill>
            <a:prstDash val="solid"/>
          </a:ln>
        </p:spPr>
      </p:sp>
      <p:sp>
        <p:nvSpPr>
          <p:cNvPr id="30" name="Text 28"/>
          <p:cNvSpPr/>
          <p:nvPr/>
        </p:nvSpPr>
        <p:spPr>
          <a:xfrm>
            <a:off x="548640" y="651052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BNP Paribas Cardif  ·  TOE  ·  Cloud Native Architecture</a:t>
            </a:r>
            <a:endParaRPr lang="en-US" sz="900" dirty="0"/>
          </a:p>
        </p:txBody>
      </p:sp>
      <p:sp>
        <p:nvSpPr>
          <p:cNvPr id="31" name="Text 29"/>
          <p:cNvSpPr/>
          <p:nvPr/>
        </p:nvSpPr>
        <p:spPr>
          <a:xfrm>
            <a:off x="10515600" y="6510528"/>
            <a:ext cx="109728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12 / 17</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lIns="0" tIns="0" rIns="0" bIns="0" rtlCol="0" anchor="ctr"/>
          <a:lstStyle/>
          <a:p>
            <a:pPr indent="0" marL="0">
              <a:buNone/>
            </a:pPr>
            <a:r>
              <a:rPr lang="en-US" sz="1000" b="1" spc="400" kern="0" dirty="0">
                <a:solidFill>
                  <a:srgbClr val="B89653"/>
                </a:solidFill>
                <a:latin typeface="Calibri" pitchFamily="34" charset="0"/>
                <a:ea typeface="Calibri" pitchFamily="34" charset="-122"/>
                <a:cs typeface="Calibri" pitchFamily="34" charset="-120"/>
              </a:rPr>
              <a:t>04 · RÉCAP</a:t>
            </a:r>
            <a:endParaRPr lang="en-US" sz="1000" dirty="0"/>
          </a:p>
        </p:txBody>
      </p:sp>
      <p:sp>
        <p:nvSpPr>
          <p:cNvPr id="3" name="Text 1"/>
          <p:cNvSpPr/>
          <p:nvPr/>
        </p:nvSpPr>
        <p:spPr>
          <a:xfrm>
            <a:off x="548640" y="713232"/>
            <a:ext cx="10972800" cy="640080"/>
          </a:xfrm>
          <a:prstGeom prst="rect">
            <a:avLst/>
          </a:prstGeom>
          <a:noFill/>
          <a:ln/>
        </p:spPr>
        <p:txBody>
          <a:bodyPr wrap="square" lIns="0" tIns="0" rIns="0" bIns="0" rtlCol="0" anchor="ctr"/>
          <a:lstStyle/>
          <a:p>
            <a:pPr indent="0" marL="0">
              <a:buNone/>
            </a:pPr>
            <a:r>
              <a:rPr lang="en-US" sz="2800" b="1" dirty="0">
                <a:solidFill>
                  <a:srgbClr val="1A1A1A"/>
                </a:solidFill>
                <a:latin typeface="Cambria" pitchFamily="34" charset="0"/>
                <a:ea typeface="Cambria" pitchFamily="34" charset="-122"/>
                <a:cs typeface="Cambria" pitchFamily="34" charset="-120"/>
              </a:rPr>
              <a:t>Qu'est-ce qui change entre les niveaux ?</a:t>
            </a:r>
            <a:endParaRPr lang="en-US" sz="2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3017520"/>
                <a:gridCol w="2011680"/>
                <a:gridCol w="2011680"/>
                <a:gridCol w="2011680"/>
                <a:gridCol w="2011680"/>
              </a:tblGrid>
              <a:tr h="41148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Élément</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04D3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 Extreme</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B81E1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 Serious</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D9770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 Moderate</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CA9A0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 Low</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59669"/>
                    </a:solidFill>
                  </a:tcPr>
                </a:tc>
              </a:tr>
              <a:tr h="411480">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replicas</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A"/>
                    </a:solidFill>
                  </a:tcPr>
                </a:tc>
                <a:tc>
                  <a:txBody>
                    <a:bodyPr/>
                    <a:lstStyle/>
                    <a:p>
                      <a:pPr algn="ctr" indent="0" marL="0">
                        <a:buNone/>
                      </a:pPr>
                      <a:r>
                        <a:rPr lang="en-US" sz="1100" dirty="0">
                          <a:solidFill>
                            <a:srgbClr val="2C2C2C"/>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DEDED"/>
                    </a:solidFill>
                  </a:tcPr>
                </a:tc>
                <a:tc>
                  <a:txBody>
                    <a:bodyPr/>
                    <a:lstStyle/>
                    <a:p>
                      <a:pPr algn="ctr" indent="0" marL="0">
                        <a:buNone/>
                      </a:pPr>
                      <a:r>
                        <a:rPr lang="en-US" sz="1100" dirty="0">
                          <a:solidFill>
                            <a:srgbClr val="2C2C2C"/>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7E6"/>
                    </a:solidFill>
                  </a:tcPr>
                </a:tc>
                <a:tc>
                  <a:txBody>
                    <a:bodyPr/>
                    <a:lstStyle/>
                    <a:p>
                      <a:pPr algn="ctr" indent="0" marL="0">
                        <a:buNone/>
                      </a:pPr>
                      <a:r>
                        <a:rPr lang="en-US" sz="1100" dirty="0">
                          <a:solidFill>
                            <a:srgbClr val="2C2C2C"/>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CE6"/>
                    </a:solidFill>
                  </a:tcPr>
                </a:tc>
                <a:tc>
                  <a:txBody>
                    <a:bodyPr/>
                    <a:lstStyle/>
                    <a:p>
                      <a:pPr algn="ctr" indent="0" marL="0">
                        <a:buNone/>
                      </a:pPr>
                      <a:r>
                        <a:rPr lang="en-US" sz="1100" dirty="0">
                          <a:solidFill>
                            <a:srgbClr val="2C2C2C"/>
                          </a:solidFill>
                          <a:latin typeface="Calibri" pitchFamily="34" charset="0"/>
                          <a:ea typeface="Calibri" pitchFamily="34" charset="-122"/>
                          <a:cs typeface="Calibri" pitchFamily="34" charset="-120"/>
                        </a:rPr>
                        <a:t>1 – 2</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6F7EE"/>
                    </a:solidFill>
                  </a:tcPr>
                </a:tc>
              </a:tr>
              <a:tr h="411480">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whenUnsatisfiable</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A"/>
                    </a:solidFill>
                  </a:tcPr>
                </a:tc>
                <a:tc>
                  <a:txBody>
                    <a:bodyPr/>
                    <a:lstStyle/>
                    <a:p>
                      <a:pPr algn="ctr" indent="0" marL="0">
                        <a:buNone/>
                      </a:pPr>
                      <a:r>
                        <a:rPr lang="en-US" sz="1100" dirty="0">
                          <a:solidFill>
                            <a:srgbClr val="2C2C2C"/>
                          </a:solidFill>
                          <a:latin typeface="Calibri" pitchFamily="34" charset="0"/>
                          <a:ea typeface="Calibri" pitchFamily="34" charset="-122"/>
                          <a:cs typeface="Calibri" pitchFamily="34" charset="-120"/>
                        </a:rPr>
                        <a:t>DoNotSchedule</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DEDED"/>
                    </a:solidFill>
                  </a:tcPr>
                </a:tc>
                <a:tc>
                  <a:txBody>
                    <a:bodyPr/>
                    <a:lstStyle/>
                    <a:p>
                      <a:pPr algn="ctr" indent="0" marL="0">
                        <a:buNone/>
                      </a:pPr>
                      <a:r>
                        <a:rPr lang="en-US" sz="1100" dirty="0">
                          <a:solidFill>
                            <a:srgbClr val="2C2C2C"/>
                          </a:solidFill>
                          <a:latin typeface="Calibri" pitchFamily="34" charset="0"/>
                          <a:ea typeface="Calibri" pitchFamily="34" charset="-122"/>
                          <a:cs typeface="Calibri" pitchFamily="34" charset="-120"/>
                        </a:rPr>
                        <a:t>DoNotSchedule</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7E6"/>
                    </a:solidFill>
                  </a:tcPr>
                </a:tc>
                <a:tc>
                  <a:txBody>
                    <a:bodyPr/>
                    <a:lstStyle/>
                    <a:p>
                      <a:pPr algn="ctr" indent="0" marL="0">
                        <a:buNone/>
                      </a:pPr>
                      <a:r>
                        <a:rPr lang="en-US" sz="1100" dirty="0">
                          <a:solidFill>
                            <a:srgbClr val="2C2C2C"/>
                          </a:solidFill>
                          <a:latin typeface="Calibri" pitchFamily="34" charset="0"/>
                          <a:ea typeface="Calibri" pitchFamily="34" charset="-122"/>
                          <a:cs typeface="Calibri" pitchFamily="34" charset="-120"/>
                        </a:rPr>
                        <a:t>ScheduleAnyway</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CE6"/>
                    </a:solidFill>
                  </a:tcPr>
                </a:tc>
                <a:tc>
                  <a:txBody>
                    <a:bodyPr/>
                    <a:lstStyle/>
                    <a:p>
                      <a:pPr algn="ctr" indent="0" marL="0">
                        <a:buNone/>
                      </a:pPr>
                      <a:r>
                        <a:rPr lang="en-US" sz="1100" dirty="0">
                          <a:solidFill>
                            <a:srgbClr val="2C2C2C"/>
                          </a:solidFill>
                          <a:latin typeface="Calibri" pitchFamily="34" charset="0"/>
                          <a:ea typeface="Calibri" pitchFamily="34" charset="-122"/>
                          <a:cs typeface="Calibri" pitchFamily="34" charset="-120"/>
                        </a:rPr>
                        <a:t>(omis)</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6F7EE"/>
                    </a:solidFill>
                  </a:tcPr>
                </a:tc>
              </a:tr>
              <a:tr h="411480">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podAntiAffinity</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A"/>
                    </a:solidFill>
                  </a:tcPr>
                </a:tc>
                <a:tc>
                  <a:txBody>
                    <a:bodyPr/>
                    <a:lstStyle/>
                    <a:p>
                      <a:pPr algn="ctr" indent="0" marL="0">
                        <a:buNone/>
                      </a:pPr>
                      <a:r>
                        <a:rPr lang="en-US" sz="1100" dirty="0">
                          <a:solidFill>
                            <a:srgbClr val="2C2C2C"/>
                          </a:solidFill>
                          <a:latin typeface="Calibri" pitchFamily="34" charset="0"/>
                          <a:ea typeface="Calibri" pitchFamily="34" charset="-122"/>
                          <a:cs typeface="Calibri" pitchFamily="34" charset="-120"/>
                        </a:rPr>
                        <a:t>required</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DEDED"/>
                    </a:solidFill>
                  </a:tcPr>
                </a:tc>
                <a:tc>
                  <a:txBody>
                    <a:bodyPr/>
                    <a:lstStyle/>
                    <a:p>
                      <a:pPr algn="ctr" indent="0" marL="0">
                        <a:buNone/>
                      </a:pPr>
                      <a:r>
                        <a:rPr lang="en-US" sz="1100" dirty="0">
                          <a:solidFill>
                            <a:srgbClr val="2C2C2C"/>
                          </a:solidFill>
                          <a:latin typeface="Calibri" pitchFamily="34" charset="0"/>
                          <a:ea typeface="Calibri" pitchFamily="34" charset="-122"/>
                          <a:cs typeface="Calibri" pitchFamily="34" charset="-120"/>
                        </a:rPr>
                        <a:t>required</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7E6"/>
                    </a:solidFill>
                  </a:tcPr>
                </a:tc>
                <a:tc>
                  <a:txBody>
                    <a:bodyPr/>
                    <a:lstStyle/>
                    <a:p>
                      <a:pPr algn="ctr" indent="0" marL="0">
                        <a:buNone/>
                      </a:pPr>
                      <a:r>
                        <a:rPr lang="en-US" sz="1100" dirty="0">
                          <a:solidFill>
                            <a:srgbClr val="2C2C2C"/>
                          </a:solidFill>
                          <a:latin typeface="Calibri" pitchFamily="34" charset="0"/>
                          <a:ea typeface="Calibri" pitchFamily="34" charset="-122"/>
                          <a:cs typeface="Calibri" pitchFamily="34" charset="-120"/>
                        </a:rPr>
                        <a:t>preferred</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CE6"/>
                    </a:solidFill>
                  </a:tcPr>
                </a:tc>
                <a:tc>
                  <a:txBody>
                    <a:bodyPr/>
                    <a:lstStyle/>
                    <a:p>
                      <a:pPr algn="ctr" indent="0" marL="0">
                        <a:buNone/>
                      </a:pPr>
                      <a:r>
                        <a:rPr lang="en-US" sz="1100" dirty="0">
                          <a:solidFill>
                            <a:srgbClr val="2C2C2C"/>
                          </a:solidFill>
                          <a:latin typeface="Calibri" pitchFamily="34" charset="0"/>
                          <a:ea typeface="Calibri" pitchFamily="34" charset="-122"/>
                          <a:cs typeface="Calibri" pitchFamily="34" charset="-120"/>
                        </a:rPr>
                        <a:t>(omis)</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6F7EE"/>
                    </a:solidFill>
                  </a:tcPr>
                </a:tc>
              </a:tr>
              <a:tr h="411480">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maxUnavailable rolling</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A"/>
                    </a:solidFill>
                  </a:tcPr>
                </a:tc>
                <a:tc>
                  <a:txBody>
                    <a:bodyPr/>
                    <a:lstStyle/>
                    <a:p>
                      <a:pPr algn="ctr" indent="0" marL="0">
                        <a:buNone/>
                      </a:pPr>
                      <a:r>
                        <a:rPr lang="en-US" sz="1100" dirty="0">
                          <a:solidFill>
                            <a:srgbClr val="2C2C2C"/>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DEDED"/>
                    </a:solidFill>
                  </a:tcPr>
                </a:tc>
                <a:tc>
                  <a:txBody>
                    <a:bodyPr/>
                    <a:lstStyle/>
                    <a:p>
                      <a:pPr algn="ctr" indent="0" marL="0">
                        <a:buNone/>
                      </a:pPr>
                      <a:r>
                        <a:rPr lang="en-US" sz="1100" dirty="0">
                          <a:solidFill>
                            <a:srgbClr val="2C2C2C"/>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7E6"/>
                    </a:solidFill>
                  </a:tcPr>
                </a:tc>
                <a:tc>
                  <a:txBody>
                    <a:bodyPr/>
                    <a:lstStyle/>
                    <a:p>
                      <a:pPr algn="ctr" indent="0" marL="0">
                        <a:buNone/>
                      </a:pPr>
                      <a:r>
                        <a:rPr lang="en-US" sz="1100" dirty="0">
                          <a:solidFill>
                            <a:srgbClr val="2C2C2C"/>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CE6"/>
                    </a:solidFill>
                  </a:tcPr>
                </a:tc>
                <a:tc>
                  <a:txBody>
                    <a:bodyPr/>
                    <a:lstStyle/>
                    <a:p>
                      <a:pPr algn="ctr" indent="0" marL="0">
                        <a:buNone/>
                      </a:pPr>
                      <a:r>
                        <a:rPr lang="en-US" sz="1100" dirty="0">
                          <a:solidFill>
                            <a:srgbClr val="2C2C2C"/>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6F7EE"/>
                    </a:solidFill>
                  </a:tcPr>
                </a:tc>
              </a:tr>
              <a:tr h="411480">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PDB minAvailable</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A"/>
                    </a:solidFill>
                  </a:tcPr>
                </a:tc>
                <a:tc>
                  <a:txBody>
                    <a:bodyPr/>
                    <a:lstStyle/>
                    <a:p>
                      <a:pPr algn="ctr" indent="0" marL="0">
                        <a:buNone/>
                      </a:pPr>
                      <a:r>
                        <a:rPr lang="en-US" sz="1100" dirty="0">
                          <a:solidFill>
                            <a:srgbClr val="2C2C2C"/>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DEDED"/>
                    </a:solidFill>
                  </a:tcPr>
                </a:tc>
                <a:tc>
                  <a:txBody>
                    <a:bodyPr/>
                    <a:lstStyle/>
                    <a:p>
                      <a:pPr algn="ctr" indent="0" marL="0">
                        <a:buNone/>
                      </a:pPr>
                      <a:r>
                        <a:rPr lang="en-US" sz="1100" dirty="0">
                          <a:solidFill>
                            <a:srgbClr val="2C2C2C"/>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7E6"/>
                    </a:solidFill>
                  </a:tcPr>
                </a:tc>
                <a:tc>
                  <a:txBody>
                    <a:bodyPr/>
                    <a:lstStyle/>
                    <a:p>
                      <a:pPr algn="ctr" indent="0" marL="0">
                        <a:buNone/>
                      </a:pPr>
                      <a:r>
                        <a:rPr lang="en-US" sz="1100" dirty="0">
                          <a:solidFill>
                            <a:srgbClr val="2C2C2C"/>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CE6"/>
                    </a:solidFill>
                  </a:tcPr>
                </a:tc>
                <a:tc>
                  <a:txBody>
                    <a:bodyPr/>
                    <a:lstStyle/>
                    <a:p>
                      <a:pPr algn="ctr" indent="0" marL="0">
                        <a:buNone/>
                      </a:pPr>
                      <a:r>
                        <a:rPr lang="en-US" sz="1100" dirty="0">
                          <a:solidFill>
                            <a:srgbClr val="2C2C2C"/>
                          </a:solidFill>
                          <a:latin typeface="Calibri" pitchFamily="34" charset="0"/>
                          <a:ea typeface="Calibri" pitchFamily="34" charset="-122"/>
                          <a:cs typeface="Calibri" pitchFamily="34" charset="-120"/>
                        </a:rPr>
                        <a:t>(omis)</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6F7EE"/>
                    </a:solidFill>
                  </a:tcPr>
                </a:tc>
              </a:tr>
              <a:tr h="411480">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QoS class</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A"/>
                    </a:solidFill>
                  </a:tcPr>
                </a:tc>
                <a:tc>
                  <a:txBody>
                    <a:bodyPr/>
                    <a:lstStyle/>
                    <a:p>
                      <a:pPr algn="ctr" indent="0" marL="0">
                        <a:buNone/>
                      </a:pPr>
                      <a:r>
                        <a:rPr lang="en-US" sz="1100" dirty="0">
                          <a:solidFill>
                            <a:srgbClr val="2C2C2C"/>
                          </a:solidFill>
                          <a:latin typeface="Calibri" pitchFamily="34" charset="0"/>
                          <a:ea typeface="Calibri" pitchFamily="34" charset="-122"/>
                          <a:cs typeface="Calibri" pitchFamily="34" charset="-120"/>
                        </a:rPr>
                        <a:t>Guaranteed</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DEDED"/>
                    </a:solidFill>
                  </a:tcPr>
                </a:tc>
                <a:tc>
                  <a:txBody>
                    <a:bodyPr/>
                    <a:lstStyle/>
                    <a:p>
                      <a:pPr algn="ctr" indent="0" marL="0">
                        <a:buNone/>
                      </a:pPr>
                      <a:r>
                        <a:rPr lang="en-US" sz="1100" dirty="0">
                          <a:solidFill>
                            <a:srgbClr val="2C2C2C"/>
                          </a:solidFill>
                          <a:latin typeface="Calibri" pitchFamily="34" charset="0"/>
                          <a:ea typeface="Calibri" pitchFamily="34" charset="-122"/>
                          <a:cs typeface="Calibri" pitchFamily="34" charset="-120"/>
                        </a:rPr>
                        <a:t>Guaranteed</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7E6"/>
                    </a:solidFill>
                  </a:tcPr>
                </a:tc>
                <a:tc>
                  <a:txBody>
                    <a:bodyPr/>
                    <a:lstStyle/>
                    <a:p>
                      <a:pPr algn="ctr" indent="0" marL="0">
                        <a:buNone/>
                      </a:pPr>
                      <a:r>
                        <a:rPr lang="en-US" sz="1100" dirty="0">
                          <a:solidFill>
                            <a:srgbClr val="2C2C2C"/>
                          </a:solidFill>
                          <a:latin typeface="Calibri" pitchFamily="34" charset="0"/>
                          <a:ea typeface="Calibri" pitchFamily="34" charset="-122"/>
                          <a:cs typeface="Calibri" pitchFamily="34" charset="-120"/>
                        </a:rPr>
                        <a:t>Burstable</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CE6"/>
                    </a:solidFill>
                  </a:tcPr>
                </a:tc>
                <a:tc>
                  <a:txBody>
                    <a:bodyPr/>
                    <a:lstStyle/>
                    <a:p>
                      <a:pPr algn="ctr" indent="0" marL="0">
                        <a:buNone/>
                      </a:pPr>
                      <a:r>
                        <a:rPr lang="en-US" sz="1100" dirty="0">
                          <a:solidFill>
                            <a:srgbClr val="2C2C2C"/>
                          </a:solidFill>
                          <a:latin typeface="Calibri" pitchFamily="34" charset="0"/>
                          <a:ea typeface="Calibri" pitchFamily="34" charset="-122"/>
                          <a:cs typeface="Calibri" pitchFamily="34" charset="-120"/>
                        </a:rPr>
                        <a:t>Burstable</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6F7EE"/>
                    </a:solidFill>
                  </a:tcPr>
                </a:tc>
              </a:tr>
              <a:tr h="411480">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synchronous_commit</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A"/>
                    </a:solidFill>
                  </a:tcPr>
                </a:tc>
                <a:tc>
                  <a:txBody>
                    <a:bodyPr/>
                    <a:lstStyle/>
                    <a:p>
                      <a:pPr algn="ctr" indent="0" marL="0">
                        <a:buNone/>
                      </a:pPr>
                      <a:r>
                        <a:rPr lang="en-US" sz="1100" dirty="0">
                          <a:solidFill>
                            <a:srgbClr val="2C2C2C"/>
                          </a:solidFill>
                          <a:latin typeface="Calibri" pitchFamily="34" charset="0"/>
                          <a:ea typeface="Calibri" pitchFamily="34" charset="-122"/>
                          <a:cs typeface="Calibri" pitchFamily="34" charset="-120"/>
                        </a:rPr>
                        <a:t>on</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DEDED"/>
                    </a:solidFill>
                  </a:tcPr>
                </a:tc>
                <a:tc>
                  <a:txBody>
                    <a:bodyPr/>
                    <a:lstStyle/>
                    <a:p>
                      <a:pPr algn="ctr" indent="0" marL="0">
                        <a:buNone/>
                      </a:pPr>
                      <a:r>
                        <a:rPr lang="en-US" sz="1100" dirty="0">
                          <a:solidFill>
                            <a:srgbClr val="2C2C2C"/>
                          </a:solidFill>
                          <a:latin typeface="Calibri" pitchFamily="34" charset="0"/>
                          <a:ea typeface="Calibri" pitchFamily="34" charset="-122"/>
                          <a:cs typeface="Calibri" pitchFamily="34" charset="-120"/>
                        </a:rPr>
                        <a:t>on</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7E6"/>
                    </a:solidFill>
                  </a:tcPr>
                </a:tc>
                <a:tc>
                  <a:txBody>
                    <a:bodyPr/>
                    <a:lstStyle/>
                    <a:p>
                      <a:pPr algn="ctr" indent="0" marL="0">
                        <a:buNone/>
                      </a:pPr>
                      <a:r>
                        <a:rPr lang="en-US" sz="1100" dirty="0">
                          <a:solidFill>
                            <a:srgbClr val="2C2C2C"/>
                          </a:solidFill>
                          <a:latin typeface="Calibri" pitchFamily="34" charset="0"/>
                          <a:ea typeface="Calibri" pitchFamily="34" charset="-122"/>
                          <a:cs typeface="Calibri" pitchFamily="34" charset="-120"/>
                        </a:rPr>
                        <a:t>off</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CE6"/>
                    </a:solidFill>
                  </a:tcPr>
                </a:tc>
                <a:tc>
                  <a:txBody>
                    <a:bodyPr/>
                    <a:lstStyle/>
                    <a:p>
                      <a:pPr algn="ctr" indent="0" marL="0">
                        <a:buNone/>
                      </a:pPr>
                      <a:r>
                        <a:rPr lang="en-US" sz="1100" dirty="0">
                          <a:solidFill>
                            <a:srgbClr val="2C2C2C"/>
                          </a:solidFill>
                          <a:latin typeface="Calibri" pitchFamily="34" charset="0"/>
                          <a:ea typeface="Calibri" pitchFamily="34" charset="-122"/>
                          <a:cs typeface="Calibri" pitchFamily="34" charset="-120"/>
                        </a:rPr>
                        <a:t>off</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6F7EE"/>
                    </a:solidFill>
                  </a:tcPr>
                </a:tc>
              </a:tr>
              <a:tr h="411480">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Réplicas DB</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A"/>
                    </a:solidFill>
                  </a:tcPr>
                </a:tc>
                <a:tc>
                  <a:txBody>
                    <a:bodyPr/>
                    <a:lstStyle/>
                    <a:p>
                      <a:pPr algn="ctr" indent="0" marL="0">
                        <a:buNone/>
                      </a:pPr>
                      <a:r>
                        <a:rPr lang="en-US" sz="1100" dirty="0">
                          <a:solidFill>
                            <a:srgbClr val="2C2C2C"/>
                          </a:solidFill>
                          <a:latin typeface="Calibri" pitchFamily="34" charset="0"/>
                          <a:ea typeface="Calibri" pitchFamily="34" charset="-122"/>
                          <a:cs typeface="Calibri" pitchFamily="34" charset="-120"/>
                        </a:rPr>
                        <a:t>3 (1/AZ)</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DEDED"/>
                    </a:solidFill>
                  </a:tcPr>
                </a:tc>
                <a:tc>
                  <a:txBody>
                    <a:bodyPr/>
                    <a:lstStyle/>
                    <a:p>
                      <a:pPr algn="ctr" indent="0" marL="0">
                        <a:buNone/>
                      </a:pPr>
                      <a:r>
                        <a:rPr lang="en-US" sz="1100" dirty="0">
                          <a:solidFill>
                            <a:srgbClr val="2C2C2C"/>
                          </a:solidFill>
                          <a:latin typeface="Calibri" pitchFamily="34" charset="0"/>
                          <a:ea typeface="Calibri" pitchFamily="34" charset="-122"/>
                          <a:cs typeface="Calibri" pitchFamily="34" charset="-120"/>
                        </a:rPr>
                        <a:t>2 (1/AZ)</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7E6"/>
                    </a:solidFill>
                  </a:tcPr>
                </a:tc>
                <a:tc>
                  <a:txBody>
                    <a:bodyPr/>
                    <a:lstStyle/>
                    <a:p>
                      <a:pPr algn="ctr" indent="0" marL="0">
                        <a:buNone/>
                      </a:pPr>
                      <a:r>
                        <a:rPr lang="en-US" sz="1100" dirty="0">
                          <a:solidFill>
                            <a:srgbClr val="2C2C2C"/>
                          </a:solidFill>
                          <a:latin typeface="Calibri" pitchFamily="34" charset="0"/>
                          <a:ea typeface="Calibri" pitchFamily="34" charset="-122"/>
                          <a:cs typeface="Calibri" pitchFamily="34" charset="-120"/>
                        </a:rPr>
                        <a:t>2 (async)</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CE6"/>
                    </a:solidFill>
                  </a:tcPr>
                </a:tc>
                <a:tc>
                  <a:txBody>
                    <a:bodyPr/>
                    <a:lstStyle/>
                    <a:p>
                      <a:pPr algn="ctr" indent="0" marL="0">
                        <a:buNone/>
                      </a:pPr>
                      <a:r>
                        <a:rPr lang="en-US" sz="1100" dirty="0">
                          <a:solidFill>
                            <a:srgbClr val="2C2C2C"/>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6F7EE"/>
                    </a:solidFill>
                  </a:tcPr>
                </a:tc>
              </a:tr>
              <a:tr h="411480">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Backup retention</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A"/>
                    </a:solidFill>
                  </a:tcPr>
                </a:tc>
                <a:tc>
                  <a:txBody>
                    <a:bodyPr/>
                    <a:lstStyle/>
                    <a:p>
                      <a:pPr algn="ctr" indent="0" marL="0">
                        <a:buNone/>
                      </a:pPr>
                      <a:r>
                        <a:rPr lang="en-US" sz="1100" dirty="0">
                          <a:solidFill>
                            <a:srgbClr val="2C2C2C"/>
                          </a:solidFill>
                          <a:latin typeface="Calibri" pitchFamily="34" charset="0"/>
                          <a:ea typeface="Calibri" pitchFamily="34" charset="-122"/>
                          <a:cs typeface="Calibri" pitchFamily="34" charset="-120"/>
                        </a:rPr>
                        <a:t>30 j</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DEDED"/>
                    </a:solidFill>
                  </a:tcPr>
                </a:tc>
                <a:tc>
                  <a:txBody>
                    <a:bodyPr/>
                    <a:lstStyle/>
                    <a:p>
                      <a:pPr algn="ctr" indent="0" marL="0">
                        <a:buNone/>
                      </a:pPr>
                      <a:r>
                        <a:rPr lang="en-US" sz="1100" dirty="0">
                          <a:solidFill>
                            <a:srgbClr val="2C2C2C"/>
                          </a:solidFill>
                          <a:latin typeface="Calibri" pitchFamily="34" charset="0"/>
                          <a:ea typeface="Calibri" pitchFamily="34" charset="-122"/>
                          <a:cs typeface="Calibri" pitchFamily="34" charset="-120"/>
                        </a:rPr>
                        <a:t>30 j</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7E6"/>
                    </a:solidFill>
                  </a:tcPr>
                </a:tc>
                <a:tc>
                  <a:txBody>
                    <a:bodyPr/>
                    <a:lstStyle/>
                    <a:p>
                      <a:pPr algn="ctr" indent="0" marL="0">
                        <a:buNone/>
                      </a:pPr>
                      <a:r>
                        <a:rPr lang="en-US" sz="1100" dirty="0">
                          <a:solidFill>
                            <a:srgbClr val="2C2C2C"/>
                          </a:solidFill>
                          <a:latin typeface="Calibri" pitchFamily="34" charset="0"/>
                          <a:ea typeface="Calibri" pitchFamily="34" charset="-122"/>
                          <a:cs typeface="Calibri" pitchFamily="34" charset="-120"/>
                        </a:rPr>
                        <a:t>14 j</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CE6"/>
                    </a:solidFill>
                  </a:tcPr>
                </a:tc>
                <a:tc>
                  <a:txBody>
                    <a:bodyPr/>
                    <a:lstStyle/>
                    <a:p>
                      <a:pPr algn="ctr" indent="0" marL="0">
                        <a:buNone/>
                      </a:pPr>
                      <a:r>
                        <a:rPr lang="en-US" sz="1100" dirty="0">
                          <a:solidFill>
                            <a:srgbClr val="2C2C2C"/>
                          </a:solidFill>
                          <a:latin typeface="Calibri" pitchFamily="34" charset="0"/>
                          <a:ea typeface="Calibri" pitchFamily="34" charset="-122"/>
                          <a:cs typeface="Calibri" pitchFamily="34" charset="-120"/>
                        </a:rPr>
                        <a:t>7 j</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6F7EE"/>
                    </a:solidFill>
                  </a:tcPr>
                </a:tc>
              </a:tr>
              <a:tr h="411480">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Test restore</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A"/>
                    </a:solidFill>
                  </a:tcPr>
                </a:tc>
                <a:tc>
                  <a:txBody>
                    <a:bodyPr/>
                    <a:lstStyle/>
                    <a:p>
                      <a:pPr algn="ctr" indent="0" marL="0">
                        <a:buNone/>
                      </a:pPr>
                      <a:r>
                        <a:rPr lang="en-US" sz="1100" dirty="0">
                          <a:solidFill>
                            <a:srgbClr val="2C2C2C"/>
                          </a:solidFill>
                          <a:latin typeface="Calibri" pitchFamily="34" charset="0"/>
                          <a:ea typeface="Calibri" pitchFamily="34" charset="-122"/>
                          <a:cs typeface="Calibri" pitchFamily="34" charset="-120"/>
                        </a:rPr>
                        <a:t>trimestriel</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DEDED"/>
                    </a:solidFill>
                  </a:tcPr>
                </a:tc>
                <a:tc>
                  <a:txBody>
                    <a:bodyPr/>
                    <a:lstStyle/>
                    <a:p>
                      <a:pPr algn="ctr" indent="0" marL="0">
                        <a:buNone/>
                      </a:pPr>
                      <a:r>
                        <a:rPr lang="en-US" sz="1100" dirty="0">
                          <a:solidFill>
                            <a:srgbClr val="2C2C2C"/>
                          </a:solidFill>
                          <a:latin typeface="Calibri" pitchFamily="34" charset="0"/>
                          <a:ea typeface="Calibri" pitchFamily="34" charset="-122"/>
                          <a:cs typeface="Calibri" pitchFamily="34" charset="-120"/>
                        </a:rPr>
                        <a:t>trimestriel</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7E6"/>
                    </a:solidFill>
                  </a:tcPr>
                </a:tc>
                <a:tc>
                  <a:txBody>
                    <a:bodyPr/>
                    <a:lstStyle/>
                    <a:p>
                      <a:pPr algn="ctr" indent="0" marL="0">
                        <a:buNone/>
                      </a:pPr>
                      <a:r>
                        <a:rPr lang="en-US" sz="1100" dirty="0">
                          <a:solidFill>
                            <a:srgbClr val="2C2C2C"/>
                          </a:solidFill>
                          <a:latin typeface="Calibri" pitchFamily="34" charset="0"/>
                          <a:ea typeface="Calibri" pitchFamily="34" charset="-122"/>
                          <a:cs typeface="Calibri" pitchFamily="34" charset="-120"/>
                        </a:rPr>
                        <a:t>semestriel</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CE6"/>
                    </a:solidFill>
                  </a:tcPr>
                </a:tc>
                <a:tc>
                  <a:txBody>
                    <a:bodyPr/>
                    <a:lstStyle/>
                    <a:p>
                      <a:pPr algn="ctr" indent="0" marL="0">
                        <a:buNone/>
                      </a:pPr>
                      <a:r>
                        <a:rPr lang="en-US" sz="1100" dirty="0">
                          <a:solidFill>
                            <a:srgbClr val="2C2C2C"/>
                          </a:solidFill>
                          <a:latin typeface="Calibri" pitchFamily="34" charset="0"/>
                          <a:ea typeface="Calibri" pitchFamily="34" charset="-122"/>
                          <a:cs typeface="Calibri" pitchFamily="34" charset="-120"/>
                        </a:rPr>
                        <a:t>annuel</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6F7EE"/>
                    </a:solidFill>
                  </a:tcPr>
                </a:tc>
              </a:tr>
            </a:tbl>
          </a:graphicData>
        </a:graphic>
      </p:graphicFrame>
      <p:sp>
        <p:nvSpPr>
          <p:cNvPr id="5" name="Shape 2"/>
          <p:cNvSpPr/>
          <p:nvPr/>
        </p:nvSpPr>
        <p:spPr>
          <a:xfrm>
            <a:off x="548640" y="6446520"/>
            <a:ext cx="11064240" cy="0"/>
          </a:xfrm>
          <a:prstGeom prst="line">
            <a:avLst/>
          </a:prstGeom>
          <a:noFill/>
          <a:ln w="6350">
            <a:solidFill>
              <a:srgbClr val="E5E7EB"/>
            </a:solidFill>
            <a:prstDash val="solid"/>
          </a:ln>
        </p:spPr>
      </p:sp>
      <p:sp>
        <p:nvSpPr>
          <p:cNvPr id="6" name="Text 3"/>
          <p:cNvSpPr/>
          <p:nvPr/>
        </p:nvSpPr>
        <p:spPr>
          <a:xfrm>
            <a:off x="548640" y="651052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BNP Paribas Cardif  ·  TOE  ·  Cloud Native Architecture</a:t>
            </a:r>
            <a:endParaRPr lang="en-US" sz="900" dirty="0"/>
          </a:p>
        </p:txBody>
      </p:sp>
      <p:sp>
        <p:nvSpPr>
          <p:cNvPr id="7" name="Text 4"/>
          <p:cNvSpPr/>
          <p:nvPr/>
        </p:nvSpPr>
        <p:spPr>
          <a:xfrm>
            <a:off x="10515600" y="6510528"/>
            <a:ext cx="109728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13 / 17</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lIns="0" tIns="0" rIns="0" bIns="0" rtlCol="0" anchor="ctr"/>
          <a:lstStyle/>
          <a:p>
            <a:pPr indent="0" marL="0">
              <a:buNone/>
            </a:pPr>
            <a:r>
              <a:rPr lang="en-US" sz="1000" b="1" spc="400" kern="0" dirty="0">
                <a:solidFill>
                  <a:srgbClr val="B89653"/>
                </a:solidFill>
                <a:latin typeface="Calibri" pitchFamily="34" charset="0"/>
                <a:ea typeface="Calibri" pitchFamily="34" charset="-122"/>
                <a:cs typeface="Calibri" pitchFamily="34" charset="-120"/>
              </a:rPr>
              <a:t>05 · TRANSVERSE</a:t>
            </a:r>
            <a:endParaRPr lang="en-US" sz="1000" dirty="0"/>
          </a:p>
        </p:txBody>
      </p:sp>
      <p:sp>
        <p:nvSpPr>
          <p:cNvPr id="3" name="Text 1"/>
          <p:cNvSpPr/>
          <p:nvPr/>
        </p:nvSpPr>
        <p:spPr>
          <a:xfrm>
            <a:off x="548640" y="713232"/>
            <a:ext cx="10972800" cy="640080"/>
          </a:xfrm>
          <a:prstGeom prst="rect">
            <a:avLst/>
          </a:prstGeom>
          <a:noFill/>
          <a:ln/>
        </p:spPr>
        <p:txBody>
          <a:bodyPr wrap="square" lIns="0" tIns="0" rIns="0" bIns="0" rtlCol="0" anchor="ctr"/>
          <a:lstStyle/>
          <a:p>
            <a:pPr indent="0" marL="0">
              <a:buNone/>
            </a:pPr>
            <a:r>
              <a:rPr lang="en-US" sz="2800" b="1" dirty="0">
                <a:solidFill>
                  <a:srgbClr val="1A1A1A"/>
                </a:solidFill>
                <a:latin typeface="Cambria" pitchFamily="34" charset="0"/>
                <a:ea typeface="Cambria" pitchFamily="34" charset="-122"/>
                <a:cs typeface="Cambria" pitchFamily="34" charset="-120"/>
              </a:rPr>
              <a:t>Bonnes pratiques — quel que soit le niveau</a:t>
            </a:r>
            <a:endParaRPr lang="en-US" sz="2800" dirty="0"/>
          </a:p>
        </p:txBody>
      </p:sp>
      <p:sp>
        <p:nvSpPr>
          <p:cNvPr id="4" name="Shape 2"/>
          <p:cNvSpPr/>
          <p:nvPr/>
        </p:nvSpPr>
        <p:spPr>
          <a:xfrm>
            <a:off x="548640" y="1691640"/>
            <a:ext cx="3611880" cy="2103120"/>
          </a:xfrm>
          <a:prstGeom prst="rect">
            <a:avLst/>
          </a:prstGeom>
          <a:solidFill>
            <a:srgbClr val="FFFFFF"/>
          </a:solidFill>
          <a:ln w="9525">
            <a:solidFill>
              <a:srgbClr val="E5E7EB"/>
            </a:solidFill>
            <a:prstDash val="solid"/>
          </a:ln>
          <a:effectLst>
            <a:outerShdw sx="100000" sy="100000" kx="0" ky="0" algn="bl" rotWithShape="0" blurRad="76200" dist="25400" dir="5400000">
              <a:srgbClr val="000000">
                <a:alpha val="5000"/>
              </a:srgbClr>
            </a:outerShdw>
          </a:effectLst>
        </p:spPr>
      </p:sp>
      <p:sp>
        <p:nvSpPr>
          <p:cNvPr id="5" name="Shape 3"/>
          <p:cNvSpPr/>
          <p:nvPr/>
        </p:nvSpPr>
        <p:spPr>
          <a:xfrm>
            <a:off x="822960" y="1965960"/>
            <a:ext cx="502920" cy="502920"/>
          </a:xfrm>
          <a:prstGeom prst="ellipse">
            <a:avLst/>
          </a:prstGeom>
          <a:solidFill>
            <a:srgbClr val="E6F2EC"/>
          </a:solidFill>
          <a:ln/>
        </p:spPr>
      </p:sp>
      <p:sp>
        <p:nvSpPr>
          <p:cNvPr id="6" name="Text 4"/>
          <p:cNvSpPr/>
          <p:nvPr/>
        </p:nvSpPr>
        <p:spPr>
          <a:xfrm>
            <a:off x="822960" y="2002536"/>
            <a:ext cx="502920" cy="411480"/>
          </a:xfrm>
          <a:prstGeom prst="rect">
            <a:avLst/>
          </a:prstGeom>
          <a:noFill/>
          <a:ln/>
        </p:spPr>
        <p:txBody>
          <a:bodyPr wrap="square" lIns="0" tIns="0" rIns="0" bIns="0" rtlCol="0" anchor="ctr"/>
          <a:lstStyle/>
          <a:p>
            <a:pPr algn="ctr" indent="0" marL="0">
              <a:buNone/>
            </a:pPr>
            <a:r>
              <a:rPr lang="en-US" sz="1300" b="1" dirty="0">
                <a:solidFill>
                  <a:srgbClr val="008053"/>
                </a:solidFill>
                <a:latin typeface="Cambria" pitchFamily="34" charset="0"/>
                <a:ea typeface="Cambria" pitchFamily="34" charset="-122"/>
                <a:cs typeface="Cambria" pitchFamily="34" charset="-120"/>
              </a:rPr>
              <a:t>01</a:t>
            </a:r>
            <a:endParaRPr lang="en-US" sz="1300" dirty="0"/>
          </a:p>
        </p:txBody>
      </p:sp>
      <p:sp>
        <p:nvSpPr>
          <p:cNvPr id="7" name="Text 5"/>
          <p:cNvSpPr/>
          <p:nvPr/>
        </p:nvSpPr>
        <p:spPr>
          <a:xfrm>
            <a:off x="822960" y="2606040"/>
            <a:ext cx="3063240" cy="365760"/>
          </a:xfrm>
          <a:prstGeom prst="rect">
            <a:avLst/>
          </a:prstGeom>
          <a:noFill/>
          <a:ln/>
        </p:spPr>
        <p:txBody>
          <a:bodyPr wrap="square" lIns="0" tIns="0" rIns="0" bIns="0" rtlCol="0" anchor="ctr"/>
          <a:lstStyle/>
          <a:p>
            <a:pPr indent="0" marL="0">
              <a:buNone/>
            </a:pPr>
            <a:r>
              <a:rPr lang="en-US" sz="1400" b="1" dirty="0">
                <a:solidFill>
                  <a:srgbClr val="1A1A1A"/>
                </a:solidFill>
                <a:latin typeface="Cambria" pitchFamily="34" charset="0"/>
                <a:ea typeface="Cambria" pitchFamily="34" charset="-122"/>
                <a:cs typeface="Cambria" pitchFamily="34" charset="-120"/>
              </a:rPr>
              <a:t>Probes séparées</a:t>
            </a:r>
            <a:endParaRPr lang="en-US" sz="1400" dirty="0"/>
          </a:p>
        </p:txBody>
      </p:sp>
      <p:sp>
        <p:nvSpPr>
          <p:cNvPr id="8" name="Text 6"/>
          <p:cNvSpPr/>
          <p:nvPr/>
        </p:nvSpPr>
        <p:spPr>
          <a:xfrm>
            <a:off x="822960" y="2971800"/>
            <a:ext cx="3063240" cy="77724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liveness ≠ readiness. Une dépendance externe down ne doit pas provoquer de restart en boucle.</a:t>
            </a:r>
            <a:endParaRPr lang="en-US" sz="1100" dirty="0"/>
          </a:p>
        </p:txBody>
      </p:sp>
      <p:sp>
        <p:nvSpPr>
          <p:cNvPr id="9" name="Shape 7"/>
          <p:cNvSpPr/>
          <p:nvPr/>
        </p:nvSpPr>
        <p:spPr>
          <a:xfrm>
            <a:off x="4325112" y="1691640"/>
            <a:ext cx="3611880" cy="2103120"/>
          </a:xfrm>
          <a:prstGeom prst="rect">
            <a:avLst/>
          </a:prstGeom>
          <a:solidFill>
            <a:srgbClr val="FFFFFF"/>
          </a:solidFill>
          <a:ln w="9525">
            <a:solidFill>
              <a:srgbClr val="E5E7EB"/>
            </a:solidFill>
            <a:prstDash val="solid"/>
          </a:ln>
          <a:effectLst>
            <a:outerShdw sx="100000" sy="100000" kx="0" ky="0" algn="bl" rotWithShape="0" blurRad="76200" dist="25400" dir="5400000">
              <a:srgbClr val="000000">
                <a:alpha val="5000"/>
              </a:srgbClr>
            </a:outerShdw>
          </a:effectLst>
        </p:spPr>
      </p:sp>
      <p:sp>
        <p:nvSpPr>
          <p:cNvPr id="10" name="Shape 8"/>
          <p:cNvSpPr/>
          <p:nvPr/>
        </p:nvSpPr>
        <p:spPr>
          <a:xfrm>
            <a:off x="4599432" y="1965960"/>
            <a:ext cx="502920" cy="502920"/>
          </a:xfrm>
          <a:prstGeom prst="ellipse">
            <a:avLst/>
          </a:prstGeom>
          <a:solidFill>
            <a:srgbClr val="E6F2EC"/>
          </a:solidFill>
          <a:ln/>
        </p:spPr>
      </p:sp>
      <p:sp>
        <p:nvSpPr>
          <p:cNvPr id="11" name="Text 9"/>
          <p:cNvSpPr/>
          <p:nvPr/>
        </p:nvSpPr>
        <p:spPr>
          <a:xfrm>
            <a:off x="4599432" y="2002536"/>
            <a:ext cx="502920" cy="411480"/>
          </a:xfrm>
          <a:prstGeom prst="rect">
            <a:avLst/>
          </a:prstGeom>
          <a:noFill/>
          <a:ln/>
        </p:spPr>
        <p:txBody>
          <a:bodyPr wrap="square" lIns="0" tIns="0" rIns="0" bIns="0" rtlCol="0" anchor="ctr"/>
          <a:lstStyle/>
          <a:p>
            <a:pPr algn="ctr" indent="0" marL="0">
              <a:buNone/>
            </a:pPr>
            <a:r>
              <a:rPr lang="en-US" sz="1300" b="1" dirty="0">
                <a:solidFill>
                  <a:srgbClr val="008053"/>
                </a:solidFill>
                <a:latin typeface="Cambria" pitchFamily="34" charset="0"/>
                <a:ea typeface="Cambria" pitchFamily="34" charset="-122"/>
                <a:cs typeface="Cambria" pitchFamily="34" charset="-120"/>
              </a:rPr>
              <a:t>02</a:t>
            </a:r>
            <a:endParaRPr lang="en-US" sz="1300" dirty="0"/>
          </a:p>
        </p:txBody>
      </p:sp>
      <p:sp>
        <p:nvSpPr>
          <p:cNvPr id="12" name="Text 10"/>
          <p:cNvSpPr/>
          <p:nvPr/>
        </p:nvSpPr>
        <p:spPr>
          <a:xfrm>
            <a:off x="4599432" y="2606040"/>
            <a:ext cx="3063240" cy="365760"/>
          </a:xfrm>
          <a:prstGeom prst="rect">
            <a:avLst/>
          </a:prstGeom>
          <a:noFill/>
          <a:ln/>
        </p:spPr>
        <p:txBody>
          <a:bodyPr wrap="square" lIns="0" tIns="0" rIns="0" bIns="0" rtlCol="0" anchor="ctr"/>
          <a:lstStyle/>
          <a:p>
            <a:pPr indent="0" marL="0">
              <a:buNone/>
            </a:pPr>
            <a:r>
              <a:rPr lang="en-US" sz="1400" b="1" dirty="0">
                <a:solidFill>
                  <a:srgbClr val="1A1A1A"/>
                </a:solidFill>
                <a:latin typeface="Cambria" pitchFamily="34" charset="0"/>
                <a:ea typeface="Cambria" pitchFamily="34" charset="-122"/>
                <a:cs typeface="Cambria" pitchFamily="34" charset="-120"/>
              </a:rPr>
              <a:t>Termination gracieuse</a:t>
            </a:r>
            <a:endParaRPr lang="en-US" sz="1400" dirty="0"/>
          </a:p>
        </p:txBody>
      </p:sp>
      <p:sp>
        <p:nvSpPr>
          <p:cNvPr id="13" name="Text 11"/>
          <p:cNvSpPr/>
          <p:nvPr/>
        </p:nvSpPr>
        <p:spPr>
          <a:xfrm>
            <a:off x="4599432" y="2971800"/>
            <a:ext cx="3063240" cy="77724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preStop hook (sleep 10–15 s) + terminationGracePeriodSeconds aligné sur le timeout LB.</a:t>
            </a:r>
            <a:endParaRPr lang="en-US" sz="1100" dirty="0"/>
          </a:p>
        </p:txBody>
      </p:sp>
      <p:sp>
        <p:nvSpPr>
          <p:cNvPr id="14" name="Shape 12"/>
          <p:cNvSpPr/>
          <p:nvPr/>
        </p:nvSpPr>
        <p:spPr>
          <a:xfrm>
            <a:off x="8101584" y="1691640"/>
            <a:ext cx="3611880" cy="2103120"/>
          </a:xfrm>
          <a:prstGeom prst="rect">
            <a:avLst/>
          </a:prstGeom>
          <a:solidFill>
            <a:srgbClr val="FFFFFF"/>
          </a:solidFill>
          <a:ln w="9525">
            <a:solidFill>
              <a:srgbClr val="E5E7EB"/>
            </a:solidFill>
            <a:prstDash val="solid"/>
          </a:ln>
          <a:effectLst>
            <a:outerShdw sx="100000" sy="100000" kx="0" ky="0" algn="bl" rotWithShape="0" blurRad="76200" dist="25400" dir="5400000">
              <a:srgbClr val="000000">
                <a:alpha val="5000"/>
              </a:srgbClr>
            </a:outerShdw>
          </a:effectLst>
        </p:spPr>
      </p:sp>
      <p:sp>
        <p:nvSpPr>
          <p:cNvPr id="15" name="Shape 13"/>
          <p:cNvSpPr/>
          <p:nvPr/>
        </p:nvSpPr>
        <p:spPr>
          <a:xfrm>
            <a:off x="8375904" y="1965960"/>
            <a:ext cx="502920" cy="502920"/>
          </a:xfrm>
          <a:prstGeom prst="ellipse">
            <a:avLst/>
          </a:prstGeom>
          <a:solidFill>
            <a:srgbClr val="E6F2EC"/>
          </a:solidFill>
          <a:ln/>
        </p:spPr>
      </p:sp>
      <p:sp>
        <p:nvSpPr>
          <p:cNvPr id="16" name="Text 14"/>
          <p:cNvSpPr/>
          <p:nvPr/>
        </p:nvSpPr>
        <p:spPr>
          <a:xfrm>
            <a:off x="8375904" y="2002536"/>
            <a:ext cx="502920" cy="411480"/>
          </a:xfrm>
          <a:prstGeom prst="rect">
            <a:avLst/>
          </a:prstGeom>
          <a:noFill/>
          <a:ln/>
        </p:spPr>
        <p:txBody>
          <a:bodyPr wrap="square" lIns="0" tIns="0" rIns="0" bIns="0" rtlCol="0" anchor="ctr"/>
          <a:lstStyle/>
          <a:p>
            <a:pPr algn="ctr" indent="0" marL="0">
              <a:buNone/>
            </a:pPr>
            <a:r>
              <a:rPr lang="en-US" sz="1300" b="1" dirty="0">
                <a:solidFill>
                  <a:srgbClr val="008053"/>
                </a:solidFill>
                <a:latin typeface="Cambria" pitchFamily="34" charset="0"/>
                <a:ea typeface="Cambria" pitchFamily="34" charset="-122"/>
                <a:cs typeface="Cambria" pitchFamily="34" charset="-120"/>
              </a:rPr>
              <a:t>03</a:t>
            </a:r>
            <a:endParaRPr lang="en-US" sz="1300" dirty="0"/>
          </a:p>
        </p:txBody>
      </p:sp>
      <p:sp>
        <p:nvSpPr>
          <p:cNvPr id="17" name="Text 15"/>
          <p:cNvSpPr/>
          <p:nvPr/>
        </p:nvSpPr>
        <p:spPr>
          <a:xfrm>
            <a:off x="8375904" y="2606040"/>
            <a:ext cx="3063240" cy="365760"/>
          </a:xfrm>
          <a:prstGeom prst="rect">
            <a:avLst/>
          </a:prstGeom>
          <a:noFill/>
          <a:ln/>
        </p:spPr>
        <p:txBody>
          <a:bodyPr wrap="square" lIns="0" tIns="0" rIns="0" bIns="0" rtlCol="0" anchor="ctr"/>
          <a:lstStyle/>
          <a:p>
            <a:pPr indent="0" marL="0">
              <a:buNone/>
            </a:pPr>
            <a:r>
              <a:rPr lang="en-US" sz="1400" b="1" dirty="0">
                <a:solidFill>
                  <a:srgbClr val="1A1A1A"/>
                </a:solidFill>
                <a:latin typeface="Cambria" pitchFamily="34" charset="0"/>
                <a:ea typeface="Cambria" pitchFamily="34" charset="-122"/>
                <a:cs typeface="Cambria" pitchFamily="34" charset="-120"/>
              </a:rPr>
              <a:t>NetworkPolicies default-deny</a:t>
            </a:r>
            <a:endParaRPr lang="en-US" sz="1400" dirty="0"/>
          </a:p>
        </p:txBody>
      </p:sp>
      <p:sp>
        <p:nvSpPr>
          <p:cNvPr id="18" name="Text 16"/>
          <p:cNvSpPr/>
          <p:nvPr/>
        </p:nvSpPr>
        <p:spPr>
          <a:xfrm>
            <a:off x="8375904" y="2971800"/>
            <a:ext cx="3063240" cy="77724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Non négociable depuis Moderate. DORA et NIS2 imposent la microsegmentation des workloads.</a:t>
            </a:r>
            <a:endParaRPr lang="en-US" sz="1100" dirty="0"/>
          </a:p>
        </p:txBody>
      </p:sp>
      <p:sp>
        <p:nvSpPr>
          <p:cNvPr id="19" name="Shape 17"/>
          <p:cNvSpPr/>
          <p:nvPr/>
        </p:nvSpPr>
        <p:spPr>
          <a:xfrm>
            <a:off x="548640" y="4023360"/>
            <a:ext cx="3611880" cy="2103120"/>
          </a:xfrm>
          <a:prstGeom prst="rect">
            <a:avLst/>
          </a:prstGeom>
          <a:solidFill>
            <a:srgbClr val="FFFFFF"/>
          </a:solidFill>
          <a:ln w="9525">
            <a:solidFill>
              <a:srgbClr val="E5E7EB"/>
            </a:solidFill>
            <a:prstDash val="solid"/>
          </a:ln>
          <a:effectLst>
            <a:outerShdw sx="100000" sy="100000" kx="0" ky="0" algn="bl" rotWithShape="0" blurRad="76200" dist="25400" dir="5400000">
              <a:srgbClr val="000000">
                <a:alpha val="5000"/>
              </a:srgbClr>
            </a:outerShdw>
          </a:effectLst>
        </p:spPr>
      </p:sp>
      <p:sp>
        <p:nvSpPr>
          <p:cNvPr id="20" name="Shape 18"/>
          <p:cNvSpPr/>
          <p:nvPr/>
        </p:nvSpPr>
        <p:spPr>
          <a:xfrm>
            <a:off x="822960" y="4297680"/>
            <a:ext cx="502920" cy="502920"/>
          </a:xfrm>
          <a:prstGeom prst="ellipse">
            <a:avLst/>
          </a:prstGeom>
          <a:solidFill>
            <a:srgbClr val="E6F2EC"/>
          </a:solidFill>
          <a:ln/>
        </p:spPr>
      </p:sp>
      <p:sp>
        <p:nvSpPr>
          <p:cNvPr id="21" name="Text 19"/>
          <p:cNvSpPr/>
          <p:nvPr/>
        </p:nvSpPr>
        <p:spPr>
          <a:xfrm>
            <a:off x="822960" y="4334256"/>
            <a:ext cx="502920" cy="411480"/>
          </a:xfrm>
          <a:prstGeom prst="rect">
            <a:avLst/>
          </a:prstGeom>
          <a:noFill/>
          <a:ln/>
        </p:spPr>
        <p:txBody>
          <a:bodyPr wrap="square" lIns="0" tIns="0" rIns="0" bIns="0" rtlCol="0" anchor="ctr"/>
          <a:lstStyle/>
          <a:p>
            <a:pPr algn="ctr" indent="0" marL="0">
              <a:buNone/>
            </a:pPr>
            <a:r>
              <a:rPr lang="en-US" sz="1300" b="1" dirty="0">
                <a:solidFill>
                  <a:srgbClr val="008053"/>
                </a:solidFill>
                <a:latin typeface="Cambria" pitchFamily="34" charset="0"/>
                <a:ea typeface="Cambria" pitchFamily="34" charset="-122"/>
                <a:cs typeface="Cambria" pitchFamily="34" charset="-120"/>
              </a:rPr>
              <a:t>04</a:t>
            </a:r>
            <a:endParaRPr lang="en-US" sz="1300" dirty="0"/>
          </a:p>
        </p:txBody>
      </p:sp>
      <p:sp>
        <p:nvSpPr>
          <p:cNvPr id="22" name="Text 20"/>
          <p:cNvSpPr/>
          <p:nvPr/>
        </p:nvSpPr>
        <p:spPr>
          <a:xfrm>
            <a:off x="822960" y="4937760"/>
            <a:ext cx="3063240" cy="365760"/>
          </a:xfrm>
          <a:prstGeom prst="rect">
            <a:avLst/>
          </a:prstGeom>
          <a:noFill/>
          <a:ln/>
        </p:spPr>
        <p:txBody>
          <a:bodyPr wrap="square" lIns="0" tIns="0" rIns="0" bIns="0" rtlCol="0" anchor="ctr"/>
          <a:lstStyle/>
          <a:p>
            <a:pPr indent="0" marL="0">
              <a:buNone/>
            </a:pPr>
            <a:r>
              <a:rPr lang="en-US" sz="1400" b="1" dirty="0">
                <a:solidFill>
                  <a:srgbClr val="1A1A1A"/>
                </a:solidFill>
                <a:latin typeface="Cambria" pitchFamily="34" charset="0"/>
                <a:ea typeface="Cambria" pitchFamily="34" charset="-122"/>
                <a:cs typeface="Cambria" pitchFamily="34" charset="-120"/>
              </a:rPr>
              <a:t>Image scan &amp; signature</a:t>
            </a:r>
            <a:endParaRPr lang="en-US" sz="1400" dirty="0"/>
          </a:p>
        </p:txBody>
      </p:sp>
      <p:sp>
        <p:nvSpPr>
          <p:cNvPr id="23" name="Text 21"/>
          <p:cNvSpPr/>
          <p:nvPr/>
        </p:nvSpPr>
        <p:spPr>
          <a:xfrm>
            <a:off x="822960" y="5303520"/>
            <a:ext cx="3063240" cy="77724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Trivy / Snyk pour vulnérabilités. Cosign pour la signature, Kyverno pour la vérification (Ring 4).</a:t>
            </a:r>
            <a:endParaRPr lang="en-US" sz="1100" dirty="0"/>
          </a:p>
        </p:txBody>
      </p:sp>
      <p:sp>
        <p:nvSpPr>
          <p:cNvPr id="24" name="Shape 22"/>
          <p:cNvSpPr/>
          <p:nvPr/>
        </p:nvSpPr>
        <p:spPr>
          <a:xfrm>
            <a:off x="4325112" y="4023360"/>
            <a:ext cx="3611880" cy="2103120"/>
          </a:xfrm>
          <a:prstGeom prst="rect">
            <a:avLst/>
          </a:prstGeom>
          <a:solidFill>
            <a:srgbClr val="FFFFFF"/>
          </a:solidFill>
          <a:ln w="9525">
            <a:solidFill>
              <a:srgbClr val="E5E7EB"/>
            </a:solidFill>
            <a:prstDash val="solid"/>
          </a:ln>
          <a:effectLst>
            <a:outerShdw sx="100000" sy="100000" kx="0" ky="0" algn="bl" rotWithShape="0" blurRad="76200" dist="25400" dir="5400000">
              <a:srgbClr val="000000">
                <a:alpha val="5000"/>
              </a:srgbClr>
            </a:outerShdw>
          </a:effectLst>
        </p:spPr>
      </p:sp>
      <p:sp>
        <p:nvSpPr>
          <p:cNvPr id="25" name="Shape 23"/>
          <p:cNvSpPr/>
          <p:nvPr/>
        </p:nvSpPr>
        <p:spPr>
          <a:xfrm>
            <a:off x="4599432" y="4297680"/>
            <a:ext cx="502920" cy="502920"/>
          </a:xfrm>
          <a:prstGeom prst="ellipse">
            <a:avLst/>
          </a:prstGeom>
          <a:solidFill>
            <a:srgbClr val="E6F2EC"/>
          </a:solidFill>
          <a:ln/>
        </p:spPr>
      </p:sp>
      <p:sp>
        <p:nvSpPr>
          <p:cNvPr id="26" name="Text 24"/>
          <p:cNvSpPr/>
          <p:nvPr/>
        </p:nvSpPr>
        <p:spPr>
          <a:xfrm>
            <a:off x="4599432" y="4334256"/>
            <a:ext cx="502920" cy="411480"/>
          </a:xfrm>
          <a:prstGeom prst="rect">
            <a:avLst/>
          </a:prstGeom>
          <a:noFill/>
          <a:ln/>
        </p:spPr>
        <p:txBody>
          <a:bodyPr wrap="square" lIns="0" tIns="0" rIns="0" bIns="0" rtlCol="0" anchor="ctr"/>
          <a:lstStyle/>
          <a:p>
            <a:pPr algn="ctr" indent="0" marL="0">
              <a:buNone/>
            </a:pPr>
            <a:r>
              <a:rPr lang="en-US" sz="1300" b="1" dirty="0">
                <a:solidFill>
                  <a:srgbClr val="008053"/>
                </a:solidFill>
                <a:latin typeface="Cambria" pitchFamily="34" charset="0"/>
                <a:ea typeface="Cambria" pitchFamily="34" charset="-122"/>
                <a:cs typeface="Cambria" pitchFamily="34" charset="-120"/>
              </a:rPr>
              <a:t>05</a:t>
            </a:r>
            <a:endParaRPr lang="en-US" sz="1300" dirty="0"/>
          </a:p>
        </p:txBody>
      </p:sp>
      <p:sp>
        <p:nvSpPr>
          <p:cNvPr id="27" name="Text 25"/>
          <p:cNvSpPr/>
          <p:nvPr/>
        </p:nvSpPr>
        <p:spPr>
          <a:xfrm>
            <a:off x="4599432" y="4937760"/>
            <a:ext cx="3063240" cy="365760"/>
          </a:xfrm>
          <a:prstGeom prst="rect">
            <a:avLst/>
          </a:prstGeom>
          <a:noFill/>
          <a:ln/>
        </p:spPr>
        <p:txBody>
          <a:bodyPr wrap="square" lIns="0" tIns="0" rIns="0" bIns="0" rtlCol="0" anchor="ctr"/>
          <a:lstStyle/>
          <a:p>
            <a:pPr indent="0" marL="0">
              <a:buNone/>
            </a:pPr>
            <a:r>
              <a:rPr lang="en-US" sz="1400" b="1" dirty="0">
                <a:solidFill>
                  <a:srgbClr val="1A1A1A"/>
                </a:solidFill>
                <a:latin typeface="Cambria" pitchFamily="34" charset="0"/>
                <a:ea typeface="Cambria" pitchFamily="34" charset="-122"/>
                <a:cs typeface="Cambria" pitchFamily="34" charset="-120"/>
              </a:rPr>
              <a:t>Audit logs cluster</a:t>
            </a:r>
            <a:endParaRPr lang="en-US" sz="1400" dirty="0"/>
          </a:p>
        </p:txBody>
      </p:sp>
      <p:sp>
        <p:nvSpPr>
          <p:cNvPr id="28" name="Text 26"/>
          <p:cNvSpPr/>
          <p:nvPr/>
        </p:nvSpPr>
        <p:spPr>
          <a:xfrm>
            <a:off x="4599432" y="5303520"/>
            <a:ext cx="3063240" cy="77724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Activés systématiquement (Ring 1). Non négociable pour la conformité bancaire.</a:t>
            </a:r>
            <a:endParaRPr lang="en-US" sz="1100" dirty="0"/>
          </a:p>
        </p:txBody>
      </p:sp>
      <p:sp>
        <p:nvSpPr>
          <p:cNvPr id="29" name="Shape 27"/>
          <p:cNvSpPr/>
          <p:nvPr/>
        </p:nvSpPr>
        <p:spPr>
          <a:xfrm>
            <a:off x="8101584" y="4023360"/>
            <a:ext cx="3611880" cy="2103120"/>
          </a:xfrm>
          <a:prstGeom prst="rect">
            <a:avLst/>
          </a:prstGeom>
          <a:solidFill>
            <a:srgbClr val="FFFFFF"/>
          </a:solidFill>
          <a:ln w="9525">
            <a:solidFill>
              <a:srgbClr val="E5E7EB"/>
            </a:solidFill>
            <a:prstDash val="solid"/>
          </a:ln>
          <a:effectLst>
            <a:outerShdw sx="100000" sy="100000" kx="0" ky="0" algn="bl" rotWithShape="0" blurRad="76200" dist="25400" dir="5400000">
              <a:srgbClr val="000000">
                <a:alpha val="5000"/>
              </a:srgbClr>
            </a:outerShdw>
          </a:effectLst>
        </p:spPr>
      </p:sp>
      <p:sp>
        <p:nvSpPr>
          <p:cNvPr id="30" name="Shape 28"/>
          <p:cNvSpPr/>
          <p:nvPr/>
        </p:nvSpPr>
        <p:spPr>
          <a:xfrm>
            <a:off x="8375904" y="4297680"/>
            <a:ext cx="502920" cy="502920"/>
          </a:xfrm>
          <a:prstGeom prst="ellipse">
            <a:avLst/>
          </a:prstGeom>
          <a:solidFill>
            <a:srgbClr val="E6F2EC"/>
          </a:solidFill>
          <a:ln/>
        </p:spPr>
      </p:sp>
      <p:sp>
        <p:nvSpPr>
          <p:cNvPr id="31" name="Text 29"/>
          <p:cNvSpPr/>
          <p:nvPr/>
        </p:nvSpPr>
        <p:spPr>
          <a:xfrm>
            <a:off x="8375904" y="4334256"/>
            <a:ext cx="502920" cy="411480"/>
          </a:xfrm>
          <a:prstGeom prst="rect">
            <a:avLst/>
          </a:prstGeom>
          <a:noFill/>
          <a:ln/>
        </p:spPr>
        <p:txBody>
          <a:bodyPr wrap="square" lIns="0" tIns="0" rIns="0" bIns="0" rtlCol="0" anchor="ctr"/>
          <a:lstStyle/>
          <a:p>
            <a:pPr algn="ctr" indent="0" marL="0">
              <a:buNone/>
            </a:pPr>
            <a:r>
              <a:rPr lang="en-US" sz="1300" b="1" dirty="0">
                <a:solidFill>
                  <a:srgbClr val="008053"/>
                </a:solidFill>
                <a:latin typeface="Cambria" pitchFamily="34" charset="0"/>
                <a:ea typeface="Cambria" pitchFamily="34" charset="-122"/>
                <a:cs typeface="Cambria" pitchFamily="34" charset="-120"/>
              </a:rPr>
              <a:t>06</a:t>
            </a:r>
            <a:endParaRPr lang="en-US" sz="1300" dirty="0"/>
          </a:p>
        </p:txBody>
      </p:sp>
      <p:sp>
        <p:nvSpPr>
          <p:cNvPr id="32" name="Text 30"/>
          <p:cNvSpPr/>
          <p:nvPr/>
        </p:nvSpPr>
        <p:spPr>
          <a:xfrm>
            <a:off x="8375904" y="4937760"/>
            <a:ext cx="3063240" cy="365760"/>
          </a:xfrm>
          <a:prstGeom prst="rect">
            <a:avLst/>
          </a:prstGeom>
          <a:noFill/>
          <a:ln/>
        </p:spPr>
        <p:txBody>
          <a:bodyPr wrap="square" lIns="0" tIns="0" rIns="0" bIns="0" rtlCol="0" anchor="ctr"/>
          <a:lstStyle/>
          <a:p>
            <a:pPr indent="0" marL="0">
              <a:buNone/>
            </a:pPr>
            <a:r>
              <a:rPr lang="en-US" sz="1400" b="1" dirty="0">
                <a:solidFill>
                  <a:srgbClr val="1A1A1A"/>
                </a:solidFill>
                <a:latin typeface="Cambria" pitchFamily="34" charset="0"/>
                <a:ea typeface="Cambria" pitchFamily="34" charset="-122"/>
                <a:cs typeface="Cambria" pitchFamily="34" charset="-120"/>
              </a:rPr>
              <a:t>Pas de PV block zonal</a:t>
            </a:r>
            <a:endParaRPr lang="en-US" sz="1400" dirty="0"/>
          </a:p>
        </p:txBody>
      </p:sp>
      <p:sp>
        <p:nvSpPr>
          <p:cNvPr id="33" name="Text 31"/>
          <p:cNvSpPr/>
          <p:nvPr/>
        </p:nvSpPr>
        <p:spPr>
          <a:xfrm>
            <a:off x="8375904" y="5303520"/>
            <a:ext cx="3063240" cy="77724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Éviter ibmc-block-* zonal pour HA. Privilégier IBM Cloud Databases ou ODF / Portworx.</a:t>
            </a:r>
            <a:endParaRPr lang="en-US" sz="1100" dirty="0"/>
          </a:p>
        </p:txBody>
      </p:sp>
      <p:sp>
        <p:nvSpPr>
          <p:cNvPr id="34" name="Shape 32"/>
          <p:cNvSpPr/>
          <p:nvPr/>
        </p:nvSpPr>
        <p:spPr>
          <a:xfrm>
            <a:off x="548640" y="6446520"/>
            <a:ext cx="11064240" cy="0"/>
          </a:xfrm>
          <a:prstGeom prst="line">
            <a:avLst/>
          </a:prstGeom>
          <a:noFill/>
          <a:ln w="6350">
            <a:solidFill>
              <a:srgbClr val="E5E7EB"/>
            </a:solidFill>
            <a:prstDash val="solid"/>
          </a:ln>
        </p:spPr>
      </p:sp>
      <p:sp>
        <p:nvSpPr>
          <p:cNvPr id="35" name="Text 33"/>
          <p:cNvSpPr/>
          <p:nvPr/>
        </p:nvSpPr>
        <p:spPr>
          <a:xfrm>
            <a:off x="548640" y="651052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BNP Paribas Cardif  ·  TOE  ·  Cloud Native Architecture</a:t>
            </a:r>
            <a:endParaRPr lang="en-US" sz="900" dirty="0"/>
          </a:p>
        </p:txBody>
      </p:sp>
      <p:sp>
        <p:nvSpPr>
          <p:cNvPr id="36" name="Text 34"/>
          <p:cNvSpPr/>
          <p:nvPr/>
        </p:nvSpPr>
        <p:spPr>
          <a:xfrm>
            <a:off x="10515600" y="6510528"/>
            <a:ext cx="109728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14 / 17</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lIns="0" tIns="0" rIns="0" bIns="0" rtlCol="0" anchor="ctr"/>
          <a:lstStyle/>
          <a:p>
            <a:pPr indent="0" marL="0">
              <a:buNone/>
            </a:pPr>
            <a:r>
              <a:rPr lang="en-US" sz="1000" b="1" spc="400" kern="0" dirty="0">
                <a:solidFill>
                  <a:srgbClr val="B89653"/>
                </a:solidFill>
                <a:latin typeface="Calibri" pitchFamily="34" charset="0"/>
                <a:ea typeface="Calibri" pitchFamily="34" charset="-122"/>
                <a:cs typeface="Calibri" pitchFamily="34" charset="-120"/>
              </a:rPr>
              <a:t>06 · MAPPING</a:t>
            </a:r>
            <a:endParaRPr lang="en-US" sz="1000" dirty="0"/>
          </a:p>
        </p:txBody>
      </p:sp>
      <p:sp>
        <p:nvSpPr>
          <p:cNvPr id="3" name="Text 1"/>
          <p:cNvSpPr/>
          <p:nvPr/>
        </p:nvSpPr>
        <p:spPr>
          <a:xfrm>
            <a:off x="548640" y="713232"/>
            <a:ext cx="10972800" cy="640080"/>
          </a:xfrm>
          <a:prstGeom prst="rect">
            <a:avLst/>
          </a:prstGeom>
          <a:noFill/>
          <a:ln/>
        </p:spPr>
        <p:txBody>
          <a:bodyPr wrap="square" lIns="0" tIns="0" rIns="0" bIns="0" rtlCol="0" anchor="ctr"/>
          <a:lstStyle/>
          <a:p>
            <a:pPr indent="0" marL="0">
              <a:buNone/>
            </a:pPr>
            <a:r>
              <a:rPr lang="en-US" sz="2800" b="1" dirty="0">
                <a:solidFill>
                  <a:srgbClr val="1A1A1A"/>
                </a:solidFill>
                <a:latin typeface="Cambria" pitchFamily="34" charset="0"/>
                <a:ea typeface="Cambria" pitchFamily="34" charset="-122"/>
                <a:cs typeface="Cambria" pitchFamily="34" charset="-120"/>
              </a:rPr>
              <a:t>AZ logique ROKS → infrastructure physique ITGP</a:t>
            </a:r>
            <a:endParaRPr lang="en-US" sz="2800" dirty="0"/>
          </a:p>
        </p:txBody>
      </p:sp>
      <p:sp>
        <p:nvSpPr>
          <p:cNvPr id="4" name="Text 2"/>
          <p:cNvSpPr/>
          <p:nvPr/>
        </p:nvSpPr>
        <p:spPr>
          <a:xfrm>
            <a:off x="548640" y="1417320"/>
            <a:ext cx="11064240" cy="502920"/>
          </a:xfrm>
          <a:prstGeom prst="rect">
            <a:avLst/>
          </a:prstGeom>
          <a:noFill/>
          <a:ln/>
        </p:spPr>
        <p:txBody>
          <a:bodyPr wrap="square" lIns="0" tIns="0" rIns="0" bIns="0" rtlCol="0" anchor="ctr"/>
          <a:lstStyle/>
          <a:p>
            <a:pPr indent="0" marL="0">
              <a:buNone/>
            </a:pPr>
            <a:r>
              <a:rPr lang="en-US" sz="1250" i="1" dirty="0">
                <a:solidFill>
                  <a:srgbClr val="2C2C2C"/>
                </a:solidFill>
                <a:latin typeface="Calibri" pitchFamily="34" charset="0"/>
                <a:ea typeface="Calibri" pitchFamily="34" charset="-122"/>
                <a:cs typeface="Calibri" pitchFamily="34" charset="-120"/>
              </a:rPr>
              <a:t>Tous les datacenters ne disposent pas d'une Backup zone. Conséquence directe sur la conception : les backups M:Two doivent obligatoirement cibler Marne Est et/ou Bastogne.</a:t>
            </a:r>
            <a:endParaRPr lang="en-US" sz="12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064240" cy="914400"/>
        </p:xfrm>
        <a:graphic>
          <a:graphicData uri="http://schemas.openxmlformats.org/drawingml/2006/table">
            <a:tbl>
              <a:tblPr/>
              <a:tblGrid>
                <a:gridCol w="4389120"/>
                <a:gridCol w="3657600"/>
                <a:gridCol w="3017520"/>
              </a:tblGrid>
              <a:tr h="45720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AZ ROKS (label topology.kubernetes.io/zone)</a:t>
                      </a:r>
                      <a:endParaRPr lang="en-US" sz="12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04D32"/>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Site physique ITGP</a:t>
                      </a:r>
                      <a:endParaRPr lang="en-US" sz="12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04D3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Backup zone disponible</a:t>
                      </a:r>
                      <a:endParaRPr lang="en-US" sz="12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04D32"/>
                    </a:solidFill>
                  </a:tcPr>
                </a:tc>
              </a:tr>
              <a:tr h="594360">
                <a:tc>
                  <a:txBody>
                    <a:bodyPr/>
                    <a:lstStyle/>
                    <a:p>
                      <a:pPr indent="0" marL="0">
                        <a:buNone/>
                      </a:pPr>
                      <a:r>
                        <a:rPr lang="en-US" sz="1100" dirty="0">
                          <a:solidFill>
                            <a:srgbClr val="2C2C2C"/>
                          </a:solidFill>
                          <a:latin typeface="Consolas" pitchFamily="34" charset="0"/>
                          <a:ea typeface="Consolas" pitchFamily="34" charset="-122"/>
                          <a:cs typeface="Consolas" pitchFamily="34" charset="-120"/>
                        </a:rPr>
                        <a:t>eu-fr2-1   (Paris 1)</a:t>
                      </a:r>
                      <a:endParaRPr lang="en-US" sz="1100" dirty="0">
                        <a:latin typeface="Consolas" charset="0"/>
                        <a:ea typeface="Consolas" charset="0"/>
                        <a:cs typeface="Consolas"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b="1" dirty="0">
                          <a:solidFill>
                            <a:srgbClr val="2C2C2C"/>
                          </a:solidFill>
                          <a:latin typeface="Calibri" pitchFamily="34" charset="0"/>
                          <a:ea typeface="Calibri" pitchFamily="34" charset="-122"/>
                          <a:cs typeface="Calibri" pitchFamily="34" charset="-120"/>
                        </a:rPr>
                        <a:t>Marne Nord DC</a:t>
                      </a:r>
                      <a:endParaRPr lang="en-US" sz="12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B81E1E"/>
                          </a:solidFill>
                          <a:latin typeface="Calibri" pitchFamily="34" charset="0"/>
                          <a:ea typeface="Calibri" pitchFamily="34" charset="-122"/>
                          <a:cs typeface="Calibri" pitchFamily="34" charset="-120"/>
                        </a:rPr>
                        <a:t>✕  Non disponible</a:t>
                      </a:r>
                      <a:endParaRPr lang="en-US" sz="12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594360">
                <a:tc>
                  <a:txBody>
                    <a:bodyPr/>
                    <a:lstStyle/>
                    <a:p>
                      <a:pPr indent="0" marL="0">
                        <a:buNone/>
                      </a:pPr>
                      <a:r>
                        <a:rPr lang="en-US" sz="1100" dirty="0">
                          <a:solidFill>
                            <a:srgbClr val="2C2C2C"/>
                          </a:solidFill>
                          <a:latin typeface="Consolas" pitchFamily="34" charset="0"/>
                          <a:ea typeface="Consolas" pitchFamily="34" charset="-122"/>
                          <a:cs typeface="Consolas" pitchFamily="34" charset="-120"/>
                        </a:rPr>
                        <a:t>eu-fr2-2   (Paris 2)</a:t>
                      </a:r>
                      <a:endParaRPr lang="en-US" sz="1100" dirty="0">
                        <a:latin typeface="Consolas" charset="0"/>
                        <a:ea typeface="Consolas" charset="0"/>
                        <a:cs typeface="Consolas"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A"/>
                    </a:solidFill>
                  </a:tcPr>
                </a:tc>
                <a:tc>
                  <a:txBody>
                    <a:bodyPr/>
                    <a:lstStyle/>
                    <a:p>
                      <a:pPr indent="0" marL="0">
                        <a:buNone/>
                      </a:pPr>
                      <a:r>
                        <a:rPr lang="en-US" sz="1200" b="1" dirty="0">
                          <a:solidFill>
                            <a:srgbClr val="2C2C2C"/>
                          </a:solidFill>
                          <a:latin typeface="Calibri" pitchFamily="34" charset="0"/>
                          <a:ea typeface="Calibri" pitchFamily="34" charset="-122"/>
                          <a:cs typeface="Calibri" pitchFamily="34" charset="-120"/>
                        </a:rPr>
                        <a:t>Marne Est DC</a:t>
                      </a:r>
                      <a:endParaRPr lang="en-US" sz="12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A"/>
                    </a:solidFill>
                  </a:tcPr>
                </a:tc>
                <a:tc>
                  <a:txBody>
                    <a:bodyPr/>
                    <a:lstStyle/>
                    <a:p>
                      <a:pPr algn="ctr" indent="0" marL="0">
                        <a:buNone/>
                      </a:pPr>
                      <a:r>
                        <a:rPr lang="en-US" sz="1200" b="1" dirty="0">
                          <a:solidFill>
                            <a:srgbClr val="059669"/>
                          </a:solidFill>
                          <a:latin typeface="Calibri" pitchFamily="34" charset="0"/>
                          <a:ea typeface="Calibri" pitchFamily="34" charset="-122"/>
                          <a:cs typeface="Calibri" pitchFamily="34" charset="-120"/>
                        </a:rPr>
                        <a:t>✓  Disponible</a:t>
                      </a:r>
                      <a:endParaRPr lang="en-US" sz="12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A"/>
                    </a:solidFill>
                  </a:tcPr>
                </a:tc>
              </a:tr>
              <a:tr h="594360">
                <a:tc>
                  <a:txBody>
                    <a:bodyPr/>
                    <a:lstStyle/>
                    <a:p>
                      <a:pPr indent="0" marL="0">
                        <a:buNone/>
                      </a:pPr>
                      <a:r>
                        <a:rPr lang="en-US" sz="1100" dirty="0">
                          <a:solidFill>
                            <a:srgbClr val="2C2C2C"/>
                          </a:solidFill>
                          <a:latin typeface="Consolas" pitchFamily="34" charset="0"/>
                          <a:ea typeface="Consolas" pitchFamily="34" charset="-122"/>
                          <a:cs typeface="Consolas" pitchFamily="34" charset="-120"/>
                        </a:rPr>
                        <a:t>eu-fr2-3   (Paris 3)</a:t>
                      </a:r>
                      <a:endParaRPr lang="en-US" sz="1100" dirty="0">
                        <a:latin typeface="Consolas" charset="0"/>
                        <a:ea typeface="Consolas" charset="0"/>
                        <a:cs typeface="Consolas"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b="1" dirty="0">
                          <a:solidFill>
                            <a:srgbClr val="2C2C2C"/>
                          </a:solidFill>
                          <a:latin typeface="Calibri" pitchFamily="34" charset="0"/>
                          <a:ea typeface="Calibri" pitchFamily="34" charset="-122"/>
                          <a:cs typeface="Calibri" pitchFamily="34" charset="-120"/>
                        </a:rPr>
                        <a:t>Marne Est DC</a:t>
                      </a:r>
                      <a:endParaRPr lang="en-US" sz="12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59669"/>
                          </a:solidFill>
                          <a:latin typeface="Calibri" pitchFamily="34" charset="0"/>
                          <a:ea typeface="Calibri" pitchFamily="34" charset="-122"/>
                          <a:cs typeface="Calibri" pitchFamily="34" charset="-120"/>
                        </a:rPr>
                        <a:t>✓  Disponible</a:t>
                      </a:r>
                      <a:endParaRPr lang="en-US" sz="12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594360">
                <a:tc>
                  <a:txBody>
                    <a:bodyPr/>
                    <a:lstStyle/>
                    <a:p>
                      <a:pPr indent="0" marL="0">
                        <a:buNone/>
                      </a:pPr>
                      <a:r>
                        <a:rPr lang="en-US" sz="1100" dirty="0">
                          <a:solidFill>
                            <a:srgbClr val="2C2C2C"/>
                          </a:solidFill>
                          <a:latin typeface="Consolas" pitchFamily="34" charset="0"/>
                          <a:ea typeface="Consolas" pitchFamily="34" charset="-122"/>
                          <a:cs typeface="Consolas" pitchFamily="34" charset="-120"/>
                        </a:rPr>
                        <a:t>Bastogne (région BE)</a:t>
                      </a:r>
                      <a:endParaRPr lang="en-US" sz="1100" dirty="0">
                        <a:latin typeface="Consolas" charset="0"/>
                        <a:ea typeface="Consolas" charset="0"/>
                        <a:cs typeface="Consolas"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A"/>
                    </a:solidFill>
                  </a:tcPr>
                </a:tc>
                <a:tc>
                  <a:txBody>
                    <a:bodyPr/>
                    <a:lstStyle/>
                    <a:p>
                      <a:pPr indent="0" marL="0">
                        <a:buNone/>
                      </a:pPr>
                      <a:r>
                        <a:rPr lang="en-US" sz="1200" b="1" dirty="0">
                          <a:solidFill>
                            <a:srgbClr val="2C2C2C"/>
                          </a:solidFill>
                          <a:latin typeface="Calibri" pitchFamily="34" charset="0"/>
                          <a:ea typeface="Calibri" pitchFamily="34" charset="-122"/>
                          <a:cs typeface="Calibri" pitchFamily="34" charset="-120"/>
                        </a:rPr>
                        <a:t>Bastogne DC (DR vital apps)</a:t>
                      </a:r>
                      <a:endParaRPr lang="en-US" sz="12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A"/>
                    </a:solidFill>
                  </a:tcPr>
                </a:tc>
                <a:tc>
                  <a:txBody>
                    <a:bodyPr/>
                    <a:lstStyle/>
                    <a:p>
                      <a:pPr algn="ctr" indent="0" marL="0">
                        <a:buNone/>
                      </a:pPr>
                      <a:r>
                        <a:rPr lang="en-US" sz="1200" b="1" dirty="0">
                          <a:solidFill>
                            <a:srgbClr val="059669"/>
                          </a:solidFill>
                          <a:latin typeface="Calibri" pitchFamily="34" charset="0"/>
                          <a:ea typeface="Calibri" pitchFamily="34" charset="-122"/>
                          <a:cs typeface="Calibri" pitchFamily="34" charset="-120"/>
                        </a:rPr>
                        <a:t>✓  Disponible</a:t>
                      </a:r>
                      <a:endParaRPr lang="en-US" sz="12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A"/>
                    </a:solidFill>
                  </a:tcPr>
                </a:tc>
              </a:tr>
            </a:tbl>
          </a:graphicData>
        </a:graphic>
      </p:graphicFrame>
      <p:sp>
        <p:nvSpPr>
          <p:cNvPr id="6" name="Shape 3"/>
          <p:cNvSpPr/>
          <p:nvPr/>
        </p:nvSpPr>
        <p:spPr>
          <a:xfrm>
            <a:off x="548640" y="5074920"/>
            <a:ext cx="11064240" cy="1188720"/>
          </a:xfrm>
          <a:prstGeom prst="rect">
            <a:avLst/>
          </a:prstGeom>
          <a:solidFill>
            <a:srgbClr val="E6F2EC"/>
          </a:solidFill>
          <a:ln/>
        </p:spPr>
      </p:sp>
      <p:sp>
        <p:nvSpPr>
          <p:cNvPr id="7" name="Shape 4"/>
          <p:cNvSpPr/>
          <p:nvPr/>
        </p:nvSpPr>
        <p:spPr>
          <a:xfrm>
            <a:off x="548640" y="5074920"/>
            <a:ext cx="73152" cy="1188720"/>
          </a:xfrm>
          <a:prstGeom prst="rect">
            <a:avLst/>
          </a:prstGeom>
          <a:solidFill>
            <a:srgbClr val="008053"/>
          </a:solidFill>
          <a:ln/>
        </p:spPr>
      </p:sp>
      <p:sp>
        <p:nvSpPr>
          <p:cNvPr id="8" name="Text 5"/>
          <p:cNvSpPr/>
          <p:nvPr/>
        </p:nvSpPr>
        <p:spPr>
          <a:xfrm>
            <a:off x="777240" y="5184648"/>
            <a:ext cx="10698480" cy="274320"/>
          </a:xfrm>
          <a:prstGeom prst="rect">
            <a:avLst/>
          </a:prstGeom>
          <a:noFill/>
          <a:ln/>
        </p:spPr>
        <p:txBody>
          <a:bodyPr wrap="square" lIns="0" tIns="0" rIns="0" bIns="0" rtlCol="0" anchor="ctr"/>
          <a:lstStyle/>
          <a:p>
            <a:pPr indent="0" marL="0">
              <a:buNone/>
            </a:pPr>
            <a:r>
              <a:rPr lang="en-US" sz="1000" b="1" spc="300" kern="0" dirty="0">
                <a:solidFill>
                  <a:srgbClr val="008053"/>
                </a:solidFill>
                <a:latin typeface="Calibri" pitchFamily="34" charset="0"/>
                <a:ea typeface="Calibri" pitchFamily="34" charset="-122"/>
                <a:cs typeface="Calibri" pitchFamily="34" charset="-120"/>
              </a:rPr>
              <a:t>CONSÉQUENCES POUR LA CONCEPTION</a:t>
            </a:r>
            <a:endParaRPr lang="en-US" sz="1000" dirty="0"/>
          </a:p>
        </p:txBody>
      </p:sp>
      <p:sp>
        <p:nvSpPr>
          <p:cNvPr id="9" name="Text 6"/>
          <p:cNvSpPr/>
          <p:nvPr/>
        </p:nvSpPr>
        <p:spPr>
          <a:xfrm>
            <a:off x="868680" y="5440680"/>
            <a:ext cx="10607040" cy="777240"/>
          </a:xfrm>
          <a:prstGeom prst="rect">
            <a:avLst/>
          </a:prstGeom>
          <a:noFill/>
          <a:ln/>
        </p:spPr>
        <p:txBody>
          <a:bodyPr wrap="square" lIns="0" tIns="0" rIns="0" bIns="0" rtlCol="0" anchor="ctr"/>
          <a:lstStyle/>
          <a:p>
            <a:pPr marL="342900" indent="-342900">
              <a:spcAft>
                <a:spcPts val="200"/>
              </a:spcAft>
              <a:buSzPct val="100000"/>
              <a:buChar char="•"/>
            </a:pPr>
            <a:r>
              <a:rPr lang="en-US" sz="1100" dirty="0">
                <a:solidFill>
                  <a:srgbClr val="2C2C2C"/>
                </a:solidFill>
                <a:latin typeface="Calibri" pitchFamily="34" charset="0"/>
                <a:ea typeface="Calibri" pitchFamily="34" charset="-122"/>
                <a:cs typeface="Calibri" pitchFamily="34" charset="-120"/>
              </a:rPr>
              <a:t>Backups M:Two : cibles obligatoirement Marne Est ou Bastogne — jamais Marne Nord seul</a:t>
            </a:r>
            <a:endParaRPr lang="en-US" sz="1100" dirty="0"/>
          </a:p>
          <a:p>
            <a:pPr marL="342900" indent="-342900">
              <a:spcAft>
                <a:spcPts val="200"/>
              </a:spcAft>
              <a:buSzPct val="100000"/>
              <a:buChar char="•"/>
            </a:pPr>
            <a:r>
              <a:rPr lang="en-US" sz="1100" dirty="0">
                <a:solidFill>
                  <a:srgbClr val="2C2C2C"/>
                </a:solidFill>
                <a:latin typeface="Calibri" pitchFamily="34" charset="0"/>
                <a:ea typeface="Calibri" pitchFamily="34" charset="-122"/>
                <a:cs typeface="Calibri" pitchFamily="34" charset="-120"/>
              </a:rPr>
              <a:t>Workloads stateful avec PV : préférer Marne Est pour bénéficier de la Backup zone colocalisée</a:t>
            </a:r>
            <a:endParaRPr lang="en-US" sz="1100" dirty="0"/>
          </a:p>
          <a:p>
            <a:pPr marL="342900" indent="-342900">
              <a:spcAft>
                <a:spcPts val="200"/>
              </a:spcAft>
              <a:buSzPct val="100000"/>
              <a:buChar char="•"/>
            </a:pPr>
            <a:r>
              <a:rPr lang="en-US" sz="1100" dirty="0">
                <a:solidFill>
                  <a:srgbClr val="2C2C2C"/>
                </a:solidFill>
                <a:latin typeface="Calibri" pitchFamily="34" charset="0"/>
                <a:ea typeface="Calibri" pitchFamily="34" charset="-122"/>
                <a:cs typeface="Calibri" pitchFamily="34" charset="-120"/>
              </a:rPr>
              <a:t>DR Bastogne : &gt; 200 km, latence ~2–4 ms, réplication async uniquement, vital apps only</a:t>
            </a:r>
            <a:endParaRPr lang="en-US" sz="1100" dirty="0"/>
          </a:p>
        </p:txBody>
      </p:sp>
      <p:sp>
        <p:nvSpPr>
          <p:cNvPr id="10" name="Shape 7"/>
          <p:cNvSpPr/>
          <p:nvPr/>
        </p:nvSpPr>
        <p:spPr>
          <a:xfrm>
            <a:off x="548640" y="6446520"/>
            <a:ext cx="11064240" cy="0"/>
          </a:xfrm>
          <a:prstGeom prst="line">
            <a:avLst/>
          </a:prstGeom>
          <a:noFill/>
          <a:ln w="6350">
            <a:solidFill>
              <a:srgbClr val="E5E7EB"/>
            </a:solidFill>
            <a:prstDash val="solid"/>
          </a:ln>
        </p:spPr>
      </p:sp>
      <p:sp>
        <p:nvSpPr>
          <p:cNvPr id="11" name="Text 8"/>
          <p:cNvSpPr/>
          <p:nvPr/>
        </p:nvSpPr>
        <p:spPr>
          <a:xfrm>
            <a:off x="548640" y="651052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BNP Paribas Cardif  ·  TOE  ·  Cloud Native Architecture</a:t>
            </a:r>
            <a:endParaRPr lang="en-US" sz="900" dirty="0"/>
          </a:p>
        </p:txBody>
      </p:sp>
      <p:sp>
        <p:nvSpPr>
          <p:cNvPr id="12" name="Text 9"/>
          <p:cNvSpPr/>
          <p:nvPr/>
        </p:nvSpPr>
        <p:spPr>
          <a:xfrm>
            <a:off x="10515600" y="6510528"/>
            <a:ext cx="109728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15 / 17</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lIns="0" tIns="0" rIns="0" bIns="0" rtlCol="0" anchor="ctr"/>
          <a:lstStyle/>
          <a:p>
            <a:pPr indent="0" marL="0">
              <a:buNone/>
            </a:pPr>
            <a:r>
              <a:rPr lang="en-US" sz="1000" b="1" spc="400" kern="0" dirty="0">
                <a:solidFill>
                  <a:srgbClr val="B89653"/>
                </a:solidFill>
                <a:latin typeface="Calibri" pitchFamily="34" charset="0"/>
                <a:ea typeface="Calibri" pitchFamily="34" charset="-122"/>
                <a:cs typeface="Calibri" pitchFamily="34" charset="-120"/>
              </a:rPr>
              <a:t>06 · CHECKLIST</a:t>
            </a:r>
            <a:endParaRPr lang="en-US" sz="1000" dirty="0"/>
          </a:p>
        </p:txBody>
      </p:sp>
      <p:sp>
        <p:nvSpPr>
          <p:cNvPr id="3" name="Text 1"/>
          <p:cNvSpPr/>
          <p:nvPr/>
        </p:nvSpPr>
        <p:spPr>
          <a:xfrm>
            <a:off x="548640" y="713232"/>
            <a:ext cx="10972800" cy="640080"/>
          </a:xfrm>
          <a:prstGeom prst="rect">
            <a:avLst/>
          </a:prstGeom>
          <a:noFill/>
          <a:ln/>
        </p:spPr>
        <p:txBody>
          <a:bodyPr wrap="square" lIns="0" tIns="0" rIns="0" bIns="0" rtlCol="0" anchor="ctr"/>
          <a:lstStyle/>
          <a:p>
            <a:pPr indent="0" marL="0">
              <a:buNone/>
            </a:pPr>
            <a:r>
              <a:rPr lang="en-US" sz="2800" b="1" dirty="0">
                <a:solidFill>
                  <a:srgbClr val="1A1A1A"/>
                </a:solidFill>
                <a:latin typeface="Cambria" pitchFamily="34" charset="0"/>
                <a:ea typeface="Cambria" pitchFamily="34" charset="-122"/>
                <a:cs typeface="Cambria" pitchFamily="34" charset="-120"/>
              </a:rPr>
              <a:t>Revue d'architecture — points à valider avant prod</a:t>
            </a:r>
            <a:endParaRPr lang="en-US" sz="2800" dirty="0"/>
          </a:p>
        </p:txBody>
      </p:sp>
      <p:sp>
        <p:nvSpPr>
          <p:cNvPr id="4" name="Shape 2"/>
          <p:cNvSpPr/>
          <p:nvPr/>
        </p:nvSpPr>
        <p:spPr>
          <a:xfrm>
            <a:off x="548640" y="1645920"/>
            <a:ext cx="201168" cy="201168"/>
          </a:xfrm>
          <a:prstGeom prst="rect">
            <a:avLst/>
          </a:prstGeom>
          <a:solidFill>
            <a:srgbClr val="FFFFFF"/>
          </a:solidFill>
          <a:ln w="19050">
            <a:solidFill>
              <a:srgbClr val="008053"/>
            </a:solidFill>
            <a:prstDash val="solid"/>
          </a:ln>
        </p:spPr>
      </p:sp>
      <p:sp>
        <p:nvSpPr>
          <p:cNvPr id="5" name="Text 3"/>
          <p:cNvSpPr/>
          <p:nvPr/>
        </p:nvSpPr>
        <p:spPr>
          <a:xfrm>
            <a:off x="868680" y="1600200"/>
            <a:ext cx="5303520" cy="292608"/>
          </a:xfrm>
          <a:prstGeom prst="rect">
            <a:avLst/>
          </a:prstGeom>
          <a:noFill/>
          <a:ln/>
        </p:spPr>
        <p:txBody>
          <a:bodyPr wrap="square" lIns="0" tIns="0" rIns="0" bIns="0" rtlCol="0" anchor="ctr"/>
          <a:lstStyle/>
          <a:p>
            <a:pPr indent="0" marL="0">
              <a:buNone/>
            </a:pPr>
            <a:r>
              <a:rPr lang="en-US" sz="1200" dirty="0">
                <a:solidFill>
                  <a:srgbClr val="2C2C2C"/>
                </a:solidFill>
                <a:latin typeface="Calibri" pitchFamily="34" charset="0"/>
                <a:ea typeface="Calibri" pitchFamily="34" charset="-122"/>
                <a:cs typeface="Calibri" pitchFamily="34" charset="-120"/>
              </a:rPr>
              <a:t>replicas ≥ valeur du tableau pour le niveau cible</a:t>
            </a:r>
            <a:endParaRPr lang="en-US" sz="1200" dirty="0"/>
          </a:p>
        </p:txBody>
      </p:sp>
      <p:sp>
        <p:nvSpPr>
          <p:cNvPr id="6" name="Shape 4"/>
          <p:cNvSpPr/>
          <p:nvPr/>
        </p:nvSpPr>
        <p:spPr>
          <a:xfrm>
            <a:off x="6172200" y="1645920"/>
            <a:ext cx="201168" cy="201168"/>
          </a:xfrm>
          <a:prstGeom prst="rect">
            <a:avLst/>
          </a:prstGeom>
          <a:solidFill>
            <a:srgbClr val="FFFFFF"/>
          </a:solidFill>
          <a:ln w="19050">
            <a:solidFill>
              <a:srgbClr val="008053"/>
            </a:solidFill>
            <a:prstDash val="solid"/>
          </a:ln>
        </p:spPr>
      </p:sp>
      <p:sp>
        <p:nvSpPr>
          <p:cNvPr id="7" name="Text 5"/>
          <p:cNvSpPr/>
          <p:nvPr/>
        </p:nvSpPr>
        <p:spPr>
          <a:xfrm>
            <a:off x="6492240" y="1600200"/>
            <a:ext cx="5303520" cy="292608"/>
          </a:xfrm>
          <a:prstGeom prst="rect">
            <a:avLst/>
          </a:prstGeom>
          <a:noFill/>
          <a:ln/>
        </p:spPr>
        <p:txBody>
          <a:bodyPr wrap="square" lIns="0" tIns="0" rIns="0" bIns="0" rtlCol="0" anchor="ctr"/>
          <a:lstStyle/>
          <a:p>
            <a:pPr indent="0" marL="0">
              <a:buNone/>
            </a:pPr>
            <a:r>
              <a:rPr lang="en-US" sz="1200" dirty="0">
                <a:solidFill>
                  <a:srgbClr val="2C2C2C"/>
                </a:solidFill>
                <a:latin typeface="Calibri" pitchFamily="34" charset="0"/>
                <a:ea typeface="Calibri" pitchFamily="34" charset="-122"/>
                <a:cs typeface="Calibri" pitchFamily="34" charset="-120"/>
              </a:rPr>
              <a:t>topologySpreadConstraints sur topology.kubernetes.io/zone</a:t>
            </a:r>
            <a:endParaRPr lang="en-US" sz="1200" dirty="0"/>
          </a:p>
        </p:txBody>
      </p:sp>
      <p:sp>
        <p:nvSpPr>
          <p:cNvPr id="8" name="Shape 6"/>
          <p:cNvSpPr/>
          <p:nvPr/>
        </p:nvSpPr>
        <p:spPr>
          <a:xfrm>
            <a:off x="548640" y="1975104"/>
            <a:ext cx="201168" cy="201168"/>
          </a:xfrm>
          <a:prstGeom prst="rect">
            <a:avLst/>
          </a:prstGeom>
          <a:solidFill>
            <a:srgbClr val="FFFFFF"/>
          </a:solidFill>
          <a:ln w="19050">
            <a:solidFill>
              <a:srgbClr val="008053"/>
            </a:solidFill>
            <a:prstDash val="solid"/>
          </a:ln>
        </p:spPr>
      </p:sp>
      <p:sp>
        <p:nvSpPr>
          <p:cNvPr id="9" name="Text 7"/>
          <p:cNvSpPr/>
          <p:nvPr/>
        </p:nvSpPr>
        <p:spPr>
          <a:xfrm>
            <a:off x="868680" y="1929384"/>
            <a:ext cx="5303520" cy="292608"/>
          </a:xfrm>
          <a:prstGeom prst="rect">
            <a:avLst/>
          </a:prstGeom>
          <a:noFill/>
          <a:ln/>
        </p:spPr>
        <p:txBody>
          <a:bodyPr wrap="square" lIns="0" tIns="0" rIns="0" bIns="0" rtlCol="0" anchor="ctr"/>
          <a:lstStyle/>
          <a:p>
            <a:pPr indent="0" marL="0">
              <a:buNone/>
            </a:pPr>
            <a:r>
              <a:rPr lang="en-US" sz="1200" dirty="0">
                <a:solidFill>
                  <a:srgbClr val="2C2C2C"/>
                </a:solidFill>
                <a:latin typeface="Calibri" pitchFamily="34" charset="0"/>
                <a:ea typeface="Calibri" pitchFamily="34" charset="-122"/>
                <a:cs typeface="Calibri" pitchFamily="34" charset="-120"/>
              </a:rPr>
              <a:t>whenUnsatisfiable correct (DoNotSchedule pour Extreme/Serious)</a:t>
            </a:r>
            <a:endParaRPr lang="en-US" sz="1200" dirty="0"/>
          </a:p>
        </p:txBody>
      </p:sp>
      <p:sp>
        <p:nvSpPr>
          <p:cNvPr id="10" name="Shape 8"/>
          <p:cNvSpPr/>
          <p:nvPr/>
        </p:nvSpPr>
        <p:spPr>
          <a:xfrm>
            <a:off x="6172200" y="1975104"/>
            <a:ext cx="201168" cy="201168"/>
          </a:xfrm>
          <a:prstGeom prst="rect">
            <a:avLst/>
          </a:prstGeom>
          <a:solidFill>
            <a:srgbClr val="FFFFFF"/>
          </a:solidFill>
          <a:ln w="19050">
            <a:solidFill>
              <a:srgbClr val="008053"/>
            </a:solidFill>
            <a:prstDash val="solid"/>
          </a:ln>
        </p:spPr>
      </p:sp>
      <p:sp>
        <p:nvSpPr>
          <p:cNvPr id="11" name="Text 9"/>
          <p:cNvSpPr/>
          <p:nvPr/>
        </p:nvSpPr>
        <p:spPr>
          <a:xfrm>
            <a:off x="6492240" y="1929384"/>
            <a:ext cx="5303520" cy="292608"/>
          </a:xfrm>
          <a:prstGeom prst="rect">
            <a:avLst/>
          </a:prstGeom>
          <a:noFill/>
          <a:ln/>
        </p:spPr>
        <p:txBody>
          <a:bodyPr wrap="square" lIns="0" tIns="0" rIns="0" bIns="0" rtlCol="0" anchor="ctr"/>
          <a:lstStyle/>
          <a:p>
            <a:pPr indent="0" marL="0">
              <a:buNone/>
            </a:pPr>
            <a:r>
              <a:rPr lang="en-US" sz="1200" dirty="0">
                <a:solidFill>
                  <a:srgbClr val="2C2C2C"/>
                </a:solidFill>
                <a:latin typeface="Calibri" pitchFamily="34" charset="0"/>
                <a:ea typeface="Calibri" pitchFamily="34" charset="-122"/>
                <a:cs typeface="Calibri" pitchFamily="34" charset="-120"/>
              </a:rPr>
              <a:t>podAntiAffinity sur kubernetes.io/hostname</a:t>
            </a:r>
            <a:endParaRPr lang="en-US" sz="1200" dirty="0"/>
          </a:p>
        </p:txBody>
      </p:sp>
      <p:sp>
        <p:nvSpPr>
          <p:cNvPr id="12" name="Shape 10"/>
          <p:cNvSpPr/>
          <p:nvPr/>
        </p:nvSpPr>
        <p:spPr>
          <a:xfrm>
            <a:off x="548640" y="2304288"/>
            <a:ext cx="201168" cy="201168"/>
          </a:xfrm>
          <a:prstGeom prst="rect">
            <a:avLst/>
          </a:prstGeom>
          <a:solidFill>
            <a:srgbClr val="FFFFFF"/>
          </a:solidFill>
          <a:ln w="19050">
            <a:solidFill>
              <a:srgbClr val="008053"/>
            </a:solidFill>
            <a:prstDash val="solid"/>
          </a:ln>
        </p:spPr>
      </p:sp>
      <p:sp>
        <p:nvSpPr>
          <p:cNvPr id="13" name="Text 11"/>
          <p:cNvSpPr/>
          <p:nvPr/>
        </p:nvSpPr>
        <p:spPr>
          <a:xfrm>
            <a:off x="868680" y="2258568"/>
            <a:ext cx="5303520" cy="292608"/>
          </a:xfrm>
          <a:prstGeom prst="rect">
            <a:avLst/>
          </a:prstGeom>
          <a:noFill/>
          <a:ln/>
        </p:spPr>
        <p:txBody>
          <a:bodyPr wrap="square" lIns="0" tIns="0" rIns="0" bIns="0" rtlCol="0" anchor="ctr"/>
          <a:lstStyle/>
          <a:p>
            <a:pPr indent="0" marL="0">
              <a:buNone/>
            </a:pPr>
            <a:r>
              <a:rPr lang="en-US" sz="1200" dirty="0">
                <a:solidFill>
                  <a:srgbClr val="2C2C2C"/>
                </a:solidFill>
                <a:latin typeface="Calibri" pitchFamily="34" charset="0"/>
                <a:ea typeface="Calibri" pitchFamily="34" charset="-122"/>
                <a:cs typeface="Calibri" pitchFamily="34" charset="-120"/>
              </a:rPr>
              <a:t>PodDisruptionBudget aligné sur le quorum AZ</a:t>
            </a:r>
            <a:endParaRPr lang="en-US" sz="1200" dirty="0"/>
          </a:p>
        </p:txBody>
      </p:sp>
      <p:sp>
        <p:nvSpPr>
          <p:cNvPr id="14" name="Shape 12"/>
          <p:cNvSpPr/>
          <p:nvPr/>
        </p:nvSpPr>
        <p:spPr>
          <a:xfrm>
            <a:off x="6172200" y="2304288"/>
            <a:ext cx="201168" cy="201168"/>
          </a:xfrm>
          <a:prstGeom prst="rect">
            <a:avLst/>
          </a:prstGeom>
          <a:solidFill>
            <a:srgbClr val="FFFFFF"/>
          </a:solidFill>
          <a:ln w="19050">
            <a:solidFill>
              <a:srgbClr val="008053"/>
            </a:solidFill>
            <a:prstDash val="solid"/>
          </a:ln>
        </p:spPr>
      </p:sp>
      <p:sp>
        <p:nvSpPr>
          <p:cNvPr id="15" name="Text 13"/>
          <p:cNvSpPr/>
          <p:nvPr/>
        </p:nvSpPr>
        <p:spPr>
          <a:xfrm>
            <a:off x="6492240" y="2258568"/>
            <a:ext cx="5303520" cy="292608"/>
          </a:xfrm>
          <a:prstGeom prst="rect">
            <a:avLst/>
          </a:prstGeom>
          <a:noFill/>
          <a:ln/>
        </p:spPr>
        <p:txBody>
          <a:bodyPr wrap="square" lIns="0" tIns="0" rIns="0" bIns="0" rtlCol="0" anchor="ctr"/>
          <a:lstStyle/>
          <a:p>
            <a:pPr indent="0" marL="0">
              <a:buNone/>
            </a:pPr>
            <a:r>
              <a:rPr lang="en-US" sz="1200" dirty="0">
                <a:solidFill>
                  <a:srgbClr val="2C2C2C"/>
                </a:solidFill>
                <a:latin typeface="Calibri" pitchFamily="34" charset="0"/>
                <a:ea typeface="Calibri" pitchFamily="34" charset="-122"/>
                <a:cs typeface="Calibri" pitchFamily="34" charset="-120"/>
              </a:rPr>
              <a:t>Probes séparées startup / liveness / readiness</a:t>
            </a:r>
            <a:endParaRPr lang="en-US" sz="1200" dirty="0"/>
          </a:p>
        </p:txBody>
      </p:sp>
      <p:sp>
        <p:nvSpPr>
          <p:cNvPr id="16" name="Shape 14"/>
          <p:cNvSpPr/>
          <p:nvPr/>
        </p:nvSpPr>
        <p:spPr>
          <a:xfrm>
            <a:off x="548640" y="2633472"/>
            <a:ext cx="201168" cy="201168"/>
          </a:xfrm>
          <a:prstGeom prst="rect">
            <a:avLst/>
          </a:prstGeom>
          <a:solidFill>
            <a:srgbClr val="FFFFFF"/>
          </a:solidFill>
          <a:ln w="19050">
            <a:solidFill>
              <a:srgbClr val="008053"/>
            </a:solidFill>
            <a:prstDash val="solid"/>
          </a:ln>
        </p:spPr>
      </p:sp>
      <p:sp>
        <p:nvSpPr>
          <p:cNvPr id="17" name="Text 15"/>
          <p:cNvSpPr/>
          <p:nvPr/>
        </p:nvSpPr>
        <p:spPr>
          <a:xfrm>
            <a:off x="868680" y="2587752"/>
            <a:ext cx="5303520" cy="292608"/>
          </a:xfrm>
          <a:prstGeom prst="rect">
            <a:avLst/>
          </a:prstGeom>
          <a:noFill/>
          <a:ln/>
        </p:spPr>
        <p:txBody>
          <a:bodyPr wrap="square" lIns="0" tIns="0" rIns="0" bIns="0" rtlCol="0" anchor="ctr"/>
          <a:lstStyle/>
          <a:p>
            <a:pPr indent="0" marL="0">
              <a:buNone/>
            </a:pPr>
            <a:r>
              <a:rPr lang="en-US" sz="1200" dirty="0">
                <a:solidFill>
                  <a:srgbClr val="2C2C2C"/>
                </a:solidFill>
                <a:latin typeface="Calibri" pitchFamily="34" charset="0"/>
                <a:ea typeface="Calibri" pitchFamily="34" charset="-122"/>
                <a:cs typeface="Calibri" pitchFamily="34" charset="-120"/>
              </a:rPr>
              <a:t>preStop hook + terminationGracePeriodSeconds cohérents</a:t>
            </a:r>
            <a:endParaRPr lang="en-US" sz="1200" dirty="0"/>
          </a:p>
        </p:txBody>
      </p:sp>
      <p:sp>
        <p:nvSpPr>
          <p:cNvPr id="18" name="Shape 16"/>
          <p:cNvSpPr/>
          <p:nvPr/>
        </p:nvSpPr>
        <p:spPr>
          <a:xfrm>
            <a:off x="6172200" y="2633472"/>
            <a:ext cx="201168" cy="201168"/>
          </a:xfrm>
          <a:prstGeom prst="rect">
            <a:avLst/>
          </a:prstGeom>
          <a:solidFill>
            <a:srgbClr val="FFFFFF"/>
          </a:solidFill>
          <a:ln w="19050">
            <a:solidFill>
              <a:srgbClr val="008053"/>
            </a:solidFill>
            <a:prstDash val="solid"/>
          </a:ln>
        </p:spPr>
      </p:sp>
      <p:sp>
        <p:nvSpPr>
          <p:cNvPr id="19" name="Text 17"/>
          <p:cNvSpPr/>
          <p:nvPr/>
        </p:nvSpPr>
        <p:spPr>
          <a:xfrm>
            <a:off x="6492240" y="2587752"/>
            <a:ext cx="5303520" cy="292608"/>
          </a:xfrm>
          <a:prstGeom prst="rect">
            <a:avLst/>
          </a:prstGeom>
          <a:noFill/>
          <a:ln/>
        </p:spPr>
        <p:txBody>
          <a:bodyPr wrap="square" lIns="0" tIns="0" rIns="0" bIns="0" rtlCol="0" anchor="ctr"/>
          <a:lstStyle/>
          <a:p>
            <a:pPr indent="0" marL="0">
              <a:buNone/>
            </a:pPr>
            <a:r>
              <a:rPr lang="en-US" sz="1200" dirty="0">
                <a:solidFill>
                  <a:srgbClr val="2C2C2C"/>
                </a:solidFill>
                <a:latin typeface="Calibri" pitchFamily="34" charset="0"/>
                <a:ea typeface="Calibri" pitchFamily="34" charset="-122"/>
                <a:cs typeface="Calibri" pitchFamily="34" charset="-120"/>
              </a:rPr>
              <a:t>QoS class adaptée (Guaranteed pour Extreme/Serious)</a:t>
            </a:r>
            <a:endParaRPr lang="en-US" sz="1200" dirty="0"/>
          </a:p>
        </p:txBody>
      </p:sp>
      <p:sp>
        <p:nvSpPr>
          <p:cNvPr id="20" name="Shape 18"/>
          <p:cNvSpPr/>
          <p:nvPr/>
        </p:nvSpPr>
        <p:spPr>
          <a:xfrm>
            <a:off x="548640" y="2962656"/>
            <a:ext cx="201168" cy="201168"/>
          </a:xfrm>
          <a:prstGeom prst="rect">
            <a:avLst/>
          </a:prstGeom>
          <a:solidFill>
            <a:srgbClr val="FFFFFF"/>
          </a:solidFill>
          <a:ln w="19050">
            <a:solidFill>
              <a:srgbClr val="008053"/>
            </a:solidFill>
            <a:prstDash val="solid"/>
          </a:ln>
        </p:spPr>
      </p:sp>
      <p:sp>
        <p:nvSpPr>
          <p:cNvPr id="21" name="Text 19"/>
          <p:cNvSpPr/>
          <p:nvPr/>
        </p:nvSpPr>
        <p:spPr>
          <a:xfrm>
            <a:off x="868680" y="2916936"/>
            <a:ext cx="5303520" cy="292608"/>
          </a:xfrm>
          <a:prstGeom prst="rect">
            <a:avLst/>
          </a:prstGeom>
          <a:noFill/>
          <a:ln/>
        </p:spPr>
        <p:txBody>
          <a:bodyPr wrap="square" lIns="0" tIns="0" rIns="0" bIns="0" rtlCol="0" anchor="ctr"/>
          <a:lstStyle/>
          <a:p>
            <a:pPr indent="0" marL="0">
              <a:buNone/>
            </a:pPr>
            <a:r>
              <a:rPr lang="en-US" sz="1200" dirty="0">
                <a:solidFill>
                  <a:srgbClr val="2C2C2C"/>
                </a:solidFill>
                <a:latin typeface="Calibri" pitchFamily="34" charset="0"/>
                <a:ea typeface="Calibri" pitchFamily="34" charset="-122"/>
                <a:cs typeface="Calibri" pitchFamily="34" charset="-120"/>
              </a:rPr>
              <a:t>DB en synchronous_commit = on pour Extreme/Serious</a:t>
            </a:r>
            <a:endParaRPr lang="en-US" sz="1200" dirty="0"/>
          </a:p>
        </p:txBody>
      </p:sp>
      <p:sp>
        <p:nvSpPr>
          <p:cNvPr id="22" name="Shape 20"/>
          <p:cNvSpPr/>
          <p:nvPr/>
        </p:nvSpPr>
        <p:spPr>
          <a:xfrm>
            <a:off x="6172200" y="2962656"/>
            <a:ext cx="201168" cy="201168"/>
          </a:xfrm>
          <a:prstGeom prst="rect">
            <a:avLst/>
          </a:prstGeom>
          <a:solidFill>
            <a:srgbClr val="FFFFFF"/>
          </a:solidFill>
          <a:ln w="19050">
            <a:solidFill>
              <a:srgbClr val="008053"/>
            </a:solidFill>
            <a:prstDash val="solid"/>
          </a:ln>
        </p:spPr>
      </p:sp>
      <p:sp>
        <p:nvSpPr>
          <p:cNvPr id="23" name="Text 21"/>
          <p:cNvSpPr/>
          <p:nvPr/>
        </p:nvSpPr>
        <p:spPr>
          <a:xfrm>
            <a:off x="6492240" y="2916936"/>
            <a:ext cx="5303520" cy="292608"/>
          </a:xfrm>
          <a:prstGeom prst="rect">
            <a:avLst/>
          </a:prstGeom>
          <a:noFill/>
          <a:ln/>
        </p:spPr>
        <p:txBody>
          <a:bodyPr wrap="square" lIns="0" tIns="0" rIns="0" bIns="0" rtlCol="0" anchor="ctr"/>
          <a:lstStyle/>
          <a:p>
            <a:pPr indent="0" marL="0">
              <a:buNone/>
            </a:pPr>
            <a:r>
              <a:rPr lang="en-US" sz="1200" dirty="0">
                <a:solidFill>
                  <a:srgbClr val="2C2C2C"/>
                </a:solidFill>
                <a:latin typeface="Calibri" pitchFamily="34" charset="0"/>
                <a:ea typeface="Calibri" pitchFamily="34" charset="-122"/>
                <a:cs typeface="Calibri" pitchFamily="34" charset="-120"/>
              </a:rPr>
              <a:t>Backup configuré avec destination Marne Est ou Bastogne</a:t>
            </a:r>
            <a:endParaRPr lang="en-US" sz="1200" dirty="0"/>
          </a:p>
        </p:txBody>
      </p:sp>
      <p:sp>
        <p:nvSpPr>
          <p:cNvPr id="24" name="Shape 22"/>
          <p:cNvSpPr/>
          <p:nvPr/>
        </p:nvSpPr>
        <p:spPr>
          <a:xfrm>
            <a:off x="548640" y="3291840"/>
            <a:ext cx="201168" cy="201168"/>
          </a:xfrm>
          <a:prstGeom prst="rect">
            <a:avLst/>
          </a:prstGeom>
          <a:solidFill>
            <a:srgbClr val="FFFFFF"/>
          </a:solidFill>
          <a:ln w="19050">
            <a:solidFill>
              <a:srgbClr val="008053"/>
            </a:solidFill>
            <a:prstDash val="solid"/>
          </a:ln>
        </p:spPr>
      </p:sp>
      <p:sp>
        <p:nvSpPr>
          <p:cNvPr id="25" name="Text 23"/>
          <p:cNvSpPr/>
          <p:nvPr/>
        </p:nvSpPr>
        <p:spPr>
          <a:xfrm>
            <a:off x="868680" y="3246120"/>
            <a:ext cx="5303520" cy="292608"/>
          </a:xfrm>
          <a:prstGeom prst="rect">
            <a:avLst/>
          </a:prstGeom>
          <a:noFill/>
          <a:ln/>
        </p:spPr>
        <p:txBody>
          <a:bodyPr wrap="square" lIns="0" tIns="0" rIns="0" bIns="0" rtlCol="0" anchor="ctr"/>
          <a:lstStyle/>
          <a:p>
            <a:pPr indent="0" marL="0">
              <a:buNone/>
            </a:pPr>
            <a:r>
              <a:rPr lang="en-US" sz="1200" dirty="0">
                <a:solidFill>
                  <a:srgbClr val="2C2C2C"/>
                </a:solidFill>
                <a:latin typeface="Calibri" pitchFamily="34" charset="0"/>
                <a:ea typeface="Calibri" pitchFamily="34" charset="-122"/>
                <a:cs typeface="Calibri" pitchFamily="34" charset="-120"/>
              </a:rPr>
              <a:t>Test de restauration planifié (trimestriel pour Extreme/Serious)</a:t>
            </a:r>
            <a:endParaRPr lang="en-US" sz="1200" dirty="0"/>
          </a:p>
        </p:txBody>
      </p:sp>
      <p:sp>
        <p:nvSpPr>
          <p:cNvPr id="26" name="Shape 24"/>
          <p:cNvSpPr/>
          <p:nvPr/>
        </p:nvSpPr>
        <p:spPr>
          <a:xfrm>
            <a:off x="6172200" y="3291840"/>
            <a:ext cx="201168" cy="201168"/>
          </a:xfrm>
          <a:prstGeom prst="rect">
            <a:avLst/>
          </a:prstGeom>
          <a:solidFill>
            <a:srgbClr val="FFFFFF"/>
          </a:solidFill>
          <a:ln w="19050">
            <a:solidFill>
              <a:srgbClr val="008053"/>
            </a:solidFill>
            <a:prstDash val="solid"/>
          </a:ln>
        </p:spPr>
      </p:sp>
      <p:sp>
        <p:nvSpPr>
          <p:cNvPr id="27" name="Text 25"/>
          <p:cNvSpPr/>
          <p:nvPr/>
        </p:nvSpPr>
        <p:spPr>
          <a:xfrm>
            <a:off x="6492240" y="3246120"/>
            <a:ext cx="5303520" cy="292608"/>
          </a:xfrm>
          <a:prstGeom prst="rect">
            <a:avLst/>
          </a:prstGeom>
          <a:noFill/>
          <a:ln/>
        </p:spPr>
        <p:txBody>
          <a:bodyPr wrap="square" lIns="0" tIns="0" rIns="0" bIns="0" rtlCol="0" anchor="ctr"/>
          <a:lstStyle/>
          <a:p>
            <a:pPr indent="0" marL="0">
              <a:buNone/>
            </a:pPr>
            <a:r>
              <a:rPr lang="en-US" sz="1200" dirty="0">
                <a:solidFill>
                  <a:srgbClr val="2C2C2C"/>
                </a:solidFill>
                <a:latin typeface="Calibri" pitchFamily="34" charset="0"/>
                <a:ea typeface="Calibri" pitchFamily="34" charset="-122"/>
                <a:cs typeface="Calibri" pitchFamily="34" charset="-120"/>
              </a:rPr>
              <a:t>NetworkPolicy default-deny appliquée</a:t>
            </a:r>
            <a:endParaRPr lang="en-US" sz="1200" dirty="0"/>
          </a:p>
        </p:txBody>
      </p:sp>
      <p:sp>
        <p:nvSpPr>
          <p:cNvPr id="28" name="Shape 26"/>
          <p:cNvSpPr/>
          <p:nvPr/>
        </p:nvSpPr>
        <p:spPr>
          <a:xfrm>
            <a:off x="548640" y="3621024"/>
            <a:ext cx="201168" cy="201168"/>
          </a:xfrm>
          <a:prstGeom prst="rect">
            <a:avLst/>
          </a:prstGeom>
          <a:solidFill>
            <a:srgbClr val="FFFFFF"/>
          </a:solidFill>
          <a:ln w="19050">
            <a:solidFill>
              <a:srgbClr val="008053"/>
            </a:solidFill>
            <a:prstDash val="solid"/>
          </a:ln>
        </p:spPr>
      </p:sp>
      <p:sp>
        <p:nvSpPr>
          <p:cNvPr id="29" name="Text 27"/>
          <p:cNvSpPr/>
          <p:nvPr/>
        </p:nvSpPr>
        <p:spPr>
          <a:xfrm>
            <a:off x="868680" y="3575304"/>
            <a:ext cx="5303520" cy="292608"/>
          </a:xfrm>
          <a:prstGeom prst="rect">
            <a:avLst/>
          </a:prstGeom>
          <a:noFill/>
          <a:ln/>
        </p:spPr>
        <p:txBody>
          <a:bodyPr wrap="square" lIns="0" tIns="0" rIns="0" bIns="0" rtlCol="0" anchor="ctr"/>
          <a:lstStyle/>
          <a:p>
            <a:pPr indent="0" marL="0">
              <a:buNone/>
            </a:pPr>
            <a:r>
              <a:rPr lang="en-US" sz="1200" dirty="0">
                <a:solidFill>
                  <a:srgbClr val="2C2C2C"/>
                </a:solidFill>
                <a:latin typeface="Calibri" pitchFamily="34" charset="0"/>
                <a:ea typeface="Calibri" pitchFamily="34" charset="-122"/>
                <a:cs typeface="Calibri" pitchFamily="34" charset="-120"/>
              </a:rPr>
              <a:t>Image signée Cosign + scan vulnérabilités passé</a:t>
            </a:r>
            <a:endParaRPr lang="en-US" sz="1200" dirty="0"/>
          </a:p>
        </p:txBody>
      </p:sp>
      <p:sp>
        <p:nvSpPr>
          <p:cNvPr id="30" name="Shape 28"/>
          <p:cNvSpPr/>
          <p:nvPr/>
        </p:nvSpPr>
        <p:spPr>
          <a:xfrm>
            <a:off x="6172200" y="3621024"/>
            <a:ext cx="201168" cy="201168"/>
          </a:xfrm>
          <a:prstGeom prst="rect">
            <a:avLst/>
          </a:prstGeom>
          <a:solidFill>
            <a:srgbClr val="FFFFFF"/>
          </a:solidFill>
          <a:ln w="19050">
            <a:solidFill>
              <a:srgbClr val="008053"/>
            </a:solidFill>
            <a:prstDash val="solid"/>
          </a:ln>
        </p:spPr>
      </p:sp>
      <p:sp>
        <p:nvSpPr>
          <p:cNvPr id="31" name="Text 29"/>
          <p:cNvSpPr/>
          <p:nvPr/>
        </p:nvSpPr>
        <p:spPr>
          <a:xfrm>
            <a:off x="6492240" y="3575304"/>
            <a:ext cx="5303520" cy="292608"/>
          </a:xfrm>
          <a:prstGeom prst="rect">
            <a:avLst/>
          </a:prstGeom>
          <a:noFill/>
          <a:ln/>
        </p:spPr>
        <p:txBody>
          <a:bodyPr wrap="square" lIns="0" tIns="0" rIns="0" bIns="0" rtlCol="0" anchor="ctr"/>
          <a:lstStyle/>
          <a:p>
            <a:pPr indent="0" marL="0">
              <a:buNone/>
            </a:pPr>
            <a:r>
              <a:rPr lang="en-US" sz="1200" dirty="0">
                <a:solidFill>
                  <a:srgbClr val="2C2C2C"/>
                </a:solidFill>
                <a:latin typeface="Calibri" pitchFamily="34" charset="0"/>
                <a:ea typeface="Calibri" pitchFamily="34" charset="-122"/>
                <a:cs typeface="Calibri" pitchFamily="34" charset="-120"/>
              </a:rPr>
              <a:t>Documentation runbook DR à jour (MUST pour Extreme/Serious)</a:t>
            </a:r>
            <a:endParaRPr lang="en-US" sz="1200" dirty="0"/>
          </a:p>
        </p:txBody>
      </p:sp>
      <p:sp>
        <p:nvSpPr>
          <p:cNvPr id="32" name="Shape 30"/>
          <p:cNvSpPr/>
          <p:nvPr/>
        </p:nvSpPr>
        <p:spPr>
          <a:xfrm>
            <a:off x="548640" y="5806440"/>
            <a:ext cx="11064240" cy="457200"/>
          </a:xfrm>
          <a:prstGeom prst="rect">
            <a:avLst/>
          </a:prstGeom>
          <a:solidFill>
            <a:srgbClr val="FAFAFA"/>
          </a:solidFill>
          <a:ln/>
        </p:spPr>
      </p:sp>
      <p:sp>
        <p:nvSpPr>
          <p:cNvPr id="33" name="Text 31"/>
          <p:cNvSpPr/>
          <p:nvPr/>
        </p:nvSpPr>
        <p:spPr>
          <a:xfrm>
            <a:off x="777240" y="5870448"/>
            <a:ext cx="10698480" cy="329184"/>
          </a:xfrm>
          <a:prstGeom prst="rect">
            <a:avLst/>
          </a:prstGeom>
          <a:noFill/>
          <a:ln/>
        </p:spPr>
        <p:txBody>
          <a:bodyPr wrap="square" lIns="0" tIns="0" rIns="0" bIns="0"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Cette checklist est extraite du guide complet (refcard-deployment-guide.md) — elle peut être utilisée telle quelle en CAB ou revue de design.</a:t>
            </a:r>
            <a:endParaRPr lang="en-US" sz="1050" dirty="0"/>
          </a:p>
        </p:txBody>
      </p:sp>
      <p:sp>
        <p:nvSpPr>
          <p:cNvPr id="34" name="Shape 32"/>
          <p:cNvSpPr/>
          <p:nvPr/>
        </p:nvSpPr>
        <p:spPr>
          <a:xfrm>
            <a:off x="548640" y="6446520"/>
            <a:ext cx="11064240" cy="0"/>
          </a:xfrm>
          <a:prstGeom prst="line">
            <a:avLst/>
          </a:prstGeom>
          <a:noFill/>
          <a:ln w="6350">
            <a:solidFill>
              <a:srgbClr val="E5E7EB"/>
            </a:solidFill>
            <a:prstDash val="solid"/>
          </a:ln>
        </p:spPr>
      </p:sp>
      <p:sp>
        <p:nvSpPr>
          <p:cNvPr id="35" name="Text 33"/>
          <p:cNvSpPr/>
          <p:nvPr/>
        </p:nvSpPr>
        <p:spPr>
          <a:xfrm>
            <a:off x="548640" y="651052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BNP Paribas Cardif  ·  TOE  ·  Cloud Native Architecture</a:t>
            </a:r>
            <a:endParaRPr lang="en-US" sz="900" dirty="0"/>
          </a:p>
        </p:txBody>
      </p:sp>
      <p:sp>
        <p:nvSpPr>
          <p:cNvPr id="36" name="Text 34"/>
          <p:cNvSpPr/>
          <p:nvPr/>
        </p:nvSpPr>
        <p:spPr>
          <a:xfrm>
            <a:off x="10515600" y="6510528"/>
            <a:ext cx="109728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16 / 17</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04D32"/>
        </a:solidFill>
      </p:bgPr>
    </p:bg>
    <p:spTree>
      <p:nvGrpSpPr>
        <p:cNvPr id="1" name=""/>
        <p:cNvGrpSpPr/>
        <p:nvPr/>
      </p:nvGrpSpPr>
      <p:grpSpPr>
        <a:xfrm>
          <a:off x="0" y="0"/>
          <a:ext cx="0" cy="0"/>
          <a:chOff x="0" y="0"/>
          <a:chExt cx="0" cy="0"/>
        </a:xfrm>
      </p:grpSpPr>
      <p:sp>
        <p:nvSpPr>
          <p:cNvPr id="2" name="Shape 0"/>
          <p:cNvSpPr/>
          <p:nvPr/>
        </p:nvSpPr>
        <p:spPr>
          <a:xfrm>
            <a:off x="548640" y="548640"/>
            <a:ext cx="548640" cy="45720"/>
          </a:xfrm>
          <a:prstGeom prst="rect">
            <a:avLst/>
          </a:prstGeom>
          <a:solidFill>
            <a:srgbClr val="B89653"/>
          </a:solidFill>
          <a:ln/>
        </p:spPr>
      </p:sp>
      <p:sp>
        <p:nvSpPr>
          <p:cNvPr id="3" name="Text 1"/>
          <p:cNvSpPr/>
          <p:nvPr/>
        </p:nvSpPr>
        <p:spPr>
          <a:xfrm>
            <a:off x="548640" y="713232"/>
            <a:ext cx="7315200" cy="320040"/>
          </a:xfrm>
          <a:prstGeom prst="rect">
            <a:avLst/>
          </a:prstGeom>
          <a:noFill/>
          <a:ln/>
        </p:spPr>
        <p:txBody>
          <a:bodyPr wrap="square" lIns="0" tIns="0" rIns="0" bIns="0" rtlCol="0" anchor="ctr"/>
          <a:lstStyle/>
          <a:p>
            <a:pPr indent="0" marL="0">
              <a:buNone/>
            </a:pPr>
            <a:r>
              <a:rPr lang="en-US" sz="1100" b="1" spc="600" kern="0" dirty="0">
                <a:solidFill>
                  <a:srgbClr val="B89653"/>
                </a:solidFill>
                <a:latin typeface="Calibri" pitchFamily="34" charset="0"/>
                <a:ea typeface="Calibri" pitchFamily="34" charset="-122"/>
                <a:cs typeface="Calibri" pitchFamily="34" charset="-120"/>
              </a:rPr>
              <a:t>BNP PARIBAS CARDIF</a:t>
            </a:r>
            <a:endParaRPr lang="en-US" sz="1100" dirty="0"/>
          </a:p>
        </p:txBody>
      </p:sp>
      <p:sp>
        <p:nvSpPr>
          <p:cNvPr id="4" name="Text 2"/>
          <p:cNvSpPr/>
          <p:nvPr/>
        </p:nvSpPr>
        <p:spPr>
          <a:xfrm>
            <a:off x="548640" y="2286000"/>
            <a:ext cx="10972800" cy="914400"/>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Questions &amp; échanges</a:t>
            </a:r>
            <a:endParaRPr lang="en-US" sz="5000" dirty="0"/>
          </a:p>
        </p:txBody>
      </p:sp>
      <p:sp>
        <p:nvSpPr>
          <p:cNvPr id="5" name="Text 3"/>
          <p:cNvSpPr/>
          <p:nvPr/>
        </p:nvSpPr>
        <p:spPr>
          <a:xfrm>
            <a:off x="548640" y="3383280"/>
            <a:ext cx="10972800" cy="457200"/>
          </a:xfrm>
          <a:prstGeom prst="rect">
            <a:avLst/>
          </a:prstGeom>
          <a:noFill/>
          <a:ln/>
        </p:spPr>
        <p:txBody>
          <a:bodyPr wrap="square" lIns="0" tIns="0" rIns="0" bIns="0" rtlCol="0" anchor="ctr"/>
          <a:lstStyle/>
          <a:p>
            <a:pPr indent="0" marL="0">
              <a:buNone/>
            </a:pPr>
            <a:r>
              <a:rPr lang="en-US" sz="1800" i="1" dirty="0">
                <a:solidFill>
                  <a:srgbClr val="E8D9B8"/>
                </a:solidFill>
                <a:latin typeface="Cambria" pitchFamily="34" charset="0"/>
                <a:ea typeface="Cambria" pitchFamily="34" charset="-122"/>
                <a:cs typeface="Cambria" pitchFamily="34" charset="-120"/>
              </a:rPr>
              <a:t>Manifestes complets disponibles dans le guide et le repo GitOps de référence</a:t>
            </a:r>
            <a:endParaRPr lang="en-US" sz="1800" dirty="0"/>
          </a:p>
        </p:txBody>
      </p:sp>
      <p:sp>
        <p:nvSpPr>
          <p:cNvPr id="6" name="Shape 4"/>
          <p:cNvSpPr/>
          <p:nvPr/>
        </p:nvSpPr>
        <p:spPr>
          <a:xfrm>
            <a:off x="548640" y="4754880"/>
            <a:ext cx="3584448" cy="1325880"/>
          </a:xfrm>
          <a:prstGeom prst="rect">
            <a:avLst/>
          </a:prstGeom>
          <a:solidFill>
            <a:srgbClr val="00362A"/>
          </a:solidFill>
          <a:ln w="6350">
            <a:solidFill>
              <a:srgbClr val="B89653"/>
            </a:solidFill>
            <a:prstDash val="solid"/>
          </a:ln>
        </p:spPr>
      </p:sp>
      <p:sp>
        <p:nvSpPr>
          <p:cNvPr id="7" name="Text 5"/>
          <p:cNvSpPr/>
          <p:nvPr/>
        </p:nvSpPr>
        <p:spPr>
          <a:xfrm>
            <a:off x="777240" y="4846320"/>
            <a:ext cx="548640" cy="457200"/>
          </a:xfrm>
          <a:prstGeom prst="rect">
            <a:avLst/>
          </a:prstGeom>
          <a:noFill/>
          <a:ln/>
        </p:spPr>
        <p:txBody>
          <a:bodyPr wrap="square" lIns="0" tIns="0" rIns="0" bIns="0" rtlCol="0" anchor="ctr"/>
          <a:lstStyle/>
          <a:p>
            <a:pPr indent="0" marL="0">
              <a:buNone/>
            </a:pPr>
            <a:r>
              <a:rPr lang="en-US" sz="2200" b="1" dirty="0">
                <a:solidFill>
                  <a:srgbClr val="B89653"/>
                </a:solidFill>
                <a:latin typeface="Cambria" pitchFamily="34" charset="0"/>
                <a:ea typeface="Cambria" pitchFamily="34" charset="-122"/>
                <a:cs typeface="Cambria" pitchFamily="34" charset="-120"/>
              </a:rPr>
              <a:t>→</a:t>
            </a:r>
            <a:endParaRPr lang="en-US" sz="2200" dirty="0"/>
          </a:p>
        </p:txBody>
      </p:sp>
      <p:sp>
        <p:nvSpPr>
          <p:cNvPr id="8" name="Text 6"/>
          <p:cNvSpPr/>
          <p:nvPr/>
        </p:nvSpPr>
        <p:spPr>
          <a:xfrm>
            <a:off x="777240" y="5257800"/>
            <a:ext cx="3127248" cy="3200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Industrialiser</a:t>
            </a:r>
            <a:endParaRPr lang="en-US" sz="1500" dirty="0"/>
          </a:p>
        </p:txBody>
      </p:sp>
      <p:sp>
        <p:nvSpPr>
          <p:cNvPr id="9" name="Text 7"/>
          <p:cNvSpPr/>
          <p:nvPr/>
        </p:nvSpPr>
        <p:spPr>
          <a:xfrm>
            <a:off x="777240" y="5577840"/>
            <a:ext cx="3127248" cy="502920"/>
          </a:xfrm>
          <a:prstGeom prst="rect">
            <a:avLst/>
          </a:prstGeom>
          <a:noFill/>
          <a:ln/>
        </p:spPr>
        <p:txBody>
          <a:bodyPr wrap="square" lIns="0" tIns="0" rIns="0" bIns="0" rtlCol="0" anchor="ctr"/>
          <a:lstStyle/>
          <a:p>
            <a:pPr indent="0" marL="0">
              <a:buNone/>
            </a:pPr>
            <a:r>
              <a:rPr lang="en-US" sz="1050" dirty="0">
                <a:solidFill>
                  <a:srgbClr val="C9D5CC"/>
                </a:solidFill>
                <a:latin typeface="Calibri" pitchFamily="34" charset="0"/>
                <a:ea typeface="Calibri" pitchFamily="34" charset="-122"/>
                <a:cs typeface="Calibri" pitchFamily="34" charset="-120"/>
              </a:rPr>
              <a:t>Helm chart paramétrable par niveau de continuité</a:t>
            </a:r>
            <a:endParaRPr lang="en-US" sz="1050" dirty="0"/>
          </a:p>
        </p:txBody>
      </p:sp>
      <p:sp>
        <p:nvSpPr>
          <p:cNvPr id="10" name="Shape 8"/>
          <p:cNvSpPr/>
          <p:nvPr/>
        </p:nvSpPr>
        <p:spPr>
          <a:xfrm>
            <a:off x="4279392" y="4754880"/>
            <a:ext cx="3584448" cy="1325880"/>
          </a:xfrm>
          <a:prstGeom prst="rect">
            <a:avLst/>
          </a:prstGeom>
          <a:solidFill>
            <a:srgbClr val="00362A"/>
          </a:solidFill>
          <a:ln w="6350">
            <a:solidFill>
              <a:srgbClr val="B89653"/>
            </a:solidFill>
            <a:prstDash val="solid"/>
          </a:ln>
        </p:spPr>
      </p:sp>
      <p:sp>
        <p:nvSpPr>
          <p:cNvPr id="11" name="Text 9"/>
          <p:cNvSpPr/>
          <p:nvPr/>
        </p:nvSpPr>
        <p:spPr>
          <a:xfrm>
            <a:off x="4507992" y="4846320"/>
            <a:ext cx="548640" cy="457200"/>
          </a:xfrm>
          <a:prstGeom prst="rect">
            <a:avLst/>
          </a:prstGeom>
          <a:noFill/>
          <a:ln/>
        </p:spPr>
        <p:txBody>
          <a:bodyPr wrap="square" lIns="0" tIns="0" rIns="0" bIns="0" rtlCol="0" anchor="ctr"/>
          <a:lstStyle/>
          <a:p>
            <a:pPr indent="0" marL="0">
              <a:buNone/>
            </a:pPr>
            <a:r>
              <a:rPr lang="en-US" sz="2200" b="1" dirty="0">
                <a:solidFill>
                  <a:srgbClr val="B89653"/>
                </a:solidFill>
                <a:latin typeface="Cambria" pitchFamily="34" charset="0"/>
                <a:ea typeface="Cambria" pitchFamily="34" charset="-122"/>
                <a:cs typeface="Cambria" pitchFamily="34" charset="-120"/>
              </a:rPr>
              <a:t>→</a:t>
            </a:r>
            <a:endParaRPr lang="en-US" sz="2200" dirty="0"/>
          </a:p>
        </p:txBody>
      </p:sp>
      <p:sp>
        <p:nvSpPr>
          <p:cNvPr id="12" name="Text 10"/>
          <p:cNvSpPr/>
          <p:nvPr/>
        </p:nvSpPr>
        <p:spPr>
          <a:xfrm>
            <a:off x="4507992" y="5257800"/>
            <a:ext cx="3127248" cy="3200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GitOps</a:t>
            </a:r>
            <a:endParaRPr lang="en-US" sz="1500" dirty="0"/>
          </a:p>
        </p:txBody>
      </p:sp>
      <p:sp>
        <p:nvSpPr>
          <p:cNvPr id="13" name="Text 11"/>
          <p:cNvSpPr/>
          <p:nvPr/>
        </p:nvSpPr>
        <p:spPr>
          <a:xfrm>
            <a:off x="4507992" y="5577840"/>
            <a:ext cx="3127248" cy="502920"/>
          </a:xfrm>
          <a:prstGeom prst="rect">
            <a:avLst/>
          </a:prstGeom>
          <a:noFill/>
          <a:ln/>
        </p:spPr>
        <p:txBody>
          <a:bodyPr wrap="square" lIns="0" tIns="0" rIns="0" bIns="0" rtlCol="0" anchor="ctr"/>
          <a:lstStyle/>
          <a:p>
            <a:pPr indent="0" marL="0">
              <a:buNone/>
            </a:pPr>
            <a:r>
              <a:rPr lang="en-US" sz="1050" dirty="0">
                <a:solidFill>
                  <a:srgbClr val="C9D5CC"/>
                </a:solidFill>
                <a:latin typeface="Calibri" pitchFamily="34" charset="0"/>
                <a:ea typeface="Calibri" pitchFamily="34" charset="-122"/>
                <a:cs typeface="Calibri" pitchFamily="34" charset="-120"/>
              </a:rPr>
              <a:t>Repo Kustomize avec base + overlays per-niveau</a:t>
            </a:r>
            <a:endParaRPr lang="en-US" sz="1050" dirty="0"/>
          </a:p>
        </p:txBody>
      </p:sp>
      <p:sp>
        <p:nvSpPr>
          <p:cNvPr id="14" name="Shape 12"/>
          <p:cNvSpPr/>
          <p:nvPr/>
        </p:nvSpPr>
        <p:spPr>
          <a:xfrm>
            <a:off x="8010144" y="4754880"/>
            <a:ext cx="3584448" cy="1325880"/>
          </a:xfrm>
          <a:prstGeom prst="rect">
            <a:avLst/>
          </a:prstGeom>
          <a:solidFill>
            <a:srgbClr val="00362A"/>
          </a:solidFill>
          <a:ln w="6350">
            <a:solidFill>
              <a:srgbClr val="B89653"/>
            </a:solidFill>
            <a:prstDash val="solid"/>
          </a:ln>
        </p:spPr>
      </p:sp>
      <p:sp>
        <p:nvSpPr>
          <p:cNvPr id="15" name="Text 13"/>
          <p:cNvSpPr/>
          <p:nvPr/>
        </p:nvSpPr>
        <p:spPr>
          <a:xfrm>
            <a:off x="8238744" y="4846320"/>
            <a:ext cx="548640" cy="457200"/>
          </a:xfrm>
          <a:prstGeom prst="rect">
            <a:avLst/>
          </a:prstGeom>
          <a:noFill/>
          <a:ln/>
        </p:spPr>
        <p:txBody>
          <a:bodyPr wrap="square" lIns="0" tIns="0" rIns="0" bIns="0" rtlCol="0" anchor="ctr"/>
          <a:lstStyle/>
          <a:p>
            <a:pPr indent="0" marL="0">
              <a:buNone/>
            </a:pPr>
            <a:r>
              <a:rPr lang="en-US" sz="2200" b="1" dirty="0">
                <a:solidFill>
                  <a:srgbClr val="B89653"/>
                </a:solidFill>
                <a:latin typeface="Cambria" pitchFamily="34" charset="0"/>
                <a:ea typeface="Cambria" pitchFamily="34" charset="-122"/>
                <a:cs typeface="Cambria" pitchFamily="34" charset="-120"/>
              </a:rPr>
              <a:t>→</a:t>
            </a:r>
            <a:endParaRPr lang="en-US" sz="2200" dirty="0"/>
          </a:p>
        </p:txBody>
      </p:sp>
      <p:sp>
        <p:nvSpPr>
          <p:cNvPr id="16" name="Text 14"/>
          <p:cNvSpPr/>
          <p:nvPr/>
        </p:nvSpPr>
        <p:spPr>
          <a:xfrm>
            <a:off x="8238744" y="5257800"/>
            <a:ext cx="3127248" cy="3200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Validation</a:t>
            </a:r>
            <a:endParaRPr lang="en-US" sz="1500" dirty="0"/>
          </a:p>
        </p:txBody>
      </p:sp>
      <p:sp>
        <p:nvSpPr>
          <p:cNvPr id="17" name="Text 15"/>
          <p:cNvSpPr/>
          <p:nvPr/>
        </p:nvSpPr>
        <p:spPr>
          <a:xfrm>
            <a:off x="8238744" y="5577840"/>
            <a:ext cx="3127248" cy="502920"/>
          </a:xfrm>
          <a:prstGeom prst="rect">
            <a:avLst/>
          </a:prstGeom>
          <a:noFill/>
          <a:ln/>
        </p:spPr>
        <p:txBody>
          <a:bodyPr wrap="square" lIns="0" tIns="0" rIns="0" bIns="0" rtlCol="0" anchor="ctr"/>
          <a:lstStyle/>
          <a:p>
            <a:pPr indent="0" marL="0">
              <a:buNone/>
            </a:pPr>
            <a:r>
              <a:rPr lang="en-US" sz="1050" dirty="0">
                <a:solidFill>
                  <a:srgbClr val="C9D5CC"/>
                </a:solidFill>
                <a:latin typeface="Calibri" pitchFamily="34" charset="0"/>
                <a:ea typeface="Calibri" pitchFamily="34" charset="-122"/>
                <a:cs typeface="Calibri" pitchFamily="34" charset="-120"/>
              </a:rPr>
              <a:t>Policies Kyverno qui contrôlent la conformité RefCard</a:t>
            </a:r>
            <a:endParaRPr lang="en-US" sz="1050" dirty="0"/>
          </a:p>
        </p:txBody>
      </p:sp>
      <p:sp>
        <p:nvSpPr>
          <p:cNvPr id="18" name="Shape 16"/>
          <p:cNvSpPr/>
          <p:nvPr/>
        </p:nvSpPr>
        <p:spPr>
          <a:xfrm>
            <a:off x="548640" y="6400800"/>
            <a:ext cx="1371600" cy="0"/>
          </a:xfrm>
          <a:prstGeom prst="line">
            <a:avLst/>
          </a:prstGeom>
          <a:noFill/>
          <a:ln w="12700">
            <a:solidFill>
              <a:srgbClr val="B89653"/>
            </a:solidFill>
            <a:prstDash val="solid"/>
          </a:ln>
        </p:spPr>
      </p:sp>
      <p:sp>
        <p:nvSpPr>
          <p:cNvPr id="19" name="Text 17"/>
          <p:cNvSpPr/>
          <p:nvPr/>
        </p:nvSpPr>
        <p:spPr>
          <a:xfrm>
            <a:off x="548640" y="6492240"/>
            <a:ext cx="7315200" cy="27432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Cloud Native Architect — Technology Office Expertise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BNP Paribas Cardif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Guide ROKS — IT RefCard Continuity &amp; Resilience for Cloud</dc:title>
  <dc:subject>PptxGenJS Presentation</dc:subject>
  <dc:creator>Cloud Native Architect — BNPP Cardif / TOE</dc:creator>
  <cp:lastModifiedBy>Cloud Native Architect — BNPP Cardif / TOE</cp:lastModifiedBy>
  <cp:revision>1</cp:revision>
  <dcterms:created xsi:type="dcterms:W3CDTF">2026-05-06T13:07:02Z</dcterms:created>
  <dcterms:modified xsi:type="dcterms:W3CDTF">2026-05-06T13:07:02Z</dcterms:modified>
</cp:coreProperties>
</file>