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17"/>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Bonjour à tous. Je suis ravi de vous présenter aujourd'hui notre approche de gestion des certificats TLS sur Kubernetes avec HashiCorp Vault PKI.</a:t>
            </a:r>
          </a:p>
          <a:p>
            <a:r>
              <a:rPr lang="fr-FR" dirty="0" sz="1400"/>
              <a:t>Cette présentation s'adresse aux équipes plateforme, sécurité et développement qui opèrent sur des clusters OpenShift ou ROKS — notamment dans le contexte BNP Paribas.</a:t>
            </a:r>
          </a:p>
          <a:p>
            <a:r>
              <a:rPr lang="fr-FR" dirty="0" sz="1400"/>
              <a:t>Nous allons parcourir ensemble le cycle de vie complet d'un certificat X.509 dans Vault, passer en revue les quatre patterns d'intégration disponibles, puis nous concentrer sur le pattern que nous recommandons : Init Container associé à un CronJob de renouvellement, combiné au Sidecar Nginx pour la terminaison TLS.</a:t>
            </a:r>
          </a:p>
          <a:p>
            <a:r>
              <a:rPr lang="fr-FR" dirty="0" sz="1400"/>
              <a:t>La durée prévue est d'environ 30 à 40 minutes, questions incluses.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Voici le plan de notre session en cinq parties.</a:t>
            </a:r>
          </a:p>
          <a:p>
            <a:r>
              <a:rPr lang="fr-FR" dirty="0" sz="1400"/>
              <a:t>On commence par poser le contexte : quel est notre cluster Kubernetes et comment Vault est configuré en dehors du cluster.</a:t>
            </a:r>
          </a:p>
          <a:p>
            <a:r>
              <a:rPr lang="fr-FR" dirty="0" sz="1400"/>
              <a:t>Ensuite on plonge dans le moteur PKI de Vault — comment il génère, renouvelle et révoque les certificats X.509.</a:t>
            </a:r>
          </a:p>
          <a:p>
            <a:r>
              <a:rPr lang="fr-FR" dirty="0" sz="1400"/>
              <a:t>On passe en revue les quatre solutions d'intégration disponibles, avec leurs avantages et contraintes respectifs.</a:t>
            </a:r>
          </a:p>
          <a:p>
            <a:r>
              <a:rPr lang="fr-FR" dirty="0" sz="1400"/>
              <a:t>Puis on fait un focus approfondi sur Init Container plus CronJob, qui est notre pattern recommandé dans les environnements BNP Paribas et ROKS.</a:t>
            </a:r>
          </a:p>
          <a:p>
            <a:r>
              <a:rPr lang="fr-FR" dirty="0" sz="1400"/>
              <a:t>Enfin on détaille les avantages concrets du Sidecar Nginx pour la terminaison TLS Re-encrypt sur OpenShift.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Commençons par poser le contexte. Nous avons deux acteurs principaux.</a:t>
            </a:r>
          </a:p>
          <a:p>
            <a:r>
              <a:rPr lang="fr-FR" dirty="0" sz="1400"/>
              <a:t>Côté gauche : notre cluster Kubernetes. Les pods ont besoin de certificats TLS — que ce soit pour exposer des services HTTPS, pour du mTLS entre microservices, ou pour satisfaire des exigences de conformité sécurité. La rotation automatique est indispensable car les TTL courts sont une bonne pratique de sécurité.</a:t>
            </a:r>
          </a:p>
          <a:p>
            <a:r>
              <a:rPr lang="fr-FR" dirty="0" sz="1400"/>
              <a:t>Côté droit : HashiCorp Vault, déployé sur une infrastructure externe au cluster. C'est volontaire — Vault ne doit pas être co-localisé dans le même cluster qu'il protège. Le moteur PKI est configuré avec une CA root et une CA intermédiaire. Des rôles et policies contrôlent finement quels namespaces peuvent émettre quels types de certificats.</a:t>
            </a:r>
          </a:p>
          <a:p>
            <a:r>
              <a:rPr lang="fr-FR" dirty="0" sz="1400"/>
              <a:t>La flèche dorée entre les deux symbolise la relation de confiance établie via l'authentification Kubernetes : Vault valide le Service Account Token du pod appelant avant d'émettre un certificat.</a:t>
            </a:r>
          </a:p>
          <a:p>
            <a:r>
              <a:rPr lang="fr-FR" dirty="0" sz="1400"/>
              <a:t>Ce contexte est valide pour les clusters OpenShift ROKS d'IBM Cloud comme pour tout cluster Kubernetes standard.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Voyons maintenant comment fonctionne le moteur PKI de Vault — c'est le cœur de notre sujet.</a:t>
            </a:r>
          </a:p>
          <a:p>
            <a:r>
              <a:rPr lang="fr-FR" dirty="0" sz="1400"/>
              <a:t>Étape 1 : on configure une autorité de certification dans Vault via l'endpoint pki/config/ca. On peut utiliser une CA root auto-signée ou importer une CA intermédiaire signée par votre PKI d'entreprise.</a:t>
            </a:r>
          </a:p>
          <a:p>
            <a:r>
              <a:rPr lang="fr-FR" dirty="0" sz="1400"/>
              <a:t>Étape 2 : on définit des rôles avec des contraintes précises — Common Name autorisé, domaines SAN, durée de vie maximale du certificat. Ces rôles sont associés à des policies Vault.</a:t>
            </a:r>
          </a:p>
          <a:p>
            <a:r>
              <a:rPr lang="fr-FR" dirty="0" sz="1400"/>
              <a:t>Étape 3 : un client — typiquement un init-container ou un opérateur — appelle pki/issue en passant le Common Name et les SAN souhaités. Vault vérifie les contraintes du rôle et l'authentification.</a:t>
            </a:r>
          </a:p>
          <a:p>
            <a:r>
              <a:rPr lang="fr-FR" dirty="0" sz="1400"/>
              <a:t>Étape 4 : Vault retourne dans la réponse JSON quatre éléments : le certificat signé, la clé privée, le certificat de la CA émettrice, et la chaîne complète. Tout en format PEM.</a:t>
            </a:r>
          </a:p>
          <a:p>
            <a:r>
              <a:rPr lang="fr-FR" dirty="0" sz="1400"/>
              <a:t>Étape 5 : Ces fichiers sont injectés dans le pod — soit via un volume partagé emptyDir, soit via un Secret Kubernetes créé par le Vault Secrets Operator.</a:t>
            </a:r>
          </a:p>
          <a:p>
            <a:r>
              <a:rPr lang="fr-FR" dirty="0" sz="1400"/>
              <a:t>Étape 6 : Le renouvellement se fait en rappelant le même endpoint avant expiration. Vault émet un nouveau certificat et l'ancien peut être révoqué via pki/revoke avec le numéro de série.</a:t>
            </a:r>
          </a:p>
          <a:p>
            <a:r>
              <a:rPr lang="fr-FR" dirty="0" sz="1400"/>
              <a:t>Ce flux est simple, auditable, et entièrement automatisable.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Passons en revue les quatre grandes solutions pour intégrer Vault PKI dans Kubernetes. Chacune a ses forces et ses contraintes.</a:t>
            </a:r>
          </a:p>
          <a:p>
            <a:r>
              <a:rPr lang="fr-FR" dirty="0" sz="1400"/>
              <a:t>Solution numéro 1 : cert-manager avec le Vault Issuer. C'est la solution la plus mature et la plus largement adoptée dans la communauté Kubernetes. cert-manager gère le cycle de vie des certificats via des CRDs natifs — ClusterIssuer, Certificate. Le renouvellement est entièrement automatique. Le frein principal est la nécessité d'installer cert-manager dans le cluster, ce qui peut être un blocage dans des environnements avec des politiques d'opérateurs strictes.</a:t>
            </a:r>
          </a:p>
          <a:p>
            <a:r>
              <a:rPr lang="fr-FR" dirty="0" sz="1400"/>
              <a:t>Solution numéro 2 : le Vault Secrets Operator de HashiCorp. Avantage clé : un seul opérateur gère à la fois les secrets statiques, les credentials dynamiques et les certificats PKI. Il supporte nativement le rollout restart lors d'une rotation. C'est une v1beta1, donc encore en maturation.</a:t>
            </a:r>
          </a:p>
          <a:p>
            <a:r>
              <a:rPr lang="fr-FR" dirty="0" sz="1400"/>
              <a:t>Solution numéro 3 : le Vault Sidecar Injector. Basé sur un MutatingWebhook, il injecte un agent Vault comme sidecar dans chaque pod via des annotations. Très transparent pour les équipes applicatives — pas de modification du code ni des manifests principaux. La contrainte est le MutatingWebhookConfiguration, qui peut être sensible dans des environnements très sécurisés.</a:t>
            </a:r>
          </a:p>
          <a:p>
            <a:r>
              <a:rPr lang="fr-FR" dirty="0" sz="1400"/>
              <a:t>Solution numéro 4 : Init Container plus CronJob. Aucun opérateur tiers requis. Contrôle total sur le comportement. Compatible avec les SCCs OpenShift les plus restrictives. C'est notre recommandation dans les environnements BNP Paribas ROKS — on va y revenir en détail.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Nous entrons maintenant dans le focus de cette présentation.</a:t>
            </a:r>
          </a:p>
          <a:p>
            <a:r>
              <a:rPr lang="fr-FR" dirty="0" sz="1400"/>
              <a:t>Init Container associé à un CronJob de renouvellement — c'est le pattern que nous recommandons pour les environnements BNP Paribas sur ROKS et OpenShift en général.</a:t>
            </a:r>
          </a:p>
          <a:p>
            <a:r>
              <a:rPr lang="fr-FR" dirty="0" sz="1400"/>
              <a:t>Pourquoi ? Parce qu'il ne nécessite aucun opérateur tiers à installer et à maintenir. Parce qu'il est 100% compatible avec les Security Context Constraints restrictives d'OpenShift. Et parce qu'il donne un contrôle total et transparent sur chaque étape du cycle de vie du certificat.</a:t>
            </a:r>
          </a:p>
          <a:p>
            <a:r>
              <a:rPr lang="fr-FR" dirty="0" sz="1400"/>
              <a:t>Voyons comment ça fonctionne en détail.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L'architecture se décompose en deux phases distinctes.</a:t>
            </a:r>
          </a:p>
          <a:p>
            <a:r>
              <a:rPr lang="fr-FR" dirty="0" sz="1400"/>
              <a:t>Phase 1 — le démarrage du pod. Quand Kubernetes crée le pod, il exécute d'abord les init containers avant tout container principal. Notre init container vault-get-cert s'authentifie auprès de Vault via le Service Account Token du pod, appelle pki/issue, récupère le certificat complet en JSON, et écrit les trois fichiers — tls.crt, tls.key, ca.crt — dans un volume emptyDir partagé monté sur /vault/tls. Une fois terminé, l'init container s'arrête et le container principal démarre. Il trouve ses certificats déjà en place.</a:t>
            </a:r>
          </a:p>
          <a:p>
            <a:r>
              <a:rPr lang="fr-FR" dirty="0" sz="1400"/>
              <a:t>Phase 2 — le renouvellement automatique. Un CronJob Kubernetes s'exécute à intervalles réguliers — par exemple tous les lundis matin à 2 heures. Il vérifie d'abord si le certificat expire dans moins de 30 jours avec openssl x509 -checkend. Si oui, il appelle Vault pour obtenir un nouveau certificat, met à jour le Secret Kubernetes de type TLS, puis déclenche un oc rollout restart. Les pods redémarrent et leur init container re-récupère automatiquement le nouveau certificat.</a:t>
            </a:r>
          </a:p>
          <a:p>
            <a:r>
              <a:rPr lang="fr-FR" dirty="0" sz="1400"/>
              <a:t>En bas de slide, vous avez les extraits YAML correspondants. À gauche, la définition de l'init container avec la commande vault write. À droite, le CronJob avec la logique de vérification openssl et le rollout restart conditionnel.</a:t>
            </a:r>
          </a:p>
          <a:p>
            <a:r>
              <a:rPr lang="fr-FR" dirty="0" sz="1400"/>
              <a:t>Ce pattern est simple, auditable, sans dépendance externe, et parfaitement adapté aux contraintes OpenShift.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Maintenant que nous avons vu le pattern Init Container plus CronJob, parlons du complément naturel : le Sidecar Nginx pour la terminaison TLS.</a:t>
            </a:r>
          </a:p>
          <a:p>
            <a:r>
              <a:rPr lang="fr-FR" dirty="0" sz="1400"/>
              <a:t>Dans notre architecture ROKS OpenShift, le certificat récupéré par l'init container doit être utilisé quelque part. Le Sidecar Nginx est la réponse recommandée.</a:t>
            </a:r>
          </a:p>
          <a:p>
            <a:r>
              <a:rPr lang="fr-FR" dirty="0" sz="1400"/>
              <a:t>Voici l'idée : au lieu que votre application gère elle-même TLS — avec les complexités de JSSE, TrustStores, KeyStores en Java — on délègue entièrement la terminaison TLS à un container Nginx qui tourne à côté de l'application dans le même pod.</a:t>
            </a:r>
          </a:p>
          <a:p>
            <a:r>
              <a:rPr lang="fr-FR" dirty="0" sz="1400"/>
              <a:t>Regardons les avantages concrets dans la slide suivante.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Le flux architectural en haut de slide illustre la chaîne de bout en bout.</a:t>
            </a:r>
          </a:p>
          <a:p>
            <a:r>
              <a:rPr lang="fr-FR" dirty="0" sz="1400"/>
              <a:t>Le client — via F5 BIG-IP — envoie une requête HTTPS. Elle arrive sur la Route OpenShift configurée en mode Reencrypt. La route termine le TLS côté F5 et ré-établit une connexion TLS vers le pod — c'est le Re-encrypt. Le Sidecar Nginx reçoit cette connexion sur le port 443, utilise les certificats du volume emptyDir pour la terminaison TLS, puis proxy en HTTP simple vers localhost:8080 où écoute l'application.</a:t>
            </a:r>
          </a:p>
          <a:p>
            <a:r>
              <a:rPr lang="fr-FR" dirty="0" sz="1400"/>
              <a:t>Avantage 1 — Isolation TLS totale. L'application n'a aucune connaissance de TLS. Elle reçoit du HTTP simple. Séparation claire des responsabilités.</a:t>
            </a:r>
          </a:p>
          <a:p>
            <a:r>
              <a:rPr lang="fr-FR" dirty="0" sz="1400"/>
              <a:t>Avantage 2 — Rotation sans redémarrage applicatif. Quand le CronJob renouvelle le certificat, Nginx peut effectuer un reload avec nginx -s reload sur réception d'un SIGHUP. Le container applicatif ne redémarre pas.</a:t>
            </a:r>
          </a:p>
          <a:p>
            <a:r>
              <a:rPr lang="fr-FR" dirty="0" sz="1400"/>
              <a:t>Avantage 3 — Zéro modification du code applicatif. Que l'application soit en Java, Python, Node.js ou Go, le pattern est identique. Aucune dépendance JSSE ou TrustStore à gérer.</a:t>
            </a:r>
          </a:p>
          <a:p>
            <a:r>
              <a:rPr lang="fr-FR" dirty="0" sz="1400"/>
              <a:t>Avantage 4 — Compatibilité native OpenShift ROKS. Pas de MutatingWebhook requis. Fonctionne avec les SCCs les plus restrictives.</a:t>
            </a:r>
          </a:p>
          <a:p>
            <a:r>
              <a:rPr lang="fr-FR" dirty="0" sz="1400"/>
              <a:t>Avantages 5 et 6 — Observabilité et performance. Les logs TLS sont dans le sidecar, isolés des logs applicatifs. Et le TLS offloading par Nginx évite l'overhead SSL dans la JVM.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Pour clore cette présentation, voici un tableau synthétique des quatre solutions avec les critères qui comptent dans notre contexte BNP Paribas.</a:t>
            </a:r>
          </a:p>
          <a:p>
            <a:r>
              <a:rPr lang="fr-FR" dirty="0" sz="1400"/>
              <a:t>Sur la colonne Operator requis : seul le pattern Init Container plus CronJob n'exige aucun opérateur tiers. C'est un avantage décisif dans les environnements où l'installation d'opérateurs est soumise à validation.</a:t>
            </a:r>
          </a:p>
          <a:p>
            <a:r>
              <a:rPr lang="fr-FR" dirty="0" sz="1400"/>
              <a:t>Sur le renouvellement automatique : toutes les solutions le supportent. Pour Init plus CronJob, c'est via le script shell dans le CronJob — un peu plus de code à maintenir, mais transparent et auditable.</a:t>
            </a:r>
          </a:p>
          <a:p>
            <a:r>
              <a:rPr lang="fr-FR" dirty="0" sz="1400"/>
              <a:t>Sur la compatibilité ROKS : cert-manager et Sidecar Injector peuvent rencontrer des frictions avec les SCCs. VSO et Init plus CronJob sont nativement compatibles.</a:t>
            </a:r>
          </a:p>
          <a:p>
            <a:r>
              <a:rPr lang="fr-FR" dirty="0" sz="1400"/>
              <a:t>Notre recommandation est claire : Init Container plus CronJob, avec le Sidecar Nginx pour la terminaison TLS. Ce binôme donne le meilleur équilibre entre sécurité, contrôle, et compatibilité avec les contraintes opérationnelles BNP Paribas sur OpenShift ROKS.</a:t>
            </a:r>
          </a:p>
          <a:p>
            <a:r>
              <a:rPr lang="fr-FR" dirty="0" sz="1400"/>
              <a:t>Le CronJob de renouvellement doit être déclenché 30 jours avant expiration. Le rollout restart force le redémarrage des pods, et l'init container re-récupère automatiquement le nouveau certificat auprès de Vault. Cycle entièrement fermé, entièrement auditable.</a:t>
            </a:r>
          </a:p>
          <a:p>
            <a:r>
              <a:rPr lang="fr-FR" dirty="0" sz="1400"/>
              <a:t>Je vous remercie pour votre attention. Je suis disponible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z="1400"/>
              <a:t>Cette slide met en avant un point important de contexte organisationnel.</a:t>
            </a:r>
          </a:p>
          <a:p>
            <a:r>
              <a:rPr lang="fr-FR" dirty="0" sz="1400"/>
              <a:t>Les solutions cert-manager et Vault Secrets Operator sont techniquement solides, mais elles ont une caractéristique commune qui pose question dans notre contexte BNP Paribas : toutes les deux écrivent la clé privée du certificat dans un Secret Kubernetes.</a:t>
            </a:r>
          </a:p>
          <a:p>
            <a:r>
              <a:rPr lang="fr-FR" dirty="0" sz="1400"/>
              <a:t>Concrètement, ce Secret de type TLS est stocké en base64 dans etcd. Si etcd n'est pas chiffré au repos — ou si les droits RBAC sur les Secrets ne sont pas parfaitement cloisonnés — la clé privée est exposée.</a:t>
            </a:r>
          </a:p>
          <a:p>
            <a:r>
              <a:rPr lang="fr-FR" dirty="0" sz="1400"/>
              <a:t>L'équipe Sécurité BNP Paribas a identifié ce vecteur de risque et est en cours d'évaluation formelle de ces deux solutions. Ce processus couvre notamment la politique de chiffrement etcd, les droits RBAC granulaires sur les Secrets TLS, et la conformité aux politiques internes de gestion des clés.</a:t>
            </a:r>
          </a:p>
          <a:p>
            <a:r>
              <a:rPr lang="fr-FR" dirty="0" sz="1400"/>
              <a:t>En attendant l'approbation, ces solutions ne sont pas utilisables en production sur nos clusters ROKS.</a:t>
            </a:r>
          </a:p>
          <a:p>
            <a:r>
              <a:rPr lang="fr-FR" dirty="0" sz="1400"/>
              <a:t>Le bandeau vert en bas de slide résume l'alternative : le pattern Init Container plus CronJob que nous allons détailler, qui n'écrit jamais la clé privée dans un Secret Kubernetes — elle reste exclusivement en mémoire dans un volume emptyDir éphémère, non persisté dans etcd.</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D1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76F"/>
          </a:solidFill>
          <a:ln w="12700">
            <a:solidFill>
              <a:srgbClr val="00A76F"/>
            </a:solidFill>
            <a:prstDash val="solid"/>
          </a:ln>
        </p:spPr>
      </p:sp>
      <p:sp>
        <p:nvSpPr>
          <p:cNvPr id="3" name="Shape 1"/>
          <p:cNvSpPr/>
          <p:nvPr/>
        </p:nvSpPr>
        <p:spPr>
          <a:xfrm>
            <a:off x="0" y="0"/>
            <a:ext cx="54864" cy="5143500"/>
          </a:xfrm>
          <a:prstGeom prst="rect">
            <a:avLst/>
          </a:prstGeom>
          <a:solidFill>
            <a:srgbClr val="00A76F"/>
          </a:solidFill>
          <a:ln w="12700">
            <a:solidFill>
              <a:srgbClr val="00A76F"/>
            </a:solidFill>
            <a:prstDash val="solid"/>
          </a:ln>
        </p:spPr>
      </p:sp>
      <p:sp>
        <p:nvSpPr>
          <p:cNvPr id="4" name="Shape 2"/>
          <p:cNvSpPr/>
          <p:nvPr/>
        </p:nvSpPr>
        <p:spPr>
          <a:xfrm>
            <a:off x="7132320" y="-1097280"/>
            <a:ext cx="4114800" cy="4114800"/>
          </a:xfrm>
          <a:prstGeom prst="ellipse">
            <a:avLst/>
          </a:prstGeom>
          <a:solidFill>
            <a:srgbClr val="00A76F">
              <a:alpha val="15000"/>
            </a:srgbClr>
          </a:solidFill>
          <a:ln w="12700">
            <a:solidFill>
              <a:srgbClr val="00A76F">
                <a:alpha val="15000"/>
              </a:srgbClr>
            </a:solidFill>
            <a:prstDash val="solid"/>
          </a:ln>
        </p:spPr>
      </p:sp>
      <p:sp>
        <p:nvSpPr>
          <p:cNvPr id="5" name="Shape 3"/>
          <p:cNvSpPr/>
          <p:nvPr/>
        </p:nvSpPr>
        <p:spPr>
          <a:xfrm>
            <a:off x="7498080" y="-731520"/>
            <a:ext cx="2926080" cy="2926080"/>
          </a:xfrm>
          <a:prstGeom prst="ellipse">
            <a:avLst/>
          </a:prstGeom>
          <a:solidFill>
            <a:srgbClr val="00A76F">
              <a:alpha val="25000"/>
            </a:srgbClr>
          </a:solidFill>
          <a:ln w="12700">
            <a:solidFill>
              <a:srgbClr val="00A76F">
                <a:alpha val="25000"/>
              </a:srgbClr>
            </a:solidFill>
            <a:prstDash val="solid"/>
          </a:ln>
        </p:spPr>
      </p:sp>
      <p:sp>
        <p:nvSpPr>
          <p:cNvPr id="6" name="Text 4"/>
          <p:cNvSpPr/>
          <p:nvPr/>
        </p:nvSpPr>
        <p:spPr>
          <a:xfrm>
            <a:off x="320040" y="274320"/>
            <a:ext cx="3657600" cy="320040"/>
          </a:xfrm>
          <a:prstGeom prst="rect">
            <a:avLst/>
          </a:prstGeom>
          <a:noFill/>
          <a:ln/>
        </p:spPr>
        <p:txBody>
          <a:bodyPr wrap="square" lIns="0" tIns="0" rIns="0" bIns="0" rtlCol="0" anchor="ctr"/>
          <a:lstStyle/>
          <a:p>
            <a:pPr indent="0" marL="0">
              <a:buNone/>
            </a:pPr>
            <a:r>
              <a:rPr lang="en-US" sz="900" b="1" spc="400" kern="0" dirty="0">
                <a:solidFill>
                  <a:srgbClr val="00A76F"/>
                </a:solidFill>
              </a:rPr>
              <a:t>BNP PARIBAS</a:t>
            </a:r>
            <a:endParaRPr lang="en-US" sz="900" dirty="0"/>
          </a:p>
        </p:txBody>
      </p:sp>
      <p:sp>
        <p:nvSpPr>
          <p:cNvPr id="7" name="Text 5"/>
          <p:cNvSpPr/>
          <p:nvPr/>
        </p:nvSpPr>
        <p:spPr>
          <a:xfrm>
            <a:off x="320040" y="1097280"/>
            <a:ext cx="7315200" cy="731520"/>
          </a:xfrm>
          <a:prstGeom prst="rect">
            <a:avLst/>
          </a:prstGeom>
          <a:noFill/>
          <a:ln/>
        </p:spPr>
        <p:txBody>
          <a:bodyPr wrap="square" lIns="0" tIns="0" rIns="0" bIns="0" rtlCol="0" anchor="ctr"/>
          <a:lstStyle/>
          <a:p>
            <a:pPr indent="0" marL="0">
              <a:buNone/>
            </a:pPr>
            <a:r>
              <a:rPr lang="en-US" sz="4000" b="1" dirty="0">
                <a:solidFill>
                  <a:srgbClr val="FFFFFF"/>
                </a:solidFill>
              </a:rPr>
              <a:t>HashiCorp Vault PKI</a:t>
            </a:r>
            <a:endParaRPr lang="en-US" sz="4000" dirty="0"/>
          </a:p>
        </p:txBody>
      </p:sp>
      <p:sp>
        <p:nvSpPr>
          <p:cNvPr id="8" name="Text 6"/>
          <p:cNvSpPr/>
          <p:nvPr/>
        </p:nvSpPr>
        <p:spPr>
          <a:xfrm>
            <a:off x="320040" y="1920240"/>
            <a:ext cx="7772400" cy="457200"/>
          </a:xfrm>
          <a:prstGeom prst="rect">
            <a:avLst/>
          </a:prstGeom>
          <a:noFill/>
          <a:ln/>
        </p:spPr>
        <p:txBody>
          <a:bodyPr wrap="square" lIns="0" tIns="0" rIns="0" bIns="0" rtlCol="0" anchor="ctr"/>
          <a:lstStyle/>
          <a:p>
            <a:pPr indent="0" marL="0">
              <a:buNone/>
            </a:pPr>
            <a:r>
              <a:rPr lang="en-US" sz="1600" dirty="0">
                <a:solidFill>
                  <a:srgbClr val="A8D5C4"/>
                </a:solidFill>
              </a:rPr>
              <a:t>Gestion du cycle de vie des certificats TLS sur Kubernetes / OpenShift</a:t>
            </a:r>
            <a:endParaRPr lang="en-US" sz="1600" dirty="0"/>
          </a:p>
        </p:txBody>
      </p:sp>
      <p:sp>
        <p:nvSpPr>
          <p:cNvPr id="9" name="Shape 7"/>
          <p:cNvSpPr/>
          <p:nvPr/>
        </p:nvSpPr>
        <p:spPr>
          <a:xfrm>
            <a:off x="320040" y="2514600"/>
            <a:ext cx="1645920" cy="36576"/>
          </a:xfrm>
          <a:prstGeom prst="rect">
            <a:avLst/>
          </a:prstGeom>
          <a:solidFill>
            <a:srgbClr val="C8992B"/>
          </a:solidFill>
          <a:ln w="12700">
            <a:solidFill>
              <a:srgbClr val="C8992B"/>
            </a:solidFill>
            <a:prstDash val="solid"/>
          </a:ln>
        </p:spPr>
      </p:sp>
      <p:sp>
        <p:nvSpPr>
          <p:cNvPr id="10" name="Shape 8"/>
          <p:cNvSpPr/>
          <p:nvPr/>
        </p:nvSpPr>
        <p:spPr>
          <a:xfrm>
            <a:off x="320040" y="2834640"/>
            <a:ext cx="1627632" cy="347472"/>
          </a:xfrm>
          <a:prstGeom prst="roundRect">
            <a:avLst>
              <a:gd name="adj" fmla="val 15789"/>
            </a:avLst>
          </a:prstGeom>
          <a:solidFill>
            <a:srgbClr val="007A4D"/>
          </a:solidFill>
          <a:ln w="12700">
            <a:solidFill>
              <a:srgbClr val="007A4D"/>
            </a:solidFill>
            <a:prstDash val="solid"/>
          </a:ln>
        </p:spPr>
      </p:sp>
      <p:sp>
        <p:nvSpPr>
          <p:cNvPr id="11" name="Text 9"/>
          <p:cNvSpPr/>
          <p:nvPr/>
        </p:nvSpPr>
        <p:spPr>
          <a:xfrm>
            <a:off x="320040" y="2834640"/>
            <a:ext cx="1627632" cy="347472"/>
          </a:xfrm>
          <a:prstGeom prst="rect">
            <a:avLst/>
          </a:prstGeom>
          <a:noFill/>
          <a:ln/>
        </p:spPr>
        <p:txBody>
          <a:bodyPr wrap="square" lIns="0" tIns="0" rIns="0" bIns="0" rtlCol="0" anchor="ctr"/>
          <a:lstStyle/>
          <a:p>
            <a:pPr algn="ctr" indent="0" marL="0">
              <a:buNone/>
            </a:pPr>
            <a:r>
              <a:rPr lang="en-US" sz="850" b="1" dirty="0">
                <a:solidFill>
                  <a:srgbClr val="FFFFFF"/>
                </a:solidFill>
              </a:rPr>
              <a:t>Contexte</a:t>
            </a:r>
            <a:endParaRPr lang="en-US" sz="850" dirty="0"/>
          </a:p>
        </p:txBody>
      </p:sp>
      <p:sp>
        <p:nvSpPr>
          <p:cNvPr id="12" name="Shape 10"/>
          <p:cNvSpPr/>
          <p:nvPr/>
        </p:nvSpPr>
        <p:spPr>
          <a:xfrm>
            <a:off x="2084832" y="2834640"/>
            <a:ext cx="1627632" cy="347472"/>
          </a:xfrm>
          <a:prstGeom prst="roundRect">
            <a:avLst>
              <a:gd name="adj" fmla="val 15789"/>
            </a:avLst>
          </a:prstGeom>
          <a:solidFill>
            <a:srgbClr val="007A4D"/>
          </a:solidFill>
          <a:ln w="12700">
            <a:solidFill>
              <a:srgbClr val="007A4D"/>
            </a:solidFill>
            <a:prstDash val="solid"/>
          </a:ln>
        </p:spPr>
      </p:sp>
      <p:sp>
        <p:nvSpPr>
          <p:cNvPr id="13" name="Text 11"/>
          <p:cNvSpPr/>
          <p:nvPr/>
        </p:nvSpPr>
        <p:spPr>
          <a:xfrm>
            <a:off x="2084832" y="2834640"/>
            <a:ext cx="1627632" cy="347472"/>
          </a:xfrm>
          <a:prstGeom prst="rect">
            <a:avLst/>
          </a:prstGeom>
          <a:noFill/>
          <a:ln/>
        </p:spPr>
        <p:txBody>
          <a:bodyPr wrap="square" lIns="0" tIns="0" rIns="0" bIns="0" rtlCol="0" anchor="ctr"/>
          <a:lstStyle/>
          <a:p>
            <a:pPr algn="ctr" indent="0" marL="0">
              <a:buNone/>
            </a:pPr>
            <a:r>
              <a:rPr lang="en-US" sz="850" b="1" dirty="0">
                <a:solidFill>
                  <a:srgbClr val="FFFFFF"/>
                </a:solidFill>
              </a:rPr>
              <a:t>Vault PKI</a:t>
            </a:r>
            <a:endParaRPr lang="en-US" sz="850" dirty="0"/>
          </a:p>
        </p:txBody>
      </p:sp>
      <p:sp>
        <p:nvSpPr>
          <p:cNvPr id="14" name="Shape 12"/>
          <p:cNvSpPr/>
          <p:nvPr/>
        </p:nvSpPr>
        <p:spPr>
          <a:xfrm>
            <a:off x="3849624" y="2834640"/>
            <a:ext cx="1627632" cy="347472"/>
          </a:xfrm>
          <a:prstGeom prst="roundRect">
            <a:avLst>
              <a:gd name="adj" fmla="val 15789"/>
            </a:avLst>
          </a:prstGeom>
          <a:solidFill>
            <a:srgbClr val="007A4D"/>
          </a:solidFill>
          <a:ln w="12700">
            <a:solidFill>
              <a:srgbClr val="007A4D"/>
            </a:solidFill>
            <a:prstDash val="solid"/>
          </a:ln>
        </p:spPr>
      </p:sp>
      <p:sp>
        <p:nvSpPr>
          <p:cNvPr id="15" name="Text 13"/>
          <p:cNvSpPr/>
          <p:nvPr/>
        </p:nvSpPr>
        <p:spPr>
          <a:xfrm>
            <a:off x="3849624" y="2834640"/>
            <a:ext cx="1627632" cy="347472"/>
          </a:xfrm>
          <a:prstGeom prst="rect">
            <a:avLst/>
          </a:prstGeom>
          <a:noFill/>
          <a:ln/>
        </p:spPr>
        <p:txBody>
          <a:bodyPr wrap="square" lIns="0" tIns="0" rIns="0" bIns="0" rtlCol="0" anchor="ctr"/>
          <a:lstStyle/>
          <a:p>
            <a:pPr algn="ctr" indent="0" marL="0">
              <a:buNone/>
            </a:pPr>
            <a:r>
              <a:rPr lang="en-US" sz="850" b="1" dirty="0">
                <a:solidFill>
                  <a:srgbClr val="FFFFFF"/>
                </a:solidFill>
              </a:rPr>
              <a:t>Solutions</a:t>
            </a:r>
            <a:endParaRPr lang="en-US" sz="850" dirty="0"/>
          </a:p>
        </p:txBody>
      </p:sp>
      <p:sp>
        <p:nvSpPr>
          <p:cNvPr id="16" name="Shape 14"/>
          <p:cNvSpPr/>
          <p:nvPr/>
        </p:nvSpPr>
        <p:spPr>
          <a:xfrm>
            <a:off x="5614416" y="2834640"/>
            <a:ext cx="1627632" cy="347472"/>
          </a:xfrm>
          <a:prstGeom prst="roundRect">
            <a:avLst>
              <a:gd name="adj" fmla="val 15789"/>
            </a:avLst>
          </a:prstGeom>
          <a:solidFill>
            <a:srgbClr val="C8992B"/>
          </a:solidFill>
          <a:ln w="12700">
            <a:solidFill>
              <a:srgbClr val="C8992B"/>
            </a:solidFill>
            <a:prstDash val="solid"/>
          </a:ln>
        </p:spPr>
      </p:sp>
      <p:sp>
        <p:nvSpPr>
          <p:cNvPr id="17" name="Text 15"/>
          <p:cNvSpPr/>
          <p:nvPr/>
        </p:nvSpPr>
        <p:spPr>
          <a:xfrm>
            <a:off x="5614416" y="2834640"/>
            <a:ext cx="1627632" cy="347472"/>
          </a:xfrm>
          <a:prstGeom prst="rect">
            <a:avLst/>
          </a:prstGeom>
          <a:noFill/>
          <a:ln/>
        </p:spPr>
        <p:txBody>
          <a:bodyPr wrap="square" lIns="0" tIns="0" rIns="0" bIns="0" rtlCol="0" anchor="ctr"/>
          <a:lstStyle/>
          <a:p>
            <a:pPr algn="ctr" indent="0" marL="0">
              <a:buNone/>
            </a:pPr>
            <a:r>
              <a:rPr lang="en-US" sz="850" b="1" dirty="0">
                <a:solidFill>
                  <a:srgbClr val="FFFFFF"/>
                </a:solidFill>
              </a:rPr>
              <a:t>Init Container + CronJob</a:t>
            </a:r>
            <a:endParaRPr lang="en-US" sz="850" dirty="0"/>
          </a:p>
        </p:txBody>
      </p:sp>
      <p:sp>
        <p:nvSpPr>
          <p:cNvPr id="18" name="Shape 16"/>
          <p:cNvSpPr/>
          <p:nvPr/>
        </p:nvSpPr>
        <p:spPr>
          <a:xfrm>
            <a:off x="7379208" y="2834640"/>
            <a:ext cx="1627632" cy="347472"/>
          </a:xfrm>
          <a:prstGeom prst="roundRect">
            <a:avLst>
              <a:gd name="adj" fmla="val 15789"/>
            </a:avLst>
          </a:prstGeom>
          <a:solidFill>
            <a:srgbClr val="C8992B"/>
          </a:solidFill>
          <a:ln w="12700">
            <a:solidFill>
              <a:srgbClr val="C8992B"/>
            </a:solidFill>
            <a:prstDash val="solid"/>
          </a:ln>
        </p:spPr>
      </p:sp>
      <p:sp>
        <p:nvSpPr>
          <p:cNvPr id="19" name="Text 17"/>
          <p:cNvSpPr/>
          <p:nvPr/>
        </p:nvSpPr>
        <p:spPr>
          <a:xfrm>
            <a:off x="7379208" y="2834640"/>
            <a:ext cx="1627632" cy="347472"/>
          </a:xfrm>
          <a:prstGeom prst="rect">
            <a:avLst/>
          </a:prstGeom>
          <a:noFill/>
          <a:ln/>
        </p:spPr>
        <p:txBody>
          <a:bodyPr wrap="square" lIns="0" tIns="0" rIns="0" bIns="0" rtlCol="0" anchor="ctr"/>
          <a:lstStyle/>
          <a:p>
            <a:pPr algn="ctr" indent="0" marL="0">
              <a:buNone/>
            </a:pPr>
            <a:r>
              <a:rPr lang="en-US" sz="850" b="1" dirty="0">
                <a:solidFill>
                  <a:srgbClr val="FFFFFF"/>
                </a:solidFill>
              </a:rPr>
              <a:t>Sidecar Pattern</a:t>
            </a:r>
            <a:endParaRPr lang="en-US" sz="850" dirty="0"/>
          </a:p>
        </p:txBody>
      </p:sp>
      <p:sp>
        <p:nvSpPr>
          <p:cNvPr id="20" name="Shape 18"/>
          <p:cNvSpPr/>
          <p:nvPr/>
        </p:nvSpPr>
        <p:spPr>
          <a:xfrm>
            <a:off x="0" y="4846320"/>
            <a:ext cx="9144000" cy="297180"/>
          </a:xfrm>
          <a:prstGeom prst="rect">
            <a:avLst/>
          </a:prstGeom>
          <a:solidFill>
            <a:srgbClr val="00915A"/>
          </a:solidFill>
          <a:ln w="12700">
            <a:solidFill>
              <a:srgbClr val="00915A"/>
            </a:solidFill>
            <a:prstDash val="solid"/>
          </a:ln>
        </p:spPr>
      </p:sp>
      <p:sp>
        <p:nvSpPr>
          <p:cNvPr id="21" name="Text 19"/>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La banque d'un monde qui change  |  Classification : Internal  |  Janvier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915A"/>
          </a:solidFill>
          <a:ln w="12700">
            <a:solidFill>
              <a:srgbClr val="00915A"/>
            </a:solidFill>
            <a:prstDash val="solid"/>
          </a:ln>
        </p:spPr>
      </p:sp>
      <p:sp>
        <p:nvSpPr>
          <p:cNvPr id="3" name="Text 1"/>
          <p:cNvSpPr/>
          <p:nvPr/>
        </p:nvSpPr>
        <p:spPr>
          <a:xfrm>
            <a:off x="365760" y="0"/>
            <a:ext cx="8229600" cy="914400"/>
          </a:xfrm>
          <a:prstGeom prst="rect">
            <a:avLst/>
          </a:prstGeom>
          <a:noFill/>
          <a:ln/>
        </p:spPr>
        <p:txBody>
          <a:bodyPr wrap="square" lIns="0" tIns="0" rIns="0" bIns="0" rtlCol="0" anchor="ctr"/>
          <a:lstStyle/>
          <a:p>
            <a:pPr indent="0" marL="0">
              <a:buNone/>
            </a:pPr>
            <a:r>
              <a:rPr lang="en-US" sz="2800" b="1" dirty="0">
                <a:solidFill>
                  <a:srgbClr val="FFFFFF"/>
                </a:solidFill>
              </a:rPr>
              <a:t>Plan</a:t>
            </a:r>
            <a:endParaRPr lang="en-US" sz="2800" dirty="0"/>
          </a:p>
        </p:txBody>
      </p:sp>
      <p:sp>
        <p:nvSpPr>
          <p:cNvPr id="4" name="Text 2"/>
          <p:cNvSpPr/>
          <p:nvPr/>
        </p:nvSpPr>
        <p:spPr>
          <a:xfrm>
            <a:off x="365760" y="566928"/>
            <a:ext cx="6400800" cy="320040"/>
          </a:xfrm>
          <a:prstGeom prst="rect">
            <a:avLst/>
          </a:prstGeom>
          <a:noFill/>
          <a:ln/>
        </p:spPr>
        <p:txBody>
          <a:bodyPr wrap="square" lIns="0" tIns="0" rIns="0" bIns="0" rtlCol="0" anchor="ctr"/>
          <a:lstStyle/>
          <a:p>
            <a:pPr indent="0" marL="0">
              <a:buNone/>
            </a:pPr>
            <a:r>
              <a:rPr lang="en-US" sz="1000" dirty="0">
                <a:solidFill>
                  <a:srgbClr val="A8D5C4"/>
                </a:solidFill>
              </a:rPr>
              <a:t>Vault PKI – Kubernetes Certificate Management</a:t>
            </a:r>
            <a:endParaRPr lang="en-US" sz="1000" dirty="0"/>
          </a:p>
        </p:txBody>
      </p:sp>
      <p:sp>
        <p:nvSpPr>
          <p:cNvPr id="5" name="Shape 3"/>
          <p:cNvSpPr/>
          <p:nvPr/>
        </p:nvSpPr>
        <p:spPr>
          <a:xfrm>
            <a:off x="365760" y="1097280"/>
            <a:ext cx="8412480" cy="621792"/>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097280"/>
            <a:ext cx="54864" cy="621792"/>
          </a:xfrm>
          <a:prstGeom prst="rect">
            <a:avLst/>
          </a:prstGeom>
          <a:solidFill>
            <a:srgbClr val="00915A"/>
          </a:solidFill>
          <a:ln w="12700">
            <a:solidFill>
              <a:srgbClr val="00915A"/>
            </a:solidFill>
            <a:prstDash val="solid"/>
          </a:ln>
        </p:spPr>
      </p:sp>
      <p:sp>
        <p:nvSpPr>
          <p:cNvPr id="7" name="Shape 5"/>
          <p:cNvSpPr/>
          <p:nvPr/>
        </p:nvSpPr>
        <p:spPr>
          <a:xfrm>
            <a:off x="502920" y="1225296"/>
            <a:ext cx="365760" cy="365760"/>
          </a:xfrm>
          <a:prstGeom prst="ellipse">
            <a:avLst/>
          </a:prstGeom>
          <a:solidFill>
            <a:srgbClr val="00915A"/>
          </a:solidFill>
          <a:ln w="12700">
            <a:solidFill>
              <a:srgbClr val="00915A"/>
            </a:solidFill>
            <a:prstDash val="solid"/>
          </a:ln>
        </p:spPr>
      </p:sp>
      <p:sp>
        <p:nvSpPr>
          <p:cNvPr id="8" name="Text 6"/>
          <p:cNvSpPr/>
          <p:nvPr/>
        </p:nvSpPr>
        <p:spPr>
          <a:xfrm>
            <a:off x="502920" y="1225296"/>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rPr>
              <a:t>01</a:t>
            </a:r>
            <a:endParaRPr lang="en-US" sz="1000" dirty="0"/>
          </a:p>
        </p:txBody>
      </p:sp>
      <p:sp>
        <p:nvSpPr>
          <p:cNvPr id="9" name="Text 7"/>
          <p:cNvSpPr/>
          <p:nvPr/>
        </p:nvSpPr>
        <p:spPr>
          <a:xfrm>
            <a:off x="1005840" y="1170432"/>
            <a:ext cx="3657600" cy="274320"/>
          </a:xfrm>
          <a:prstGeom prst="rect">
            <a:avLst/>
          </a:prstGeom>
          <a:noFill/>
          <a:ln/>
        </p:spPr>
        <p:txBody>
          <a:bodyPr wrap="square" lIns="0" tIns="0" rIns="0" bIns="0" rtlCol="0" anchor="ctr"/>
          <a:lstStyle/>
          <a:p>
            <a:pPr indent="0" marL="0">
              <a:buNone/>
            </a:pPr>
            <a:r>
              <a:rPr lang="en-US" sz="1300" b="1" dirty="0">
                <a:solidFill>
                  <a:srgbClr val="1A1A1A"/>
                </a:solidFill>
              </a:rPr>
              <a:t>Contexte</a:t>
            </a:r>
            <a:endParaRPr lang="en-US" sz="1300" dirty="0"/>
          </a:p>
        </p:txBody>
      </p:sp>
      <p:sp>
        <p:nvSpPr>
          <p:cNvPr id="10" name="Text 8"/>
          <p:cNvSpPr/>
          <p:nvPr/>
        </p:nvSpPr>
        <p:spPr>
          <a:xfrm>
            <a:off x="1005840" y="1426464"/>
            <a:ext cx="7589520" cy="219456"/>
          </a:xfrm>
          <a:prstGeom prst="rect">
            <a:avLst/>
          </a:prstGeom>
          <a:noFill/>
          <a:ln/>
        </p:spPr>
        <p:txBody>
          <a:bodyPr wrap="square" lIns="0" tIns="0" rIns="0" bIns="0" rtlCol="0" anchor="ctr"/>
          <a:lstStyle/>
          <a:p>
            <a:pPr indent="0" marL="0">
              <a:buNone/>
            </a:pPr>
            <a:r>
              <a:rPr lang="en-US" sz="950" dirty="0">
                <a:solidFill>
                  <a:srgbClr val="6B7B6E"/>
                </a:solidFill>
              </a:rPr>
              <a:t>Cluster Kubernetes &amp; HashiCorp Vault externe</a:t>
            </a:r>
            <a:endParaRPr lang="en-US" sz="950" dirty="0"/>
          </a:p>
        </p:txBody>
      </p:sp>
      <p:sp>
        <p:nvSpPr>
          <p:cNvPr id="11" name="Shape 9"/>
          <p:cNvSpPr/>
          <p:nvPr/>
        </p:nvSpPr>
        <p:spPr>
          <a:xfrm>
            <a:off x="365760" y="1847088"/>
            <a:ext cx="8412480" cy="621792"/>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65760" y="1847088"/>
            <a:ext cx="54864" cy="621792"/>
          </a:xfrm>
          <a:prstGeom prst="rect">
            <a:avLst/>
          </a:prstGeom>
          <a:solidFill>
            <a:srgbClr val="00A76F"/>
          </a:solidFill>
          <a:ln w="12700">
            <a:solidFill>
              <a:srgbClr val="00A76F"/>
            </a:solidFill>
            <a:prstDash val="solid"/>
          </a:ln>
        </p:spPr>
      </p:sp>
      <p:sp>
        <p:nvSpPr>
          <p:cNvPr id="13" name="Shape 11"/>
          <p:cNvSpPr/>
          <p:nvPr/>
        </p:nvSpPr>
        <p:spPr>
          <a:xfrm>
            <a:off x="502920" y="1975104"/>
            <a:ext cx="365760" cy="365760"/>
          </a:xfrm>
          <a:prstGeom prst="ellipse">
            <a:avLst/>
          </a:prstGeom>
          <a:solidFill>
            <a:srgbClr val="00A76F"/>
          </a:solidFill>
          <a:ln w="12700">
            <a:solidFill>
              <a:srgbClr val="00A76F"/>
            </a:solidFill>
            <a:prstDash val="solid"/>
          </a:ln>
        </p:spPr>
      </p:sp>
      <p:sp>
        <p:nvSpPr>
          <p:cNvPr id="14" name="Text 12"/>
          <p:cNvSpPr/>
          <p:nvPr/>
        </p:nvSpPr>
        <p:spPr>
          <a:xfrm>
            <a:off x="502920" y="1975104"/>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rPr>
              <a:t>02</a:t>
            </a:r>
            <a:endParaRPr lang="en-US" sz="1000" dirty="0"/>
          </a:p>
        </p:txBody>
      </p:sp>
      <p:sp>
        <p:nvSpPr>
          <p:cNvPr id="15" name="Text 13"/>
          <p:cNvSpPr/>
          <p:nvPr/>
        </p:nvSpPr>
        <p:spPr>
          <a:xfrm>
            <a:off x="1005840" y="1920240"/>
            <a:ext cx="3657600" cy="274320"/>
          </a:xfrm>
          <a:prstGeom prst="rect">
            <a:avLst/>
          </a:prstGeom>
          <a:noFill/>
          <a:ln/>
        </p:spPr>
        <p:txBody>
          <a:bodyPr wrap="square" lIns="0" tIns="0" rIns="0" bIns="0" rtlCol="0" anchor="ctr"/>
          <a:lstStyle/>
          <a:p>
            <a:pPr indent="0" marL="0">
              <a:buNone/>
            </a:pPr>
            <a:r>
              <a:rPr lang="en-US" sz="1300" b="1" dirty="0">
                <a:solidFill>
                  <a:srgbClr val="1A1A1A"/>
                </a:solidFill>
              </a:rPr>
              <a:t>Vault PKI</a:t>
            </a:r>
            <a:endParaRPr lang="en-US" sz="1300" dirty="0"/>
          </a:p>
        </p:txBody>
      </p:sp>
      <p:sp>
        <p:nvSpPr>
          <p:cNvPr id="16" name="Text 14"/>
          <p:cNvSpPr/>
          <p:nvPr/>
        </p:nvSpPr>
        <p:spPr>
          <a:xfrm>
            <a:off x="1005840" y="2176272"/>
            <a:ext cx="7589520" cy="219456"/>
          </a:xfrm>
          <a:prstGeom prst="rect">
            <a:avLst/>
          </a:prstGeom>
          <a:noFill/>
          <a:ln/>
        </p:spPr>
        <p:txBody>
          <a:bodyPr wrap="square" lIns="0" tIns="0" rIns="0" bIns="0" rtlCol="0" anchor="ctr"/>
          <a:lstStyle/>
          <a:p>
            <a:pPr indent="0" marL="0">
              <a:buNone/>
            </a:pPr>
            <a:r>
              <a:rPr lang="en-US" sz="950" dirty="0">
                <a:solidFill>
                  <a:srgbClr val="6B7B6E"/>
                </a:solidFill>
              </a:rPr>
              <a:t>Moteur PKI – cycle de vie des certificats X.509</a:t>
            </a:r>
            <a:endParaRPr lang="en-US" sz="950" dirty="0"/>
          </a:p>
        </p:txBody>
      </p:sp>
      <p:sp>
        <p:nvSpPr>
          <p:cNvPr id="17" name="Shape 15"/>
          <p:cNvSpPr/>
          <p:nvPr/>
        </p:nvSpPr>
        <p:spPr>
          <a:xfrm>
            <a:off x="365760" y="2596896"/>
            <a:ext cx="8412480" cy="621792"/>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365760" y="2596896"/>
            <a:ext cx="54864" cy="621792"/>
          </a:xfrm>
          <a:prstGeom prst="rect">
            <a:avLst/>
          </a:prstGeom>
          <a:solidFill>
            <a:srgbClr val="007A4D"/>
          </a:solidFill>
          <a:ln w="12700">
            <a:solidFill>
              <a:srgbClr val="007A4D"/>
            </a:solidFill>
            <a:prstDash val="solid"/>
          </a:ln>
        </p:spPr>
      </p:sp>
      <p:sp>
        <p:nvSpPr>
          <p:cNvPr id="19" name="Shape 17"/>
          <p:cNvSpPr/>
          <p:nvPr/>
        </p:nvSpPr>
        <p:spPr>
          <a:xfrm>
            <a:off x="502920" y="2724912"/>
            <a:ext cx="365760" cy="365760"/>
          </a:xfrm>
          <a:prstGeom prst="ellipse">
            <a:avLst/>
          </a:prstGeom>
          <a:solidFill>
            <a:srgbClr val="007A4D"/>
          </a:solidFill>
          <a:ln w="12700">
            <a:solidFill>
              <a:srgbClr val="007A4D"/>
            </a:solidFill>
            <a:prstDash val="solid"/>
          </a:ln>
        </p:spPr>
      </p:sp>
      <p:sp>
        <p:nvSpPr>
          <p:cNvPr id="20" name="Text 18"/>
          <p:cNvSpPr/>
          <p:nvPr/>
        </p:nvSpPr>
        <p:spPr>
          <a:xfrm>
            <a:off x="502920" y="272491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rPr>
              <a:t>03</a:t>
            </a:r>
            <a:endParaRPr lang="en-US" sz="1000" dirty="0"/>
          </a:p>
        </p:txBody>
      </p:sp>
      <p:sp>
        <p:nvSpPr>
          <p:cNvPr id="21" name="Text 19"/>
          <p:cNvSpPr/>
          <p:nvPr/>
        </p:nvSpPr>
        <p:spPr>
          <a:xfrm>
            <a:off x="1005840" y="2670048"/>
            <a:ext cx="3657600" cy="274320"/>
          </a:xfrm>
          <a:prstGeom prst="rect">
            <a:avLst/>
          </a:prstGeom>
          <a:noFill/>
          <a:ln/>
        </p:spPr>
        <p:txBody>
          <a:bodyPr wrap="square" lIns="0" tIns="0" rIns="0" bIns="0" rtlCol="0" anchor="ctr"/>
          <a:lstStyle/>
          <a:p>
            <a:pPr indent="0" marL="0">
              <a:buNone/>
            </a:pPr>
            <a:r>
              <a:rPr lang="en-US" sz="1300" b="1" dirty="0">
                <a:solidFill>
                  <a:srgbClr val="1A1A1A"/>
                </a:solidFill>
              </a:rPr>
              <a:t>Solutions possibles</a:t>
            </a:r>
            <a:endParaRPr lang="en-US" sz="1300" dirty="0"/>
          </a:p>
        </p:txBody>
      </p:sp>
      <p:sp>
        <p:nvSpPr>
          <p:cNvPr id="22" name="Text 20"/>
          <p:cNvSpPr/>
          <p:nvPr/>
        </p:nvSpPr>
        <p:spPr>
          <a:xfrm>
            <a:off x="1005840" y="2926080"/>
            <a:ext cx="7589520" cy="219456"/>
          </a:xfrm>
          <a:prstGeom prst="rect">
            <a:avLst/>
          </a:prstGeom>
          <a:noFill/>
          <a:ln/>
        </p:spPr>
        <p:txBody>
          <a:bodyPr wrap="square" lIns="0" tIns="0" rIns="0" bIns="0" rtlCol="0" anchor="ctr"/>
          <a:lstStyle/>
          <a:p>
            <a:pPr indent="0" marL="0">
              <a:buNone/>
            </a:pPr>
            <a:r>
              <a:rPr lang="en-US" sz="950" dirty="0">
                <a:solidFill>
                  <a:srgbClr val="6B7B6E"/>
                </a:solidFill>
              </a:rPr>
              <a:t>cert-manager, VSO, Sidecar Injector, Init+CronJob</a:t>
            </a:r>
            <a:endParaRPr lang="en-US" sz="950" dirty="0"/>
          </a:p>
        </p:txBody>
      </p:sp>
      <p:sp>
        <p:nvSpPr>
          <p:cNvPr id="23" name="Shape 21"/>
          <p:cNvSpPr/>
          <p:nvPr/>
        </p:nvSpPr>
        <p:spPr>
          <a:xfrm>
            <a:off x="365760" y="3346704"/>
            <a:ext cx="8412480" cy="621792"/>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365760" y="3346704"/>
            <a:ext cx="54864" cy="621792"/>
          </a:xfrm>
          <a:prstGeom prst="rect">
            <a:avLst/>
          </a:prstGeom>
          <a:solidFill>
            <a:srgbClr val="C8992B"/>
          </a:solidFill>
          <a:ln w="12700">
            <a:solidFill>
              <a:srgbClr val="C8992B"/>
            </a:solidFill>
            <a:prstDash val="solid"/>
          </a:ln>
        </p:spPr>
      </p:sp>
      <p:sp>
        <p:nvSpPr>
          <p:cNvPr id="25" name="Shape 23"/>
          <p:cNvSpPr/>
          <p:nvPr/>
        </p:nvSpPr>
        <p:spPr>
          <a:xfrm>
            <a:off x="502920" y="3474720"/>
            <a:ext cx="365760" cy="365760"/>
          </a:xfrm>
          <a:prstGeom prst="ellipse">
            <a:avLst/>
          </a:prstGeom>
          <a:solidFill>
            <a:srgbClr val="C8992B"/>
          </a:solidFill>
          <a:ln w="12700">
            <a:solidFill>
              <a:srgbClr val="C8992B"/>
            </a:solidFill>
            <a:prstDash val="solid"/>
          </a:ln>
        </p:spPr>
      </p:sp>
      <p:sp>
        <p:nvSpPr>
          <p:cNvPr id="26" name="Text 24"/>
          <p:cNvSpPr/>
          <p:nvPr/>
        </p:nvSpPr>
        <p:spPr>
          <a:xfrm>
            <a:off x="502920" y="347472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rPr>
              <a:t>04</a:t>
            </a:r>
            <a:endParaRPr lang="en-US" sz="1000" dirty="0"/>
          </a:p>
        </p:txBody>
      </p:sp>
      <p:sp>
        <p:nvSpPr>
          <p:cNvPr id="27" name="Text 25"/>
          <p:cNvSpPr/>
          <p:nvPr/>
        </p:nvSpPr>
        <p:spPr>
          <a:xfrm>
            <a:off x="1005840" y="3419856"/>
            <a:ext cx="3657600" cy="274320"/>
          </a:xfrm>
          <a:prstGeom prst="rect">
            <a:avLst/>
          </a:prstGeom>
          <a:noFill/>
          <a:ln/>
        </p:spPr>
        <p:txBody>
          <a:bodyPr wrap="square" lIns="0" tIns="0" rIns="0" bIns="0" rtlCol="0" anchor="ctr"/>
          <a:lstStyle/>
          <a:p>
            <a:pPr indent="0" marL="0">
              <a:buNone/>
            </a:pPr>
            <a:r>
              <a:rPr lang="en-US" sz="1300" b="1" dirty="0">
                <a:solidFill>
                  <a:srgbClr val="1A1A1A"/>
                </a:solidFill>
              </a:rPr>
              <a:t>Init Container + CronJob</a:t>
            </a:r>
            <a:endParaRPr lang="en-US" sz="1300" dirty="0"/>
          </a:p>
        </p:txBody>
      </p:sp>
      <p:sp>
        <p:nvSpPr>
          <p:cNvPr id="28" name="Text 26"/>
          <p:cNvSpPr/>
          <p:nvPr/>
        </p:nvSpPr>
        <p:spPr>
          <a:xfrm>
            <a:off x="1005840" y="3675888"/>
            <a:ext cx="7589520" cy="219456"/>
          </a:xfrm>
          <a:prstGeom prst="rect">
            <a:avLst/>
          </a:prstGeom>
          <a:noFill/>
          <a:ln/>
        </p:spPr>
        <p:txBody>
          <a:bodyPr wrap="square" lIns="0" tIns="0" rIns="0" bIns="0" rtlCol="0" anchor="ctr"/>
          <a:lstStyle/>
          <a:p>
            <a:pPr indent="0" marL="0">
              <a:buNone/>
            </a:pPr>
            <a:r>
              <a:rPr lang="en-US" sz="950" dirty="0">
                <a:solidFill>
                  <a:srgbClr val="6B7B6E"/>
                </a:solidFill>
              </a:rPr>
              <a:t>Pattern recommandé – focus architecture &amp; renouvellement</a:t>
            </a:r>
            <a:endParaRPr lang="en-US" sz="950" dirty="0"/>
          </a:p>
        </p:txBody>
      </p:sp>
      <p:sp>
        <p:nvSpPr>
          <p:cNvPr id="29" name="Shape 27"/>
          <p:cNvSpPr/>
          <p:nvPr/>
        </p:nvSpPr>
        <p:spPr>
          <a:xfrm>
            <a:off x="365760" y="4096512"/>
            <a:ext cx="8412480" cy="621792"/>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30" name="Shape 28"/>
          <p:cNvSpPr/>
          <p:nvPr/>
        </p:nvSpPr>
        <p:spPr>
          <a:xfrm>
            <a:off x="365760" y="4096512"/>
            <a:ext cx="54864" cy="621792"/>
          </a:xfrm>
          <a:prstGeom prst="rect">
            <a:avLst/>
          </a:prstGeom>
          <a:solidFill>
            <a:srgbClr val="8B5A2B"/>
          </a:solidFill>
          <a:ln w="12700">
            <a:solidFill>
              <a:srgbClr val="8B5A2B"/>
            </a:solidFill>
            <a:prstDash val="solid"/>
          </a:ln>
        </p:spPr>
      </p:sp>
      <p:sp>
        <p:nvSpPr>
          <p:cNvPr id="31" name="Shape 29"/>
          <p:cNvSpPr/>
          <p:nvPr/>
        </p:nvSpPr>
        <p:spPr>
          <a:xfrm>
            <a:off x="502920" y="4224528"/>
            <a:ext cx="365760" cy="365760"/>
          </a:xfrm>
          <a:prstGeom prst="ellipse">
            <a:avLst/>
          </a:prstGeom>
          <a:solidFill>
            <a:srgbClr val="8B5A2B"/>
          </a:solidFill>
          <a:ln w="12700">
            <a:solidFill>
              <a:srgbClr val="8B5A2B"/>
            </a:solidFill>
            <a:prstDash val="solid"/>
          </a:ln>
        </p:spPr>
      </p:sp>
      <p:sp>
        <p:nvSpPr>
          <p:cNvPr id="32" name="Text 30"/>
          <p:cNvSpPr/>
          <p:nvPr/>
        </p:nvSpPr>
        <p:spPr>
          <a:xfrm>
            <a:off x="502920" y="422452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rPr>
              <a:t>05</a:t>
            </a:r>
            <a:endParaRPr lang="en-US" sz="1000" dirty="0"/>
          </a:p>
        </p:txBody>
      </p:sp>
      <p:sp>
        <p:nvSpPr>
          <p:cNvPr id="33" name="Text 31"/>
          <p:cNvSpPr/>
          <p:nvPr/>
        </p:nvSpPr>
        <p:spPr>
          <a:xfrm>
            <a:off x="1005840" y="4169664"/>
            <a:ext cx="3657600" cy="274320"/>
          </a:xfrm>
          <a:prstGeom prst="rect">
            <a:avLst/>
          </a:prstGeom>
          <a:noFill/>
          <a:ln/>
        </p:spPr>
        <p:txBody>
          <a:bodyPr wrap="square" lIns="0" tIns="0" rIns="0" bIns="0" rtlCol="0" anchor="ctr"/>
          <a:lstStyle/>
          <a:p>
            <a:pPr indent="0" marL="0">
              <a:buNone/>
            </a:pPr>
            <a:r>
              <a:rPr lang="en-US" sz="1300" b="1" dirty="0">
                <a:solidFill>
                  <a:srgbClr val="1A1A1A"/>
                </a:solidFill>
              </a:rPr>
              <a:t>Avantages du Sidecar Nginx</a:t>
            </a:r>
            <a:endParaRPr lang="en-US" sz="1300" dirty="0"/>
          </a:p>
        </p:txBody>
      </p:sp>
      <p:sp>
        <p:nvSpPr>
          <p:cNvPr id="34" name="Text 32"/>
          <p:cNvSpPr/>
          <p:nvPr/>
        </p:nvSpPr>
        <p:spPr>
          <a:xfrm>
            <a:off x="1005840" y="4425696"/>
            <a:ext cx="7589520" cy="219456"/>
          </a:xfrm>
          <a:prstGeom prst="rect">
            <a:avLst/>
          </a:prstGeom>
          <a:noFill/>
          <a:ln/>
        </p:spPr>
        <p:txBody>
          <a:bodyPr wrap="square" lIns="0" tIns="0" rIns="0" bIns="0" rtlCol="0" anchor="ctr"/>
          <a:lstStyle/>
          <a:p>
            <a:pPr indent="0" marL="0">
              <a:buNone/>
            </a:pPr>
            <a:r>
              <a:rPr lang="en-US" sz="950" dirty="0">
                <a:solidFill>
                  <a:srgbClr val="6B7B6E"/>
                </a:solidFill>
              </a:rPr>
              <a:t>TLS Re-encrypt sur ROKS/OpenShift avec pattern Sidecar</a:t>
            </a:r>
            <a:endParaRPr lang="en-US" sz="950" dirty="0"/>
          </a:p>
        </p:txBody>
      </p:sp>
      <p:sp>
        <p:nvSpPr>
          <p:cNvPr id="35" name="Shape 33"/>
          <p:cNvSpPr/>
          <p:nvPr/>
        </p:nvSpPr>
        <p:spPr>
          <a:xfrm>
            <a:off x="0" y="4846320"/>
            <a:ext cx="9144000" cy="297180"/>
          </a:xfrm>
          <a:prstGeom prst="rect">
            <a:avLst/>
          </a:prstGeom>
          <a:solidFill>
            <a:srgbClr val="00915A"/>
          </a:solidFill>
          <a:ln w="12700">
            <a:solidFill>
              <a:srgbClr val="00915A"/>
            </a:solidFill>
            <a:prstDash val="solid"/>
          </a:ln>
        </p:spPr>
      </p:sp>
      <p:sp>
        <p:nvSpPr>
          <p:cNvPr id="36" name="Text 34"/>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915A"/>
          </a:solidFill>
          <a:ln w="12700">
            <a:solidFill>
              <a:srgbClr val="00915A"/>
            </a:solidFill>
            <a:prstDash val="solid"/>
          </a:ln>
        </p:spPr>
      </p:sp>
      <p:sp>
        <p:nvSpPr>
          <p:cNvPr id="3" name="Text 1"/>
          <p:cNvSpPr/>
          <p:nvPr/>
        </p:nvSpPr>
        <p:spPr>
          <a:xfrm>
            <a:off x="365760" y="0"/>
            <a:ext cx="8229600" cy="594360"/>
          </a:xfrm>
          <a:prstGeom prst="rect">
            <a:avLst/>
          </a:prstGeom>
          <a:noFill/>
          <a:ln/>
        </p:spPr>
        <p:txBody>
          <a:bodyPr wrap="square" lIns="0" tIns="0" rIns="0" bIns="0" rtlCol="0" anchor="b"/>
          <a:lstStyle/>
          <a:p>
            <a:pPr indent="0" marL="0">
              <a:buNone/>
            </a:pPr>
            <a:r>
              <a:rPr lang="en-US" sz="2600" b="1" dirty="0">
                <a:solidFill>
                  <a:srgbClr val="FFFFFF"/>
                </a:solidFill>
              </a:rPr>
              <a:t>Contexte</a:t>
            </a:r>
            <a:endParaRPr lang="en-US" sz="2600" dirty="0"/>
          </a:p>
        </p:txBody>
      </p:sp>
      <p:sp>
        <p:nvSpPr>
          <p:cNvPr id="4" name="Text 2"/>
          <p:cNvSpPr/>
          <p:nvPr/>
        </p:nvSpPr>
        <p:spPr>
          <a:xfrm>
            <a:off x="8046720" y="137160"/>
            <a:ext cx="731520" cy="457200"/>
          </a:xfrm>
          <a:prstGeom prst="rect">
            <a:avLst/>
          </a:prstGeom>
          <a:noFill/>
          <a:ln/>
        </p:spPr>
        <p:txBody>
          <a:bodyPr wrap="square" lIns="0" tIns="0" rIns="0" bIns="0" rtlCol="0" anchor="ctr"/>
          <a:lstStyle/>
          <a:p>
            <a:pPr algn="r" indent="0" marL="0">
              <a:buNone/>
            </a:pPr>
            <a:r>
              <a:rPr lang="en-US" sz="2800" b="1" dirty="0">
                <a:solidFill>
                  <a:srgbClr val="A8D5C4"/>
                </a:solidFill>
              </a:rPr>
              <a:t>01</a:t>
            </a:r>
            <a:endParaRPr lang="en-US" sz="2800" dirty="0"/>
          </a:p>
        </p:txBody>
      </p:sp>
      <p:sp>
        <p:nvSpPr>
          <p:cNvPr id="5" name="Shape 3"/>
          <p:cNvSpPr/>
          <p:nvPr/>
        </p:nvSpPr>
        <p:spPr>
          <a:xfrm>
            <a:off x="274320" y="1051560"/>
            <a:ext cx="4206240" cy="365760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051560"/>
            <a:ext cx="4206240" cy="475488"/>
          </a:xfrm>
          <a:prstGeom prst="rect">
            <a:avLst/>
          </a:prstGeom>
          <a:solidFill>
            <a:srgbClr val="00915A"/>
          </a:solidFill>
          <a:ln w="12700">
            <a:solidFill>
              <a:srgbClr val="00915A"/>
            </a:solidFill>
            <a:prstDash val="solid"/>
          </a:ln>
        </p:spPr>
      </p:sp>
      <p:sp>
        <p:nvSpPr>
          <p:cNvPr id="7" name="Text 5"/>
          <p:cNvSpPr/>
          <p:nvPr/>
        </p:nvSpPr>
        <p:spPr>
          <a:xfrm>
            <a:off x="411480" y="1051560"/>
            <a:ext cx="3931920" cy="475488"/>
          </a:xfrm>
          <a:prstGeom prst="rect">
            <a:avLst/>
          </a:prstGeom>
          <a:noFill/>
          <a:ln/>
        </p:spPr>
        <p:txBody>
          <a:bodyPr wrap="square" lIns="0" tIns="0" rIns="0" bIns="0" rtlCol="0" anchor="ctr"/>
          <a:lstStyle/>
          <a:p>
            <a:pPr indent="0" marL="0">
              <a:buNone/>
            </a:pPr>
            <a:r>
              <a:rPr lang="en-US" sz="1400" b="1" dirty="0">
                <a:solidFill>
                  <a:srgbClr val="FFFFFF"/>
                </a:solidFill>
              </a:rPr>
              <a:t>Cluster Kubernetes</a:t>
            </a:r>
            <a:endParaRPr lang="en-US" sz="1400" dirty="0"/>
          </a:p>
        </p:txBody>
      </p:sp>
      <p:sp>
        <p:nvSpPr>
          <p:cNvPr id="8" name="Shape 6"/>
          <p:cNvSpPr/>
          <p:nvPr/>
        </p:nvSpPr>
        <p:spPr>
          <a:xfrm>
            <a:off x="457200" y="1691640"/>
            <a:ext cx="164592" cy="164592"/>
          </a:xfrm>
          <a:prstGeom prst="ellipse">
            <a:avLst/>
          </a:prstGeom>
          <a:solidFill>
            <a:srgbClr val="00915A"/>
          </a:solidFill>
          <a:ln w="12700">
            <a:solidFill>
              <a:srgbClr val="00915A"/>
            </a:solidFill>
            <a:prstDash val="solid"/>
          </a:ln>
        </p:spPr>
      </p:sp>
      <p:sp>
        <p:nvSpPr>
          <p:cNvPr id="9" name="Text 7"/>
          <p:cNvSpPr/>
          <p:nvPr/>
        </p:nvSpPr>
        <p:spPr>
          <a:xfrm>
            <a:off x="713232" y="1664208"/>
            <a:ext cx="3657600" cy="256032"/>
          </a:xfrm>
          <a:prstGeom prst="rect">
            <a:avLst/>
          </a:prstGeom>
          <a:noFill/>
          <a:ln/>
        </p:spPr>
        <p:txBody>
          <a:bodyPr wrap="square" lIns="0" tIns="0" rIns="0" bIns="0" rtlCol="0" anchor="ctr"/>
          <a:lstStyle/>
          <a:p>
            <a:pPr indent="0" marL="0">
              <a:buNone/>
            </a:pPr>
            <a:r>
              <a:rPr lang="en-US" sz="1100" dirty="0">
                <a:solidFill>
                  <a:srgbClr val="1A1A1A"/>
                </a:solidFill>
              </a:rPr>
              <a:t>Pods nécessitant des certificats TLS</a:t>
            </a:r>
            <a:endParaRPr lang="en-US" sz="1100" dirty="0"/>
          </a:p>
        </p:txBody>
      </p:sp>
      <p:sp>
        <p:nvSpPr>
          <p:cNvPr id="10" name="Shape 8"/>
          <p:cNvSpPr/>
          <p:nvPr/>
        </p:nvSpPr>
        <p:spPr>
          <a:xfrm>
            <a:off x="457200" y="2240280"/>
            <a:ext cx="164592" cy="164592"/>
          </a:xfrm>
          <a:prstGeom prst="ellipse">
            <a:avLst/>
          </a:prstGeom>
          <a:solidFill>
            <a:srgbClr val="00915A"/>
          </a:solidFill>
          <a:ln w="12700">
            <a:solidFill>
              <a:srgbClr val="00915A"/>
            </a:solidFill>
            <a:prstDash val="solid"/>
          </a:ln>
        </p:spPr>
      </p:sp>
      <p:sp>
        <p:nvSpPr>
          <p:cNvPr id="11" name="Text 9"/>
          <p:cNvSpPr/>
          <p:nvPr/>
        </p:nvSpPr>
        <p:spPr>
          <a:xfrm>
            <a:off x="713232" y="2212848"/>
            <a:ext cx="3657600" cy="256032"/>
          </a:xfrm>
          <a:prstGeom prst="rect">
            <a:avLst/>
          </a:prstGeom>
          <a:noFill/>
          <a:ln/>
        </p:spPr>
        <p:txBody>
          <a:bodyPr wrap="square" lIns="0" tIns="0" rIns="0" bIns="0" rtlCol="0" anchor="ctr"/>
          <a:lstStyle/>
          <a:p>
            <a:pPr indent="0" marL="0">
              <a:buNone/>
            </a:pPr>
            <a:r>
              <a:rPr lang="en-US" sz="1100" dirty="0">
                <a:solidFill>
                  <a:srgbClr val="1A1A1A"/>
                </a:solidFill>
              </a:rPr>
              <a:t>Services multiples avec identités propres</a:t>
            </a:r>
            <a:endParaRPr lang="en-US" sz="1100" dirty="0"/>
          </a:p>
        </p:txBody>
      </p:sp>
      <p:sp>
        <p:nvSpPr>
          <p:cNvPr id="12" name="Shape 10"/>
          <p:cNvSpPr/>
          <p:nvPr/>
        </p:nvSpPr>
        <p:spPr>
          <a:xfrm>
            <a:off x="457200" y="2788920"/>
            <a:ext cx="164592" cy="164592"/>
          </a:xfrm>
          <a:prstGeom prst="ellipse">
            <a:avLst/>
          </a:prstGeom>
          <a:solidFill>
            <a:srgbClr val="00915A"/>
          </a:solidFill>
          <a:ln w="12700">
            <a:solidFill>
              <a:srgbClr val="00915A"/>
            </a:solidFill>
            <a:prstDash val="solid"/>
          </a:ln>
        </p:spPr>
      </p:sp>
      <p:sp>
        <p:nvSpPr>
          <p:cNvPr id="13" name="Text 11"/>
          <p:cNvSpPr/>
          <p:nvPr/>
        </p:nvSpPr>
        <p:spPr>
          <a:xfrm>
            <a:off x="713232" y="2761488"/>
            <a:ext cx="3657600" cy="256032"/>
          </a:xfrm>
          <a:prstGeom prst="rect">
            <a:avLst/>
          </a:prstGeom>
          <a:noFill/>
          <a:ln/>
        </p:spPr>
        <p:txBody>
          <a:bodyPr wrap="square" lIns="0" tIns="0" rIns="0" bIns="0" rtlCol="0" anchor="ctr"/>
          <a:lstStyle/>
          <a:p>
            <a:pPr indent="0" marL="0">
              <a:buNone/>
            </a:pPr>
            <a:r>
              <a:rPr lang="en-US" sz="1100" dirty="0">
                <a:solidFill>
                  <a:srgbClr val="1A1A1A"/>
                </a:solidFill>
              </a:rPr>
              <a:t>Rotation automatique requise (TTL court)</a:t>
            </a:r>
            <a:endParaRPr lang="en-US" sz="1100" dirty="0"/>
          </a:p>
        </p:txBody>
      </p:sp>
      <p:sp>
        <p:nvSpPr>
          <p:cNvPr id="14" name="Shape 12"/>
          <p:cNvSpPr/>
          <p:nvPr/>
        </p:nvSpPr>
        <p:spPr>
          <a:xfrm>
            <a:off x="457200" y="3337560"/>
            <a:ext cx="164592" cy="164592"/>
          </a:xfrm>
          <a:prstGeom prst="ellipse">
            <a:avLst/>
          </a:prstGeom>
          <a:solidFill>
            <a:srgbClr val="00915A"/>
          </a:solidFill>
          <a:ln w="12700">
            <a:solidFill>
              <a:srgbClr val="00915A"/>
            </a:solidFill>
            <a:prstDash val="solid"/>
          </a:ln>
        </p:spPr>
      </p:sp>
      <p:sp>
        <p:nvSpPr>
          <p:cNvPr id="15" name="Text 13"/>
          <p:cNvSpPr/>
          <p:nvPr/>
        </p:nvSpPr>
        <p:spPr>
          <a:xfrm>
            <a:off x="713232" y="3310128"/>
            <a:ext cx="3657600" cy="256032"/>
          </a:xfrm>
          <a:prstGeom prst="rect">
            <a:avLst/>
          </a:prstGeom>
          <a:noFill/>
          <a:ln/>
        </p:spPr>
        <p:txBody>
          <a:bodyPr wrap="square" lIns="0" tIns="0" rIns="0" bIns="0" rtlCol="0" anchor="ctr"/>
          <a:lstStyle/>
          <a:p>
            <a:pPr indent="0" marL="0">
              <a:buNone/>
            </a:pPr>
            <a:r>
              <a:rPr lang="en-US" sz="1100" dirty="0">
                <a:solidFill>
                  <a:srgbClr val="1A1A1A"/>
                </a:solidFill>
              </a:rPr>
              <a:t>Conformité sécurité &amp; audit trail</a:t>
            </a:r>
            <a:endParaRPr lang="en-US" sz="1100" dirty="0"/>
          </a:p>
        </p:txBody>
      </p:sp>
      <p:sp>
        <p:nvSpPr>
          <p:cNvPr id="16" name="Shape 14"/>
          <p:cNvSpPr/>
          <p:nvPr/>
        </p:nvSpPr>
        <p:spPr>
          <a:xfrm>
            <a:off x="457200" y="3886200"/>
            <a:ext cx="164592" cy="164592"/>
          </a:xfrm>
          <a:prstGeom prst="ellipse">
            <a:avLst/>
          </a:prstGeom>
          <a:solidFill>
            <a:srgbClr val="00915A"/>
          </a:solidFill>
          <a:ln w="12700">
            <a:solidFill>
              <a:srgbClr val="00915A"/>
            </a:solidFill>
            <a:prstDash val="solid"/>
          </a:ln>
        </p:spPr>
      </p:sp>
      <p:sp>
        <p:nvSpPr>
          <p:cNvPr id="17" name="Text 15"/>
          <p:cNvSpPr/>
          <p:nvPr/>
        </p:nvSpPr>
        <p:spPr>
          <a:xfrm>
            <a:off x="713232" y="3858768"/>
            <a:ext cx="3657600" cy="256032"/>
          </a:xfrm>
          <a:prstGeom prst="rect">
            <a:avLst/>
          </a:prstGeom>
          <a:noFill/>
          <a:ln/>
        </p:spPr>
        <p:txBody>
          <a:bodyPr wrap="square" lIns="0" tIns="0" rIns="0" bIns="0" rtlCol="0" anchor="ctr"/>
          <a:lstStyle/>
          <a:p>
            <a:pPr indent="0" marL="0">
              <a:buNone/>
            </a:pPr>
            <a:r>
              <a:rPr lang="en-US" sz="1100" dirty="0">
                <a:solidFill>
                  <a:srgbClr val="1A1A1A"/>
                </a:solidFill>
              </a:rPr>
              <a:t>Multi-namespaces / multi-clusters</a:t>
            </a:r>
            <a:endParaRPr lang="en-US" sz="1100" dirty="0"/>
          </a:p>
        </p:txBody>
      </p:sp>
      <p:sp>
        <p:nvSpPr>
          <p:cNvPr id="18" name="Shape 16"/>
          <p:cNvSpPr/>
          <p:nvPr/>
        </p:nvSpPr>
        <p:spPr>
          <a:xfrm>
            <a:off x="4663440" y="1051560"/>
            <a:ext cx="4206240" cy="365760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4663440" y="1051560"/>
            <a:ext cx="4206240" cy="475488"/>
          </a:xfrm>
          <a:prstGeom prst="rect">
            <a:avLst/>
          </a:prstGeom>
          <a:solidFill>
            <a:srgbClr val="007A4D"/>
          </a:solidFill>
          <a:ln w="12700">
            <a:solidFill>
              <a:srgbClr val="007A4D"/>
            </a:solidFill>
            <a:prstDash val="solid"/>
          </a:ln>
        </p:spPr>
      </p:sp>
      <p:sp>
        <p:nvSpPr>
          <p:cNvPr id="20" name="Text 18"/>
          <p:cNvSpPr/>
          <p:nvPr/>
        </p:nvSpPr>
        <p:spPr>
          <a:xfrm>
            <a:off x="4800600" y="1051560"/>
            <a:ext cx="3931920" cy="475488"/>
          </a:xfrm>
          <a:prstGeom prst="rect">
            <a:avLst/>
          </a:prstGeom>
          <a:noFill/>
          <a:ln/>
        </p:spPr>
        <p:txBody>
          <a:bodyPr wrap="square" lIns="0" tIns="0" rIns="0" bIns="0" rtlCol="0" anchor="ctr"/>
          <a:lstStyle/>
          <a:p>
            <a:pPr indent="0" marL="0">
              <a:buNone/>
            </a:pPr>
            <a:r>
              <a:rPr lang="en-US" sz="1400" b="1" dirty="0">
                <a:solidFill>
                  <a:srgbClr val="FFFFFF"/>
                </a:solidFill>
              </a:rPr>
              <a:t>HashiCorp Vault</a:t>
            </a:r>
            <a:endParaRPr lang="en-US" sz="1400" dirty="0"/>
          </a:p>
        </p:txBody>
      </p:sp>
      <p:sp>
        <p:nvSpPr>
          <p:cNvPr id="21" name="Shape 19"/>
          <p:cNvSpPr/>
          <p:nvPr/>
        </p:nvSpPr>
        <p:spPr>
          <a:xfrm>
            <a:off x="4846320" y="1691640"/>
            <a:ext cx="164592" cy="164592"/>
          </a:xfrm>
          <a:prstGeom prst="ellipse">
            <a:avLst/>
          </a:prstGeom>
          <a:solidFill>
            <a:srgbClr val="007A4D"/>
          </a:solidFill>
          <a:ln w="12700">
            <a:solidFill>
              <a:srgbClr val="007A4D"/>
            </a:solidFill>
            <a:prstDash val="solid"/>
          </a:ln>
        </p:spPr>
      </p:sp>
      <p:sp>
        <p:nvSpPr>
          <p:cNvPr id="22" name="Text 20"/>
          <p:cNvSpPr/>
          <p:nvPr/>
        </p:nvSpPr>
        <p:spPr>
          <a:xfrm>
            <a:off x="5102352" y="1664208"/>
            <a:ext cx="3657600" cy="256032"/>
          </a:xfrm>
          <a:prstGeom prst="rect">
            <a:avLst/>
          </a:prstGeom>
          <a:noFill/>
          <a:ln/>
        </p:spPr>
        <p:txBody>
          <a:bodyPr wrap="square" lIns="0" tIns="0" rIns="0" bIns="0" rtlCol="0" anchor="ctr"/>
          <a:lstStyle/>
          <a:p>
            <a:pPr indent="0" marL="0">
              <a:buNone/>
            </a:pPr>
            <a:r>
              <a:rPr lang="en-US" sz="1100" dirty="0">
                <a:solidFill>
                  <a:srgbClr val="1A1A1A"/>
                </a:solidFill>
              </a:rPr>
              <a:t>Déployé sur un système externe au cluster K8s</a:t>
            </a:r>
            <a:endParaRPr lang="en-US" sz="1100" dirty="0"/>
          </a:p>
        </p:txBody>
      </p:sp>
      <p:sp>
        <p:nvSpPr>
          <p:cNvPr id="23" name="Shape 21"/>
          <p:cNvSpPr/>
          <p:nvPr/>
        </p:nvSpPr>
        <p:spPr>
          <a:xfrm>
            <a:off x="4846320" y="2240280"/>
            <a:ext cx="164592" cy="164592"/>
          </a:xfrm>
          <a:prstGeom prst="ellipse">
            <a:avLst/>
          </a:prstGeom>
          <a:solidFill>
            <a:srgbClr val="007A4D"/>
          </a:solidFill>
          <a:ln w="12700">
            <a:solidFill>
              <a:srgbClr val="007A4D"/>
            </a:solidFill>
            <a:prstDash val="solid"/>
          </a:ln>
        </p:spPr>
      </p:sp>
      <p:sp>
        <p:nvSpPr>
          <p:cNvPr id="24" name="Text 22"/>
          <p:cNvSpPr/>
          <p:nvPr/>
        </p:nvSpPr>
        <p:spPr>
          <a:xfrm>
            <a:off x="5102352" y="2212848"/>
            <a:ext cx="3657600" cy="256032"/>
          </a:xfrm>
          <a:prstGeom prst="rect">
            <a:avLst/>
          </a:prstGeom>
          <a:noFill/>
          <a:ln/>
        </p:spPr>
        <p:txBody>
          <a:bodyPr wrap="square" lIns="0" tIns="0" rIns="0" bIns="0" rtlCol="0" anchor="ctr"/>
          <a:lstStyle/>
          <a:p>
            <a:pPr indent="0" marL="0">
              <a:buNone/>
            </a:pPr>
            <a:r>
              <a:rPr lang="en-US" sz="1100" dirty="0">
                <a:solidFill>
                  <a:srgbClr val="1A1A1A"/>
                </a:solidFill>
              </a:rPr>
              <a:t>PKI Engine configuré (CA root + intermédiaire)</a:t>
            </a:r>
            <a:endParaRPr lang="en-US" sz="1100" dirty="0"/>
          </a:p>
        </p:txBody>
      </p:sp>
      <p:sp>
        <p:nvSpPr>
          <p:cNvPr id="25" name="Shape 23"/>
          <p:cNvSpPr/>
          <p:nvPr/>
        </p:nvSpPr>
        <p:spPr>
          <a:xfrm>
            <a:off x="4846320" y="2788920"/>
            <a:ext cx="164592" cy="164592"/>
          </a:xfrm>
          <a:prstGeom prst="ellipse">
            <a:avLst/>
          </a:prstGeom>
          <a:solidFill>
            <a:srgbClr val="007A4D"/>
          </a:solidFill>
          <a:ln w="12700">
            <a:solidFill>
              <a:srgbClr val="007A4D"/>
            </a:solidFill>
            <a:prstDash val="solid"/>
          </a:ln>
        </p:spPr>
      </p:sp>
      <p:sp>
        <p:nvSpPr>
          <p:cNvPr id="26" name="Text 24"/>
          <p:cNvSpPr/>
          <p:nvPr/>
        </p:nvSpPr>
        <p:spPr>
          <a:xfrm>
            <a:off x="5102352" y="2761488"/>
            <a:ext cx="3657600" cy="256032"/>
          </a:xfrm>
          <a:prstGeom prst="rect">
            <a:avLst/>
          </a:prstGeom>
          <a:noFill/>
          <a:ln/>
        </p:spPr>
        <p:txBody>
          <a:bodyPr wrap="square" lIns="0" tIns="0" rIns="0" bIns="0" rtlCol="0" anchor="ctr"/>
          <a:lstStyle/>
          <a:p>
            <a:pPr indent="0" marL="0">
              <a:buNone/>
            </a:pPr>
            <a:r>
              <a:rPr lang="en-US" sz="1100" dirty="0">
                <a:solidFill>
                  <a:srgbClr val="1A1A1A"/>
                </a:solidFill>
              </a:rPr>
              <a:t>Rôles et policies finement définis</a:t>
            </a:r>
            <a:endParaRPr lang="en-US" sz="1100" dirty="0"/>
          </a:p>
        </p:txBody>
      </p:sp>
      <p:sp>
        <p:nvSpPr>
          <p:cNvPr id="27" name="Shape 25"/>
          <p:cNvSpPr/>
          <p:nvPr/>
        </p:nvSpPr>
        <p:spPr>
          <a:xfrm>
            <a:off x="4846320" y="3337560"/>
            <a:ext cx="164592" cy="164592"/>
          </a:xfrm>
          <a:prstGeom prst="ellipse">
            <a:avLst/>
          </a:prstGeom>
          <a:solidFill>
            <a:srgbClr val="007A4D"/>
          </a:solidFill>
          <a:ln w="12700">
            <a:solidFill>
              <a:srgbClr val="007A4D"/>
            </a:solidFill>
            <a:prstDash val="solid"/>
          </a:ln>
        </p:spPr>
      </p:sp>
      <p:sp>
        <p:nvSpPr>
          <p:cNvPr id="28" name="Text 26"/>
          <p:cNvSpPr/>
          <p:nvPr/>
        </p:nvSpPr>
        <p:spPr>
          <a:xfrm>
            <a:off x="5102352" y="3310128"/>
            <a:ext cx="3657600" cy="256032"/>
          </a:xfrm>
          <a:prstGeom prst="rect">
            <a:avLst/>
          </a:prstGeom>
          <a:noFill/>
          <a:ln/>
        </p:spPr>
        <p:txBody>
          <a:bodyPr wrap="square" lIns="0" tIns="0" rIns="0" bIns="0" rtlCol="0" anchor="ctr"/>
          <a:lstStyle/>
          <a:p>
            <a:pPr indent="0" marL="0">
              <a:buNone/>
            </a:pPr>
            <a:r>
              <a:rPr lang="en-US" sz="1100" dirty="0">
                <a:solidFill>
                  <a:srgbClr val="1A1A1A"/>
                </a:solidFill>
              </a:rPr>
              <a:t>Haute disponibilité (HA) activée</a:t>
            </a:r>
            <a:endParaRPr lang="en-US" sz="1100" dirty="0"/>
          </a:p>
        </p:txBody>
      </p:sp>
      <p:sp>
        <p:nvSpPr>
          <p:cNvPr id="29" name="Shape 27"/>
          <p:cNvSpPr/>
          <p:nvPr/>
        </p:nvSpPr>
        <p:spPr>
          <a:xfrm>
            <a:off x="4846320" y="3886200"/>
            <a:ext cx="164592" cy="164592"/>
          </a:xfrm>
          <a:prstGeom prst="ellipse">
            <a:avLst/>
          </a:prstGeom>
          <a:solidFill>
            <a:srgbClr val="007A4D"/>
          </a:solidFill>
          <a:ln w="12700">
            <a:solidFill>
              <a:srgbClr val="007A4D"/>
            </a:solidFill>
            <a:prstDash val="solid"/>
          </a:ln>
        </p:spPr>
      </p:sp>
      <p:sp>
        <p:nvSpPr>
          <p:cNvPr id="30" name="Text 28"/>
          <p:cNvSpPr/>
          <p:nvPr/>
        </p:nvSpPr>
        <p:spPr>
          <a:xfrm>
            <a:off x="5102352" y="3858768"/>
            <a:ext cx="3657600" cy="256032"/>
          </a:xfrm>
          <a:prstGeom prst="rect">
            <a:avLst/>
          </a:prstGeom>
          <a:noFill/>
          <a:ln/>
        </p:spPr>
        <p:txBody>
          <a:bodyPr wrap="square" lIns="0" tIns="0" rIns="0" bIns="0" rtlCol="0" anchor="ctr"/>
          <a:lstStyle/>
          <a:p>
            <a:pPr indent="0" marL="0">
              <a:buNone/>
            </a:pPr>
            <a:r>
              <a:rPr lang="en-US" sz="1100" dirty="0">
                <a:solidFill>
                  <a:srgbClr val="1A1A1A"/>
                </a:solidFill>
              </a:rPr>
              <a:t>Auth Kubernetes configurée (SA tokens)</a:t>
            </a:r>
            <a:endParaRPr lang="en-US" sz="1100" dirty="0"/>
          </a:p>
        </p:txBody>
      </p:sp>
      <p:sp>
        <p:nvSpPr>
          <p:cNvPr id="31" name="Shape 29"/>
          <p:cNvSpPr/>
          <p:nvPr/>
        </p:nvSpPr>
        <p:spPr>
          <a:xfrm>
            <a:off x="4297680" y="2651760"/>
            <a:ext cx="548640" cy="548640"/>
          </a:xfrm>
          <a:prstGeom prst="ellipse">
            <a:avLst/>
          </a:prstGeom>
          <a:solidFill>
            <a:srgbClr val="C8992B"/>
          </a:solidFill>
          <a:ln w="12700">
            <a:solidFill>
              <a:srgbClr val="C8992B"/>
            </a:solidFill>
            <a:prstDash val="solid"/>
          </a:ln>
        </p:spPr>
      </p:sp>
      <p:sp>
        <p:nvSpPr>
          <p:cNvPr id="32" name="Text 30"/>
          <p:cNvSpPr/>
          <p:nvPr/>
        </p:nvSpPr>
        <p:spPr>
          <a:xfrm>
            <a:off x="429768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33" name="Shape 31"/>
          <p:cNvSpPr/>
          <p:nvPr/>
        </p:nvSpPr>
        <p:spPr>
          <a:xfrm>
            <a:off x="0" y="4846320"/>
            <a:ext cx="9144000" cy="297180"/>
          </a:xfrm>
          <a:prstGeom prst="rect">
            <a:avLst/>
          </a:prstGeom>
          <a:solidFill>
            <a:srgbClr val="00915A"/>
          </a:solidFill>
          <a:ln w="12700">
            <a:solidFill>
              <a:srgbClr val="00915A"/>
            </a:solidFill>
            <a:prstDash val="solid"/>
          </a:ln>
        </p:spPr>
      </p:sp>
      <p:sp>
        <p:nvSpPr>
          <p:cNvPr id="34" name="Text 32"/>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915A"/>
          </a:solidFill>
          <a:ln w="12700">
            <a:solidFill>
              <a:srgbClr val="00915A"/>
            </a:solidFill>
            <a:prstDash val="solid"/>
          </a:ln>
        </p:spPr>
      </p:sp>
      <p:sp>
        <p:nvSpPr>
          <p:cNvPr id="3" name="Text 1"/>
          <p:cNvSpPr/>
          <p:nvPr/>
        </p:nvSpPr>
        <p:spPr>
          <a:xfrm>
            <a:off x="365760" y="0"/>
            <a:ext cx="8229600" cy="594360"/>
          </a:xfrm>
          <a:prstGeom prst="rect">
            <a:avLst/>
          </a:prstGeom>
          <a:noFill/>
          <a:ln/>
        </p:spPr>
        <p:txBody>
          <a:bodyPr wrap="square" lIns="0" tIns="0" rIns="0" bIns="0" rtlCol="0" anchor="b"/>
          <a:lstStyle/>
          <a:p>
            <a:pPr indent="0" marL="0">
              <a:buNone/>
            </a:pPr>
            <a:r>
              <a:rPr lang="en-US" sz="2600" b="1" dirty="0">
                <a:solidFill>
                  <a:srgbClr val="FFFFFF"/>
                </a:solidFill>
              </a:rPr>
              <a:t>Vault PKI</a:t>
            </a:r>
            <a:endParaRPr lang="en-US" sz="2600" dirty="0"/>
          </a:p>
        </p:txBody>
      </p:sp>
      <p:sp>
        <p:nvSpPr>
          <p:cNvPr id="4" name="Text 2"/>
          <p:cNvSpPr/>
          <p:nvPr/>
        </p:nvSpPr>
        <p:spPr>
          <a:xfrm>
            <a:off x="8046720" y="137160"/>
            <a:ext cx="731520" cy="457200"/>
          </a:xfrm>
          <a:prstGeom prst="rect">
            <a:avLst/>
          </a:prstGeom>
          <a:noFill/>
          <a:ln/>
        </p:spPr>
        <p:txBody>
          <a:bodyPr wrap="square" lIns="0" tIns="0" rIns="0" bIns="0" rtlCol="0" anchor="ctr"/>
          <a:lstStyle/>
          <a:p>
            <a:pPr algn="r" indent="0" marL="0">
              <a:buNone/>
            </a:pPr>
            <a:r>
              <a:rPr lang="en-US" sz="2800" b="1" dirty="0">
                <a:solidFill>
                  <a:srgbClr val="A8D5C4"/>
                </a:solidFill>
              </a:rPr>
              <a:t>02</a:t>
            </a:r>
            <a:endParaRPr lang="en-US" sz="2800" dirty="0"/>
          </a:p>
        </p:txBody>
      </p:sp>
      <p:sp>
        <p:nvSpPr>
          <p:cNvPr id="5" name="Text 3"/>
          <p:cNvSpPr/>
          <p:nvPr/>
        </p:nvSpPr>
        <p:spPr>
          <a:xfrm>
            <a:off x="365760" y="987552"/>
            <a:ext cx="8412480" cy="457200"/>
          </a:xfrm>
          <a:prstGeom prst="rect">
            <a:avLst/>
          </a:prstGeom>
          <a:noFill/>
          <a:ln/>
        </p:spPr>
        <p:txBody>
          <a:bodyPr wrap="square" lIns="0" tIns="0" rIns="0" bIns="0" rtlCol="0" anchor="ctr"/>
          <a:lstStyle/>
          <a:p>
            <a:pPr indent="0" marL="0">
              <a:buNone/>
            </a:pPr>
            <a:r>
              <a:rPr lang="en-US" sz="1100" i="1" dirty="0">
                <a:solidFill>
                  <a:srgbClr val="6B7B6E"/>
                </a:solidFill>
              </a:rPr>
              <a:t>HashiCorp Vault inclut un moteur de secrets PKI qui permet de gérer tout le cycle de vie des certificats X.509 : génération, renouvellement, révocation et distribution.</a:t>
            </a:r>
            <a:endParaRPr lang="en-US" sz="1100" dirty="0"/>
          </a:p>
        </p:txBody>
      </p:sp>
      <p:sp>
        <p:nvSpPr>
          <p:cNvPr id="6" name="Shape 4"/>
          <p:cNvSpPr/>
          <p:nvPr/>
        </p:nvSpPr>
        <p:spPr>
          <a:xfrm>
            <a:off x="274320" y="1572768"/>
            <a:ext cx="2743200" cy="123444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274320" y="1572768"/>
            <a:ext cx="2743200" cy="347472"/>
          </a:xfrm>
          <a:prstGeom prst="rect">
            <a:avLst/>
          </a:prstGeom>
          <a:solidFill>
            <a:srgbClr val="00915A"/>
          </a:solidFill>
          <a:ln w="12700">
            <a:solidFill>
              <a:srgbClr val="00915A"/>
            </a:solidFill>
            <a:prstDash val="solid"/>
          </a:ln>
        </p:spPr>
      </p:sp>
      <p:sp>
        <p:nvSpPr>
          <p:cNvPr id="8" name="Shape 6"/>
          <p:cNvSpPr/>
          <p:nvPr/>
        </p:nvSpPr>
        <p:spPr>
          <a:xfrm>
            <a:off x="365760" y="1645920"/>
            <a:ext cx="237744" cy="237744"/>
          </a:xfrm>
          <a:prstGeom prst="ellipse">
            <a:avLst/>
          </a:prstGeom>
          <a:solidFill>
            <a:srgbClr val="FFFFFF"/>
          </a:solidFill>
          <a:ln w="12700">
            <a:solidFill>
              <a:srgbClr val="FFFFFF"/>
            </a:solidFill>
            <a:prstDash val="solid"/>
          </a:ln>
        </p:spPr>
      </p:sp>
      <p:sp>
        <p:nvSpPr>
          <p:cNvPr id="9" name="Text 7"/>
          <p:cNvSpPr/>
          <p:nvPr/>
        </p:nvSpPr>
        <p:spPr>
          <a:xfrm>
            <a:off x="365760" y="1645920"/>
            <a:ext cx="237744" cy="237744"/>
          </a:xfrm>
          <a:prstGeom prst="rect">
            <a:avLst/>
          </a:prstGeom>
          <a:noFill/>
          <a:ln/>
        </p:spPr>
        <p:txBody>
          <a:bodyPr wrap="square" lIns="0" tIns="0" rIns="0" bIns="0" rtlCol="0" anchor="ctr"/>
          <a:lstStyle/>
          <a:p>
            <a:pPr algn="ctr" indent="0" marL="0">
              <a:buNone/>
            </a:pPr>
            <a:r>
              <a:rPr lang="en-US" sz="900" b="1" dirty="0">
                <a:solidFill>
                  <a:srgbClr val="00915A"/>
                </a:solidFill>
              </a:rPr>
              <a:t>1</a:t>
            </a:r>
            <a:endParaRPr lang="en-US" sz="900" dirty="0"/>
          </a:p>
        </p:txBody>
      </p:sp>
      <p:sp>
        <p:nvSpPr>
          <p:cNvPr id="10" name="Text 8"/>
          <p:cNvSpPr/>
          <p:nvPr/>
        </p:nvSpPr>
        <p:spPr>
          <a:xfrm>
            <a:off x="658368" y="1645920"/>
            <a:ext cx="2286000" cy="256032"/>
          </a:xfrm>
          <a:prstGeom prst="rect">
            <a:avLst/>
          </a:prstGeom>
          <a:noFill/>
          <a:ln/>
        </p:spPr>
        <p:txBody>
          <a:bodyPr wrap="square" lIns="0" tIns="0" rIns="0" bIns="0" rtlCol="0" anchor="ctr"/>
          <a:lstStyle/>
          <a:p>
            <a:pPr indent="0" marL="0">
              <a:buNone/>
            </a:pPr>
            <a:r>
              <a:rPr lang="en-US" sz="1100" b="1" dirty="0">
                <a:solidFill>
                  <a:srgbClr val="FFFFFF"/>
                </a:solidFill>
              </a:rPr>
              <a:t>Création CA</a:t>
            </a:r>
            <a:endParaRPr lang="en-US" sz="1100" dirty="0"/>
          </a:p>
        </p:txBody>
      </p:sp>
      <p:sp>
        <p:nvSpPr>
          <p:cNvPr id="11" name="Text 9"/>
          <p:cNvSpPr/>
          <p:nvPr/>
        </p:nvSpPr>
        <p:spPr>
          <a:xfrm>
            <a:off x="384048" y="2011680"/>
            <a:ext cx="2542032" cy="685800"/>
          </a:xfrm>
          <a:prstGeom prst="rect">
            <a:avLst/>
          </a:prstGeom>
          <a:noFill/>
          <a:ln/>
        </p:spPr>
        <p:txBody>
          <a:bodyPr wrap="square" lIns="0" tIns="0" rIns="0" bIns="0" rtlCol="0" anchor="ctr"/>
          <a:lstStyle/>
          <a:p>
            <a:pPr indent="0" marL="0">
              <a:buNone/>
            </a:pPr>
            <a:r>
              <a:rPr lang="en-US" sz="950" dirty="0">
                <a:solidFill>
                  <a:srgbClr val="1A1A1A"/>
                </a:solidFill>
              </a:rPr>
              <a:t>pki/config/ca  (root ou intermédiaire)</a:t>
            </a:r>
            <a:endParaRPr lang="en-US" sz="950" dirty="0"/>
          </a:p>
        </p:txBody>
      </p:sp>
      <p:sp>
        <p:nvSpPr>
          <p:cNvPr id="12" name="Shape 10"/>
          <p:cNvSpPr/>
          <p:nvPr/>
        </p:nvSpPr>
        <p:spPr>
          <a:xfrm>
            <a:off x="3017520" y="2194560"/>
            <a:ext cx="201168" cy="0"/>
          </a:xfrm>
          <a:prstGeom prst="line">
            <a:avLst/>
          </a:prstGeom>
          <a:noFill/>
          <a:ln w="19050">
            <a:solidFill>
              <a:srgbClr val="00A76F"/>
            </a:solidFill>
            <a:prstDash val="solid"/>
          </a:ln>
        </p:spPr>
      </p:sp>
      <p:sp>
        <p:nvSpPr>
          <p:cNvPr id="13" name="Shape 11"/>
          <p:cNvSpPr/>
          <p:nvPr/>
        </p:nvSpPr>
        <p:spPr>
          <a:xfrm>
            <a:off x="3218688" y="1572768"/>
            <a:ext cx="2743200" cy="123444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218688" y="1572768"/>
            <a:ext cx="2743200" cy="347472"/>
          </a:xfrm>
          <a:prstGeom prst="rect">
            <a:avLst/>
          </a:prstGeom>
          <a:solidFill>
            <a:srgbClr val="00A76F"/>
          </a:solidFill>
          <a:ln w="12700">
            <a:solidFill>
              <a:srgbClr val="00A76F"/>
            </a:solidFill>
            <a:prstDash val="solid"/>
          </a:ln>
        </p:spPr>
      </p:sp>
      <p:sp>
        <p:nvSpPr>
          <p:cNvPr id="15" name="Shape 13"/>
          <p:cNvSpPr/>
          <p:nvPr/>
        </p:nvSpPr>
        <p:spPr>
          <a:xfrm>
            <a:off x="3310128" y="1645920"/>
            <a:ext cx="237744" cy="237744"/>
          </a:xfrm>
          <a:prstGeom prst="ellipse">
            <a:avLst/>
          </a:prstGeom>
          <a:solidFill>
            <a:srgbClr val="FFFFFF"/>
          </a:solidFill>
          <a:ln w="12700">
            <a:solidFill>
              <a:srgbClr val="FFFFFF"/>
            </a:solidFill>
            <a:prstDash val="solid"/>
          </a:ln>
        </p:spPr>
      </p:sp>
      <p:sp>
        <p:nvSpPr>
          <p:cNvPr id="16" name="Text 14"/>
          <p:cNvSpPr/>
          <p:nvPr/>
        </p:nvSpPr>
        <p:spPr>
          <a:xfrm>
            <a:off x="3310128" y="1645920"/>
            <a:ext cx="237744" cy="237744"/>
          </a:xfrm>
          <a:prstGeom prst="rect">
            <a:avLst/>
          </a:prstGeom>
          <a:noFill/>
          <a:ln/>
        </p:spPr>
        <p:txBody>
          <a:bodyPr wrap="square" lIns="0" tIns="0" rIns="0" bIns="0" rtlCol="0" anchor="ctr"/>
          <a:lstStyle/>
          <a:p>
            <a:pPr algn="ctr" indent="0" marL="0">
              <a:buNone/>
            </a:pPr>
            <a:r>
              <a:rPr lang="en-US" sz="900" b="1" dirty="0">
                <a:solidFill>
                  <a:srgbClr val="00A76F"/>
                </a:solidFill>
              </a:rPr>
              <a:t>2</a:t>
            </a:r>
            <a:endParaRPr lang="en-US" sz="900" dirty="0"/>
          </a:p>
        </p:txBody>
      </p:sp>
      <p:sp>
        <p:nvSpPr>
          <p:cNvPr id="17" name="Text 15"/>
          <p:cNvSpPr/>
          <p:nvPr/>
        </p:nvSpPr>
        <p:spPr>
          <a:xfrm>
            <a:off x="3602736" y="1645920"/>
            <a:ext cx="2286000" cy="256032"/>
          </a:xfrm>
          <a:prstGeom prst="rect">
            <a:avLst/>
          </a:prstGeom>
          <a:noFill/>
          <a:ln/>
        </p:spPr>
        <p:txBody>
          <a:bodyPr wrap="square" lIns="0" tIns="0" rIns="0" bIns="0" rtlCol="0" anchor="ctr"/>
          <a:lstStyle/>
          <a:p>
            <a:pPr indent="0" marL="0">
              <a:buNone/>
            </a:pPr>
            <a:r>
              <a:rPr lang="en-US" sz="1100" b="1" dirty="0">
                <a:solidFill>
                  <a:srgbClr val="FFFFFF"/>
                </a:solidFill>
              </a:rPr>
              <a:t>Définition Rôle</a:t>
            </a:r>
            <a:endParaRPr lang="en-US" sz="1100" dirty="0"/>
          </a:p>
        </p:txBody>
      </p:sp>
      <p:sp>
        <p:nvSpPr>
          <p:cNvPr id="18" name="Text 16"/>
          <p:cNvSpPr/>
          <p:nvPr/>
        </p:nvSpPr>
        <p:spPr>
          <a:xfrm>
            <a:off x="3328416" y="2011680"/>
            <a:ext cx="2542032" cy="685800"/>
          </a:xfrm>
          <a:prstGeom prst="rect">
            <a:avLst/>
          </a:prstGeom>
          <a:noFill/>
          <a:ln/>
        </p:spPr>
        <p:txBody>
          <a:bodyPr wrap="square" lIns="0" tIns="0" rIns="0" bIns="0" rtlCol="0" anchor="ctr"/>
          <a:lstStyle/>
          <a:p>
            <a:pPr indent="0" marL="0">
              <a:buNone/>
            </a:pPr>
            <a:r>
              <a:rPr lang="en-US" sz="950" dirty="0">
                <a:solidFill>
                  <a:srgbClr val="1A1A1A"/>
                </a:solidFill>
              </a:rPr>
              <a:t>pki/roles/&lt;my-role&gt; — contraintes CN, SAN, TTL</a:t>
            </a:r>
            <a:endParaRPr lang="en-US" sz="950" dirty="0"/>
          </a:p>
        </p:txBody>
      </p:sp>
      <p:sp>
        <p:nvSpPr>
          <p:cNvPr id="19" name="Shape 17"/>
          <p:cNvSpPr/>
          <p:nvPr/>
        </p:nvSpPr>
        <p:spPr>
          <a:xfrm>
            <a:off x="5961888" y="2194560"/>
            <a:ext cx="201168" cy="0"/>
          </a:xfrm>
          <a:prstGeom prst="line">
            <a:avLst/>
          </a:prstGeom>
          <a:noFill/>
          <a:ln w="19050">
            <a:solidFill>
              <a:srgbClr val="00A76F"/>
            </a:solidFill>
            <a:prstDash val="solid"/>
          </a:ln>
        </p:spPr>
      </p:sp>
      <p:sp>
        <p:nvSpPr>
          <p:cNvPr id="20" name="Shape 18"/>
          <p:cNvSpPr/>
          <p:nvPr/>
        </p:nvSpPr>
        <p:spPr>
          <a:xfrm>
            <a:off x="6163056" y="1572768"/>
            <a:ext cx="2743200" cy="123444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6163056" y="1572768"/>
            <a:ext cx="2743200" cy="347472"/>
          </a:xfrm>
          <a:prstGeom prst="rect">
            <a:avLst/>
          </a:prstGeom>
          <a:solidFill>
            <a:srgbClr val="007A4D"/>
          </a:solidFill>
          <a:ln w="12700">
            <a:solidFill>
              <a:srgbClr val="007A4D"/>
            </a:solidFill>
            <a:prstDash val="solid"/>
          </a:ln>
        </p:spPr>
      </p:sp>
      <p:sp>
        <p:nvSpPr>
          <p:cNvPr id="22" name="Shape 20"/>
          <p:cNvSpPr/>
          <p:nvPr/>
        </p:nvSpPr>
        <p:spPr>
          <a:xfrm>
            <a:off x="6254496" y="1645920"/>
            <a:ext cx="237744" cy="237744"/>
          </a:xfrm>
          <a:prstGeom prst="ellipse">
            <a:avLst/>
          </a:prstGeom>
          <a:solidFill>
            <a:srgbClr val="FFFFFF"/>
          </a:solidFill>
          <a:ln w="12700">
            <a:solidFill>
              <a:srgbClr val="FFFFFF"/>
            </a:solidFill>
            <a:prstDash val="solid"/>
          </a:ln>
        </p:spPr>
      </p:sp>
      <p:sp>
        <p:nvSpPr>
          <p:cNvPr id="23" name="Text 21"/>
          <p:cNvSpPr/>
          <p:nvPr/>
        </p:nvSpPr>
        <p:spPr>
          <a:xfrm>
            <a:off x="6254496" y="1645920"/>
            <a:ext cx="237744" cy="237744"/>
          </a:xfrm>
          <a:prstGeom prst="rect">
            <a:avLst/>
          </a:prstGeom>
          <a:noFill/>
          <a:ln/>
        </p:spPr>
        <p:txBody>
          <a:bodyPr wrap="square" lIns="0" tIns="0" rIns="0" bIns="0" rtlCol="0" anchor="ctr"/>
          <a:lstStyle/>
          <a:p>
            <a:pPr algn="ctr" indent="0" marL="0">
              <a:buNone/>
            </a:pPr>
            <a:r>
              <a:rPr lang="en-US" sz="900" b="1" dirty="0">
                <a:solidFill>
                  <a:srgbClr val="007A4D"/>
                </a:solidFill>
              </a:rPr>
              <a:t>3</a:t>
            </a:r>
            <a:endParaRPr lang="en-US" sz="900" dirty="0"/>
          </a:p>
        </p:txBody>
      </p:sp>
      <p:sp>
        <p:nvSpPr>
          <p:cNvPr id="24" name="Text 22"/>
          <p:cNvSpPr/>
          <p:nvPr/>
        </p:nvSpPr>
        <p:spPr>
          <a:xfrm>
            <a:off x="6547104" y="1645920"/>
            <a:ext cx="2286000" cy="256032"/>
          </a:xfrm>
          <a:prstGeom prst="rect">
            <a:avLst/>
          </a:prstGeom>
          <a:noFill/>
          <a:ln/>
        </p:spPr>
        <p:txBody>
          <a:bodyPr wrap="square" lIns="0" tIns="0" rIns="0" bIns="0" rtlCol="0" anchor="ctr"/>
          <a:lstStyle/>
          <a:p>
            <a:pPr indent="0" marL="0">
              <a:buNone/>
            </a:pPr>
            <a:r>
              <a:rPr lang="en-US" sz="1100" b="1" dirty="0">
                <a:solidFill>
                  <a:srgbClr val="FFFFFF"/>
                </a:solidFill>
              </a:rPr>
              <a:t>Demande cert</a:t>
            </a:r>
            <a:endParaRPr lang="en-US" sz="1100" dirty="0"/>
          </a:p>
        </p:txBody>
      </p:sp>
      <p:sp>
        <p:nvSpPr>
          <p:cNvPr id="25" name="Text 23"/>
          <p:cNvSpPr/>
          <p:nvPr/>
        </p:nvSpPr>
        <p:spPr>
          <a:xfrm>
            <a:off x="6272784" y="2011680"/>
            <a:ext cx="2542032" cy="685800"/>
          </a:xfrm>
          <a:prstGeom prst="rect">
            <a:avLst/>
          </a:prstGeom>
          <a:noFill/>
          <a:ln/>
        </p:spPr>
        <p:txBody>
          <a:bodyPr wrap="square" lIns="0" tIns="0" rIns="0" bIns="0" rtlCol="0" anchor="ctr"/>
          <a:lstStyle/>
          <a:p>
            <a:pPr indent="0" marL="0">
              <a:buNone/>
            </a:pPr>
            <a:r>
              <a:rPr lang="en-US" sz="950" dirty="0">
                <a:solidFill>
                  <a:srgbClr val="1A1A1A"/>
                </a:solidFill>
              </a:rPr>
              <a:t>Client / init-container → pki/issue/&lt;my-role&gt;</a:t>
            </a:r>
            <a:endParaRPr lang="en-US" sz="950" dirty="0"/>
          </a:p>
        </p:txBody>
      </p:sp>
      <p:sp>
        <p:nvSpPr>
          <p:cNvPr id="26" name="Shape 24"/>
          <p:cNvSpPr/>
          <p:nvPr/>
        </p:nvSpPr>
        <p:spPr>
          <a:xfrm>
            <a:off x="274320" y="3054096"/>
            <a:ext cx="2743200" cy="123444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274320" y="3054096"/>
            <a:ext cx="2743200" cy="347472"/>
          </a:xfrm>
          <a:prstGeom prst="rect">
            <a:avLst/>
          </a:prstGeom>
          <a:solidFill>
            <a:srgbClr val="C8992B"/>
          </a:solidFill>
          <a:ln w="12700">
            <a:solidFill>
              <a:srgbClr val="C8992B"/>
            </a:solidFill>
            <a:prstDash val="solid"/>
          </a:ln>
        </p:spPr>
      </p:sp>
      <p:sp>
        <p:nvSpPr>
          <p:cNvPr id="28" name="Shape 26"/>
          <p:cNvSpPr/>
          <p:nvPr/>
        </p:nvSpPr>
        <p:spPr>
          <a:xfrm>
            <a:off x="365760" y="3127248"/>
            <a:ext cx="237744" cy="237744"/>
          </a:xfrm>
          <a:prstGeom prst="ellipse">
            <a:avLst/>
          </a:prstGeom>
          <a:solidFill>
            <a:srgbClr val="FFFFFF"/>
          </a:solidFill>
          <a:ln w="12700">
            <a:solidFill>
              <a:srgbClr val="FFFFFF"/>
            </a:solidFill>
            <a:prstDash val="solid"/>
          </a:ln>
        </p:spPr>
      </p:sp>
      <p:sp>
        <p:nvSpPr>
          <p:cNvPr id="29" name="Text 27"/>
          <p:cNvSpPr/>
          <p:nvPr/>
        </p:nvSpPr>
        <p:spPr>
          <a:xfrm>
            <a:off x="365760" y="3127248"/>
            <a:ext cx="237744" cy="237744"/>
          </a:xfrm>
          <a:prstGeom prst="rect">
            <a:avLst/>
          </a:prstGeom>
          <a:noFill/>
          <a:ln/>
        </p:spPr>
        <p:txBody>
          <a:bodyPr wrap="square" lIns="0" tIns="0" rIns="0" bIns="0" rtlCol="0" anchor="ctr"/>
          <a:lstStyle/>
          <a:p>
            <a:pPr algn="ctr" indent="0" marL="0">
              <a:buNone/>
            </a:pPr>
            <a:r>
              <a:rPr lang="en-US" sz="900" b="1" dirty="0">
                <a:solidFill>
                  <a:srgbClr val="C8992B"/>
                </a:solidFill>
              </a:rPr>
              <a:t>4</a:t>
            </a:r>
            <a:endParaRPr lang="en-US" sz="900" dirty="0"/>
          </a:p>
        </p:txBody>
      </p:sp>
      <p:sp>
        <p:nvSpPr>
          <p:cNvPr id="30" name="Text 28"/>
          <p:cNvSpPr/>
          <p:nvPr/>
        </p:nvSpPr>
        <p:spPr>
          <a:xfrm>
            <a:off x="658368" y="3127248"/>
            <a:ext cx="2286000" cy="256032"/>
          </a:xfrm>
          <a:prstGeom prst="rect">
            <a:avLst/>
          </a:prstGeom>
          <a:noFill/>
          <a:ln/>
        </p:spPr>
        <p:txBody>
          <a:bodyPr wrap="square" lIns="0" tIns="0" rIns="0" bIns="0" rtlCol="0" anchor="ctr"/>
          <a:lstStyle/>
          <a:p>
            <a:pPr indent="0" marL="0">
              <a:buNone/>
            </a:pPr>
            <a:r>
              <a:rPr lang="en-US" sz="1100" b="1" dirty="0">
                <a:solidFill>
                  <a:srgbClr val="FFFFFF"/>
                </a:solidFill>
              </a:rPr>
              <a:t>Réponse Vault</a:t>
            </a:r>
            <a:endParaRPr lang="en-US" sz="1100" dirty="0"/>
          </a:p>
        </p:txBody>
      </p:sp>
      <p:sp>
        <p:nvSpPr>
          <p:cNvPr id="31" name="Text 29"/>
          <p:cNvSpPr/>
          <p:nvPr/>
        </p:nvSpPr>
        <p:spPr>
          <a:xfrm>
            <a:off x="384048" y="3493008"/>
            <a:ext cx="2542032" cy="685800"/>
          </a:xfrm>
          <a:prstGeom prst="rect">
            <a:avLst/>
          </a:prstGeom>
          <a:noFill/>
          <a:ln/>
        </p:spPr>
        <p:txBody>
          <a:bodyPr wrap="square" lIns="0" tIns="0" rIns="0" bIns="0" rtlCol="0" anchor="ctr"/>
          <a:lstStyle/>
          <a:p>
            <a:pPr indent="0" marL="0">
              <a:buNone/>
            </a:pPr>
            <a:r>
              <a:rPr lang="en-US" sz="950" dirty="0">
                <a:solidFill>
                  <a:srgbClr val="1A1A1A"/>
                </a:solidFill>
              </a:rPr>
              <a:t>certificate + private_key + issuing_ca + ca_chain (PEM)</a:t>
            </a:r>
            <a:endParaRPr lang="en-US" sz="950" dirty="0"/>
          </a:p>
        </p:txBody>
      </p:sp>
      <p:sp>
        <p:nvSpPr>
          <p:cNvPr id="32" name="Shape 30"/>
          <p:cNvSpPr/>
          <p:nvPr/>
        </p:nvSpPr>
        <p:spPr>
          <a:xfrm>
            <a:off x="3017520" y="3675888"/>
            <a:ext cx="201168" cy="0"/>
          </a:xfrm>
          <a:prstGeom prst="line">
            <a:avLst/>
          </a:prstGeom>
          <a:noFill/>
          <a:ln w="19050">
            <a:solidFill>
              <a:srgbClr val="00A76F"/>
            </a:solidFill>
            <a:prstDash val="solid"/>
          </a:ln>
        </p:spPr>
      </p:sp>
      <p:sp>
        <p:nvSpPr>
          <p:cNvPr id="33" name="Shape 31"/>
          <p:cNvSpPr/>
          <p:nvPr/>
        </p:nvSpPr>
        <p:spPr>
          <a:xfrm>
            <a:off x="3218688" y="3054096"/>
            <a:ext cx="2743200" cy="123444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34" name="Shape 32"/>
          <p:cNvSpPr/>
          <p:nvPr/>
        </p:nvSpPr>
        <p:spPr>
          <a:xfrm>
            <a:off x="3218688" y="3054096"/>
            <a:ext cx="2743200" cy="347472"/>
          </a:xfrm>
          <a:prstGeom prst="rect">
            <a:avLst/>
          </a:prstGeom>
          <a:solidFill>
            <a:srgbClr val="6B4226"/>
          </a:solidFill>
          <a:ln w="12700">
            <a:solidFill>
              <a:srgbClr val="6B4226"/>
            </a:solidFill>
            <a:prstDash val="solid"/>
          </a:ln>
        </p:spPr>
      </p:sp>
      <p:sp>
        <p:nvSpPr>
          <p:cNvPr id="35" name="Shape 33"/>
          <p:cNvSpPr/>
          <p:nvPr/>
        </p:nvSpPr>
        <p:spPr>
          <a:xfrm>
            <a:off x="3310128" y="3127248"/>
            <a:ext cx="237744" cy="237744"/>
          </a:xfrm>
          <a:prstGeom prst="ellipse">
            <a:avLst/>
          </a:prstGeom>
          <a:solidFill>
            <a:srgbClr val="FFFFFF"/>
          </a:solidFill>
          <a:ln w="12700">
            <a:solidFill>
              <a:srgbClr val="FFFFFF"/>
            </a:solidFill>
            <a:prstDash val="solid"/>
          </a:ln>
        </p:spPr>
      </p:sp>
      <p:sp>
        <p:nvSpPr>
          <p:cNvPr id="36" name="Text 34"/>
          <p:cNvSpPr/>
          <p:nvPr/>
        </p:nvSpPr>
        <p:spPr>
          <a:xfrm>
            <a:off x="3310128" y="3127248"/>
            <a:ext cx="237744" cy="237744"/>
          </a:xfrm>
          <a:prstGeom prst="rect">
            <a:avLst/>
          </a:prstGeom>
          <a:noFill/>
          <a:ln/>
        </p:spPr>
        <p:txBody>
          <a:bodyPr wrap="square" lIns="0" tIns="0" rIns="0" bIns="0" rtlCol="0" anchor="ctr"/>
          <a:lstStyle/>
          <a:p>
            <a:pPr algn="ctr" indent="0" marL="0">
              <a:buNone/>
            </a:pPr>
            <a:r>
              <a:rPr lang="en-US" sz="900" b="1" dirty="0">
                <a:solidFill>
                  <a:srgbClr val="6B4226"/>
                </a:solidFill>
              </a:rPr>
              <a:t>5</a:t>
            </a:r>
            <a:endParaRPr lang="en-US" sz="900" dirty="0"/>
          </a:p>
        </p:txBody>
      </p:sp>
      <p:sp>
        <p:nvSpPr>
          <p:cNvPr id="37" name="Text 35"/>
          <p:cNvSpPr/>
          <p:nvPr/>
        </p:nvSpPr>
        <p:spPr>
          <a:xfrm>
            <a:off x="3602736" y="3127248"/>
            <a:ext cx="2286000" cy="256032"/>
          </a:xfrm>
          <a:prstGeom prst="rect">
            <a:avLst/>
          </a:prstGeom>
          <a:noFill/>
          <a:ln/>
        </p:spPr>
        <p:txBody>
          <a:bodyPr wrap="square" lIns="0" tIns="0" rIns="0" bIns="0" rtlCol="0" anchor="ctr"/>
          <a:lstStyle/>
          <a:p>
            <a:pPr indent="0" marL="0">
              <a:buNone/>
            </a:pPr>
            <a:r>
              <a:rPr lang="en-US" sz="1100" b="1" dirty="0">
                <a:solidFill>
                  <a:srgbClr val="FFFFFF"/>
                </a:solidFill>
              </a:rPr>
              <a:t>Injection</a:t>
            </a:r>
            <a:endParaRPr lang="en-US" sz="1100" dirty="0"/>
          </a:p>
        </p:txBody>
      </p:sp>
      <p:sp>
        <p:nvSpPr>
          <p:cNvPr id="38" name="Text 36"/>
          <p:cNvSpPr/>
          <p:nvPr/>
        </p:nvSpPr>
        <p:spPr>
          <a:xfrm>
            <a:off x="3328416" y="3493008"/>
            <a:ext cx="2542032" cy="685800"/>
          </a:xfrm>
          <a:prstGeom prst="rect">
            <a:avLst/>
          </a:prstGeom>
          <a:noFill/>
          <a:ln/>
        </p:spPr>
        <p:txBody>
          <a:bodyPr wrap="square" lIns="0" tIns="0" rIns="0" bIns="0" rtlCol="0" anchor="ctr"/>
          <a:lstStyle/>
          <a:p>
            <a:pPr indent="0" marL="0">
              <a:buNone/>
            </a:pPr>
            <a:r>
              <a:rPr lang="en-US" sz="950" dirty="0">
                <a:solidFill>
                  <a:srgbClr val="1A1A1A"/>
                </a:solidFill>
              </a:rPr>
              <a:t>Volume partagé /vault/secrets ou Secret K8s via VSO</a:t>
            </a:r>
            <a:endParaRPr lang="en-US" sz="950" dirty="0"/>
          </a:p>
        </p:txBody>
      </p:sp>
      <p:sp>
        <p:nvSpPr>
          <p:cNvPr id="39" name="Shape 37"/>
          <p:cNvSpPr/>
          <p:nvPr/>
        </p:nvSpPr>
        <p:spPr>
          <a:xfrm>
            <a:off x="5961888" y="3675888"/>
            <a:ext cx="201168" cy="0"/>
          </a:xfrm>
          <a:prstGeom prst="line">
            <a:avLst/>
          </a:prstGeom>
          <a:noFill/>
          <a:ln w="19050">
            <a:solidFill>
              <a:srgbClr val="00A76F"/>
            </a:solidFill>
            <a:prstDash val="solid"/>
          </a:ln>
        </p:spPr>
      </p:sp>
      <p:sp>
        <p:nvSpPr>
          <p:cNvPr id="40" name="Shape 38"/>
          <p:cNvSpPr/>
          <p:nvPr/>
        </p:nvSpPr>
        <p:spPr>
          <a:xfrm>
            <a:off x="6163056" y="3054096"/>
            <a:ext cx="2743200" cy="123444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41" name="Shape 39"/>
          <p:cNvSpPr/>
          <p:nvPr/>
        </p:nvSpPr>
        <p:spPr>
          <a:xfrm>
            <a:off x="6163056" y="3054096"/>
            <a:ext cx="2743200" cy="347472"/>
          </a:xfrm>
          <a:prstGeom prst="rect">
            <a:avLst/>
          </a:prstGeom>
          <a:solidFill>
            <a:srgbClr val="00915A"/>
          </a:solidFill>
          <a:ln w="12700">
            <a:solidFill>
              <a:srgbClr val="00915A"/>
            </a:solidFill>
            <a:prstDash val="solid"/>
          </a:ln>
        </p:spPr>
      </p:sp>
      <p:sp>
        <p:nvSpPr>
          <p:cNvPr id="42" name="Shape 40"/>
          <p:cNvSpPr/>
          <p:nvPr/>
        </p:nvSpPr>
        <p:spPr>
          <a:xfrm>
            <a:off x="6254496" y="3127248"/>
            <a:ext cx="237744" cy="237744"/>
          </a:xfrm>
          <a:prstGeom prst="ellipse">
            <a:avLst/>
          </a:prstGeom>
          <a:solidFill>
            <a:srgbClr val="FFFFFF"/>
          </a:solidFill>
          <a:ln w="12700">
            <a:solidFill>
              <a:srgbClr val="FFFFFF"/>
            </a:solidFill>
            <a:prstDash val="solid"/>
          </a:ln>
        </p:spPr>
      </p:sp>
      <p:sp>
        <p:nvSpPr>
          <p:cNvPr id="43" name="Text 41"/>
          <p:cNvSpPr/>
          <p:nvPr/>
        </p:nvSpPr>
        <p:spPr>
          <a:xfrm>
            <a:off x="6254496" y="3127248"/>
            <a:ext cx="237744" cy="237744"/>
          </a:xfrm>
          <a:prstGeom prst="rect">
            <a:avLst/>
          </a:prstGeom>
          <a:noFill/>
          <a:ln/>
        </p:spPr>
        <p:txBody>
          <a:bodyPr wrap="square" lIns="0" tIns="0" rIns="0" bIns="0" rtlCol="0" anchor="ctr"/>
          <a:lstStyle/>
          <a:p>
            <a:pPr algn="ctr" indent="0" marL="0">
              <a:buNone/>
            </a:pPr>
            <a:r>
              <a:rPr lang="en-US" sz="900" b="1" dirty="0">
                <a:solidFill>
                  <a:srgbClr val="00915A"/>
                </a:solidFill>
              </a:rPr>
              <a:t>6</a:t>
            </a:r>
            <a:endParaRPr lang="en-US" sz="900" dirty="0"/>
          </a:p>
        </p:txBody>
      </p:sp>
      <p:sp>
        <p:nvSpPr>
          <p:cNvPr id="44" name="Text 42"/>
          <p:cNvSpPr/>
          <p:nvPr/>
        </p:nvSpPr>
        <p:spPr>
          <a:xfrm>
            <a:off x="6547104" y="3127248"/>
            <a:ext cx="2286000" cy="256032"/>
          </a:xfrm>
          <a:prstGeom prst="rect">
            <a:avLst/>
          </a:prstGeom>
          <a:noFill/>
          <a:ln/>
        </p:spPr>
        <p:txBody>
          <a:bodyPr wrap="square" lIns="0" tIns="0" rIns="0" bIns="0" rtlCol="0" anchor="ctr"/>
          <a:lstStyle/>
          <a:p>
            <a:pPr indent="0" marL="0">
              <a:buNone/>
            </a:pPr>
            <a:r>
              <a:rPr lang="en-US" sz="1100" b="1" dirty="0">
                <a:solidFill>
                  <a:srgbClr val="FFFFFF"/>
                </a:solidFill>
              </a:rPr>
              <a:t>Renouvellement</a:t>
            </a:r>
            <a:endParaRPr lang="en-US" sz="1100" dirty="0"/>
          </a:p>
        </p:txBody>
      </p:sp>
      <p:sp>
        <p:nvSpPr>
          <p:cNvPr id="45" name="Text 43"/>
          <p:cNvSpPr/>
          <p:nvPr/>
        </p:nvSpPr>
        <p:spPr>
          <a:xfrm>
            <a:off x="6272784" y="3493008"/>
            <a:ext cx="2542032" cy="685800"/>
          </a:xfrm>
          <a:prstGeom prst="rect">
            <a:avLst/>
          </a:prstGeom>
          <a:noFill/>
          <a:ln/>
        </p:spPr>
        <p:txBody>
          <a:bodyPr wrap="square" lIns="0" tIns="0" rIns="0" bIns="0" rtlCol="0" anchor="ctr"/>
          <a:lstStyle/>
          <a:p>
            <a:pPr indent="0" marL="0">
              <a:buNone/>
            </a:pPr>
            <a:r>
              <a:rPr lang="en-US" sz="950" dirty="0">
                <a:solidFill>
                  <a:srgbClr val="1A1A1A"/>
                </a:solidFill>
              </a:rPr>
              <a:t>Avant TTL → même endpoint ; nouveau cert remplace l'ancien</a:t>
            </a:r>
            <a:endParaRPr lang="en-US" sz="950" dirty="0"/>
          </a:p>
        </p:txBody>
      </p:sp>
      <p:sp>
        <p:nvSpPr>
          <p:cNvPr id="46" name="Shape 44"/>
          <p:cNvSpPr/>
          <p:nvPr/>
        </p:nvSpPr>
        <p:spPr>
          <a:xfrm>
            <a:off x="0" y="4846320"/>
            <a:ext cx="9144000" cy="297180"/>
          </a:xfrm>
          <a:prstGeom prst="rect">
            <a:avLst/>
          </a:prstGeom>
          <a:solidFill>
            <a:srgbClr val="00915A"/>
          </a:solidFill>
          <a:ln w="12700">
            <a:solidFill>
              <a:srgbClr val="00915A"/>
            </a:solidFill>
            <a:prstDash val="solid"/>
          </a:ln>
        </p:spPr>
      </p:sp>
      <p:sp>
        <p:nvSpPr>
          <p:cNvPr id="47" name="Text 45"/>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915A"/>
          </a:solidFill>
          <a:ln w="12700">
            <a:solidFill>
              <a:srgbClr val="00915A"/>
            </a:solidFill>
            <a:prstDash val="solid"/>
          </a:ln>
        </p:spPr>
      </p:sp>
      <p:sp>
        <p:nvSpPr>
          <p:cNvPr id="3" name="Text 1"/>
          <p:cNvSpPr/>
          <p:nvPr/>
        </p:nvSpPr>
        <p:spPr>
          <a:xfrm>
            <a:off x="365760" y="0"/>
            <a:ext cx="8229600" cy="594360"/>
          </a:xfrm>
          <a:prstGeom prst="rect">
            <a:avLst/>
          </a:prstGeom>
          <a:noFill/>
          <a:ln/>
        </p:spPr>
        <p:txBody>
          <a:bodyPr wrap="square" lIns="0" tIns="0" rIns="0" bIns="0" rtlCol="0" anchor="b"/>
          <a:lstStyle/>
          <a:p>
            <a:pPr indent="0" marL="0">
              <a:buNone/>
            </a:pPr>
            <a:r>
              <a:rPr lang="en-US" sz="2600" b="1" dirty="0">
                <a:solidFill>
                  <a:srgbClr val="FFFFFF"/>
                </a:solidFill>
              </a:rPr>
              <a:t>Solutions possibles</a:t>
            </a:r>
            <a:endParaRPr lang="en-US" sz="2600" dirty="0"/>
          </a:p>
        </p:txBody>
      </p:sp>
      <p:sp>
        <p:nvSpPr>
          <p:cNvPr id="4" name="Text 2"/>
          <p:cNvSpPr/>
          <p:nvPr/>
        </p:nvSpPr>
        <p:spPr>
          <a:xfrm>
            <a:off x="8046720" y="137160"/>
            <a:ext cx="731520" cy="457200"/>
          </a:xfrm>
          <a:prstGeom prst="rect">
            <a:avLst/>
          </a:prstGeom>
          <a:noFill/>
          <a:ln/>
        </p:spPr>
        <p:txBody>
          <a:bodyPr wrap="square" lIns="0" tIns="0" rIns="0" bIns="0" rtlCol="0" anchor="ctr"/>
          <a:lstStyle/>
          <a:p>
            <a:pPr algn="r" indent="0" marL="0">
              <a:buNone/>
            </a:pPr>
            <a:r>
              <a:rPr lang="en-US" sz="2800" b="1" dirty="0">
                <a:solidFill>
                  <a:srgbClr val="A8D5C4"/>
                </a:solidFill>
              </a:rPr>
              <a:t>03</a:t>
            </a:r>
            <a:endParaRPr lang="en-US" sz="2800" dirty="0"/>
          </a:p>
        </p:txBody>
      </p:sp>
      <p:sp>
        <p:nvSpPr>
          <p:cNvPr id="5" name="Shape 3"/>
          <p:cNvSpPr/>
          <p:nvPr/>
        </p:nvSpPr>
        <p:spPr>
          <a:xfrm>
            <a:off x="274320" y="1005840"/>
            <a:ext cx="8595360" cy="841248"/>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005840"/>
            <a:ext cx="64008" cy="841248"/>
          </a:xfrm>
          <a:prstGeom prst="rect">
            <a:avLst/>
          </a:prstGeom>
          <a:solidFill>
            <a:srgbClr val="00915A"/>
          </a:solidFill>
          <a:ln w="12700">
            <a:solidFill>
              <a:srgbClr val="00915A"/>
            </a:solidFill>
            <a:prstDash val="solid"/>
          </a:ln>
        </p:spPr>
      </p:sp>
      <p:sp>
        <p:nvSpPr>
          <p:cNvPr id="7" name="Shape 5"/>
          <p:cNvSpPr/>
          <p:nvPr/>
        </p:nvSpPr>
        <p:spPr>
          <a:xfrm>
            <a:off x="411480" y="1207008"/>
            <a:ext cx="438912" cy="438912"/>
          </a:xfrm>
          <a:prstGeom prst="ellipse">
            <a:avLst/>
          </a:prstGeom>
          <a:solidFill>
            <a:srgbClr val="00915A"/>
          </a:solidFill>
          <a:ln w="12700">
            <a:solidFill>
              <a:srgbClr val="00915A"/>
            </a:solidFill>
            <a:prstDash val="solid"/>
          </a:ln>
        </p:spPr>
      </p:sp>
      <p:sp>
        <p:nvSpPr>
          <p:cNvPr id="8" name="Text 6"/>
          <p:cNvSpPr/>
          <p:nvPr/>
        </p:nvSpPr>
        <p:spPr>
          <a:xfrm>
            <a:off x="411480" y="12070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987552" y="1078992"/>
            <a:ext cx="4572000" cy="274320"/>
          </a:xfrm>
          <a:prstGeom prst="rect">
            <a:avLst/>
          </a:prstGeom>
          <a:noFill/>
          <a:ln/>
        </p:spPr>
        <p:txBody>
          <a:bodyPr wrap="square" lIns="0" tIns="0" rIns="0" bIns="0" rtlCol="0" anchor="ctr"/>
          <a:lstStyle/>
          <a:p>
            <a:pPr indent="0" marL="0">
              <a:buNone/>
            </a:pPr>
            <a:r>
              <a:rPr lang="en-US" sz="1300" b="1" dirty="0">
                <a:solidFill>
                  <a:srgbClr val="1A1A1A"/>
                </a:solidFill>
              </a:rPr>
              <a:t>cert-manager + Vault Issuer</a:t>
            </a:r>
            <a:endParaRPr lang="en-US" sz="1300" dirty="0"/>
          </a:p>
        </p:txBody>
      </p:sp>
      <p:sp>
        <p:nvSpPr>
          <p:cNvPr id="10" name="Text 8"/>
          <p:cNvSpPr/>
          <p:nvPr/>
        </p:nvSpPr>
        <p:spPr>
          <a:xfrm>
            <a:off x="987552" y="1353312"/>
            <a:ext cx="4754880" cy="201168"/>
          </a:xfrm>
          <a:prstGeom prst="rect">
            <a:avLst/>
          </a:prstGeom>
          <a:noFill/>
          <a:ln/>
        </p:spPr>
        <p:txBody>
          <a:bodyPr wrap="square" lIns="0" tIns="0" rIns="0" bIns="0" rtlCol="0" anchor="ctr"/>
          <a:lstStyle/>
          <a:p>
            <a:pPr indent="0" marL="0">
              <a:buNone/>
            </a:pPr>
            <a:r>
              <a:rPr lang="en-US" sz="850" dirty="0">
                <a:solidFill>
                  <a:srgbClr val="1A7A4A"/>
                </a:solidFill>
              </a:rPr>
              <a:t>✓ Native K8s CRD, renouvellement automatique, forte communauté</a:t>
            </a:r>
            <a:endParaRPr lang="en-US" sz="850" dirty="0"/>
          </a:p>
        </p:txBody>
      </p:sp>
      <p:sp>
        <p:nvSpPr>
          <p:cNvPr id="11" name="Text 9"/>
          <p:cNvSpPr/>
          <p:nvPr/>
        </p:nvSpPr>
        <p:spPr>
          <a:xfrm>
            <a:off x="987552" y="1572768"/>
            <a:ext cx="4754880" cy="201168"/>
          </a:xfrm>
          <a:prstGeom prst="rect">
            <a:avLst/>
          </a:prstGeom>
          <a:noFill/>
          <a:ln/>
        </p:spPr>
        <p:txBody>
          <a:bodyPr wrap="square" lIns="0" tIns="0" rIns="0" bIns="0" rtlCol="0" anchor="ctr"/>
          <a:lstStyle/>
          <a:p>
            <a:pPr indent="0" marL="0">
              <a:buNone/>
            </a:pPr>
            <a:r>
              <a:rPr lang="en-US" sz="850" dirty="0">
                <a:solidFill>
                  <a:srgbClr val="6B7B6E"/>
                </a:solidFill>
              </a:rPr>
              <a:t>— Dépend de cert-manager installé dans le cluster</a:t>
            </a:r>
            <a:endParaRPr lang="en-US" sz="850" dirty="0"/>
          </a:p>
        </p:txBody>
      </p:sp>
      <p:sp>
        <p:nvSpPr>
          <p:cNvPr id="12" name="Shape 10"/>
          <p:cNvSpPr/>
          <p:nvPr/>
        </p:nvSpPr>
        <p:spPr>
          <a:xfrm>
            <a:off x="5943600" y="1170432"/>
            <a:ext cx="2743200" cy="502920"/>
          </a:xfrm>
          <a:prstGeom prst="rect">
            <a:avLst/>
          </a:prstGeom>
          <a:solidFill>
            <a:srgbClr val="E8F5F0"/>
          </a:solidFill>
          <a:ln w="12700">
            <a:solidFill>
              <a:srgbClr val="C0DDD2"/>
            </a:solidFill>
            <a:prstDash val="solid"/>
          </a:ln>
        </p:spPr>
      </p:sp>
      <p:sp>
        <p:nvSpPr>
          <p:cNvPr id="13" name="Text 11"/>
          <p:cNvSpPr/>
          <p:nvPr/>
        </p:nvSpPr>
        <p:spPr>
          <a:xfrm>
            <a:off x="5989320" y="1170432"/>
            <a:ext cx="2651760" cy="502920"/>
          </a:xfrm>
          <a:prstGeom prst="rect">
            <a:avLst/>
          </a:prstGeom>
          <a:noFill/>
          <a:ln/>
        </p:spPr>
        <p:txBody>
          <a:bodyPr wrap="square" lIns="0" tIns="0" rIns="0" bIns="0" rtlCol="0" anchor="ctr"/>
          <a:lstStyle/>
          <a:p>
            <a:pPr indent="0" marL="0">
              <a:buNone/>
            </a:pPr>
            <a:r>
              <a:rPr lang="en-US" sz="800" i="1" dirty="0">
                <a:solidFill>
                  <a:srgbClr val="007A4D"/>
                </a:solidFill>
              </a:rPr>
              <a:t>Standard K8s, greenfield, équipes DevOps matures</a:t>
            </a:r>
            <a:endParaRPr lang="en-US" sz="800" dirty="0"/>
          </a:p>
        </p:txBody>
      </p:sp>
      <p:sp>
        <p:nvSpPr>
          <p:cNvPr id="14" name="Shape 12"/>
          <p:cNvSpPr/>
          <p:nvPr/>
        </p:nvSpPr>
        <p:spPr>
          <a:xfrm>
            <a:off x="274320" y="1975104"/>
            <a:ext cx="8595360" cy="841248"/>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274320" y="1975104"/>
            <a:ext cx="64008" cy="841248"/>
          </a:xfrm>
          <a:prstGeom prst="rect">
            <a:avLst/>
          </a:prstGeom>
          <a:solidFill>
            <a:srgbClr val="00A76F"/>
          </a:solidFill>
          <a:ln w="12700">
            <a:solidFill>
              <a:srgbClr val="00A76F"/>
            </a:solidFill>
            <a:prstDash val="solid"/>
          </a:ln>
        </p:spPr>
      </p:sp>
      <p:sp>
        <p:nvSpPr>
          <p:cNvPr id="16" name="Shape 14"/>
          <p:cNvSpPr/>
          <p:nvPr/>
        </p:nvSpPr>
        <p:spPr>
          <a:xfrm>
            <a:off x="411480" y="2176272"/>
            <a:ext cx="438912" cy="438912"/>
          </a:xfrm>
          <a:prstGeom prst="ellipse">
            <a:avLst/>
          </a:prstGeom>
          <a:solidFill>
            <a:srgbClr val="00A76F"/>
          </a:solidFill>
          <a:ln w="12700">
            <a:solidFill>
              <a:srgbClr val="00A76F"/>
            </a:solidFill>
            <a:prstDash val="solid"/>
          </a:ln>
        </p:spPr>
      </p:sp>
      <p:sp>
        <p:nvSpPr>
          <p:cNvPr id="17" name="Text 15"/>
          <p:cNvSpPr/>
          <p:nvPr/>
        </p:nvSpPr>
        <p:spPr>
          <a:xfrm>
            <a:off x="411480" y="21762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p:nvPr/>
        </p:nvSpPr>
        <p:spPr>
          <a:xfrm>
            <a:off x="987552" y="2048256"/>
            <a:ext cx="4572000" cy="274320"/>
          </a:xfrm>
          <a:prstGeom prst="rect">
            <a:avLst/>
          </a:prstGeom>
          <a:noFill/>
          <a:ln/>
        </p:spPr>
        <p:txBody>
          <a:bodyPr wrap="square" lIns="0" tIns="0" rIns="0" bIns="0" rtlCol="0" anchor="ctr"/>
          <a:lstStyle/>
          <a:p>
            <a:pPr indent="0" marL="0">
              <a:buNone/>
            </a:pPr>
            <a:r>
              <a:rPr lang="en-US" sz="1300" b="1" dirty="0">
                <a:solidFill>
                  <a:srgbClr val="1A1A1A"/>
                </a:solidFill>
              </a:rPr>
              <a:t>Vault Secrets Operator (VSO)</a:t>
            </a:r>
            <a:endParaRPr lang="en-US" sz="1300" dirty="0"/>
          </a:p>
        </p:txBody>
      </p:sp>
      <p:sp>
        <p:nvSpPr>
          <p:cNvPr id="19" name="Text 17"/>
          <p:cNvSpPr/>
          <p:nvPr/>
        </p:nvSpPr>
        <p:spPr>
          <a:xfrm>
            <a:off x="987552" y="2322576"/>
            <a:ext cx="4754880" cy="201168"/>
          </a:xfrm>
          <a:prstGeom prst="rect">
            <a:avLst/>
          </a:prstGeom>
          <a:noFill/>
          <a:ln/>
        </p:spPr>
        <p:txBody>
          <a:bodyPr wrap="square" lIns="0" tIns="0" rIns="0" bIns="0" rtlCol="0" anchor="ctr"/>
          <a:lstStyle/>
          <a:p>
            <a:pPr indent="0" marL="0">
              <a:buNone/>
            </a:pPr>
            <a:r>
              <a:rPr lang="en-US" sz="850" dirty="0">
                <a:solidFill>
                  <a:srgbClr val="1A7A4A"/>
                </a:solidFill>
              </a:rPr>
              <a:t>✓ Un seul operator pour TLS + secrets, rollout restart automatique</a:t>
            </a:r>
            <a:endParaRPr lang="en-US" sz="850" dirty="0"/>
          </a:p>
        </p:txBody>
      </p:sp>
      <p:sp>
        <p:nvSpPr>
          <p:cNvPr id="20" name="Text 18"/>
          <p:cNvSpPr/>
          <p:nvPr/>
        </p:nvSpPr>
        <p:spPr>
          <a:xfrm>
            <a:off x="987552" y="2542032"/>
            <a:ext cx="4754880" cy="201168"/>
          </a:xfrm>
          <a:prstGeom prst="rect">
            <a:avLst/>
          </a:prstGeom>
          <a:noFill/>
          <a:ln/>
        </p:spPr>
        <p:txBody>
          <a:bodyPr wrap="square" lIns="0" tIns="0" rIns="0" bIns="0" rtlCol="0" anchor="ctr"/>
          <a:lstStyle/>
          <a:p>
            <a:pPr indent="0" marL="0">
              <a:buNone/>
            </a:pPr>
            <a:r>
              <a:rPr lang="en-US" sz="850" dirty="0">
                <a:solidFill>
                  <a:srgbClr val="6B7B6E"/>
                </a:solidFill>
              </a:rPr>
              <a:t>— Operator HashiCorp requis, API en v1beta1</a:t>
            </a:r>
            <a:endParaRPr lang="en-US" sz="850" dirty="0"/>
          </a:p>
        </p:txBody>
      </p:sp>
      <p:sp>
        <p:nvSpPr>
          <p:cNvPr id="21" name="Shape 19"/>
          <p:cNvSpPr/>
          <p:nvPr/>
        </p:nvSpPr>
        <p:spPr>
          <a:xfrm>
            <a:off x="5943600" y="2139696"/>
            <a:ext cx="2743200" cy="502920"/>
          </a:xfrm>
          <a:prstGeom prst="rect">
            <a:avLst/>
          </a:prstGeom>
          <a:solidFill>
            <a:srgbClr val="E8F5F0"/>
          </a:solidFill>
          <a:ln w="12700">
            <a:solidFill>
              <a:srgbClr val="C0DDD2"/>
            </a:solidFill>
            <a:prstDash val="solid"/>
          </a:ln>
        </p:spPr>
      </p:sp>
      <p:sp>
        <p:nvSpPr>
          <p:cNvPr id="22" name="Text 20"/>
          <p:cNvSpPr/>
          <p:nvPr/>
        </p:nvSpPr>
        <p:spPr>
          <a:xfrm>
            <a:off x="5989320" y="2139696"/>
            <a:ext cx="2651760" cy="502920"/>
          </a:xfrm>
          <a:prstGeom prst="rect">
            <a:avLst/>
          </a:prstGeom>
          <a:noFill/>
          <a:ln/>
        </p:spPr>
        <p:txBody>
          <a:bodyPr wrap="square" lIns="0" tIns="0" rIns="0" bIns="0" rtlCol="0" anchor="ctr"/>
          <a:lstStyle/>
          <a:p>
            <a:pPr indent="0" marL="0">
              <a:buNone/>
            </a:pPr>
            <a:r>
              <a:rPr lang="en-US" sz="800" i="1" dirty="0">
                <a:solidFill>
                  <a:srgbClr val="007A4D"/>
                </a:solidFill>
              </a:rPr>
              <a:t>Mix secrets statiques + PKI dans le même cluster</a:t>
            </a:r>
            <a:endParaRPr lang="en-US" sz="800" dirty="0"/>
          </a:p>
        </p:txBody>
      </p:sp>
      <p:sp>
        <p:nvSpPr>
          <p:cNvPr id="23" name="Shape 21"/>
          <p:cNvSpPr/>
          <p:nvPr/>
        </p:nvSpPr>
        <p:spPr>
          <a:xfrm>
            <a:off x="274320" y="2944368"/>
            <a:ext cx="8595360" cy="841248"/>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274320" y="2944368"/>
            <a:ext cx="64008" cy="841248"/>
          </a:xfrm>
          <a:prstGeom prst="rect">
            <a:avLst/>
          </a:prstGeom>
          <a:solidFill>
            <a:srgbClr val="007A4D"/>
          </a:solidFill>
          <a:ln w="12700">
            <a:solidFill>
              <a:srgbClr val="007A4D"/>
            </a:solidFill>
            <a:prstDash val="solid"/>
          </a:ln>
        </p:spPr>
      </p:sp>
      <p:sp>
        <p:nvSpPr>
          <p:cNvPr id="25" name="Shape 23"/>
          <p:cNvSpPr/>
          <p:nvPr/>
        </p:nvSpPr>
        <p:spPr>
          <a:xfrm>
            <a:off x="411480" y="3145536"/>
            <a:ext cx="438912" cy="438912"/>
          </a:xfrm>
          <a:prstGeom prst="ellipse">
            <a:avLst/>
          </a:prstGeom>
          <a:solidFill>
            <a:srgbClr val="007A4D"/>
          </a:solidFill>
          <a:ln w="12700">
            <a:solidFill>
              <a:srgbClr val="007A4D"/>
            </a:solidFill>
            <a:prstDash val="solid"/>
          </a:ln>
        </p:spPr>
      </p:sp>
      <p:sp>
        <p:nvSpPr>
          <p:cNvPr id="26" name="Text 24"/>
          <p:cNvSpPr/>
          <p:nvPr/>
        </p:nvSpPr>
        <p:spPr>
          <a:xfrm>
            <a:off x="411480" y="31455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7" name="Text 25"/>
          <p:cNvSpPr/>
          <p:nvPr/>
        </p:nvSpPr>
        <p:spPr>
          <a:xfrm>
            <a:off x="987552" y="3017520"/>
            <a:ext cx="4572000" cy="274320"/>
          </a:xfrm>
          <a:prstGeom prst="rect">
            <a:avLst/>
          </a:prstGeom>
          <a:noFill/>
          <a:ln/>
        </p:spPr>
        <p:txBody>
          <a:bodyPr wrap="square" lIns="0" tIns="0" rIns="0" bIns="0" rtlCol="0" anchor="ctr"/>
          <a:lstStyle/>
          <a:p>
            <a:pPr indent="0" marL="0">
              <a:buNone/>
            </a:pPr>
            <a:r>
              <a:rPr lang="en-US" sz="1300" b="1" dirty="0">
                <a:solidFill>
                  <a:srgbClr val="1A1A1A"/>
                </a:solidFill>
              </a:rPr>
              <a:t>Vault Sidecar Injector</a:t>
            </a:r>
            <a:endParaRPr lang="en-US" sz="1300" dirty="0"/>
          </a:p>
        </p:txBody>
      </p:sp>
      <p:sp>
        <p:nvSpPr>
          <p:cNvPr id="28" name="Text 26"/>
          <p:cNvSpPr/>
          <p:nvPr/>
        </p:nvSpPr>
        <p:spPr>
          <a:xfrm>
            <a:off x="987552" y="3291840"/>
            <a:ext cx="4754880" cy="201168"/>
          </a:xfrm>
          <a:prstGeom prst="rect">
            <a:avLst/>
          </a:prstGeom>
          <a:noFill/>
          <a:ln/>
        </p:spPr>
        <p:txBody>
          <a:bodyPr wrap="square" lIns="0" tIns="0" rIns="0" bIns="0" rtlCol="0" anchor="ctr"/>
          <a:lstStyle/>
          <a:p>
            <a:pPr indent="0" marL="0">
              <a:buNone/>
            </a:pPr>
            <a:r>
              <a:rPr lang="en-US" sz="850" dirty="0">
                <a:solidFill>
                  <a:srgbClr val="1A7A4A"/>
                </a:solidFill>
              </a:rPr>
              <a:t>✓ Zero code change, annotation-driven, isolation forte</a:t>
            </a:r>
            <a:endParaRPr lang="en-US" sz="850" dirty="0"/>
          </a:p>
        </p:txBody>
      </p:sp>
      <p:sp>
        <p:nvSpPr>
          <p:cNvPr id="29" name="Text 27"/>
          <p:cNvSpPr/>
          <p:nvPr/>
        </p:nvSpPr>
        <p:spPr>
          <a:xfrm>
            <a:off x="987552" y="3511296"/>
            <a:ext cx="4754880" cy="201168"/>
          </a:xfrm>
          <a:prstGeom prst="rect">
            <a:avLst/>
          </a:prstGeom>
          <a:noFill/>
          <a:ln/>
        </p:spPr>
        <p:txBody>
          <a:bodyPr wrap="square" lIns="0" tIns="0" rIns="0" bIns="0" rtlCol="0" anchor="ctr"/>
          <a:lstStyle/>
          <a:p>
            <a:pPr indent="0" marL="0">
              <a:buNone/>
            </a:pPr>
            <a:r>
              <a:rPr lang="en-US" sz="850" dirty="0">
                <a:solidFill>
                  <a:srgbClr val="6B7B6E"/>
                </a:solidFill>
              </a:rPr>
              <a:t>— MutatingWebhook, init-container en plus par pod</a:t>
            </a:r>
            <a:endParaRPr lang="en-US" sz="850" dirty="0"/>
          </a:p>
        </p:txBody>
      </p:sp>
      <p:sp>
        <p:nvSpPr>
          <p:cNvPr id="30" name="Shape 28"/>
          <p:cNvSpPr/>
          <p:nvPr/>
        </p:nvSpPr>
        <p:spPr>
          <a:xfrm>
            <a:off x="5943600" y="3108960"/>
            <a:ext cx="2743200" cy="502920"/>
          </a:xfrm>
          <a:prstGeom prst="rect">
            <a:avLst/>
          </a:prstGeom>
          <a:solidFill>
            <a:srgbClr val="E8F5F0"/>
          </a:solidFill>
          <a:ln w="12700">
            <a:solidFill>
              <a:srgbClr val="C0DDD2"/>
            </a:solidFill>
            <a:prstDash val="solid"/>
          </a:ln>
        </p:spPr>
      </p:sp>
      <p:sp>
        <p:nvSpPr>
          <p:cNvPr id="31" name="Text 29"/>
          <p:cNvSpPr/>
          <p:nvPr/>
        </p:nvSpPr>
        <p:spPr>
          <a:xfrm>
            <a:off x="5989320" y="3108960"/>
            <a:ext cx="2651760" cy="502920"/>
          </a:xfrm>
          <a:prstGeom prst="rect">
            <a:avLst/>
          </a:prstGeom>
          <a:noFill/>
          <a:ln/>
        </p:spPr>
        <p:txBody>
          <a:bodyPr wrap="square" lIns="0" tIns="0" rIns="0" bIns="0" rtlCol="0" anchor="ctr"/>
          <a:lstStyle/>
          <a:p>
            <a:pPr indent="0" marL="0">
              <a:buNone/>
            </a:pPr>
            <a:r>
              <a:rPr lang="en-US" sz="800" i="1" dirty="0">
                <a:solidFill>
                  <a:srgbClr val="007A4D"/>
                </a:solidFill>
              </a:rPr>
              <a:t>Apps legacy sans accès code, injection transparente</a:t>
            </a:r>
            <a:endParaRPr lang="en-US" sz="800" dirty="0"/>
          </a:p>
        </p:txBody>
      </p:sp>
      <p:sp>
        <p:nvSpPr>
          <p:cNvPr id="32" name="Shape 30"/>
          <p:cNvSpPr/>
          <p:nvPr/>
        </p:nvSpPr>
        <p:spPr>
          <a:xfrm>
            <a:off x="274320" y="3913632"/>
            <a:ext cx="8595360" cy="841248"/>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274320" y="3913632"/>
            <a:ext cx="64008" cy="841248"/>
          </a:xfrm>
          <a:prstGeom prst="rect">
            <a:avLst/>
          </a:prstGeom>
          <a:solidFill>
            <a:srgbClr val="C8992B"/>
          </a:solidFill>
          <a:ln w="12700">
            <a:solidFill>
              <a:srgbClr val="C8992B"/>
            </a:solidFill>
            <a:prstDash val="solid"/>
          </a:ln>
        </p:spPr>
      </p:sp>
      <p:sp>
        <p:nvSpPr>
          <p:cNvPr id="34" name="Shape 32"/>
          <p:cNvSpPr/>
          <p:nvPr/>
        </p:nvSpPr>
        <p:spPr>
          <a:xfrm>
            <a:off x="411480" y="4114800"/>
            <a:ext cx="438912" cy="438912"/>
          </a:xfrm>
          <a:prstGeom prst="ellipse">
            <a:avLst/>
          </a:prstGeom>
          <a:solidFill>
            <a:srgbClr val="C8992B"/>
          </a:solidFill>
          <a:ln w="12700">
            <a:solidFill>
              <a:srgbClr val="C8992B"/>
            </a:solidFill>
            <a:prstDash val="solid"/>
          </a:ln>
        </p:spPr>
      </p:sp>
      <p:sp>
        <p:nvSpPr>
          <p:cNvPr id="35" name="Text 33"/>
          <p:cNvSpPr/>
          <p:nvPr/>
        </p:nvSpPr>
        <p:spPr>
          <a:xfrm>
            <a:off x="411480" y="41148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6" name="Text 34"/>
          <p:cNvSpPr/>
          <p:nvPr/>
        </p:nvSpPr>
        <p:spPr>
          <a:xfrm>
            <a:off x="987552" y="3986784"/>
            <a:ext cx="4572000" cy="274320"/>
          </a:xfrm>
          <a:prstGeom prst="rect">
            <a:avLst/>
          </a:prstGeom>
          <a:noFill/>
          <a:ln/>
        </p:spPr>
        <p:txBody>
          <a:bodyPr wrap="square" lIns="0" tIns="0" rIns="0" bIns="0" rtlCol="0" anchor="ctr"/>
          <a:lstStyle/>
          <a:p>
            <a:pPr indent="0" marL="0">
              <a:buNone/>
            </a:pPr>
            <a:r>
              <a:rPr lang="en-US" sz="1300" b="1" dirty="0">
                <a:solidFill>
                  <a:srgbClr val="1A1A1A"/>
                </a:solidFill>
              </a:rPr>
              <a:t>Init Container + CronJob</a:t>
            </a:r>
            <a:endParaRPr lang="en-US" sz="1300" dirty="0"/>
          </a:p>
        </p:txBody>
      </p:sp>
      <p:sp>
        <p:nvSpPr>
          <p:cNvPr id="37" name="Text 35"/>
          <p:cNvSpPr/>
          <p:nvPr/>
        </p:nvSpPr>
        <p:spPr>
          <a:xfrm>
            <a:off x="987552" y="4261104"/>
            <a:ext cx="4754880" cy="201168"/>
          </a:xfrm>
          <a:prstGeom prst="rect">
            <a:avLst/>
          </a:prstGeom>
          <a:noFill/>
          <a:ln/>
        </p:spPr>
        <p:txBody>
          <a:bodyPr wrap="square" lIns="0" tIns="0" rIns="0" bIns="0" rtlCol="0" anchor="ctr"/>
          <a:lstStyle/>
          <a:p>
            <a:pPr indent="0" marL="0">
              <a:buNone/>
            </a:pPr>
            <a:r>
              <a:rPr lang="en-US" sz="850" dirty="0">
                <a:solidFill>
                  <a:srgbClr val="1A7A4A"/>
                </a:solidFill>
              </a:rPr>
              <a:t>✓ Sans operator tiers, contrôle total, compatible ROKS/OpenShift</a:t>
            </a:r>
            <a:endParaRPr lang="en-US" sz="850" dirty="0"/>
          </a:p>
        </p:txBody>
      </p:sp>
      <p:sp>
        <p:nvSpPr>
          <p:cNvPr id="38" name="Text 36"/>
          <p:cNvSpPr/>
          <p:nvPr/>
        </p:nvSpPr>
        <p:spPr>
          <a:xfrm>
            <a:off x="987552" y="4480560"/>
            <a:ext cx="4754880" cy="201168"/>
          </a:xfrm>
          <a:prstGeom prst="rect">
            <a:avLst/>
          </a:prstGeom>
          <a:noFill/>
          <a:ln/>
        </p:spPr>
        <p:txBody>
          <a:bodyPr wrap="square" lIns="0" tIns="0" rIns="0" bIns="0" rtlCol="0" anchor="ctr"/>
          <a:lstStyle/>
          <a:p>
            <a:pPr indent="0" marL="0">
              <a:buNone/>
            </a:pPr>
            <a:r>
              <a:rPr lang="en-US" sz="850" dirty="0">
                <a:solidFill>
                  <a:srgbClr val="6B7B6E"/>
                </a:solidFill>
              </a:rPr>
              <a:t>— Script shell à maintenir, pas de controller dédié</a:t>
            </a:r>
            <a:endParaRPr lang="en-US" sz="850" dirty="0"/>
          </a:p>
        </p:txBody>
      </p:sp>
      <p:sp>
        <p:nvSpPr>
          <p:cNvPr id="39" name="Shape 37"/>
          <p:cNvSpPr/>
          <p:nvPr/>
        </p:nvSpPr>
        <p:spPr>
          <a:xfrm>
            <a:off x="5943600" y="4078224"/>
            <a:ext cx="2743200" cy="502920"/>
          </a:xfrm>
          <a:prstGeom prst="rect">
            <a:avLst/>
          </a:prstGeom>
          <a:solidFill>
            <a:srgbClr val="E8F5F0"/>
          </a:solidFill>
          <a:ln w="12700">
            <a:solidFill>
              <a:srgbClr val="C0DDD2"/>
            </a:solidFill>
            <a:prstDash val="solid"/>
          </a:ln>
        </p:spPr>
      </p:sp>
      <p:sp>
        <p:nvSpPr>
          <p:cNvPr id="40" name="Text 38"/>
          <p:cNvSpPr/>
          <p:nvPr/>
        </p:nvSpPr>
        <p:spPr>
          <a:xfrm>
            <a:off x="5989320" y="4078224"/>
            <a:ext cx="2651760" cy="502920"/>
          </a:xfrm>
          <a:prstGeom prst="rect">
            <a:avLst/>
          </a:prstGeom>
          <a:noFill/>
          <a:ln/>
        </p:spPr>
        <p:txBody>
          <a:bodyPr wrap="square" lIns="0" tIns="0" rIns="0" bIns="0" rtlCol="0" anchor="ctr"/>
          <a:lstStyle/>
          <a:p>
            <a:pPr indent="0" marL="0">
              <a:buNone/>
            </a:pPr>
            <a:r>
              <a:rPr lang="en-US" sz="800" i="1" dirty="0">
                <a:solidFill>
                  <a:srgbClr val="007A4D"/>
                </a:solidFill>
              </a:rPr>
              <a:t>Environnements contraints BNP/ROKS, pattern recommandé</a:t>
            </a:r>
            <a:endParaRPr lang="en-US" sz="800" dirty="0"/>
          </a:p>
        </p:txBody>
      </p:sp>
      <p:sp>
        <p:nvSpPr>
          <p:cNvPr id="41" name="Shape 39"/>
          <p:cNvSpPr/>
          <p:nvPr/>
        </p:nvSpPr>
        <p:spPr>
          <a:xfrm>
            <a:off x="0" y="4846320"/>
            <a:ext cx="9144000" cy="297180"/>
          </a:xfrm>
          <a:prstGeom prst="rect">
            <a:avLst/>
          </a:prstGeom>
          <a:solidFill>
            <a:srgbClr val="00915A"/>
          </a:solidFill>
          <a:ln w="12700">
            <a:solidFill>
              <a:srgbClr val="00915A"/>
            </a:solidFill>
            <a:prstDash val="solid"/>
          </a:ln>
        </p:spPr>
      </p:sp>
      <p:sp>
        <p:nvSpPr>
          <p:cNvPr id="42" name="Text 40"/>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2D1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8992B"/>
          </a:solidFill>
          <a:ln w="12700">
            <a:solidFill>
              <a:srgbClr val="C8992B"/>
            </a:solidFill>
            <a:prstDash val="solid"/>
          </a:ln>
        </p:spPr>
      </p:sp>
      <p:sp>
        <p:nvSpPr>
          <p:cNvPr id="3" name="Shape 1"/>
          <p:cNvSpPr/>
          <p:nvPr/>
        </p:nvSpPr>
        <p:spPr>
          <a:xfrm>
            <a:off x="-914400" y="914400"/>
            <a:ext cx="4572000" cy="4572000"/>
          </a:xfrm>
          <a:prstGeom prst="ellipse">
            <a:avLst/>
          </a:prstGeom>
          <a:solidFill>
            <a:srgbClr val="00A76F">
              <a:alpha val="12000"/>
            </a:srgbClr>
          </a:solidFill>
          <a:ln w="12700">
            <a:solidFill>
              <a:srgbClr val="00A76F">
                <a:alpha val="12000"/>
              </a:srgbClr>
            </a:solidFill>
            <a:prstDash val="solid"/>
          </a:ln>
        </p:spPr>
      </p:sp>
      <p:sp>
        <p:nvSpPr>
          <p:cNvPr id="4" name="Text 2"/>
          <p:cNvSpPr/>
          <p:nvPr/>
        </p:nvSpPr>
        <p:spPr>
          <a:xfrm>
            <a:off x="457200" y="1005840"/>
            <a:ext cx="3657600" cy="411480"/>
          </a:xfrm>
          <a:prstGeom prst="rect">
            <a:avLst/>
          </a:prstGeom>
          <a:noFill/>
          <a:ln/>
        </p:spPr>
        <p:txBody>
          <a:bodyPr wrap="square" lIns="0" tIns="0" rIns="0" bIns="0" rtlCol="0" anchor="ctr"/>
          <a:lstStyle/>
          <a:p>
            <a:pPr indent="0" marL="0">
              <a:buNone/>
            </a:pPr>
            <a:r>
              <a:rPr lang="en-US" sz="1200" b="1" spc="600" kern="0" dirty="0">
                <a:solidFill>
                  <a:srgbClr val="C8992B"/>
                </a:solidFill>
              </a:rPr>
              <a:t>FOCUS</a:t>
            </a:r>
            <a:endParaRPr lang="en-US" sz="1200" dirty="0"/>
          </a:p>
        </p:txBody>
      </p:sp>
      <p:sp>
        <p:nvSpPr>
          <p:cNvPr id="5" name="Text 3"/>
          <p:cNvSpPr/>
          <p:nvPr/>
        </p:nvSpPr>
        <p:spPr>
          <a:xfrm>
            <a:off x="457200" y="1463040"/>
            <a:ext cx="7315200" cy="1645920"/>
          </a:xfrm>
          <a:prstGeom prst="rect">
            <a:avLst/>
          </a:prstGeom>
          <a:noFill/>
          <a:ln/>
        </p:spPr>
        <p:txBody>
          <a:bodyPr wrap="square" lIns="0" tIns="0" rIns="0" bIns="0" rtlCol="0" anchor="ctr"/>
          <a:lstStyle/>
          <a:p>
            <a:pPr indent="0" marL="0">
              <a:buNone/>
            </a:pPr>
            <a:r>
              <a:rPr lang="en-US" sz="4400" b="1" dirty="0">
                <a:solidFill>
                  <a:srgbClr val="FFFFFF"/>
                </a:solidFill>
              </a:rPr>
              <a:t>Init Container</a:t>
            </a:r>
            <a:endParaRPr lang="en-US" sz="4400" dirty="0"/>
          </a:p>
          <a:p>
            <a:pPr indent="0" marL="0">
              <a:buNone/>
            </a:pPr>
            <a:r>
              <a:rPr lang="en-US" sz="4400" b="1" dirty="0">
                <a:solidFill>
                  <a:srgbClr val="FFFFFF"/>
                </a:solidFill>
              </a:rPr>
              <a:t>+ CronJob</a:t>
            </a:r>
            <a:endParaRPr lang="en-US" sz="4400" dirty="0"/>
          </a:p>
        </p:txBody>
      </p:sp>
      <p:sp>
        <p:nvSpPr>
          <p:cNvPr id="6" name="Text 4"/>
          <p:cNvSpPr/>
          <p:nvPr/>
        </p:nvSpPr>
        <p:spPr>
          <a:xfrm>
            <a:off x="457200" y="3154680"/>
            <a:ext cx="7315200" cy="365760"/>
          </a:xfrm>
          <a:prstGeom prst="rect">
            <a:avLst/>
          </a:prstGeom>
          <a:noFill/>
          <a:ln/>
        </p:spPr>
        <p:txBody>
          <a:bodyPr wrap="square" lIns="0" tIns="0" rIns="0" bIns="0" rtlCol="0" anchor="ctr"/>
          <a:lstStyle/>
          <a:p>
            <a:pPr indent="0" marL="0">
              <a:buNone/>
            </a:pPr>
            <a:r>
              <a:rPr lang="en-US" sz="1400" dirty="0">
                <a:solidFill>
                  <a:srgbClr val="A8D5C4"/>
                </a:solidFill>
              </a:rPr>
              <a:t>Pattern recommandé pour ROKS / OpenShift sans operator tiers</a:t>
            </a:r>
            <a:endParaRPr lang="en-US" sz="1400" dirty="0"/>
          </a:p>
        </p:txBody>
      </p:sp>
      <p:sp>
        <p:nvSpPr>
          <p:cNvPr id="7" name="Shape 5"/>
          <p:cNvSpPr/>
          <p:nvPr/>
        </p:nvSpPr>
        <p:spPr>
          <a:xfrm>
            <a:off x="457200" y="3611880"/>
            <a:ext cx="2011680" cy="45720"/>
          </a:xfrm>
          <a:prstGeom prst="rect">
            <a:avLst/>
          </a:prstGeom>
          <a:solidFill>
            <a:srgbClr val="C8992B"/>
          </a:solidFill>
          <a:ln w="12700">
            <a:solidFill>
              <a:srgbClr val="C8992B"/>
            </a:solidFill>
            <a:prstDash val="solid"/>
          </a:ln>
        </p:spPr>
      </p:sp>
      <p:sp>
        <p:nvSpPr>
          <p:cNvPr id="8" name="Text 6"/>
          <p:cNvSpPr/>
          <p:nvPr/>
        </p:nvSpPr>
        <p:spPr>
          <a:xfrm>
            <a:off x="8046720" y="1097280"/>
            <a:ext cx="822960" cy="822960"/>
          </a:xfrm>
          <a:prstGeom prst="rect">
            <a:avLst/>
          </a:prstGeom>
          <a:noFill/>
          <a:ln/>
        </p:spPr>
        <p:txBody>
          <a:bodyPr wrap="square" lIns="0" tIns="0" rIns="0" bIns="0" rtlCol="0" anchor="ctr"/>
          <a:lstStyle/>
          <a:p>
            <a:pPr algn="r" indent="0" marL="0">
              <a:buNone/>
            </a:pPr>
            <a:r>
              <a:rPr lang="en-US" sz="5200" b="1" dirty="0">
                <a:solidFill>
                  <a:srgbClr val="1A4A35"/>
                </a:solidFill>
              </a:rPr>
              <a:t>04</a:t>
            </a:r>
            <a:endParaRPr lang="en-US" sz="5200" dirty="0"/>
          </a:p>
        </p:txBody>
      </p:sp>
      <p:sp>
        <p:nvSpPr>
          <p:cNvPr id="9" name="Shape 7"/>
          <p:cNvSpPr/>
          <p:nvPr/>
        </p:nvSpPr>
        <p:spPr>
          <a:xfrm>
            <a:off x="0" y="4846320"/>
            <a:ext cx="9144000" cy="297180"/>
          </a:xfrm>
          <a:prstGeom prst="rect">
            <a:avLst/>
          </a:prstGeom>
          <a:solidFill>
            <a:srgbClr val="00915A"/>
          </a:solidFill>
          <a:ln w="12700">
            <a:solidFill>
              <a:srgbClr val="00915A"/>
            </a:solidFill>
            <a:prstDash val="solid"/>
          </a:ln>
        </p:spPr>
      </p:sp>
      <p:sp>
        <p:nvSpPr>
          <p:cNvPr id="10" name="Text 8"/>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8992B"/>
          </a:solidFill>
          <a:ln w="12700">
            <a:solidFill>
              <a:srgbClr val="C8992B"/>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100" b="1" dirty="0">
                <a:solidFill>
                  <a:srgbClr val="FFFFFF"/>
                </a:solidFill>
              </a:rPr>
              <a:t>Init Container + CronJob — Architecture</a:t>
            </a:r>
            <a:endParaRPr lang="en-US" sz="2100" dirty="0"/>
          </a:p>
        </p:txBody>
      </p:sp>
      <p:sp>
        <p:nvSpPr>
          <p:cNvPr id="4" name="Shape 2"/>
          <p:cNvSpPr/>
          <p:nvPr/>
        </p:nvSpPr>
        <p:spPr>
          <a:xfrm>
            <a:off x="228600" y="932688"/>
            <a:ext cx="4114800" cy="320040"/>
          </a:xfrm>
          <a:prstGeom prst="rect">
            <a:avLst/>
          </a:prstGeom>
          <a:solidFill>
            <a:srgbClr val="00915A"/>
          </a:solidFill>
          <a:ln w="12700">
            <a:solidFill>
              <a:srgbClr val="00915A"/>
            </a:solidFill>
            <a:prstDash val="solid"/>
          </a:ln>
        </p:spPr>
      </p:sp>
      <p:sp>
        <p:nvSpPr>
          <p:cNvPr id="5" name="Text 3"/>
          <p:cNvSpPr/>
          <p:nvPr/>
        </p:nvSpPr>
        <p:spPr>
          <a:xfrm>
            <a:off x="228600" y="932688"/>
            <a:ext cx="4114800" cy="320040"/>
          </a:xfrm>
          <a:prstGeom prst="rect">
            <a:avLst/>
          </a:prstGeom>
          <a:noFill/>
          <a:ln/>
        </p:spPr>
        <p:txBody>
          <a:bodyPr wrap="square" rtlCol="0" anchor="ctr"/>
          <a:lstStyle/>
          <a:p>
            <a:pPr indent="0" marL="0">
              <a:buNone/>
            </a:pPr>
            <a:r>
              <a:rPr lang="en-US" sz="1000" b="1" dirty="0">
                <a:solidFill>
                  <a:srgbClr val="FFFFFF"/>
                </a:solidFill>
              </a:rPr>
              <a:t>PHASE 1 — Démarrage : Init Container</a:t>
            </a:r>
            <a:endParaRPr lang="en-US" sz="1000" dirty="0"/>
          </a:p>
        </p:txBody>
      </p:sp>
      <p:sp>
        <p:nvSpPr>
          <p:cNvPr id="6" name="Shape 4"/>
          <p:cNvSpPr/>
          <p:nvPr/>
        </p:nvSpPr>
        <p:spPr>
          <a:xfrm>
            <a:off x="228600" y="1252728"/>
            <a:ext cx="4114800" cy="2084832"/>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347472" y="1353312"/>
            <a:ext cx="182880" cy="182880"/>
          </a:xfrm>
          <a:prstGeom prst="ellipse">
            <a:avLst/>
          </a:prstGeom>
          <a:solidFill>
            <a:srgbClr val="C8992B"/>
          </a:solidFill>
          <a:ln w="12700">
            <a:solidFill>
              <a:srgbClr val="C8992B"/>
            </a:solidFill>
            <a:prstDash val="solid"/>
          </a:ln>
        </p:spPr>
      </p:sp>
      <p:sp>
        <p:nvSpPr>
          <p:cNvPr id="8" name="Text 6"/>
          <p:cNvSpPr/>
          <p:nvPr/>
        </p:nvSpPr>
        <p:spPr>
          <a:xfrm>
            <a:off x="594360" y="1335024"/>
            <a:ext cx="3657600" cy="256032"/>
          </a:xfrm>
          <a:prstGeom prst="rect">
            <a:avLst/>
          </a:prstGeom>
          <a:noFill/>
          <a:ln/>
        </p:spPr>
        <p:txBody>
          <a:bodyPr wrap="square" lIns="0" tIns="0" rIns="0" bIns="0" rtlCol="0" anchor="ctr"/>
          <a:lstStyle/>
          <a:p>
            <a:pPr indent="0" marL="0">
              <a:buNone/>
            </a:pPr>
            <a:r>
              <a:rPr lang="en-US" sz="900" dirty="0">
                <a:solidFill>
                  <a:srgbClr val="1A1A1A"/>
                </a:solidFill>
              </a:rPr>
              <a:t>1. Pod démarre → Init Container s'exécute en premier</a:t>
            </a:r>
            <a:endParaRPr lang="en-US" sz="900" dirty="0"/>
          </a:p>
        </p:txBody>
      </p:sp>
      <p:sp>
        <p:nvSpPr>
          <p:cNvPr id="9" name="Shape 7"/>
          <p:cNvSpPr/>
          <p:nvPr/>
        </p:nvSpPr>
        <p:spPr>
          <a:xfrm>
            <a:off x="347472" y="1682496"/>
            <a:ext cx="182880" cy="182880"/>
          </a:xfrm>
          <a:prstGeom prst="ellipse">
            <a:avLst/>
          </a:prstGeom>
          <a:solidFill>
            <a:srgbClr val="C8992B"/>
          </a:solidFill>
          <a:ln w="12700">
            <a:solidFill>
              <a:srgbClr val="C8992B"/>
            </a:solidFill>
            <a:prstDash val="solid"/>
          </a:ln>
        </p:spPr>
      </p:sp>
      <p:sp>
        <p:nvSpPr>
          <p:cNvPr id="10" name="Text 8"/>
          <p:cNvSpPr/>
          <p:nvPr/>
        </p:nvSpPr>
        <p:spPr>
          <a:xfrm>
            <a:off x="594360" y="1664208"/>
            <a:ext cx="3657600" cy="256032"/>
          </a:xfrm>
          <a:prstGeom prst="rect">
            <a:avLst/>
          </a:prstGeom>
          <a:noFill/>
          <a:ln/>
        </p:spPr>
        <p:txBody>
          <a:bodyPr wrap="square" lIns="0" tIns="0" rIns="0" bIns="0" rtlCol="0" anchor="ctr"/>
          <a:lstStyle/>
          <a:p>
            <a:pPr indent="0" marL="0">
              <a:buNone/>
            </a:pPr>
            <a:r>
              <a:rPr lang="en-US" sz="900" dirty="0">
                <a:solidFill>
                  <a:srgbClr val="1A1A1A"/>
                </a:solidFill>
              </a:rPr>
              <a:t>2. Appel pki/issue/&lt;role&gt; vers Vault (auth Kubernetes SA)</a:t>
            </a:r>
            <a:endParaRPr lang="en-US" sz="900" dirty="0"/>
          </a:p>
        </p:txBody>
      </p:sp>
      <p:sp>
        <p:nvSpPr>
          <p:cNvPr id="11" name="Shape 9"/>
          <p:cNvSpPr/>
          <p:nvPr/>
        </p:nvSpPr>
        <p:spPr>
          <a:xfrm>
            <a:off x="347472" y="2011680"/>
            <a:ext cx="182880" cy="182880"/>
          </a:xfrm>
          <a:prstGeom prst="ellipse">
            <a:avLst/>
          </a:prstGeom>
          <a:solidFill>
            <a:srgbClr val="C8992B"/>
          </a:solidFill>
          <a:ln w="12700">
            <a:solidFill>
              <a:srgbClr val="C8992B"/>
            </a:solidFill>
            <a:prstDash val="solid"/>
          </a:ln>
        </p:spPr>
      </p:sp>
      <p:sp>
        <p:nvSpPr>
          <p:cNvPr id="12" name="Text 10"/>
          <p:cNvSpPr/>
          <p:nvPr/>
        </p:nvSpPr>
        <p:spPr>
          <a:xfrm>
            <a:off x="594360" y="1993392"/>
            <a:ext cx="3657600" cy="256032"/>
          </a:xfrm>
          <a:prstGeom prst="rect">
            <a:avLst/>
          </a:prstGeom>
          <a:noFill/>
          <a:ln/>
        </p:spPr>
        <p:txBody>
          <a:bodyPr wrap="square" lIns="0" tIns="0" rIns="0" bIns="0" rtlCol="0" anchor="ctr"/>
          <a:lstStyle/>
          <a:p>
            <a:pPr indent="0" marL="0">
              <a:buNone/>
            </a:pPr>
            <a:r>
              <a:rPr lang="en-US" sz="900" dirty="0">
                <a:solidFill>
                  <a:srgbClr val="1A1A1A"/>
                </a:solidFill>
              </a:rPr>
              <a:t>3. Vault retourne : certificate + private_key + ca_chain (PEM)</a:t>
            </a:r>
            <a:endParaRPr lang="en-US" sz="900" dirty="0"/>
          </a:p>
        </p:txBody>
      </p:sp>
      <p:sp>
        <p:nvSpPr>
          <p:cNvPr id="13" name="Shape 11"/>
          <p:cNvSpPr/>
          <p:nvPr/>
        </p:nvSpPr>
        <p:spPr>
          <a:xfrm>
            <a:off x="347472" y="2340864"/>
            <a:ext cx="182880" cy="182880"/>
          </a:xfrm>
          <a:prstGeom prst="ellipse">
            <a:avLst/>
          </a:prstGeom>
          <a:solidFill>
            <a:srgbClr val="C8992B"/>
          </a:solidFill>
          <a:ln w="12700">
            <a:solidFill>
              <a:srgbClr val="C8992B"/>
            </a:solidFill>
            <a:prstDash val="solid"/>
          </a:ln>
        </p:spPr>
      </p:sp>
      <p:sp>
        <p:nvSpPr>
          <p:cNvPr id="14" name="Text 12"/>
          <p:cNvSpPr/>
          <p:nvPr/>
        </p:nvSpPr>
        <p:spPr>
          <a:xfrm>
            <a:off x="594360" y="2322576"/>
            <a:ext cx="3657600" cy="256032"/>
          </a:xfrm>
          <a:prstGeom prst="rect">
            <a:avLst/>
          </a:prstGeom>
          <a:noFill/>
          <a:ln/>
        </p:spPr>
        <p:txBody>
          <a:bodyPr wrap="square" lIns="0" tIns="0" rIns="0" bIns="0" rtlCol="0" anchor="ctr"/>
          <a:lstStyle/>
          <a:p>
            <a:pPr indent="0" marL="0">
              <a:buNone/>
            </a:pPr>
            <a:r>
              <a:rPr lang="en-US" sz="900" dirty="0">
                <a:solidFill>
                  <a:srgbClr val="1A1A1A"/>
                </a:solidFill>
              </a:rPr>
              <a:t>4. Fichiers écrits dans emptyDir partagé : /vault/tls/</a:t>
            </a:r>
            <a:endParaRPr lang="en-US" sz="900" dirty="0"/>
          </a:p>
        </p:txBody>
      </p:sp>
      <p:sp>
        <p:nvSpPr>
          <p:cNvPr id="15" name="Shape 13"/>
          <p:cNvSpPr/>
          <p:nvPr/>
        </p:nvSpPr>
        <p:spPr>
          <a:xfrm>
            <a:off x="347472" y="2670048"/>
            <a:ext cx="182880" cy="182880"/>
          </a:xfrm>
          <a:prstGeom prst="ellipse">
            <a:avLst/>
          </a:prstGeom>
          <a:solidFill>
            <a:srgbClr val="C8992B"/>
          </a:solidFill>
          <a:ln w="12700">
            <a:solidFill>
              <a:srgbClr val="C8992B"/>
            </a:solidFill>
            <a:prstDash val="solid"/>
          </a:ln>
        </p:spPr>
      </p:sp>
      <p:sp>
        <p:nvSpPr>
          <p:cNvPr id="16" name="Text 14"/>
          <p:cNvSpPr/>
          <p:nvPr/>
        </p:nvSpPr>
        <p:spPr>
          <a:xfrm>
            <a:off x="594360" y="2651760"/>
            <a:ext cx="3657600" cy="256032"/>
          </a:xfrm>
          <a:prstGeom prst="rect">
            <a:avLst/>
          </a:prstGeom>
          <a:noFill/>
          <a:ln/>
        </p:spPr>
        <p:txBody>
          <a:bodyPr wrap="square" lIns="0" tIns="0" rIns="0" bIns="0" rtlCol="0" anchor="ctr"/>
          <a:lstStyle/>
          <a:p>
            <a:pPr indent="0" marL="0">
              <a:buNone/>
            </a:pPr>
            <a:r>
              <a:rPr lang="en-US" sz="900" dirty="0">
                <a:solidFill>
                  <a:srgbClr val="1A1A1A"/>
                </a:solidFill>
              </a:rPr>
              <a:t>5. Init Container termine → container principal démarre</a:t>
            </a:r>
            <a:endParaRPr lang="en-US" sz="900" dirty="0"/>
          </a:p>
        </p:txBody>
      </p:sp>
      <p:sp>
        <p:nvSpPr>
          <p:cNvPr id="17" name="Shape 15"/>
          <p:cNvSpPr/>
          <p:nvPr/>
        </p:nvSpPr>
        <p:spPr>
          <a:xfrm>
            <a:off x="347472" y="2999232"/>
            <a:ext cx="182880" cy="182880"/>
          </a:xfrm>
          <a:prstGeom prst="ellipse">
            <a:avLst/>
          </a:prstGeom>
          <a:solidFill>
            <a:srgbClr val="C8992B"/>
          </a:solidFill>
          <a:ln w="12700">
            <a:solidFill>
              <a:srgbClr val="C8992B"/>
            </a:solidFill>
            <a:prstDash val="solid"/>
          </a:ln>
        </p:spPr>
      </p:sp>
      <p:sp>
        <p:nvSpPr>
          <p:cNvPr id="18" name="Text 16"/>
          <p:cNvSpPr/>
          <p:nvPr/>
        </p:nvSpPr>
        <p:spPr>
          <a:xfrm>
            <a:off x="594360" y="2980944"/>
            <a:ext cx="3657600" cy="256032"/>
          </a:xfrm>
          <a:prstGeom prst="rect">
            <a:avLst/>
          </a:prstGeom>
          <a:noFill/>
          <a:ln/>
        </p:spPr>
        <p:txBody>
          <a:bodyPr wrap="square" lIns="0" tIns="0" rIns="0" bIns="0" rtlCol="0" anchor="ctr"/>
          <a:lstStyle/>
          <a:p>
            <a:pPr indent="0" marL="0">
              <a:buNone/>
            </a:pPr>
            <a:r>
              <a:rPr lang="en-US" sz="900" dirty="0">
                <a:solidFill>
                  <a:srgbClr val="1A1A1A"/>
                </a:solidFill>
              </a:rPr>
              <a:t>6. App ou Nginx sidecar lit /vault/tls/tls.crt &amp; tls.key</a:t>
            </a:r>
            <a:endParaRPr lang="en-US" sz="900" dirty="0"/>
          </a:p>
        </p:txBody>
      </p:sp>
      <p:sp>
        <p:nvSpPr>
          <p:cNvPr id="19" name="Shape 17"/>
          <p:cNvSpPr/>
          <p:nvPr/>
        </p:nvSpPr>
        <p:spPr>
          <a:xfrm>
            <a:off x="4800600" y="932688"/>
            <a:ext cx="4114800" cy="320040"/>
          </a:xfrm>
          <a:prstGeom prst="rect">
            <a:avLst/>
          </a:prstGeom>
          <a:solidFill>
            <a:srgbClr val="00915A"/>
          </a:solidFill>
          <a:ln w="12700">
            <a:solidFill>
              <a:srgbClr val="00915A"/>
            </a:solidFill>
            <a:prstDash val="solid"/>
          </a:ln>
        </p:spPr>
      </p:sp>
      <p:sp>
        <p:nvSpPr>
          <p:cNvPr id="20" name="Text 18"/>
          <p:cNvSpPr/>
          <p:nvPr/>
        </p:nvSpPr>
        <p:spPr>
          <a:xfrm>
            <a:off x="4800600" y="932688"/>
            <a:ext cx="4114800" cy="320040"/>
          </a:xfrm>
          <a:prstGeom prst="rect">
            <a:avLst/>
          </a:prstGeom>
          <a:noFill/>
          <a:ln/>
        </p:spPr>
        <p:txBody>
          <a:bodyPr wrap="square" rtlCol="0" anchor="ctr"/>
          <a:lstStyle/>
          <a:p>
            <a:pPr indent="0" marL="0">
              <a:buNone/>
            </a:pPr>
            <a:r>
              <a:rPr lang="en-US" sz="1000" b="1" dirty="0">
                <a:solidFill>
                  <a:srgbClr val="FFFFFF"/>
                </a:solidFill>
              </a:rPr>
              <a:t>PHASE 2 — Renouvellement : CronJob</a:t>
            </a:r>
            <a:endParaRPr lang="en-US" sz="1000" dirty="0"/>
          </a:p>
        </p:txBody>
      </p:sp>
      <p:sp>
        <p:nvSpPr>
          <p:cNvPr id="21" name="Shape 19"/>
          <p:cNvSpPr/>
          <p:nvPr/>
        </p:nvSpPr>
        <p:spPr>
          <a:xfrm>
            <a:off x="4800600" y="1252728"/>
            <a:ext cx="4114800" cy="2084832"/>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4919472" y="1353312"/>
            <a:ext cx="182880" cy="182880"/>
          </a:xfrm>
          <a:prstGeom prst="ellipse">
            <a:avLst/>
          </a:prstGeom>
          <a:solidFill>
            <a:srgbClr val="00915A"/>
          </a:solidFill>
          <a:ln w="12700">
            <a:solidFill>
              <a:srgbClr val="00915A"/>
            </a:solidFill>
            <a:prstDash val="solid"/>
          </a:ln>
        </p:spPr>
      </p:sp>
      <p:sp>
        <p:nvSpPr>
          <p:cNvPr id="23" name="Text 21"/>
          <p:cNvSpPr/>
          <p:nvPr/>
        </p:nvSpPr>
        <p:spPr>
          <a:xfrm>
            <a:off x="5166360" y="1335024"/>
            <a:ext cx="3657600" cy="256032"/>
          </a:xfrm>
          <a:prstGeom prst="rect">
            <a:avLst/>
          </a:prstGeom>
          <a:noFill/>
          <a:ln/>
        </p:spPr>
        <p:txBody>
          <a:bodyPr wrap="square" lIns="0" tIns="0" rIns="0" bIns="0" rtlCol="0" anchor="ctr"/>
          <a:lstStyle/>
          <a:p>
            <a:pPr indent="0" marL="0">
              <a:buNone/>
            </a:pPr>
            <a:r>
              <a:rPr lang="en-US" sz="900" dirty="0">
                <a:solidFill>
                  <a:srgbClr val="1A1A1A"/>
                </a:solidFill>
              </a:rPr>
              <a:t>1. CronJob planifié (ex. toutes les 2 semaines)</a:t>
            </a:r>
            <a:endParaRPr lang="en-US" sz="900" dirty="0"/>
          </a:p>
        </p:txBody>
      </p:sp>
      <p:sp>
        <p:nvSpPr>
          <p:cNvPr id="24" name="Shape 22"/>
          <p:cNvSpPr/>
          <p:nvPr/>
        </p:nvSpPr>
        <p:spPr>
          <a:xfrm>
            <a:off x="4919472" y="1682496"/>
            <a:ext cx="182880" cy="182880"/>
          </a:xfrm>
          <a:prstGeom prst="ellipse">
            <a:avLst/>
          </a:prstGeom>
          <a:solidFill>
            <a:srgbClr val="00915A"/>
          </a:solidFill>
          <a:ln w="12700">
            <a:solidFill>
              <a:srgbClr val="00915A"/>
            </a:solidFill>
            <a:prstDash val="solid"/>
          </a:ln>
        </p:spPr>
      </p:sp>
      <p:sp>
        <p:nvSpPr>
          <p:cNvPr id="25" name="Text 23"/>
          <p:cNvSpPr/>
          <p:nvPr/>
        </p:nvSpPr>
        <p:spPr>
          <a:xfrm>
            <a:off x="5166360" y="1664208"/>
            <a:ext cx="3657600" cy="256032"/>
          </a:xfrm>
          <a:prstGeom prst="rect">
            <a:avLst/>
          </a:prstGeom>
          <a:noFill/>
          <a:ln/>
        </p:spPr>
        <p:txBody>
          <a:bodyPr wrap="square" lIns="0" tIns="0" rIns="0" bIns="0" rtlCol="0" anchor="ctr"/>
          <a:lstStyle/>
          <a:p>
            <a:pPr indent="0" marL="0">
              <a:buNone/>
            </a:pPr>
            <a:r>
              <a:rPr lang="en-US" sz="900" dirty="0">
                <a:solidFill>
                  <a:srgbClr val="1A1A1A"/>
                </a:solidFill>
              </a:rPr>
              <a:t>2. Job vérifie expiration : openssl x509 -checkend 864000</a:t>
            </a:r>
            <a:endParaRPr lang="en-US" sz="900" dirty="0"/>
          </a:p>
        </p:txBody>
      </p:sp>
      <p:sp>
        <p:nvSpPr>
          <p:cNvPr id="26" name="Shape 24"/>
          <p:cNvSpPr/>
          <p:nvPr/>
        </p:nvSpPr>
        <p:spPr>
          <a:xfrm>
            <a:off x="4919472" y="2011680"/>
            <a:ext cx="182880" cy="182880"/>
          </a:xfrm>
          <a:prstGeom prst="ellipse">
            <a:avLst/>
          </a:prstGeom>
          <a:solidFill>
            <a:srgbClr val="00915A"/>
          </a:solidFill>
          <a:ln w="12700">
            <a:solidFill>
              <a:srgbClr val="00915A"/>
            </a:solidFill>
            <a:prstDash val="solid"/>
          </a:ln>
        </p:spPr>
      </p:sp>
      <p:sp>
        <p:nvSpPr>
          <p:cNvPr id="27" name="Text 25"/>
          <p:cNvSpPr/>
          <p:nvPr/>
        </p:nvSpPr>
        <p:spPr>
          <a:xfrm>
            <a:off x="5166360" y="1993392"/>
            <a:ext cx="3657600" cy="256032"/>
          </a:xfrm>
          <a:prstGeom prst="rect">
            <a:avLst/>
          </a:prstGeom>
          <a:noFill/>
          <a:ln/>
        </p:spPr>
        <p:txBody>
          <a:bodyPr wrap="square" lIns="0" tIns="0" rIns="0" bIns="0" rtlCol="0" anchor="ctr"/>
          <a:lstStyle/>
          <a:p>
            <a:pPr indent="0" marL="0">
              <a:buNone/>
            </a:pPr>
            <a:r>
              <a:rPr lang="en-US" sz="900" dirty="0">
                <a:solidFill>
                  <a:srgbClr val="1A1A1A"/>
                </a:solidFill>
              </a:rPr>
              <a:t>3. Si &lt; 30j → appel pki/issue pour nouveau certificat</a:t>
            </a:r>
            <a:endParaRPr lang="en-US" sz="900" dirty="0"/>
          </a:p>
        </p:txBody>
      </p:sp>
      <p:sp>
        <p:nvSpPr>
          <p:cNvPr id="28" name="Shape 26"/>
          <p:cNvSpPr/>
          <p:nvPr/>
        </p:nvSpPr>
        <p:spPr>
          <a:xfrm>
            <a:off x="4919472" y="2340864"/>
            <a:ext cx="182880" cy="182880"/>
          </a:xfrm>
          <a:prstGeom prst="ellipse">
            <a:avLst/>
          </a:prstGeom>
          <a:solidFill>
            <a:srgbClr val="00915A"/>
          </a:solidFill>
          <a:ln w="12700">
            <a:solidFill>
              <a:srgbClr val="00915A"/>
            </a:solidFill>
            <a:prstDash val="solid"/>
          </a:ln>
        </p:spPr>
      </p:sp>
      <p:sp>
        <p:nvSpPr>
          <p:cNvPr id="29" name="Text 27"/>
          <p:cNvSpPr/>
          <p:nvPr/>
        </p:nvSpPr>
        <p:spPr>
          <a:xfrm>
            <a:off x="5166360" y="2322576"/>
            <a:ext cx="3657600" cy="256032"/>
          </a:xfrm>
          <a:prstGeom prst="rect">
            <a:avLst/>
          </a:prstGeom>
          <a:noFill/>
          <a:ln/>
        </p:spPr>
        <p:txBody>
          <a:bodyPr wrap="square" lIns="0" tIns="0" rIns="0" bIns="0" rtlCol="0" anchor="ctr"/>
          <a:lstStyle/>
          <a:p>
            <a:pPr indent="0" marL="0">
              <a:buNone/>
            </a:pPr>
            <a:r>
              <a:rPr lang="en-US" sz="900" dirty="0">
                <a:solidFill>
                  <a:srgbClr val="1A1A1A"/>
                </a:solidFill>
              </a:rPr>
              <a:t>4. Mise à jour Secret K8s (TLS type) ou volume partagé</a:t>
            </a:r>
            <a:endParaRPr lang="en-US" sz="900" dirty="0"/>
          </a:p>
        </p:txBody>
      </p:sp>
      <p:sp>
        <p:nvSpPr>
          <p:cNvPr id="30" name="Shape 28"/>
          <p:cNvSpPr/>
          <p:nvPr/>
        </p:nvSpPr>
        <p:spPr>
          <a:xfrm>
            <a:off x="4919472" y="2670048"/>
            <a:ext cx="182880" cy="182880"/>
          </a:xfrm>
          <a:prstGeom prst="ellipse">
            <a:avLst/>
          </a:prstGeom>
          <a:solidFill>
            <a:srgbClr val="00915A"/>
          </a:solidFill>
          <a:ln w="12700">
            <a:solidFill>
              <a:srgbClr val="00915A"/>
            </a:solidFill>
            <a:prstDash val="solid"/>
          </a:ln>
        </p:spPr>
      </p:sp>
      <p:sp>
        <p:nvSpPr>
          <p:cNvPr id="31" name="Text 29"/>
          <p:cNvSpPr/>
          <p:nvPr/>
        </p:nvSpPr>
        <p:spPr>
          <a:xfrm>
            <a:off x="5166360" y="2651760"/>
            <a:ext cx="3657600" cy="256032"/>
          </a:xfrm>
          <a:prstGeom prst="rect">
            <a:avLst/>
          </a:prstGeom>
          <a:noFill/>
          <a:ln/>
        </p:spPr>
        <p:txBody>
          <a:bodyPr wrap="square" lIns="0" tIns="0" rIns="0" bIns="0" rtlCol="0" anchor="ctr"/>
          <a:lstStyle/>
          <a:p>
            <a:pPr indent="0" marL="0">
              <a:buNone/>
            </a:pPr>
            <a:r>
              <a:rPr lang="en-US" sz="900" dirty="0">
                <a:solidFill>
                  <a:srgbClr val="1A1A1A"/>
                </a:solidFill>
              </a:rPr>
              <a:t>5. oc rollout restart deployment/my-app</a:t>
            </a:r>
            <a:endParaRPr lang="en-US" sz="900" dirty="0"/>
          </a:p>
        </p:txBody>
      </p:sp>
      <p:sp>
        <p:nvSpPr>
          <p:cNvPr id="32" name="Shape 30"/>
          <p:cNvSpPr/>
          <p:nvPr/>
        </p:nvSpPr>
        <p:spPr>
          <a:xfrm>
            <a:off x="4919472" y="2999232"/>
            <a:ext cx="182880" cy="182880"/>
          </a:xfrm>
          <a:prstGeom prst="ellipse">
            <a:avLst/>
          </a:prstGeom>
          <a:solidFill>
            <a:srgbClr val="00915A"/>
          </a:solidFill>
          <a:ln w="12700">
            <a:solidFill>
              <a:srgbClr val="00915A"/>
            </a:solidFill>
            <a:prstDash val="solid"/>
          </a:ln>
        </p:spPr>
      </p:sp>
      <p:sp>
        <p:nvSpPr>
          <p:cNvPr id="33" name="Text 31"/>
          <p:cNvSpPr/>
          <p:nvPr/>
        </p:nvSpPr>
        <p:spPr>
          <a:xfrm>
            <a:off x="5166360" y="2980944"/>
            <a:ext cx="3657600" cy="256032"/>
          </a:xfrm>
          <a:prstGeom prst="rect">
            <a:avLst/>
          </a:prstGeom>
          <a:noFill/>
          <a:ln/>
        </p:spPr>
        <p:txBody>
          <a:bodyPr wrap="square" lIns="0" tIns="0" rIns="0" bIns="0" rtlCol="0" anchor="ctr"/>
          <a:lstStyle/>
          <a:p>
            <a:pPr indent="0" marL="0">
              <a:buNone/>
            </a:pPr>
            <a:r>
              <a:rPr lang="en-US" sz="900" dirty="0">
                <a:solidFill>
                  <a:srgbClr val="1A1A1A"/>
                </a:solidFill>
              </a:rPr>
              <a:t>6. Pods redémarrent → Init Container re-récupère le cert</a:t>
            </a:r>
            <a:endParaRPr lang="en-US" sz="900" dirty="0"/>
          </a:p>
        </p:txBody>
      </p:sp>
      <p:sp>
        <p:nvSpPr>
          <p:cNvPr id="34" name="Shape 32"/>
          <p:cNvSpPr/>
          <p:nvPr/>
        </p:nvSpPr>
        <p:spPr>
          <a:xfrm>
            <a:off x="228600" y="3429000"/>
            <a:ext cx="8686800" cy="1325880"/>
          </a:xfrm>
          <a:prstGeom prst="rect">
            <a:avLst/>
          </a:prstGeom>
          <a:solidFill>
            <a:srgbClr val="1A2F24"/>
          </a:solidFill>
          <a:ln w="12700">
            <a:solidFill>
              <a:srgbClr val="1A2F24"/>
            </a:solidFill>
            <a:prstDash val="solid"/>
          </a:ln>
        </p:spPr>
      </p:sp>
      <p:sp>
        <p:nvSpPr>
          <p:cNvPr id="35" name="Text 33"/>
          <p:cNvSpPr/>
          <p:nvPr/>
        </p:nvSpPr>
        <p:spPr>
          <a:xfrm>
            <a:off x="365760" y="3493008"/>
            <a:ext cx="4114800" cy="182880"/>
          </a:xfrm>
          <a:prstGeom prst="rect">
            <a:avLst/>
          </a:prstGeom>
          <a:noFill/>
          <a:ln/>
        </p:spPr>
        <p:txBody>
          <a:bodyPr wrap="square" lIns="0" tIns="0" rIns="0" bIns="0" rtlCol="0" anchor="ctr"/>
          <a:lstStyle/>
          <a:p>
            <a:pPr indent="0" marL="0">
              <a:buNone/>
            </a:pPr>
            <a:r>
              <a:rPr lang="en-US" sz="800" b="1" dirty="0">
                <a:solidFill>
                  <a:srgbClr val="6FCF97"/>
                </a:solidFill>
                <a:latin typeface="Consolas" pitchFamily="34" charset="0"/>
                <a:ea typeface="Consolas" pitchFamily="34" charset="-122"/>
                <a:cs typeface="Consolas" pitchFamily="34" charset="-120"/>
              </a:rPr>
              <a:t># init-container extrait</a:t>
            </a:r>
            <a:endParaRPr lang="en-US" sz="800" dirty="0"/>
          </a:p>
        </p:txBody>
      </p:sp>
      <p:sp>
        <p:nvSpPr>
          <p:cNvPr id="36" name="Text 34"/>
          <p:cNvSpPr/>
          <p:nvPr/>
        </p:nvSpPr>
        <p:spPr>
          <a:xfrm>
            <a:off x="365760" y="3685032"/>
            <a:ext cx="4206240" cy="1005840"/>
          </a:xfrm>
          <a:prstGeom prst="rect">
            <a:avLst/>
          </a:prstGeom>
          <a:noFill/>
          <a:ln/>
        </p:spPr>
        <p:txBody>
          <a:bodyPr wrap="square" lIns="0" tIns="0" rIns="0" bIns="0" rtlCol="0" anchor="ctr"/>
          <a:lstStyle/>
          <a:p>
            <a:pPr indent="0" marL="0">
              <a:buNone/>
            </a:pPr>
            <a:r>
              <a:rPr lang="en-US" sz="720" dirty="0">
                <a:solidFill>
                  <a:srgbClr val="E8F5E9"/>
                </a:solidFill>
                <a:latin typeface="Consolas" pitchFamily="34" charset="0"/>
                <a:ea typeface="Consolas" pitchFamily="34" charset="-122"/>
                <a:cs typeface="Consolas" pitchFamily="34" charset="-120"/>
              </a:rPr>
              <a:t>initContainers:</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 name: vault-get-cert</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image: hashicorp/vault:latest</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command: ["/bin/sh", "-c"]</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args: ["vault write -format=json pki/issue/my-role common_name=my-app.example.com | jq -r '.data.certificate' &gt; /vault/tls/tls.crt"]</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volumeMounts:</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 name: vault-tls   mountPath: /vault/tls</a:t>
            </a:r>
            <a:endParaRPr lang="en-US" sz="720" dirty="0"/>
          </a:p>
        </p:txBody>
      </p:sp>
      <p:sp>
        <p:nvSpPr>
          <p:cNvPr id="37" name="Text 35"/>
          <p:cNvSpPr/>
          <p:nvPr/>
        </p:nvSpPr>
        <p:spPr>
          <a:xfrm>
            <a:off x="4754880" y="3493008"/>
            <a:ext cx="4114800" cy="182880"/>
          </a:xfrm>
          <a:prstGeom prst="rect">
            <a:avLst/>
          </a:prstGeom>
          <a:noFill/>
          <a:ln/>
        </p:spPr>
        <p:txBody>
          <a:bodyPr wrap="square" lIns="0" tIns="0" rIns="0" bIns="0" rtlCol="0" anchor="ctr"/>
          <a:lstStyle/>
          <a:p>
            <a:pPr indent="0" marL="0">
              <a:buNone/>
            </a:pPr>
            <a:r>
              <a:rPr lang="en-US" sz="800" b="1" dirty="0">
                <a:solidFill>
                  <a:srgbClr val="6FCF97"/>
                </a:solidFill>
                <a:latin typeface="Consolas" pitchFamily="34" charset="0"/>
                <a:ea typeface="Consolas" pitchFamily="34" charset="-122"/>
                <a:cs typeface="Consolas" pitchFamily="34" charset="-120"/>
              </a:rPr>
              <a:t># cronjob extrait</a:t>
            </a:r>
            <a:endParaRPr lang="en-US" sz="800" dirty="0"/>
          </a:p>
        </p:txBody>
      </p:sp>
      <p:sp>
        <p:nvSpPr>
          <p:cNvPr id="38" name="Text 36"/>
          <p:cNvSpPr/>
          <p:nvPr/>
        </p:nvSpPr>
        <p:spPr>
          <a:xfrm>
            <a:off x="4754880" y="3685032"/>
            <a:ext cx="4114800" cy="1005840"/>
          </a:xfrm>
          <a:prstGeom prst="rect">
            <a:avLst/>
          </a:prstGeom>
          <a:noFill/>
          <a:ln/>
        </p:spPr>
        <p:txBody>
          <a:bodyPr wrap="square" lIns="0" tIns="0" rIns="0" bIns="0" rtlCol="0" anchor="ctr"/>
          <a:lstStyle/>
          <a:p>
            <a:pPr indent="0" marL="0">
              <a:buNone/>
            </a:pPr>
            <a:r>
              <a:rPr lang="en-US" sz="720" dirty="0">
                <a:solidFill>
                  <a:srgbClr val="E8F5E9"/>
                </a:solidFill>
                <a:latin typeface="Consolas" pitchFamily="34" charset="0"/>
                <a:ea typeface="Consolas" pitchFamily="34" charset="-122"/>
                <a:cs typeface="Consolas" pitchFamily="34" charset="-120"/>
              </a:rPr>
              <a:t>spec:</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schedule: "0 2 * * 1"    # tous les lundis 2h</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jobTemplate:</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containers:</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 name: cert-renew</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command: ["/bin/sh", "-c"]</a:t>
            </a:r>
            <a:endParaRPr lang="en-US" sz="720" dirty="0"/>
          </a:p>
          <a:p>
            <a:pPr indent="0" marL="0">
              <a:buNone/>
            </a:pPr>
            <a:r>
              <a:rPr lang="en-US" sz="720" dirty="0">
                <a:solidFill>
                  <a:srgbClr val="E8F5E9"/>
                </a:solidFill>
                <a:latin typeface="Consolas" pitchFamily="34" charset="0"/>
                <a:ea typeface="Consolas" pitchFamily="34" charset="-122"/>
                <a:cs typeface="Consolas" pitchFamily="34" charset="-120"/>
              </a:rPr>
              <a:t xml:space="preserve">      args: ["openssl x509 -checkend 2592000 -in /tls/tls.crt || vault write pki/issue/... &amp;&amp; oc rollout restart deploy/my-app"]</a:t>
            </a:r>
            <a:endParaRPr lang="en-US" sz="720" dirty="0"/>
          </a:p>
        </p:txBody>
      </p:sp>
      <p:sp>
        <p:nvSpPr>
          <p:cNvPr id="39" name="Shape 37"/>
          <p:cNvSpPr/>
          <p:nvPr/>
        </p:nvSpPr>
        <p:spPr>
          <a:xfrm>
            <a:off x="0" y="4846320"/>
            <a:ext cx="9144000" cy="297180"/>
          </a:xfrm>
          <a:prstGeom prst="rect">
            <a:avLst/>
          </a:prstGeom>
          <a:solidFill>
            <a:srgbClr val="00915A"/>
          </a:solidFill>
          <a:ln w="12700">
            <a:solidFill>
              <a:srgbClr val="00915A"/>
            </a:solidFill>
            <a:prstDash val="solid"/>
          </a:ln>
        </p:spPr>
      </p:sp>
      <p:sp>
        <p:nvSpPr>
          <p:cNvPr id="40" name="Text 38"/>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D1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76F"/>
          </a:solidFill>
          <a:ln w="12700">
            <a:solidFill>
              <a:srgbClr val="00A76F"/>
            </a:solidFill>
            <a:prstDash val="solid"/>
          </a:ln>
        </p:spPr>
      </p:sp>
      <p:sp>
        <p:nvSpPr>
          <p:cNvPr id="3" name="Shape 1"/>
          <p:cNvSpPr/>
          <p:nvPr/>
        </p:nvSpPr>
        <p:spPr>
          <a:xfrm>
            <a:off x="5486400" y="-914400"/>
            <a:ext cx="5486400" cy="5486400"/>
          </a:xfrm>
          <a:prstGeom prst="ellipse">
            <a:avLst/>
          </a:prstGeom>
          <a:solidFill>
            <a:srgbClr val="00A76F">
              <a:alpha val="12000"/>
            </a:srgbClr>
          </a:solidFill>
          <a:ln w="12700">
            <a:solidFill>
              <a:srgbClr val="00A76F">
                <a:alpha val="12000"/>
              </a:srgbClr>
            </a:solidFill>
            <a:prstDash val="solid"/>
          </a:ln>
        </p:spPr>
      </p:sp>
      <p:sp>
        <p:nvSpPr>
          <p:cNvPr id="4" name="Text 2"/>
          <p:cNvSpPr/>
          <p:nvPr/>
        </p:nvSpPr>
        <p:spPr>
          <a:xfrm>
            <a:off x="457200" y="1005840"/>
            <a:ext cx="3657600" cy="411480"/>
          </a:xfrm>
          <a:prstGeom prst="rect">
            <a:avLst/>
          </a:prstGeom>
          <a:noFill/>
          <a:ln/>
        </p:spPr>
        <p:txBody>
          <a:bodyPr wrap="square" lIns="0" tIns="0" rIns="0" bIns="0" rtlCol="0" anchor="ctr"/>
          <a:lstStyle/>
          <a:p>
            <a:pPr indent="0" marL="0">
              <a:buNone/>
            </a:pPr>
            <a:r>
              <a:rPr lang="en-US" sz="1200" b="1" spc="600" kern="0" dirty="0">
                <a:solidFill>
                  <a:srgbClr val="00A76F"/>
                </a:solidFill>
              </a:rPr>
              <a:t>FOCUS</a:t>
            </a:r>
            <a:endParaRPr lang="en-US" sz="1200" dirty="0"/>
          </a:p>
        </p:txBody>
      </p:sp>
      <p:sp>
        <p:nvSpPr>
          <p:cNvPr id="5" name="Text 3"/>
          <p:cNvSpPr/>
          <p:nvPr/>
        </p:nvSpPr>
        <p:spPr>
          <a:xfrm>
            <a:off x="457200" y="1463040"/>
            <a:ext cx="7315200" cy="1645920"/>
          </a:xfrm>
          <a:prstGeom prst="rect">
            <a:avLst/>
          </a:prstGeom>
          <a:noFill/>
          <a:ln/>
        </p:spPr>
        <p:txBody>
          <a:bodyPr wrap="square" lIns="0" tIns="0" rIns="0" bIns="0" rtlCol="0" anchor="ctr"/>
          <a:lstStyle/>
          <a:p>
            <a:pPr indent="0" marL="0">
              <a:buNone/>
            </a:pPr>
            <a:r>
              <a:rPr lang="en-US" sz="3800" b="1" dirty="0">
                <a:solidFill>
                  <a:srgbClr val="FFFFFF"/>
                </a:solidFill>
              </a:rPr>
              <a:t>Sidecar Nginx</a:t>
            </a:r>
            <a:endParaRPr lang="en-US" sz="3800" dirty="0"/>
          </a:p>
          <a:p>
            <a:pPr indent="0" marL="0">
              <a:buNone/>
            </a:pPr>
            <a:r>
              <a:rPr lang="en-US" sz="3800" b="1" dirty="0">
                <a:solidFill>
                  <a:srgbClr val="FFFFFF"/>
                </a:solidFill>
              </a:rPr>
              <a:t>+ TLS Re-encrypt</a:t>
            </a:r>
            <a:endParaRPr lang="en-US" sz="3800" dirty="0"/>
          </a:p>
        </p:txBody>
      </p:sp>
      <p:sp>
        <p:nvSpPr>
          <p:cNvPr id="6" name="Text 4"/>
          <p:cNvSpPr/>
          <p:nvPr/>
        </p:nvSpPr>
        <p:spPr>
          <a:xfrm>
            <a:off x="457200" y="3200400"/>
            <a:ext cx="7315200" cy="365760"/>
          </a:xfrm>
          <a:prstGeom prst="rect">
            <a:avLst/>
          </a:prstGeom>
          <a:noFill/>
          <a:ln/>
        </p:spPr>
        <p:txBody>
          <a:bodyPr wrap="square" lIns="0" tIns="0" rIns="0" bIns="0" rtlCol="0" anchor="ctr"/>
          <a:lstStyle/>
          <a:p>
            <a:pPr indent="0" marL="0">
              <a:buNone/>
            </a:pPr>
            <a:r>
              <a:rPr lang="en-US" sz="1400" dirty="0">
                <a:solidFill>
                  <a:srgbClr val="A8D5C4"/>
                </a:solidFill>
              </a:rPr>
              <a:t>Avantages du pattern Sidecar sur ROKS / OpenShift</a:t>
            </a:r>
            <a:endParaRPr lang="en-US" sz="1400" dirty="0"/>
          </a:p>
        </p:txBody>
      </p:sp>
      <p:sp>
        <p:nvSpPr>
          <p:cNvPr id="7" name="Shape 5"/>
          <p:cNvSpPr/>
          <p:nvPr/>
        </p:nvSpPr>
        <p:spPr>
          <a:xfrm>
            <a:off x="457200" y="3657600"/>
            <a:ext cx="2011680" cy="45720"/>
          </a:xfrm>
          <a:prstGeom prst="rect">
            <a:avLst/>
          </a:prstGeom>
          <a:solidFill>
            <a:srgbClr val="00A76F"/>
          </a:solidFill>
          <a:ln w="12700">
            <a:solidFill>
              <a:srgbClr val="00A76F"/>
            </a:solidFill>
            <a:prstDash val="solid"/>
          </a:ln>
        </p:spPr>
      </p:sp>
      <p:sp>
        <p:nvSpPr>
          <p:cNvPr id="8" name="Text 6"/>
          <p:cNvSpPr/>
          <p:nvPr/>
        </p:nvSpPr>
        <p:spPr>
          <a:xfrm>
            <a:off x="8046720" y="1097280"/>
            <a:ext cx="822960" cy="822960"/>
          </a:xfrm>
          <a:prstGeom prst="rect">
            <a:avLst/>
          </a:prstGeom>
          <a:noFill/>
          <a:ln/>
        </p:spPr>
        <p:txBody>
          <a:bodyPr wrap="square" lIns="0" tIns="0" rIns="0" bIns="0" rtlCol="0" anchor="ctr"/>
          <a:lstStyle/>
          <a:p>
            <a:pPr algn="r" indent="0" marL="0">
              <a:buNone/>
            </a:pPr>
            <a:r>
              <a:rPr lang="en-US" sz="5200" b="1" dirty="0">
                <a:solidFill>
                  <a:srgbClr val="1A4A35"/>
                </a:solidFill>
              </a:rPr>
              <a:t>05</a:t>
            </a:r>
            <a:endParaRPr lang="en-US" sz="5200" dirty="0"/>
          </a:p>
        </p:txBody>
      </p:sp>
      <p:sp>
        <p:nvSpPr>
          <p:cNvPr id="9" name="Shape 7"/>
          <p:cNvSpPr/>
          <p:nvPr/>
        </p:nvSpPr>
        <p:spPr>
          <a:xfrm>
            <a:off x="0" y="4846320"/>
            <a:ext cx="9144000" cy="297180"/>
          </a:xfrm>
          <a:prstGeom prst="rect">
            <a:avLst/>
          </a:prstGeom>
          <a:solidFill>
            <a:srgbClr val="00915A"/>
          </a:solidFill>
          <a:ln w="12700">
            <a:solidFill>
              <a:srgbClr val="00915A"/>
            </a:solidFill>
            <a:prstDash val="solid"/>
          </a:ln>
        </p:spPr>
      </p:sp>
      <p:sp>
        <p:nvSpPr>
          <p:cNvPr id="10" name="Text 8"/>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A76F"/>
          </a:solidFill>
          <a:ln w="12700">
            <a:solidFill>
              <a:srgbClr val="00A76F"/>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100" b="1" dirty="0">
                <a:solidFill>
                  <a:srgbClr val="FFFFFF"/>
                </a:solidFill>
              </a:rPr>
              <a:t>Avantages du pattern Sidecar Nginx</a:t>
            </a:r>
            <a:endParaRPr lang="en-US" sz="2100" dirty="0"/>
          </a:p>
        </p:txBody>
      </p:sp>
      <p:sp>
        <p:nvSpPr>
          <p:cNvPr id="4" name="Shape 2"/>
          <p:cNvSpPr/>
          <p:nvPr/>
        </p:nvSpPr>
        <p:spPr>
          <a:xfrm>
            <a:off x="182880" y="960120"/>
            <a:ext cx="1572768" cy="713232"/>
          </a:xfrm>
          <a:prstGeom prst="rect">
            <a:avLst/>
          </a:prstGeom>
          <a:solidFill>
            <a:srgbClr val="00915A"/>
          </a:solidFill>
          <a:ln w="12700">
            <a:solidFill>
              <a:srgbClr val="00915A"/>
            </a:solidFill>
            <a:prstDash val="solid"/>
          </a:ln>
          <a:effectLst>
            <a:outerShdw sx="100000" sy="100000" kx="0" ky="0" algn="bl" rotWithShape="0" blurRad="101600" dist="38100" dir="8100000">
              <a:srgbClr val="000000">
                <a:alpha val="10000"/>
              </a:srgbClr>
            </a:outerShdw>
          </a:effectLst>
        </p:spPr>
      </p:sp>
      <p:sp>
        <p:nvSpPr>
          <p:cNvPr id="5" name="Text 3"/>
          <p:cNvSpPr/>
          <p:nvPr/>
        </p:nvSpPr>
        <p:spPr>
          <a:xfrm>
            <a:off x="182880" y="960120"/>
            <a:ext cx="1572768" cy="713232"/>
          </a:xfrm>
          <a:prstGeom prst="rect">
            <a:avLst/>
          </a:prstGeom>
          <a:noFill/>
          <a:ln/>
        </p:spPr>
        <p:txBody>
          <a:bodyPr wrap="square" lIns="0" tIns="0" rIns="0" bIns="0" rtlCol="0" anchor="ctr"/>
          <a:lstStyle/>
          <a:p>
            <a:pPr algn="ctr" indent="0" marL="0">
              <a:buNone/>
            </a:pPr>
            <a:r>
              <a:rPr lang="en-US" sz="900" b="1" dirty="0">
                <a:solidFill>
                  <a:srgbClr val="FFFFFF"/>
                </a:solidFill>
              </a:rPr>
              <a:t>Client</a:t>
            </a:r>
            <a:endParaRPr lang="en-US" sz="900" dirty="0"/>
          </a:p>
          <a:p>
            <a:pPr algn="ctr" indent="0" marL="0">
              <a:buNone/>
            </a:pPr>
            <a:r>
              <a:rPr lang="en-US" sz="900" b="1" dirty="0">
                <a:solidFill>
                  <a:srgbClr val="FFFFFF"/>
                </a:solidFill>
              </a:rPr>
              <a:t>(F5 BIG-IP)</a:t>
            </a:r>
            <a:endParaRPr lang="en-US" sz="900" dirty="0"/>
          </a:p>
        </p:txBody>
      </p:sp>
      <p:sp>
        <p:nvSpPr>
          <p:cNvPr id="6" name="Shape 4"/>
          <p:cNvSpPr/>
          <p:nvPr/>
        </p:nvSpPr>
        <p:spPr>
          <a:xfrm>
            <a:off x="1755648" y="1316736"/>
            <a:ext cx="301752" cy="0"/>
          </a:xfrm>
          <a:prstGeom prst="line">
            <a:avLst/>
          </a:prstGeom>
          <a:noFill/>
          <a:ln w="25400">
            <a:solidFill>
              <a:srgbClr val="00915A"/>
            </a:solidFill>
            <a:prstDash val="solid"/>
          </a:ln>
        </p:spPr>
      </p:sp>
      <p:sp>
        <p:nvSpPr>
          <p:cNvPr id="7" name="Shape 5"/>
          <p:cNvSpPr/>
          <p:nvPr/>
        </p:nvSpPr>
        <p:spPr>
          <a:xfrm>
            <a:off x="1874520" y="960120"/>
            <a:ext cx="1572768" cy="713232"/>
          </a:xfrm>
          <a:prstGeom prst="rect">
            <a:avLst/>
          </a:prstGeom>
          <a:solidFill>
            <a:srgbClr val="007A4D"/>
          </a:solidFill>
          <a:ln w="12700">
            <a:solidFill>
              <a:srgbClr val="007A4D"/>
            </a:solidFill>
            <a:prstDash val="solid"/>
          </a:ln>
          <a:effectLst>
            <a:outerShdw sx="100000" sy="100000" kx="0" ky="0" algn="bl" rotWithShape="0" blurRad="101600" dist="38100" dir="8100000">
              <a:srgbClr val="000000">
                <a:alpha val="10000"/>
              </a:srgbClr>
            </a:outerShdw>
          </a:effectLst>
        </p:spPr>
      </p:sp>
      <p:sp>
        <p:nvSpPr>
          <p:cNvPr id="8" name="Text 6"/>
          <p:cNvSpPr/>
          <p:nvPr/>
        </p:nvSpPr>
        <p:spPr>
          <a:xfrm>
            <a:off x="1874520" y="960120"/>
            <a:ext cx="1572768" cy="713232"/>
          </a:xfrm>
          <a:prstGeom prst="rect">
            <a:avLst/>
          </a:prstGeom>
          <a:noFill/>
          <a:ln/>
        </p:spPr>
        <p:txBody>
          <a:bodyPr wrap="square" lIns="0" tIns="0" rIns="0" bIns="0" rtlCol="0" anchor="ctr"/>
          <a:lstStyle/>
          <a:p>
            <a:pPr algn="ctr" indent="0" marL="0">
              <a:buNone/>
            </a:pPr>
            <a:r>
              <a:rPr lang="en-US" sz="900" b="1" dirty="0">
                <a:solidFill>
                  <a:srgbClr val="FFFFFF"/>
                </a:solidFill>
              </a:rPr>
              <a:t>Route OpenShift</a:t>
            </a:r>
            <a:endParaRPr lang="en-US" sz="900" dirty="0"/>
          </a:p>
          <a:p>
            <a:pPr algn="ctr" indent="0" marL="0">
              <a:buNone/>
            </a:pPr>
            <a:r>
              <a:rPr lang="en-US" sz="900" b="1" dirty="0">
                <a:solidFill>
                  <a:srgbClr val="FFFFFF"/>
                </a:solidFill>
              </a:rPr>
              <a:t>Reencrypt</a:t>
            </a:r>
            <a:endParaRPr lang="en-US" sz="900" dirty="0"/>
          </a:p>
        </p:txBody>
      </p:sp>
      <p:sp>
        <p:nvSpPr>
          <p:cNvPr id="9" name="Shape 7"/>
          <p:cNvSpPr/>
          <p:nvPr/>
        </p:nvSpPr>
        <p:spPr>
          <a:xfrm>
            <a:off x="3447288" y="1316736"/>
            <a:ext cx="301752" cy="0"/>
          </a:xfrm>
          <a:prstGeom prst="line">
            <a:avLst/>
          </a:prstGeom>
          <a:noFill/>
          <a:ln w="25400">
            <a:solidFill>
              <a:srgbClr val="00915A"/>
            </a:solidFill>
            <a:prstDash val="solid"/>
          </a:ln>
        </p:spPr>
      </p:sp>
      <p:sp>
        <p:nvSpPr>
          <p:cNvPr id="10" name="Shape 8"/>
          <p:cNvSpPr/>
          <p:nvPr/>
        </p:nvSpPr>
        <p:spPr>
          <a:xfrm>
            <a:off x="3566160" y="960120"/>
            <a:ext cx="1572768" cy="713232"/>
          </a:xfrm>
          <a:prstGeom prst="rect">
            <a:avLst/>
          </a:prstGeom>
          <a:solidFill>
            <a:srgbClr val="00A76F"/>
          </a:solidFill>
          <a:ln w="12700">
            <a:solidFill>
              <a:srgbClr val="00A76F"/>
            </a:solidFill>
            <a:prstDash val="solid"/>
          </a:ln>
          <a:effectLst>
            <a:outerShdw sx="100000" sy="100000" kx="0" ky="0" algn="bl" rotWithShape="0" blurRad="101600" dist="38100" dir="8100000">
              <a:srgbClr val="000000">
                <a:alpha val="10000"/>
              </a:srgbClr>
            </a:outerShdw>
          </a:effectLst>
        </p:spPr>
      </p:sp>
      <p:sp>
        <p:nvSpPr>
          <p:cNvPr id="11" name="Text 9"/>
          <p:cNvSpPr/>
          <p:nvPr/>
        </p:nvSpPr>
        <p:spPr>
          <a:xfrm>
            <a:off x="3566160" y="960120"/>
            <a:ext cx="1572768" cy="713232"/>
          </a:xfrm>
          <a:prstGeom prst="rect">
            <a:avLst/>
          </a:prstGeom>
          <a:noFill/>
          <a:ln/>
        </p:spPr>
        <p:txBody>
          <a:bodyPr wrap="square" lIns="0" tIns="0" rIns="0" bIns="0" rtlCol="0" anchor="ctr"/>
          <a:lstStyle/>
          <a:p>
            <a:pPr algn="ctr" indent="0" marL="0">
              <a:buNone/>
            </a:pPr>
            <a:r>
              <a:rPr lang="en-US" sz="900" b="1" dirty="0">
                <a:solidFill>
                  <a:srgbClr val="FFFFFF"/>
                </a:solidFill>
              </a:rPr>
              <a:t>Sidecar</a:t>
            </a:r>
            <a:endParaRPr lang="en-US" sz="900" dirty="0"/>
          </a:p>
          <a:p>
            <a:pPr algn="ctr" indent="0" marL="0">
              <a:buNone/>
            </a:pPr>
            <a:r>
              <a:rPr lang="en-US" sz="900" b="1" dirty="0">
                <a:solidFill>
                  <a:srgbClr val="FFFFFF"/>
                </a:solidFill>
              </a:rPr>
              <a:t>Nginx (443)</a:t>
            </a:r>
            <a:endParaRPr lang="en-US" sz="900" dirty="0"/>
          </a:p>
        </p:txBody>
      </p:sp>
      <p:sp>
        <p:nvSpPr>
          <p:cNvPr id="12" name="Shape 10"/>
          <p:cNvSpPr/>
          <p:nvPr/>
        </p:nvSpPr>
        <p:spPr>
          <a:xfrm>
            <a:off x="5138928" y="1316736"/>
            <a:ext cx="301752" cy="0"/>
          </a:xfrm>
          <a:prstGeom prst="line">
            <a:avLst/>
          </a:prstGeom>
          <a:noFill/>
          <a:ln w="25400">
            <a:solidFill>
              <a:srgbClr val="00915A"/>
            </a:solidFill>
            <a:prstDash val="solid"/>
          </a:ln>
        </p:spPr>
      </p:sp>
      <p:sp>
        <p:nvSpPr>
          <p:cNvPr id="13" name="Shape 11"/>
          <p:cNvSpPr/>
          <p:nvPr/>
        </p:nvSpPr>
        <p:spPr>
          <a:xfrm>
            <a:off x="5257800" y="960120"/>
            <a:ext cx="1572768" cy="713232"/>
          </a:xfrm>
          <a:prstGeom prst="rect">
            <a:avLst/>
          </a:prstGeom>
          <a:solidFill>
            <a:srgbClr val="6B4226"/>
          </a:solidFill>
          <a:ln w="12700">
            <a:solidFill>
              <a:srgbClr val="6B4226"/>
            </a:solidFill>
            <a:prstDash val="solid"/>
          </a:ln>
          <a:effectLst>
            <a:outerShdw sx="100000" sy="100000" kx="0" ky="0" algn="bl" rotWithShape="0" blurRad="101600" dist="38100" dir="8100000">
              <a:srgbClr val="000000">
                <a:alpha val="10000"/>
              </a:srgbClr>
            </a:outerShdw>
          </a:effectLst>
        </p:spPr>
      </p:sp>
      <p:sp>
        <p:nvSpPr>
          <p:cNvPr id="14" name="Text 12"/>
          <p:cNvSpPr/>
          <p:nvPr/>
        </p:nvSpPr>
        <p:spPr>
          <a:xfrm>
            <a:off x="5257800" y="960120"/>
            <a:ext cx="1572768" cy="713232"/>
          </a:xfrm>
          <a:prstGeom prst="rect">
            <a:avLst/>
          </a:prstGeom>
          <a:noFill/>
          <a:ln/>
        </p:spPr>
        <p:txBody>
          <a:bodyPr wrap="square" lIns="0" tIns="0" rIns="0" bIns="0" rtlCol="0" anchor="ctr"/>
          <a:lstStyle/>
          <a:p>
            <a:pPr algn="ctr" indent="0" marL="0">
              <a:buNone/>
            </a:pPr>
            <a:r>
              <a:rPr lang="en-US" sz="900" b="1" dirty="0">
                <a:solidFill>
                  <a:srgbClr val="FFFFFF"/>
                </a:solidFill>
              </a:rPr>
              <a:t>App Container</a:t>
            </a:r>
            <a:endParaRPr lang="en-US" sz="900" dirty="0"/>
          </a:p>
          <a:p>
            <a:pPr algn="ctr" indent="0" marL="0">
              <a:buNone/>
            </a:pPr>
            <a:r>
              <a:rPr lang="en-US" sz="900" b="1" dirty="0">
                <a:solidFill>
                  <a:srgbClr val="FFFFFF"/>
                </a:solidFill>
              </a:rPr>
              <a:t>(localhost:8080)</a:t>
            </a:r>
            <a:endParaRPr lang="en-US" sz="900" dirty="0"/>
          </a:p>
        </p:txBody>
      </p:sp>
      <p:sp>
        <p:nvSpPr>
          <p:cNvPr id="15" name="Shape 13"/>
          <p:cNvSpPr/>
          <p:nvPr/>
        </p:nvSpPr>
        <p:spPr>
          <a:xfrm>
            <a:off x="3566160" y="1810512"/>
            <a:ext cx="1572768" cy="384048"/>
          </a:xfrm>
          <a:prstGeom prst="rect">
            <a:avLst/>
          </a:prstGeom>
          <a:solidFill>
            <a:srgbClr val="E8F5F0"/>
          </a:solidFill>
          <a:ln w="12700">
            <a:solidFill>
              <a:srgbClr val="007A4D"/>
            </a:solidFill>
            <a:prstDash val="solid"/>
          </a:ln>
        </p:spPr>
      </p:sp>
      <p:sp>
        <p:nvSpPr>
          <p:cNvPr id="16" name="Text 14"/>
          <p:cNvSpPr/>
          <p:nvPr/>
        </p:nvSpPr>
        <p:spPr>
          <a:xfrm>
            <a:off x="3566160" y="1810512"/>
            <a:ext cx="1572768" cy="384048"/>
          </a:xfrm>
          <a:prstGeom prst="rect">
            <a:avLst/>
          </a:prstGeom>
          <a:noFill/>
          <a:ln/>
        </p:spPr>
        <p:txBody>
          <a:bodyPr wrap="square" lIns="0" tIns="0" rIns="0" bIns="0" rtlCol="0" anchor="ctr"/>
          <a:lstStyle/>
          <a:p>
            <a:pPr algn="ctr" indent="0" marL="0">
              <a:buNone/>
            </a:pPr>
            <a:r>
              <a:rPr lang="en-US" sz="650" dirty="0">
                <a:solidFill>
                  <a:srgbClr val="007A4D"/>
                </a:solidFill>
              </a:rPr>
              <a:t>emptyDir (Memory)</a:t>
            </a:r>
            <a:endParaRPr lang="en-US" sz="650" dirty="0"/>
          </a:p>
          <a:p>
            <a:pPr algn="ctr" indent="0" marL="0">
              <a:buNone/>
            </a:pPr>
            <a:r>
              <a:rPr lang="en-US" sz="650" dirty="0">
                <a:solidFill>
                  <a:srgbClr val="007A4D"/>
                </a:solidFill>
              </a:rPr>
              <a:t>/vault/tls/ → tls.crt, tls.key, ca.crt</a:t>
            </a:r>
            <a:endParaRPr lang="en-US" sz="650" dirty="0"/>
          </a:p>
        </p:txBody>
      </p:sp>
      <p:sp>
        <p:nvSpPr>
          <p:cNvPr id="17" name="Shape 15"/>
          <p:cNvSpPr/>
          <p:nvPr/>
        </p:nvSpPr>
        <p:spPr>
          <a:xfrm>
            <a:off x="201168" y="2331720"/>
            <a:ext cx="2788920" cy="105156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201168" y="2331720"/>
            <a:ext cx="2788920" cy="36576"/>
          </a:xfrm>
          <a:prstGeom prst="rect">
            <a:avLst/>
          </a:prstGeom>
          <a:solidFill>
            <a:srgbClr val="00A76F"/>
          </a:solidFill>
          <a:ln w="12700">
            <a:solidFill>
              <a:srgbClr val="00A76F"/>
            </a:solidFill>
            <a:prstDash val="solid"/>
          </a:ln>
        </p:spPr>
      </p:sp>
      <p:sp>
        <p:nvSpPr>
          <p:cNvPr id="19" name="Text 17"/>
          <p:cNvSpPr/>
          <p:nvPr/>
        </p:nvSpPr>
        <p:spPr>
          <a:xfrm>
            <a:off x="201168" y="2404872"/>
            <a:ext cx="45720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0" name="Text 18"/>
          <p:cNvSpPr/>
          <p:nvPr/>
        </p:nvSpPr>
        <p:spPr>
          <a:xfrm>
            <a:off x="676656" y="2423160"/>
            <a:ext cx="2240280" cy="274320"/>
          </a:xfrm>
          <a:prstGeom prst="rect">
            <a:avLst/>
          </a:prstGeom>
          <a:noFill/>
          <a:ln/>
        </p:spPr>
        <p:txBody>
          <a:bodyPr wrap="square" lIns="0" tIns="0" rIns="0" bIns="0" rtlCol="0" anchor="ctr"/>
          <a:lstStyle/>
          <a:p>
            <a:pPr indent="0" marL="0">
              <a:buNone/>
            </a:pPr>
            <a:r>
              <a:rPr lang="en-US" sz="1000" b="1" dirty="0">
                <a:solidFill>
                  <a:srgbClr val="00915A"/>
                </a:solidFill>
              </a:rPr>
              <a:t>Isolation TLS totale</a:t>
            </a:r>
            <a:endParaRPr lang="en-US" sz="1000" dirty="0"/>
          </a:p>
        </p:txBody>
      </p:sp>
      <p:sp>
        <p:nvSpPr>
          <p:cNvPr id="21" name="Text 19"/>
          <p:cNvSpPr/>
          <p:nvPr/>
        </p:nvSpPr>
        <p:spPr>
          <a:xfrm>
            <a:off x="292608" y="2734056"/>
            <a:ext cx="2633472" cy="594360"/>
          </a:xfrm>
          <a:prstGeom prst="rect">
            <a:avLst/>
          </a:prstGeom>
          <a:noFill/>
          <a:ln/>
        </p:spPr>
        <p:txBody>
          <a:bodyPr wrap="square" lIns="0" tIns="0" rIns="0" bIns="0" rtlCol="0" anchor="ctr"/>
          <a:lstStyle/>
          <a:p>
            <a:pPr indent="0" marL="0">
              <a:buNone/>
            </a:pPr>
            <a:r>
              <a:rPr lang="en-US" sz="800" dirty="0">
                <a:solidFill>
                  <a:srgbClr val="6B7B6E"/>
                </a:solidFill>
              </a:rPr>
              <a:t>App en HTTP interne (localhost:8080). TLS terminé par Nginx. Séparation claire des responsabilités.</a:t>
            </a:r>
            <a:endParaRPr lang="en-US" sz="800" dirty="0"/>
          </a:p>
        </p:txBody>
      </p:sp>
      <p:sp>
        <p:nvSpPr>
          <p:cNvPr id="22" name="Shape 20"/>
          <p:cNvSpPr/>
          <p:nvPr/>
        </p:nvSpPr>
        <p:spPr>
          <a:xfrm>
            <a:off x="3172968" y="2331720"/>
            <a:ext cx="2788920" cy="105156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3172968" y="2331720"/>
            <a:ext cx="2788920" cy="36576"/>
          </a:xfrm>
          <a:prstGeom prst="rect">
            <a:avLst/>
          </a:prstGeom>
          <a:solidFill>
            <a:srgbClr val="00A76F"/>
          </a:solidFill>
          <a:ln w="12700">
            <a:solidFill>
              <a:srgbClr val="00A76F"/>
            </a:solidFill>
            <a:prstDash val="solid"/>
          </a:ln>
        </p:spPr>
      </p:sp>
      <p:sp>
        <p:nvSpPr>
          <p:cNvPr id="24" name="Text 22"/>
          <p:cNvSpPr/>
          <p:nvPr/>
        </p:nvSpPr>
        <p:spPr>
          <a:xfrm>
            <a:off x="3172968" y="2404872"/>
            <a:ext cx="45720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5" name="Text 23"/>
          <p:cNvSpPr/>
          <p:nvPr/>
        </p:nvSpPr>
        <p:spPr>
          <a:xfrm>
            <a:off x="3648456" y="2423160"/>
            <a:ext cx="2240280" cy="274320"/>
          </a:xfrm>
          <a:prstGeom prst="rect">
            <a:avLst/>
          </a:prstGeom>
          <a:noFill/>
          <a:ln/>
        </p:spPr>
        <p:txBody>
          <a:bodyPr wrap="square" lIns="0" tIns="0" rIns="0" bIns="0" rtlCol="0" anchor="ctr"/>
          <a:lstStyle/>
          <a:p>
            <a:pPr indent="0" marL="0">
              <a:buNone/>
            </a:pPr>
            <a:r>
              <a:rPr lang="en-US" sz="1000" b="1" dirty="0">
                <a:solidFill>
                  <a:srgbClr val="00915A"/>
                </a:solidFill>
              </a:rPr>
              <a:t>Rotation sans redémarrage</a:t>
            </a:r>
            <a:endParaRPr lang="en-US" sz="1000" dirty="0"/>
          </a:p>
        </p:txBody>
      </p:sp>
      <p:sp>
        <p:nvSpPr>
          <p:cNvPr id="26" name="Text 24"/>
          <p:cNvSpPr/>
          <p:nvPr/>
        </p:nvSpPr>
        <p:spPr>
          <a:xfrm>
            <a:off x="3264408" y="2734056"/>
            <a:ext cx="2633472" cy="594360"/>
          </a:xfrm>
          <a:prstGeom prst="rect">
            <a:avLst/>
          </a:prstGeom>
          <a:noFill/>
          <a:ln/>
        </p:spPr>
        <p:txBody>
          <a:bodyPr wrap="square" lIns="0" tIns="0" rIns="0" bIns="0" rtlCol="0" anchor="ctr"/>
          <a:lstStyle/>
          <a:p>
            <a:pPr indent="0" marL="0">
              <a:buNone/>
            </a:pPr>
            <a:r>
              <a:rPr lang="en-US" sz="800" dirty="0">
                <a:solidFill>
                  <a:srgbClr val="6B7B6E"/>
                </a:solidFill>
              </a:rPr>
              <a:t>Nginx reload -s reload sur SIGHUP. Le pod applicatif ne redémarre pas lors du renouvellement cert.</a:t>
            </a:r>
            <a:endParaRPr lang="en-US" sz="800" dirty="0"/>
          </a:p>
        </p:txBody>
      </p:sp>
      <p:sp>
        <p:nvSpPr>
          <p:cNvPr id="27" name="Shape 25"/>
          <p:cNvSpPr/>
          <p:nvPr/>
        </p:nvSpPr>
        <p:spPr>
          <a:xfrm>
            <a:off x="6144768" y="2331720"/>
            <a:ext cx="2788920" cy="105156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28" name="Shape 26"/>
          <p:cNvSpPr/>
          <p:nvPr/>
        </p:nvSpPr>
        <p:spPr>
          <a:xfrm>
            <a:off x="6144768" y="2331720"/>
            <a:ext cx="2788920" cy="36576"/>
          </a:xfrm>
          <a:prstGeom prst="rect">
            <a:avLst/>
          </a:prstGeom>
          <a:solidFill>
            <a:srgbClr val="00A76F"/>
          </a:solidFill>
          <a:ln w="12700">
            <a:solidFill>
              <a:srgbClr val="00A76F"/>
            </a:solidFill>
            <a:prstDash val="solid"/>
          </a:ln>
        </p:spPr>
      </p:sp>
      <p:sp>
        <p:nvSpPr>
          <p:cNvPr id="29" name="Text 27"/>
          <p:cNvSpPr/>
          <p:nvPr/>
        </p:nvSpPr>
        <p:spPr>
          <a:xfrm>
            <a:off x="6144768" y="2404872"/>
            <a:ext cx="45720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6620256" y="2423160"/>
            <a:ext cx="2240280" cy="274320"/>
          </a:xfrm>
          <a:prstGeom prst="rect">
            <a:avLst/>
          </a:prstGeom>
          <a:noFill/>
          <a:ln/>
        </p:spPr>
        <p:txBody>
          <a:bodyPr wrap="square" lIns="0" tIns="0" rIns="0" bIns="0" rtlCol="0" anchor="ctr"/>
          <a:lstStyle/>
          <a:p>
            <a:pPr indent="0" marL="0">
              <a:buNone/>
            </a:pPr>
            <a:r>
              <a:rPr lang="en-US" sz="1000" b="1" dirty="0">
                <a:solidFill>
                  <a:srgbClr val="00915A"/>
                </a:solidFill>
              </a:rPr>
              <a:t>Zero code applicatif</a:t>
            </a:r>
            <a:endParaRPr lang="en-US" sz="1000" dirty="0"/>
          </a:p>
        </p:txBody>
      </p:sp>
      <p:sp>
        <p:nvSpPr>
          <p:cNvPr id="31" name="Text 29"/>
          <p:cNvSpPr/>
          <p:nvPr/>
        </p:nvSpPr>
        <p:spPr>
          <a:xfrm>
            <a:off x="6236208" y="2734056"/>
            <a:ext cx="2633472" cy="594360"/>
          </a:xfrm>
          <a:prstGeom prst="rect">
            <a:avLst/>
          </a:prstGeom>
          <a:noFill/>
          <a:ln/>
        </p:spPr>
        <p:txBody>
          <a:bodyPr wrap="square" lIns="0" tIns="0" rIns="0" bIns="0" rtlCol="0" anchor="ctr"/>
          <a:lstStyle/>
          <a:p>
            <a:pPr indent="0" marL="0">
              <a:buNone/>
            </a:pPr>
            <a:r>
              <a:rPr lang="en-US" sz="800" dirty="0">
                <a:solidFill>
                  <a:srgbClr val="6B7B6E"/>
                </a:solidFill>
              </a:rPr>
              <a:t>L'application ne connaît pas TLS. Aucune dépendance JSSE/TrustStore. Pattern applicable à toute technologie.</a:t>
            </a:r>
            <a:endParaRPr lang="en-US" sz="800" dirty="0"/>
          </a:p>
        </p:txBody>
      </p:sp>
      <p:sp>
        <p:nvSpPr>
          <p:cNvPr id="32" name="Shape 30"/>
          <p:cNvSpPr/>
          <p:nvPr/>
        </p:nvSpPr>
        <p:spPr>
          <a:xfrm>
            <a:off x="201168" y="3520440"/>
            <a:ext cx="2788920" cy="105156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201168" y="3520440"/>
            <a:ext cx="2788920" cy="36576"/>
          </a:xfrm>
          <a:prstGeom prst="rect">
            <a:avLst/>
          </a:prstGeom>
          <a:solidFill>
            <a:srgbClr val="00A76F"/>
          </a:solidFill>
          <a:ln w="12700">
            <a:solidFill>
              <a:srgbClr val="00A76F"/>
            </a:solidFill>
            <a:prstDash val="solid"/>
          </a:ln>
        </p:spPr>
      </p:sp>
      <p:sp>
        <p:nvSpPr>
          <p:cNvPr id="34" name="Text 32"/>
          <p:cNvSpPr/>
          <p:nvPr/>
        </p:nvSpPr>
        <p:spPr>
          <a:xfrm>
            <a:off x="201168" y="3593592"/>
            <a:ext cx="45720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5" name="Text 33"/>
          <p:cNvSpPr/>
          <p:nvPr/>
        </p:nvSpPr>
        <p:spPr>
          <a:xfrm>
            <a:off x="676656" y="3611880"/>
            <a:ext cx="2240280" cy="274320"/>
          </a:xfrm>
          <a:prstGeom prst="rect">
            <a:avLst/>
          </a:prstGeom>
          <a:noFill/>
          <a:ln/>
        </p:spPr>
        <p:txBody>
          <a:bodyPr wrap="square" lIns="0" tIns="0" rIns="0" bIns="0" rtlCol="0" anchor="ctr"/>
          <a:lstStyle/>
          <a:p>
            <a:pPr indent="0" marL="0">
              <a:buNone/>
            </a:pPr>
            <a:r>
              <a:rPr lang="en-US" sz="1000" b="1" dirty="0">
                <a:solidFill>
                  <a:srgbClr val="00915A"/>
                </a:solidFill>
              </a:rPr>
              <a:t>Compatible OpenShift/ROKS</a:t>
            </a:r>
            <a:endParaRPr lang="en-US" sz="1000" dirty="0"/>
          </a:p>
        </p:txBody>
      </p:sp>
      <p:sp>
        <p:nvSpPr>
          <p:cNvPr id="36" name="Text 34"/>
          <p:cNvSpPr/>
          <p:nvPr/>
        </p:nvSpPr>
        <p:spPr>
          <a:xfrm>
            <a:off x="292608" y="3922776"/>
            <a:ext cx="2633472" cy="594360"/>
          </a:xfrm>
          <a:prstGeom prst="rect">
            <a:avLst/>
          </a:prstGeom>
          <a:noFill/>
          <a:ln/>
        </p:spPr>
        <p:txBody>
          <a:bodyPr wrap="square" lIns="0" tIns="0" rIns="0" bIns="0" rtlCol="0" anchor="ctr"/>
          <a:lstStyle/>
          <a:p>
            <a:pPr indent="0" marL="0">
              <a:buNone/>
            </a:pPr>
            <a:r>
              <a:rPr lang="en-US" sz="800" dirty="0">
                <a:solidFill>
                  <a:srgbClr val="6B7B6E"/>
                </a:solidFill>
              </a:rPr>
              <a:t>Route Reencrypt F5→Route→Pod. Pas de MutatingWebhook requis. Fonctionne avec SCCs restrictives.</a:t>
            </a:r>
            <a:endParaRPr lang="en-US" sz="800" dirty="0"/>
          </a:p>
        </p:txBody>
      </p:sp>
      <p:sp>
        <p:nvSpPr>
          <p:cNvPr id="37" name="Shape 35"/>
          <p:cNvSpPr/>
          <p:nvPr/>
        </p:nvSpPr>
        <p:spPr>
          <a:xfrm>
            <a:off x="3172968" y="3520440"/>
            <a:ext cx="2788920" cy="105156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38" name="Shape 36"/>
          <p:cNvSpPr/>
          <p:nvPr/>
        </p:nvSpPr>
        <p:spPr>
          <a:xfrm>
            <a:off x="3172968" y="3520440"/>
            <a:ext cx="2788920" cy="36576"/>
          </a:xfrm>
          <a:prstGeom prst="rect">
            <a:avLst/>
          </a:prstGeom>
          <a:solidFill>
            <a:srgbClr val="00A76F"/>
          </a:solidFill>
          <a:ln w="12700">
            <a:solidFill>
              <a:srgbClr val="00A76F"/>
            </a:solidFill>
            <a:prstDash val="solid"/>
          </a:ln>
        </p:spPr>
      </p:sp>
      <p:sp>
        <p:nvSpPr>
          <p:cNvPr id="39" name="Text 37"/>
          <p:cNvSpPr/>
          <p:nvPr/>
        </p:nvSpPr>
        <p:spPr>
          <a:xfrm>
            <a:off x="3172968" y="3593592"/>
            <a:ext cx="45720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0" name="Text 38"/>
          <p:cNvSpPr/>
          <p:nvPr/>
        </p:nvSpPr>
        <p:spPr>
          <a:xfrm>
            <a:off x="3648456" y="3611880"/>
            <a:ext cx="2240280" cy="274320"/>
          </a:xfrm>
          <a:prstGeom prst="rect">
            <a:avLst/>
          </a:prstGeom>
          <a:noFill/>
          <a:ln/>
        </p:spPr>
        <p:txBody>
          <a:bodyPr wrap="square" lIns="0" tIns="0" rIns="0" bIns="0" rtlCol="0" anchor="ctr"/>
          <a:lstStyle/>
          <a:p>
            <a:pPr indent="0" marL="0">
              <a:buNone/>
            </a:pPr>
            <a:r>
              <a:rPr lang="en-US" sz="1000" b="1" dirty="0">
                <a:solidFill>
                  <a:srgbClr val="00915A"/>
                </a:solidFill>
              </a:rPr>
              <a:t>Observabilité centralisée</a:t>
            </a:r>
            <a:endParaRPr lang="en-US" sz="1000" dirty="0"/>
          </a:p>
        </p:txBody>
      </p:sp>
      <p:sp>
        <p:nvSpPr>
          <p:cNvPr id="41" name="Text 39"/>
          <p:cNvSpPr/>
          <p:nvPr/>
        </p:nvSpPr>
        <p:spPr>
          <a:xfrm>
            <a:off x="3264408" y="3922776"/>
            <a:ext cx="2633472" cy="594360"/>
          </a:xfrm>
          <a:prstGeom prst="rect">
            <a:avLst/>
          </a:prstGeom>
          <a:noFill/>
          <a:ln/>
        </p:spPr>
        <p:txBody>
          <a:bodyPr wrap="square" lIns="0" tIns="0" rIns="0" bIns="0" rtlCol="0" anchor="ctr"/>
          <a:lstStyle/>
          <a:p>
            <a:pPr indent="0" marL="0">
              <a:buNone/>
            </a:pPr>
            <a:r>
              <a:rPr lang="en-US" sz="800" dirty="0">
                <a:solidFill>
                  <a:srgbClr val="6B7B6E"/>
                </a:solidFill>
              </a:rPr>
              <a:t>Logs TLS dans le sidecar Nginx séparés des logs applicatifs. Métriques stub_status facilement scrapables.</a:t>
            </a:r>
            <a:endParaRPr lang="en-US" sz="800" dirty="0"/>
          </a:p>
        </p:txBody>
      </p:sp>
      <p:sp>
        <p:nvSpPr>
          <p:cNvPr id="42" name="Shape 40"/>
          <p:cNvSpPr/>
          <p:nvPr/>
        </p:nvSpPr>
        <p:spPr>
          <a:xfrm>
            <a:off x="6144768" y="3520440"/>
            <a:ext cx="2788920" cy="1051560"/>
          </a:xfrm>
          <a:prstGeom prst="rect">
            <a:avLst/>
          </a:prstGeom>
          <a:solidFill>
            <a:srgbClr val="FFFFFF"/>
          </a:solidFill>
          <a:ln w="12700">
            <a:solidFill>
              <a:srgbClr val="E0EDE8"/>
            </a:solidFill>
            <a:prstDash val="solid"/>
          </a:ln>
          <a:effectLst>
            <a:outerShdw sx="100000" sy="100000" kx="0" ky="0" algn="bl" rotWithShape="0" blurRad="101600" dist="38100" dir="8100000">
              <a:srgbClr val="000000">
                <a:alpha val="10000"/>
              </a:srgbClr>
            </a:outerShdw>
          </a:effectLst>
        </p:spPr>
      </p:sp>
      <p:sp>
        <p:nvSpPr>
          <p:cNvPr id="43" name="Shape 41"/>
          <p:cNvSpPr/>
          <p:nvPr/>
        </p:nvSpPr>
        <p:spPr>
          <a:xfrm>
            <a:off x="6144768" y="3520440"/>
            <a:ext cx="2788920" cy="36576"/>
          </a:xfrm>
          <a:prstGeom prst="rect">
            <a:avLst/>
          </a:prstGeom>
          <a:solidFill>
            <a:srgbClr val="00A76F"/>
          </a:solidFill>
          <a:ln w="12700">
            <a:solidFill>
              <a:srgbClr val="00A76F"/>
            </a:solidFill>
            <a:prstDash val="solid"/>
          </a:ln>
        </p:spPr>
      </p:sp>
      <p:sp>
        <p:nvSpPr>
          <p:cNvPr id="44" name="Text 42"/>
          <p:cNvSpPr/>
          <p:nvPr/>
        </p:nvSpPr>
        <p:spPr>
          <a:xfrm>
            <a:off x="6144768" y="3593592"/>
            <a:ext cx="45720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5" name="Text 43"/>
          <p:cNvSpPr/>
          <p:nvPr/>
        </p:nvSpPr>
        <p:spPr>
          <a:xfrm>
            <a:off x="6620256" y="3611880"/>
            <a:ext cx="2240280" cy="274320"/>
          </a:xfrm>
          <a:prstGeom prst="rect">
            <a:avLst/>
          </a:prstGeom>
          <a:noFill/>
          <a:ln/>
        </p:spPr>
        <p:txBody>
          <a:bodyPr wrap="square" lIns="0" tIns="0" rIns="0" bIns="0" rtlCol="0" anchor="ctr"/>
          <a:lstStyle/>
          <a:p>
            <a:pPr indent="0" marL="0">
              <a:buNone/>
            </a:pPr>
            <a:r>
              <a:rPr lang="en-US" sz="1000" b="1" dirty="0">
                <a:solidFill>
                  <a:srgbClr val="00915A"/>
                </a:solidFill>
              </a:rPr>
              <a:t>Performance optimisée</a:t>
            </a:r>
            <a:endParaRPr lang="en-US" sz="1000" dirty="0"/>
          </a:p>
        </p:txBody>
      </p:sp>
      <p:sp>
        <p:nvSpPr>
          <p:cNvPr id="46" name="Text 44"/>
          <p:cNvSpPr/>
          <p:nvPr/>
        </p:nvSpPr>
        <p:spPr>
          <a:xfrm>
            <a:off x="6236208" y="3922776"/>
            <a:ext cx="2633472" cy="594360"/>
          </a:xfrm>
          <a:prstGeom prst="rect">
            <a:avLst/>
          </a:prstGeom>
          <a:noFill/>
          <a:ln/>
        </p:spPr>
        <p:txBody>
          <a:bodyPr wrap="square" lIns="0" tIns="0" rIns="0" bIns="0" rtlCol="0" anchor="ctr"/>
          <a:lstStyle/>
          <a:p>
            <a:pPr indent="0" marL="0">
              <a:buNone/>
            </a:pPr>
            <a:r>
              <a:rPr lang="en-US" sz="800" dirty="0">
                <a:solidFill>
                  <a:srgbClr val="6B7B6E"/>
                </a:solidFill>
              </a:rPr>
              <a:t>TLS offloading par Nginx. Connexion HTTP/1.1 interne ultra-rapide. Pas d'overhead SSL dans la JVM.</a:t>
            </a:r>
            <a:endParaRPr lang="en-US" sz="800" dirty="0"/>
          </a:p>
        </p:txBody>
      </p:sp>
      <p:sp>
        <p:nvSpPr>
          <p:cNvPr id="47" name="Shape 45"/>
          <p:cNvSpPr/>
          <p:nvPr/>
        </p:nvSpPr>
        <p:spPr>
          <a:xfrm>
            <a:off x="0" y="4846320"/>
            <a:ext cx="9144000" cy="297180"/>
          </a:xfrm>
          <a:prstGeom prst="rect">
            <a:avLst/>
          </a:prstGeom>
          <a:solidFill>
            <a:srgbClr val="00915A"/>
          </a:solidFill>
          <a:ln w="12700">
            <a:solidFill>
              <a:srgbClr val="00915A"/>
            </a:solidFill>
            <a:prstDash val="solid"/>
          </a:ln>
        </p:spPr>
      </p:sp>
      <p:sp>
        <p:nvSpPr>
          <p:cNvPr id="48" name="Text 46"/>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915A"/>
          </a:solidFill>
          <a:ln w="12700">
            <a:solidFill>
              <a:srgbClr val="00915A"/>
            </a:solidFill>
            <a:prstDash val="solid"/>
          </a:ln>
        </p:spPr>
      </p:sp>
      <p:sp>
        <p:nvSpPr>
          <p:cNvPr id="3" name="Text 1"/>
          <p:cNvSpPr/>
          <p:nvPr/>
        </p:nvSpPr>
        <p:spPr>
          <a:xfrm>
            <a:off x="365760" y="0"/>
            <a:ext cx="8229600" cy="822960"/>
          </a:xfrm>
          <a:prstGeom prst="rect">
            <a:avLst/>
          </a:prstGeom>
          <a:noFill/>
          <a:ln/>
        </p:spPr>
        <p:txBody>
          <a:bodyPr wrap="square" lIns="0" tIns="0" rIns="0" bIns="0" rtlCol="0" anchor="ctr"/>
          <a:lstStyle/>
          <a:p>
            <a:pPr indent="0" marL="0">
              <a:buNone/>
            </a:pPr>
            <a:r>
              <a:rPr lang="en-US" sz="2100" b="1" dirty="0">
                <a:solidFill>
                  <a:srgbClr val="FFFFFF"/>
                </a:solidFill>
              </a:rPr>
              <a:t>Recommandations par Cas d'Usage</a:t>
            </a:r>
            <a:endParaRPr lang="en-US" sz="2100" dirty="0"/>
          </a:p>
        </p:txBody>
      </p:sp>
      <p:sp>
        <p:nvSpPr>
          <p:cNvPr id="4" name="Shape 2"/>
          <p:cNvSpPr/>
          <p:nvPr/>
        </p:nvSpPr>
        <p:spPr>
          <a:xfrm>
            <a:off x="228600" y="914400"/>
            <a:ext cx="2194560" cy="347472"/>
          </a:xfrm>
          <a:prstGeom prst="rect">
            <a:avLst/>
          </a:prstGeom>
          <a:solidFill>
            <a:srgbClr val="00915A"/>
          </a:solidFill>
          <a:ln w="12700">
            <a:solidFill>
              <a:srgbClr val="00915A"/>
            </a:solidFill>
            <a:prstDash val="solid"/>
          </a:ln>
        </p:spPr>
      </p:sp>
      <p:sp>
        <p:nvSpPr>
          <p:cNvPr id="5" name="Text 3"/>
          <p:cNvSpPr/>
          <p:nvPr/>
        </p:nvSpPr>
        <p:spPr>
          <a:xfrm>
            <a:off x="228600" y="914400"/>
            <a:ext cx="2194560" cy="347472"/>
          </a:xfrm>
          <a:prstGeom prst="rect">
            <a:avLst/>
          </a:prstGeom>
          <a:noFill/>
          <a:ln/>
        </p:spPr>
        <p:txBody>
          <a:bodyPr wrap="square" lIns="0" tIns="0" rIns="0" bIns="0" rtlCol="0" anchor="ctr"/>
          <a:lstStyle/>
          <a:p>
            <a:pPr algn="ctr" indent="0" marL="0">
              <a:buNone/>
            </a:pPr>
            <a:r>
              <a:rPr lang="en-US" sz="900" b="1" dirty="0">
                <a:solidFill>
                  <a:srgbClr val="FFFFFF"/>
                </a:solidFill>
              </a:rPr>
              <a:t>Solution</a:t>
            </a:r>
            <a:endParaRPr lang="en-US" sz="900" dirty="0"/>
          </a:p>
        </p:txBody>
      </p:sp>
      <p:sp>
        <p:nvSpPr>
          <p:cNvPr id="6" name="Shape 4"/>
          <p:cNvSpPr/>
          <p:nvPr/>
        </p:nvSpPr>
        <p:spPr>
          <a:xfrm>
            <a:off x="2423160" y="914400"/>
            <a:ext cx="1554480" cy="347472"/>
          </a:xfrm>
          <a:prstGeom prst="rect">
            <a:avLst/>
          </a:prstGeom>
          <a:solidFill>
            <a:srgbClr val="00915A"/>
          </a:solidFill>
          <a:ln w="12700">
            <a:solidFill>
              <a:srgbClr val="00915A"/>
            </a:solidFill>
            <a:prstDash val="solid"/>
          </a:ln>
        </p:spPr>
      </p:sp>
      <p:sp>
        <p:nvSpPr>
          <p:cNvPr id="7" name="Text 5"/>
          <p:cNvSpPr/>
          <p:nvPr/>
        </p:nvSpPr>
        <p:spPr>
          <a:xfrm>
            <a:off x="2423160" y="914400"/>
            <a:ext cx="1554480" cy="347472"/>
          </a:xfrm>
          <a:prstGeom prst="rect">
            <a:avLst/>
          </a:prstGeom>
          <a:noFill/>
          <a:ln/>
        </p:spPr>
        <p:txBody>
          <a:bodyPr wrap="square" lIns="0" tIns="0" rIns="0" bIns="0" rtlCol="0" anchor="ctr"/>
          <a:lstStyle/>
          <a:p>
            <a:pPr algn="ctr" indent="0" marL="0">
              <a:buNone/>
            </a:pPr>
            <a:r>
              <a:rPr lang="en-US" sz="900" b="1" dirty="0">
                <a:solidFill>
                  <a:srgbClr val="FFFFFF"/>
                </a:solidFill>
              </a:rPr>
              <a:t>Operator requis</a:t>
            </a:r>
            <a:endParaRPr lang="en-US" sz="900" dirty="0"/>
          </a:p>
        </p:txBody>
      </p:sp>
      <p:sp>
        <p:nvSpPr>
          <p:cNvPr id="8" name="Shape 6"/>
          <p:cNvSpPr/>
          <p:nvPr/>
        </p:nvSpPr>
        <p:spPr>
          <a:xfrm>
            <a:off x="3977640" y="914400"/>
            <a:ext cx="1737360" cy="347472"/>
          </a:xfrm>
          <a:prstGeom prst="rect">
            <a:avLst/>
          </a:prstGeom>
          <a:solidFill>
            <a:srgbClr val="00915A"/>
          </a:solidFill>
          <a:ln w="12700">
            <a:solidFill>
              <a:srgbClr val="00915A"/>
            </a:solidFill>
            <a:prstDash val="solid"/>
          </a:ln>
        </p:spPr>
      </p:sp>
      <p:sp>
        <p:nvSpPr>
          <p:cNvPr id="9" name="Text 7"/>
          <p:cNvSpPr/>
          <p:nvPr/>
        </p:nvSpPr>
        <p:spPr>
          <a:xfrm>
            <a:off x="3977640" y="914400"/>
            <a:ext cx="1737360" cy="347472"/>
          </a:xfrm>
          <a:prstGeom prst="rect">
            <a:avLst/>
          </a:prstGeom>
          <a:noFill/>
          <a:ln/>
        </p:spPr>
        <p:txBody>
          <a:bodyPr wrap="square" lIns="0" tIns="0" rIns="0" bIns="0" rtlCol="0" anchor="ctr"/>
          <a:lstStyle/>
          <a:p>
            <a:pPr algn="ctr" indent="0" marL="0">
              <a:buNone/>
            </a:pPr>
            <a:r>
              <a:rPr lang="en-US" sz="900" b="1" dirty="0">
                <a:solidFill>
                  <a:srgbClr val="FFFFFF"/>
                </a:solidFill>
              </a:rPr>
              <a:t>Renouvellement auto</a:t>
            </a:r>
            <a:endParaRPr lang="en-US" sz="900" dirty="0"/>
          </a:p>
        </p:txBody>
      </p:sp>
      <p:sp>
        <p:nvSpPr>
          <p:cNvPr id="10" name="Shape 8"/>
          <p:cNvSpPr/>
          <p:nvPr/>
        </p:nvSpPr>
        <p:spPr>
          <a:xfrm>
            <a:off x="5715000" y="914400"/>
            <a:ext cx="1554480" cy="347472"/>
          </a:xfrm>
          <a:prstGeom prst="rect">
            <a:avLst/>
          </a:prstGeom>
          <a:solidFill>
            <a:srgbClr val="00915A"/>
          </a:solidFill>
          <a:ln w="12700">
            <a:solidFill>
              <a:srgbClr val="00915A"/>
            </a:solidFill>
            <a:prstDash val="solid"/>
          </a:ln>
        </p:spPr>
      </p:sp>
      <p:sp>
        <p:nvSpPr>
          <p:cNvPr id="11" name="Text 9"/>
          <p:cNvSpPr/>
          <p:nvPr/>
        </p:nvSpPr>
        <p:spPr>
          <a:xfrm>
            <a:off x="5715000" y="914400"/>
            <a:ext cx="1554480" cy="347472"/>
          </a:xfrm>
          <a:prstGeom prst="rect">
            <a:avLst/>
          </a:prstGeom>
          <a:noFill/>
          <a:ln/>
        </p:spPr>
        <p:txBody>
          <a:bodyPr wrap="square" lIns="0" tIns="0" rIns="0" bIns="0" rtlCol="0" anchor="ctr"/>
          <a:lstStyle/>
          <a:p>
            <a:pPr algn="ctr" indent="0" marL="0">
              <a:buNone/>
            </a:pPr>
            <a:r>
              <a:rPr lang="en-US" sz="900" b="1" dirty="0">
                <a:solidFill>
                  <a:srgbClr val="FFFFFF"/>
                </a:solidFill>
              </a:rPr>
              <a:t>Compatible ROKS</a:t>
            </a:r>
            <a:endParaRPr lang="en-US" sz="900" dirty="0"/>
          </a:p>
        </p:txBody>
      </p:sp>
      <p:sp>
        <p:nvSpPr>
          <p:cNvPr id="12" name="Shape 10"/>
          <p:cNvSpPr/>
          <p:nvPr/>
        </p:nvSpPr>
        <p:spPr>
          <a:xfrm>
            <a:off x="7269480" y="914400"/>
            <a:ext cx="1645920" cy="347472"/>
          </a:xfrm>
          <a:prstGeom prst="rect">
            <a:avLst/>
          </a:prstGeom>
          <a:solidFill>
            <a:srgbClr val="00915A"/>
          </a:solidFill>
          <a:ln w="12700">
            <a:solidFill>
              <a:srgbClr val="00915A"/>
            </a:solidFill>
            <a:prstDash val="solid"/>
          </a:ln>
        </p:spPr>
      </p:sp>
      <p:sp>
        <p:nvSpPr>
          <p:cNvPr id="13" name="Text 11"/>
          <p:cNvSpPr/>
          <p:nvPr/>
        </p:nvSpPr>
        <p:spPr>
          <a:xfrm>
            <a:off x="7269480" y="914400"/>
            <a:ext cx="1645920" cy="347472"/>
          </a:xfrm>
          <a:prstGeom prst="rect">
            <a:avLst/>
          </a:prstGeom>
          <a:noFill/>
          <a:ln/>
        </p:spPr>
        <p:txBody>
          <a:bodyPr wrap="square" lIns="0" tIns="0" rIns="0" bIns="0" rtlCol="0" anchor="ctr"/>
          <a:lstStyle/>
          <a:p>
            <a:pPr algn="ctr" indent="0" marL="0">
              <a:buNone/>
            </a:pPr>
            <a:r>
              <a:rPr lang="en-US" sz="900" b="1" dirty="0">
                <a:solidFill>
                  <a:srgbClr val="FFFFFF"/>
                </a:solidFill>
              </a:rPr>
              <a:t>Recommandé BNP</a:t>
            </a:r>
            <a:endParaRPr lang="en-US" sz="900" dirty="0"/>
          </a:p>
        </p:txBody>
      </p:sp>
      <p:sp>
        <p:nvSpPr>
          <p:cNvPr id="14" name="Shape 12"/>
          <p:cNvSpPr/>
          <p:nvPr/>
        </p:nvSpPr>
        <p:spPr>
          <a:xfrm>
            <a:off x="228600" y="1261872"/>
            <a:ext cx="2194560" cy="457200"/>
          </a:xfrm>
          <a:prstGeom prst="rect">
            <a:avLst/>
          </a:prstGeom>
          <a:solidFill>
            <a:srgbClr val="FFFFFF"/>
          </a:solidFill>
          <a:ln w="12700">
            <a:solidFill>
              <a:srgbClr val="D0E8DC"/>
            </a:solidFill>
            <a:prstDash val="solid"/>
          </a:ln>
        </p:spPr>
      </p:sp>
      <p:sp>
        <p:nvSpPr>
          <p:cNvPr id="15" name="Text 13"/>
          <p:cNvSpPr/>
          <p:nvPr/>
        </p:nvSpPr>
        <p:spPr>
          <a:xfrm>
            <a:off x="228600" y="1261872"/>
            <a:ext cx="2194560" cy="457200"/>
          </a:xfrm>
          <a:prstGeom prst="rect">
            <a:avLst/>
          </a:prstGeom>
          <a:noFill/>
          <a:ln/>
        </p:spPr>
        <p:txBody>
          <a:bodyPr wrap="square" rtlCol="0" anchor="ctr"/>
          <a:lstStyle/>
          <a:p>
            <a:pPr algn="l" indent="0" marL="0">
              <a:buNone/>
            </a:pPr>
            <a:r>
              <a:rPr lang="en-US" sz="900" dirty="0">
                <a:solidFill>
                  <a:srgbClr val="1A1A1A"/>
                </a:solidFill>
              </a:rPr>
              <a:t>cert-manager + Vault Issuer</a:t>
            </a:r>
            <a:endParaRPr lang="en-US" sz="900" dirty="0"/>
          </a:p>
        </p:txBody>
      </p:sp>
      <p:sp>
        <p:nvSpPr>
          <p:cNvPr id="16" name="Shape 14"/>
          <p:cNvSpPr/>
          <p:nvPr/>
        </p:nvSpPr>
        <p:spPr>
          <a:xfrm>
            <a:off x="2423160" y="1261872"/>
            <a:ext cx="1554480" cy="457200"/>
          </a:xfrm>
          <a:prstGeom prst="rect">
            <a:avLst/>
          </a:prstGeom>
          <a:solidFill>
            <a:srgbClr val="FFFFFF"/>
          </a:solidFill>
          <a:ln w="12700">
            <a:solidFill>
              <a:srgbClr val="D0E8DC"/>
            </a:solidFill>
            <a:prstDash val="solid"/>
          </a:ln>
        </p:spPr>
      </p:sp>
      <p:sp>
        <p:nvSpPr>
          <p:cNvPr id="17" name="Text 15"/>
          <p:cNvSpPr/>
          <p:nvPr/>
        </p:nvSpPr>
        <p:spPr>
          <a:xfrm>
            <a:off x="2423160" y="1261872"/>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cert-manager</a:t>
            </a:r>
            <a:endParaRPr lang="en-US" sz="1000" dirty="0"/>
          </a:p>
        </p:txBody>
      </p:sp>
      <p:sp>
        <p:nvSpPr>
          <p:cNvPr id="18" name="Shape 16"/>
          <p:cNvSpPr/>
          <p:nvPr/>
        </p:nvSpPr>
        <p:spPr>
          <a:xfrm>
            <a:off x="3977640" y="1261872"/>
            <a:ext cx="1737360" cy="457200"/>
          </a:xfrm>
          <a:prstGeom prst="rect">
            <a:avLst/>
          </a:prstGeom>
          <a:solidFill>
            <a:srgbClr val="FFFFFF"/>
          </a:solidFill>
          <a:ln w="12700">
            <a:solidFill>
              <a:srgbClr val="D0E8DC"/>
            </a:solidFill>
            <a:prstDash val="solid"/>
          </a:ln>
        </p:spPr>
      </p:sp>
      <p:sp>
        <p:nvSpPr>
          <p:cNvPr id="19" name="Text 17"/>
          <p:cNvSpPr/>
          <p:nvPr/>
        </p:nvSpPr>
        <p:spPr>
          <a:xfrm>
            <a:off x="3977640" y="1261872"/>
            <a:ext cx="1737360" cy="457200"/>
          </a:xfrm>
          <a:prstGeom prst="rect">
            <a:avLst/>
          </a:prstGeom>
          <a:noFill/>
          <a:ln/>
        </p:spPr>
        <p:txBody>
          <a:bodyPr wrap="square" lIns="0" tIns="0" rIns="0" bIns="0" rtlCol="0" anchor="ctr"/>
          <a:lstStyle/>
          <a:p>
            <a:pPr algn="ctr" indent="0" marL="0">
              <a:buNone/>
            </a:pPr>
            <a:r>
              <a:rPr lang="en-US" sz="1000" dirty="0">
                <a:solidFill>
                  <a:srgbClr val="1A1A1A"/>
                </a:solidFill>
              </a:rPr>
              <a:t>✓ Automatique</a:t>
            </a:r>
            <a:endParaRPr lang="en-US" sz="1000" dirty="0"/>
          </a:p>
        </p:txBody>
      </p:sp>
      <p:sp>
        <p:nvSpPr>
          <p:cNvPr id="20" name="Shape 18"/>
          <p:cNvSpPr/>
          <p:nvPr/>
        </p:nvSpPr>
        <p:spPr>
          <a:xfrm>
            <a:off x="5715000" y="1261872"/>
            <a:ext cx="1554480" cy="457200"/>
          </a:xfrm>
          <a:prstGeom prst="rect">
            <a:avLst/>
          </a:prstGeom>
          <a:solidFill>
            <a:srgbClr val="FFFFFF"/>
          </a:solidFill>
          <a:ln w="12700">
            <a:solidFill>
              <a:srgbClr val="D0E8DC"/>
            </a:solidFill>
            <a:prstDash val="solid"/>
          </a:ln>
        </p:spPr>
      </p:sp>
      <p:sp>
        <p:nvSpPr>
          <p:cNvPr id="21" name="Text 19"/>
          <p:cNvSpPr/>
          <p:nvPr/>
        </p:nvSpPr>
        <p:spPr>
          <a:xfrm>
            <a:off x="5715000" y="1261872"/>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Partiel</a:t>
            </a:r>
            <a:endParaRPr lang="en-US" sz="1000" dirty="0"/>
          </a:p>
        </p:txBody>
      </p:sp>
      <p:sp>
        <p:nvSpPr>
          <p:cNvPr id="22" name="Shape 20"/>
          <p:cNvSpPr/>
          <p:nvPr/>
        </p:nvSpPr>
        <p:spPr>
          <a:xfrm>
            <a:off x="7269480" y="1261872"/>
            <a:ext cx="1645920" cy="457200"/>
          </a:xfrm>
          <a:prstGeom prst="rect">
            <a:avLst/>
          </a:prstGeom>
          <a:solidFill>
            <a:srgbClr val="FFFFFF"/>
          </a:solidFill>
          <a:ln w="12700">
            <a:solidFill>
              <a:srgbClr val="D0E8DC"/>
            </a:solidFill>
            <a:prstDash val="solid"/>
          </a:ln>
        </p:spPr>
      </p:sp>
      <p:sp>
        <p:nvSpPr>
          <p:cNvPr id="23" name="Text 21"/>
          <p:cNvSpPr/>
          <p:nvPr/>
        </p:nvSpPr>
        <p:spPr>
          <a:xfrm>
            <a:off x="7269480" y="1261872"/>
            <a:ext cx="1645920" cy="457200"/>
          </a:xfrm>
          <a:prstGeom prst="rect">
            <a:avLst/>
          </a:prstGeom>
          <a:noFill/>
          <a:ln/>
        </p:spPr>
        <p:txBody>
          <a:bodyPr wrap="square" lIns="0" tIns="0" rIns="0" bIns="0" rtlCol="0" anchor="ctr"/>
          <a:lstStyle/>
          <a:p>
            <a:pPr algn="ctr" indent="0" marL="0">
              <a:buNone/>
            </a:pPr>
            <a:r>
              <a:rPr lang="en-US" sz="1000" dirty="0">
                <a:solidFill>
                  <a:srgbClr val="1A1A1A"/>
                </a:solidFill>
              </a:rPr>
              <a:t>⭐⭐⭐</a:t>
            </a:r>
            <a:endParaRPr lang="en-US" sz="1000" dirty="0"/>
          </a:p>
        </p:txBody>
      </p:sp>
      <p:sp>
        <p:nvSpPr>
          <p:cNvPr id="24" name="Shape 22"/>
          <p:cNvSpPr/>
          <p:nvPr/>
        </p:nvSpPr>
        <p:spPr>
          <a:xfrm>
            <a:off x="228600" y="1773936"/>
            <a:ext cx="2194560" cy="457200"/>
          </a:xfrm>
          <a:prstGeom prst="rect">
            <a:avLst/>
          </a:prstGeom>
          <a:solidFill>
            <a:srgbClr val="F9FEFB"/>
          </a:solidFill>
          <a:ln w="12700">
            <a:solidFill>
              <a:srgbClr val="D0E8DC"/>
            </a:solidFill>
            <a:prstDash val="solid"/>
          </a:ln>
        </p:spPr>
      </p:sp>
      <p:sp>
        <p:nvSpPr>
          <p:cNvPr id="25" name="Text 23"/>
          <p:cNvSpPr/>
          <p:nvPr/>
        </p:nvSpPr>
        <p:spPr>
          <a:xfrm>
            <a:off x="228600" y="1773936"/>
            <a:ext cx="2194560" cy="457200"/>
          </a:xfrm>
          <a:prstGeom prst="rect">
            <a:avLst/>
          </a:prstGeom>
          <a:noFill/>
          <a:ln/>
        </p:spPr>
        <p:txBody>
          <a:bodyPr wrap="square" rtlCol="0" anchor="ctr"/>
          <a:lstStyle/>
          <a:p>
            <a:pPr algn="l" indent="0" marL="0">
              <a:buNone/>
            </a:pPr>
            <a:r>
              <a:rPr lang="en-US" sz="900" dirty="0">
                <a:solidFill>
                  <a:srgbClr val="1A1A1A"/>
                </a:solidFill>
              </a:rPr>
              <a:t>Vault Secrets Operator (VSO)</a:t>
            </a:r>
            <a:endParaRPr lang="en-US" sz="900" dirty="0"/>
          </a:p>
        </p:txBody>
      </p:sp>
      <p:sp>
        <p:nvSpPr>
          <p:cNvPr id="26" name="Shape 24"/>
          <p:cNvSpPr/>
          <p:nvPr/>
        </p:nvSpPr>
        <p:spPr>
          <a:xfrm>
            <a:off x="2423160" y="1773936"/>
            <a:ext cx="1554480" cy="457200"/>
          </a:xfrm>
          <a:prstGeom prst="rect">
            <a:avLst/>
          </a:prstGeom>
          <a:solidFill>
            <a:srgbClr val="F9FEFB"/>
          </a:solidFill>
          <a:ln w="12700">
            <a:solidFill>
              <a:srgbClr val="D0E8DC"/>
            </a:solidFill>
            <a:prstDash val="solid"/>
          </a:ln>
        </p:spPr>
      </p:sp>
      <p:sp>
        <p:nvSpPr>
          <p:cNvPr id="27" name="Text 25"/>
          <p:cNvSpPr/>
          <p:nvPr/>
        </p:nvSpPr>
        <p:spPr>
          <a:xfrm>
            <a:off x="2423160" y="1773936"/>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VSO HashiCorp</a:t>
            </a:r>
            <a:endParaRPr lang="en-US" sz="1000" dirty="0"/>
          </a:p>
        </p:txBody>
      </p:sp>
      <p:sp>
        <p:nvSpPr>
          <p:cNvPr id="28" name="Shape 26"/>
          <p:cNvSpPr/>
          <p:nvPr/>
        </p:nvSpPr>
        <p:spPr>
          <a:xfrm>
            <a:off x="3977640" y="1773936"/>
            <a:ext cx="1737360" cy="457200"/>
          </a:xfrm>
          <a:prstGeom prst="rect">
            <a:avLst/>
          </a:prstGeom>
          <a:solidFill>
            <a:srgbClr val="F9FEFB"/>
          </a:solidFill>
          <a:ln w="12700">
            <a:solidFill>
              <a:srgbClr val="D0E8DC"/>
            </a:solidFill>
            <a:prstDash val="solid"/>
          </a:ln>
        </p:spPr>
      </p:sp>
      <p:sp>
        <p:nvSpPr>
          <p:cNvPr id="29" name="Text 27"/>
          <p:cNvSpPr/>
          <p:nvPr/>
        </p:nvSpPr>
        <p:spPr>
          <a:xfrm>
            <a:off x="3977640" y="1773936"/>
            <a:ext cx="1737360" cy="457200"/>
          </a:xfrm>
          <a:prstGeom prst="rect">
            <a:avLst/>
          </a:prstGeom>
          <a:noFill/>
          <a:ln/>
        </p:spPr>
        <p:txBody>
          <a:bodyPr wrap="square" lIns="0" tIns="0" rIns="0" bIns="0" rtlCol="0" anchor="ctr"/>
          <a:lstStyle/>
          <a:p>
            <a:pPr algn="ctr" indent="0" marL="0">
              <a:buNone/>
            </a:pPr>
            <a:r>
              <a:rPr lang="en-US" sz="1000" dirty="0">
                <a:solidFill>
                  <a:srgbClr val="1A1A1A"/>
                </a:solidFill>
              </a:rPr>
              <a:t>✓ Automatique</a:t>
            </a:r>
            <a:endParaRPr lang="en-US" sz="1000" dirty="0"/>
          </a:p>
        </p:txBody>
      </p:sp>
      <p:sp>
        <p:nvSpPr>
          <p:cNvPr id="30" name="Shape 28"/>
          <p:cNvSpPr/>
          <p:nvPr/>
        </p:nvSpPr>
        <p:spPr>
          <a:xfrm>
            <a:off x="5715000" y="1773936"/>
            <a:ext cx="1554480" cy="457200"/>
          </a:xfrm>
          <a:prstGeom prst="rect">
            <a:avLst/>
          </a:prstGeom>
          <a:solidFill>
            <a:srgbClr val="F9FEFB"/>
          </a:solidFill>
          <a:ln w="12700">
            <a:solidFill>
              <a:srgbClr val="D0E8DC"/>
            </a:solidFill>
            <a:prstDash val="solid"/>
          </a:ln>
        </p:spPr>
      </p:sp>
      <p:sp>
        <p:nvSpPr>
          <p:cNvPr id="31" name="Text 29"/>
          <p:cNvSpPr/>
          <p:nvPr/>
        </p:nvSpPr>
        <p:spPr>
          <a:xfrm>
            <a:off x="5715000" y="1773936"/>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Oui</a:t>
            </a:r>
            <a:endParaRPr lang="en-US" sz="1000" dirty="0"/>
          </a:p>
        </p:txBody>
      </p:sp>
      <p:sp>
        <p:nvSpPr>
          <p:cNvPr id="32" name="Shape 30"/>
          <p:cNvSpPr/>
          <p:nvPr/>
        </p:nvSpPr>
        <p:spPr>
          <a:xfrm>
            <a:off x="7269480" y="1773936"/>
            <a:ext cx="1645920" cy="457200"/>
          </a:xfrm>
          <a:prstGeom prst="rect">
            <a:avLst/>
          </a:prstGeom>
          <a:solidFill>
            <a:srgbClr val="F9FEFB"/>
          </a:solidFill>
          <a:ln w="12700">
            <a:solidFill>
              <a:srgbClr val="D0E8DC"/>
            </a:solidFill>
            <a:prstDash val="solid"/>
          </a:ln>
        </p:spPr>
      </p:sp>
      <p:sp>
        <p:nvSpPr>
          <p:cNvPr id="33" name="Text 31"/>
          <p:cNvSpPr/>
          <p:nvPr/>
        </p:nvSpPr>
        <p:spPr>
          <a:xfrm>
            <a:off x="7269480" y="1773936"/>
            <a:ext cx="1645920" cy="457200"/>
          </a:xfrm>
          <a:prstGeom prst="rect">
            <a:avLst/>
          </a:prstGeom>
          <a:noFill/>
          <a:ln/>
        </p:spPr>
        <p:txBody>
          <a:bodyPr wrap="square" lIns="0" tIns="0" rIns="0" bIns="0" rtlCol="0" anchor="ctr"/>
          <a:lstStyle/>
          <a:p>
            <a:pPr algn="ctr" indent="0" marL="0">
              <a:buNone/>
            </a:pPr>
            <a:r>
              <a:rPr lang="en-US" sz="1000" dirty="0">
                <a:solidFill>
                  <a:srgbClr val="1A1A1A"/>
                </a:solidFill>
              </a:rPr>
              <a:t>⭐⭐⭐</a:t>
            </a:r>
            <a:endParaRPr lang="en-US" sz="1000" dirty="0"/>
          </a:p>
        </p:txBody>
      </p:sp>
      <p:sp>
        <p:nvSpPr>
          <p:cNvPr id="34" name="Shape 32"/>
          <p:cNvSpPr/>
          <p:nvPr/>
        </p:nvSpPr>
        <p:spPr>
          <a:xfrm>
            <a:off x="228600" y="2286000"/>
            <a:ext cx="2194560" cy="457200"/>
          </a:xfrm>
          <a:prstGeom prst="rect">
            <a:avLst/>
          </a:prstGeom>
          <a:solidFill>
            <a:srgbClr val="FFFFFF"/>
          </a:solidFill>
          <a:ln w="12700">
            <a:solidFill>
              <a:srgbClr val="D0E8DC"/>
            </a:solidFill>
            <a:prstDash val="solid"/>
          </a:ln>
        </p:spPr>
      </p:sp>
      <p:sp>
        <p:nvSpPr>
          <p:cNvPr id="35" name="Text 33"/>
          <p:cNvSpPr/>
          <p:nvPr/>
        </p:nvSpPr>
        <p:spPr>
          <a:xfrm>
            <a:off x="228600" y="2286000"/>
            <a:ext cx="2194560" cy="457200"/>
          </a:xfrm>
          <a:prstGeom prst="rect">
            <a:avLst/>
          </a:prstGeom>
          <a:noFill/>
          <a:ln/>
        </p:spPr>
        <p:txBody>
          <a:bodyPr wrap="square" rtlCol="0" anchor="ctr"/>
          <a:lstStyle/>
          <a:p>
            <a:pPr algn="l" indent="0" marL="0">
              <a:buNone/>
            </a:pPr>
            <a:r>
              <a:rPr lang="en-US" sz="900" dirty="0">
                <a:solidFill>
                  <a:srgbClr val="1A1A1A"/>
                </a:solidFill>
              </a:rPr>
              <a:t>Vault Sidecar Injector</a:t>
            </a:r>
            <a:endParaRPr lang="en-US" sz="900" dirty="0"/>
          </a:p>
        </p:txBody>
      </p:sp>
      <p:sp>
        <p:nvSpPr>
          <p:cNvPr id="36" name="Shape 34"/>
          <p:cNvSpPr/>
          <p:nvPr/>
        </p:nvSpPr>
        <p:spPr>
          <a:xfrm>
            <a:off x="2423160" y="2286000"/>
            <a:ext cx="1554480" cy="457200"/>
          </a:xfrm>
          <a:prstGeom prst="rect">
            <a:avLst/>
          </a:prstGeom>
          <a:solidFill>
            <a:srgbClr val="FFFFFF"/>
          </a:solidFill>
          <a:ln w="12700">
            <a:solidFill>
              <a:srgbClr val="D0E8DC"/>
            </a:solidFill>
            <a:prstDash val="solid"/>
          </a:ln>
        </p:spPr>
      </p:sp>
      <p:sp>
        <p:nvSpPr>
          <p:cNvPr id="37" name="Text 35"/>
          <p:cNvSpPr/>
          <p:nvPr/>
        </p:nvSpPr>
        <p:spPr>
          <a:xfrm>
            <a:off x="2423160" y="2286000"/>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Agent Injector</a:t>
            </a:r>
            <a:endParaRPr lang="en-US" sz="1000" dirty="0"/>
          </a:p>
        </p:txBody>
      </p:sp>
      <p:sp>
        <p:nvSpPr>
          <p:cNvPr id="38" name="Shape 36"/>
          <p:cNvSpPr/>
          <p:nvPr/>
        </p:nvSpPr>
        <p:spPr>
          <a:xfrm>
            <a:off x="3977640" y="2286000"/>
            <a:ext cx="1737360" cy="457200"/>
          </a:xfrm>
          <a:prstGeom prst="rect">
            <a:avLst/>
          </a:prstGeom>
          <a:solidFill>
            <a:srgbClr val="FFFFFF"/>
          </a:solidFill>
          <a:ln w="12700">
            <a:solidFill>
              <a:srgbClr val="D0E8DC"/>
            </a:solidFill>
            <a:prstDash val="solid"/>
          </a:ln>
        </p:spPr>
      </p:sp>
      <p:sp>
        <p:nvSpPr>
          <p:cNvPr id="39" name="Text 37"/>
          <p:cNvSpPr/>
          <p:nvPr/>
        </p:nvSpPr>
        <p:spPr>
          <a:xfrm>
            <a:off x="3977640" y="2286000"/>
            <a:ext cx="1737360" cy="457200"/>
          </a:xfrm>
          <a:prstGeom prst="rect">
            <a:avLst/>
          </a:prstGeom>
          <a:noFill/>
          <a:ln/>
        </p:spPr>
        <p:txBody>
          <a:bodyPr wrap="square" lIns="0" tIns="0" rIns="0" bIns="0" rtlCol="0" anchor="ctr"/>
          <a:lstStyle/>
          <a:p>
            <a:pPr algn="ctr" indent="0" marL="0">
              <a:buNone/>
            </a:pPr>
            <a:r>
              <a:rPr lang="en-US" sz="1000" dirty="0">
                <a:solidFill>
                  <a:srgbClr val="1A1A1A"/>
                </a:solidFill>
              </a:rPr>
              <a:t>✓ Automatique</a:t>
            </a:r>
            <a:endParaRPr lang="en-US" sz="1000" dirty="0"/>
          </a:p>
        </p:txBody>
      </p:sp>
      <p:sp>
        <p:nvSpPr>
          <p:cNvPr id="40" name="Shape 38"/>
          <p:cNvSpPr/>
          <p:nvPr/>
        </p:nvSpPr>
        <p:spPr>
          <a:xfrm>
            <a:off x="5715000" y="2286000"/>
            <a:ext cx="1554480" cy="457200"/>
          </a:xfrm>
          <a:prstGeom prst="rect">
            <a:avLst/>
          </a:prstGeom>
          <a:solidFill>
            <a:srgbClr val="FFFFFF"/>
          </a:solidFill>
          <a:ln w="12700">
            <a:solidFill>
              <a:srgbClr val="D0E8DC"/>
            </a:solidFill>
            <a:prstDash val="solid"/>
          </a:ln>
        </p:spPr>
      </p:sp>
      <p:sp>
        <p:nvSpPr>
          <p:cNvPr id="41" name="Text 39"/>
          <p:cNvSpPr/>
          <p:nvPr/>
        </p:nvSpPr>
        <p:spPr>
          <a:xfrm>
            <a:off x="5715000" y="2286000"/>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MutatingWH</a:t>
            </a:r>
            <a:endParaRPr lang="en-US" sz="1000" dirty="0"/>
          </a:p>
        </p:txBody>
      </p:sp>
      <p:sp>
        <p:nvSpPr>
          <p:cNvPr id="42" name="Shape 40"/>
          <p:cNvSpPr/>
          <p:nvPr/>
        </p:nvSpPr>
        <p:spPr>
          <a:xfrm>
            <a:off x="7269480" y="2286000"/>
            <a:ext cx="1645920" cy="457200"/>
          </a:xfrm>
          <a:prstGeom prst="rect">
            <a:avLst/>
          </a:prstGeom>
          <a:solidFill>
            <a:srgbClr val="FFFFFF"/>
          </a:solidFill>
          <a:ln w="12700">
            <a:solidFill>
              <a:srgbClr val="D0E8DC"/>
            </a:solidFill>
            <a:prstDash val="solid"/>
          </a:ln>
        </p:spPr>
      </p:sp>
      <p:sp>
        <p:nvSpPr>
          <p:cNvPr id="43" name="Text 41"/>
          <p:cNvSpPr/>
          <p:nvPr/>
        </p:nvSpPr>
        <p:spPr>
          <a:xfrm>
            <a:off x="7269480" y="2286000"/>
            <a:ext cx="1645920" cy="457200"/>
          </a:xfrm>
          <a:prstGeom prst="rect">
            <a:avLst/>
          </a:prstGeom>
          <a:noFill/>
          <a:ln/>
        </p:spPr>
        <p:txBody>
          <a:bodyPr wrap="square" lIns="0" tIns="0" rIns="0" bIns="0" rtlCol="0" anchor="ctr"/>
          <a:lstStyle/>
          <a:p>
            <a:pPr algn="ctr" indent="0" marL="0">
              <a:buNone/>
            </a:pPr>
            <a:r>
              <a:rPr lang="en-US" sz="1000" dirty="0">
                <a:solidFill>
                  <a:srgbClr val="1A1A1A"/>
                </a:solidFill>
              </a:rPr>
              <a:t>⭐⭐</a:t>
            </a:r>
            <a:endParaRPr lang="en-US" sz="1000" dirty="0"/>
          </a:p>
        </p:txBody>
      </p:sp>
      <p:sp>
        <p:nvSpPr>
          <p:cNvPr id="44" name="Shape 42"/>
          <p:cNvSpPr/>
          <p:nvPr/>
        </p:nvSpPr>
        <p:spPr>
          <a:xfrm>
            <a:off x="228600" y="2798064"/>
            <a:ext cx="2194560" cy="457200"/>
          </a:xfrm>
          <a:prstGeom prst="rect">
            <a:avLst/>
          </a:prstGeom>
          <a:solidFill>
            <a:srgbClr val="FFFBEA"/>
          </a:solidFill>
          <a:ln w="12700">
            <a:solidFill>
              <a:srgbClr val="D0E8DC"/>
            </a:solidFill>
            <a:prstDash val="solid"/>
          </a:ln>
        </p:spPr>
      </p:sp>
      <p:sp>
        <p:nvSpPr>
          <p:cNvPr id="45" name="Text 43"/>
          <p:cNvSpPr/>
          <p:nvPr/>
        </p:nvSpPr>
        <p:spPr>
          <a:xfrm>
            <a:off x="228600" y="2798064"/>
            <a:ext cx="2194560" cy="457200"/>
          </a:xfrm>
          <a:prstGeom prst="rect">
            <a:avLst/>
          </a:prstGeom>
          <a:noFill/>
          <a:ln/>
        </p:spPr>
        <p:txBody>
          <a:bodyPr wrap="square" rtlCol="0" anchor="ctr"/>
          <a:lstStyle/>
          <a:p>
            <a:pPr algn="l" indent="0" marL="0">
              <a:buNone/>
            </a:pPr>
            <a:r>
              <a:rPr lang="en-US" sz="900" b="1" dirty="0">
                <a:solidFill>
                  <a:srgbClr val="C8992B"/>
                </a:solidFill>
              </a:rPr>
              <a:t>Init Container + CronJob ★</a:t>
            </a:r>
            <a:endParaRPr lang="en-US" sz="900" dirty="0"/>
          </a:p>
        </p:txBody>
      </p:sp>
      <p:sp>
        <p:nvSpPr>
          <p:cNvPr id="46" name="Shape 44"/>
          <p:cNvSpPr/>
          <p:nvPr/>
        </p:nvSpPr>
        <p:spPr>
          <a:xfrm>
            <a:off x="2423160" y="2798064"/>
            <a:ext cx="1554480" cy="457200"/>
          </a:xfrm>
          <a:prstGeom prst="rect">
            <a:avLst/>
          </a:prstGeom>
          <a:solidFill>
            <a:srgbClr val="FFFBEA"/>
          </a:solidFill>
          <a:ln w="12700">
            <a:solidFill>
              <a:srgbClr val="D0E8DC"/>
            </a:solidFill>
            <a:prstDash val="solid"/>
          </a:ln>
        </p:spPr>
      </p:sp>
      <p:sp>
        <p:nvSpPr>
          <p:cNvPr id="47" name="Text 45"/>
          <p:cNvSpPr/>
          <p:nvPr/>
        </p:nvSpPr>
        <p:spPr>
          <a:xfrm>
            <a:off x="2423160" y="2798064"/>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Aucun</a:t>
            </a:r>
            <a:endParaRPr lang="en-US" sz="1000" dirty="0"/>
          </a:p>
        </p:txBody>
      </p:sp>
      <p:sp>
        <p:nvSpPr>
          <p:cNvPr id="48" name="Shape 46"/>
          <p:cNvSpPr/>
          <p:nvPr/>
        </p:nvSpPr>
        <p:spPr>
          <a:xfrm>
            <a:off x="3977640" y="2798064"/>
            <a:ext cx="1737360" cy="457200"/>
          </a:xfrm>
          <a:prstGeom prst="rect">
            <a:avLst/>
          </a:prstGeom>
          <a:solidFill>
            <a:srgbClr val="FFFBEA"/>
          </a:solidFill>
          <a:ln w="12700">
            <a:solidFill>
              <a:srgbClr val="D0E8DC"/>
            </a:solidFill>
            <a:prstDash val="solid"/>
          </a:ln>
        </p:spPr>
      </p:sp>
      <p:sp>
        <p:nvSpPr>
          <p:cNvPr id="49" name="Text 47"/>
          <p:cNvSpPr/>
          <p:nvPr/>
        </p:nvSpPr>
        <p:spPr>
          <a:xfrm>
            <a:off x="3977640" y="2798064"/>
            <a:ext cx="1737360" cy="457200"/>
          </a:xfrm>
          <a:prstGeom prst="rect">
            <a:avLst/>
          </a:prstGeom>
          <a:noFill/>
          <a:ln/>
        </p:spPr>
        <p:txBody>
          <a:bodyPr wrap="square" lIns="0" tIns="0" rIns="0" bIns="0" rtlCol="0" anchor="ctr"/>
          <a:lstStyle/>
          <a:p>
            <a:pPr algn="ctr" indent="0" marL="0">
              <a:buNone/>
            </a:pPr>
            <a:r>
              <a:rPr lang="en-US" sz="1000" dirty="0">
                <a:solidFill>
                  <a:srgbClr val="1A1A1A"/>
                </a:solidFill>
              </a:rPr>
              <a:t>✓ CronJob shell</a:t>
            </a:r>
            <a:endParaRPr lang="en-US" sz="1000" dirty="0"/>
          </a:p>
        </p:txBody>
      </p:sp>
      <p:sp>
        <p:nvSpPr>
          <p:cNvPr id="50" name="Shape 48"/>
          <p:cNvSpPr/>
          <p:nvPr/>
        </p:nvSpPr>
        <p:spPr>
          <a:xfrm>
            <a:off x="5715000" y="2798064"/>
            <a:ext cx="1554480" cy="457200"/>
          </a:xfrm>
          <a:prstGeom prst="rect">
            <a:avLst/>
          </a:prstGeom>
          <a:solidFill>
            <a:srgbClr val="FFFBEA"/>
          </a:solidFill>
          <a:ln w="12700">
            <a:solidFill>
              <a:srgbClr val="D0E8DC"/>
            </a:solidFill>
            <a:prstDash val="solid"/>
          </a:ln>
        </p:spPr>
      </p:sp>
      <p:sp>
        <p:nvSpPr>
          <p:cNvPr id="51" name="Text 49"/>
          <p:cNvSpPr/>
          <p:nvPr/>
        </p:nvSpPr>
        <p:spPr>
          <a:xfrm>
            <a:off x="5715000" y="2798064"/>
            <a:ext cx="1554480" cy="457200"/>
          </a:xfrm>
          <a:prstGeom prst="rect">
            <a:avLst/>
          </a:prstGeom>
          <a:noFill/>
          <a:ln/>
        </p:spPr>
        <p:txBody>
          <a:bodyPr wrap="square" lIns="0" tIns="0" rIns="0" bIns="0" rtlCol="0" anchor="ctr"/>
          <a:lstStyle/>
          <a:p>
            <a:pPr algn="ctr" indent="0" marL="0">
              <a:buNone/>
            </a:pPr>
            <a:r>
              <a:rPr lang="en-US" sz="1000" dirty="0">
                <a:solidFill>
                  <a:srgbClr val="1A1A1A"/>
                </a:solidFill>
              </a:rPr>
              <a:t>✓ Natif OCP</a:t>
            </a:r>
            <a:endParaRPr lang="en-US" sz="1000" dirty="0"/>
          </a:p>
        </p:txBody>
      </p:sp>
      <p:sp>
        <p:nvSpPr>
          <p:cNvPr id="52" name="Shape 50"/>
          <p:cNvSpPr/>
          <p:nvPr/>
        </p:nvSpPr>
        <p:spPr>
          <a:xfrm>
            <a:off x="7269480" y="2798064"/>
            <a:ext cx="1645920" cy="457200"/>
          </a:xfrm>
          <a:prstGeom prst="rect">
            <a:avLst/>
          </a:prstGeom>
          <a:solidFill>
            <a:srgbClr val="FFFBEA"/>
          </a:solidFill>
          <a:ln w="12700">
            <a:solidFill>
              <a:srgbClr val="D0E8DC"/>
            </a:solidFill>
            <a:prstDash val="solid"/>
          </a:ln>
        </p:spPr>
      </p:sp>
      <p:sp>
        <p:nvSpPr>
          <p:cNvPr id="53" name="Text 51"/>
          <p:cNvSpPr/>
          <p:nvPr/>
        </p:nvSpPr>
        <p:spPr>
          <a:xfrm>
            <a:off x="7269480" y="2798064"/>
            <a:ext cx="1645920" cy="457200"/>
          </a:xfrm>
          <a:prstGeom prst="rect">
            <a:avLst/>
          </a:prstGeom>
          <a:noFill/>
          <a:ln/>
        </p:spPr>
        <p:txBody>
          <a:bodyPr wrap="square" lIns="0" tIns="0" rIns="0" bIns="0" rtlCol="0" anchor="ctr"/>
          <a:lstStyle/>
          <a:p>
            <a:pPr algn="ctr" indent="0" marL="0">
              <a:buNone/>
            </a:pPr>
            <a:r>
              <a:rPr lang="en-US" sz="1000" dirty="0">
                <a:solidFill>
                  <a:srgbClr val="1A1A1A"/>
                </a:solidFill>
              </a:rPr>
              <a:t>⭐⭐⭐⭐⭐</a:t>
            </a:r>
            <a:endParaRPr lang="en-US" sz="1000" dirty="0"/>
          </a:p>
        </p:txBody>
      </p:sp>
      <p:sp>
        <p:nvSpPr>
          <p:cNvPr id="54" name="Shape 52"/>
          <p:cNvSpPr/>
          <p:nvPr/>
        </p:nvSpPr>
        <p:spPr>
          <a:xfrm>
            <a:off x="228600" y="2798064"/>
            <a:ext cx="45720" cy="457200"/>
          </a:xfrm>
          <a:prstGeom prst="rect">
            <a:avLst/>
          </a:prstGeom>
          <a:solidFill>
            <a:srgbClr val="C8992B"/>
          </a:solidFill>
          <a:ln w="12700">
            <a:solidFill>
              <a:srgbClr val="C8992B"/>
            </a:solidFill>
            <a:prstDash val="solid"/>
          </a:ln>
        </p:spPr>
      </p:sp>
      <p:sp>
        <p:nvSpPr>
          <p:cNvPr id="55" name="Shape 53"/>
          <p:cNvSpPr/>
          <p:nvPr/>
        </p:nvSpPr>
        <p:spPr>
          <a:xfrm>
            <a:off x="228600" y="3383280"/>
            <a:ext cx="8686800" cy="1325880"/>
          </a:xfrm>
          <a:prstGeom prst="rect">
            <a:avLst/>
          </a:prstGeom>
          <a:solidFill>
            <a:srgbClr val="00915A"/>
          </a:solidFill>
          <a:ln w="12700">
            <a:solidFill>
              <a:srgbClr val="00915A"/>
            </a:solidFill>
            <a:prstDash val="solid"/>
          </a:ln>
          <a:effectLst>
            <a:outerShdw sx="100000" sy="100000" kx="0" ky="0" algn="bl" rotWithShape="0" blurRad="101600" dist="38100" dir="8100000">
              <a:srgbClr val="000000">
                <a:alpha val="10000"/>
              </a:srgbClr>
            </a:outerShdw>
          </a:effectLst>
        </p:spPr>
      </p:sp>
      <p:sp>
        <p:nvSpPr>
          <p:cNvPr id="56" name="Text 54"/>
          <p:cNvSpPr/>
          <p:nvPr/>
        </p:nvSpPr>
        <p:spPr>
          <a:xfrm>
            <a:off x="411480" y="3438144"/>
            <a:ext cx="7315200" cy="292608"/>
          </a:xfrm>
          <a:prstGeom prst="rect">
            <a:avLst/>
          </a:prstGeom>
          <a:noFill/>
          <a:ln/>
        </p:spPr>
        <p:txBody>
          <a:bodyPr wrap="square" lIns="0" tIns="0" rIns="0" bIns="0" rtlCol="0" anchor="ctr"/>
          <a:lstStyle/>
          <a:p>
            <a:pPr indent="0" marL="0">
              <a:buNone/>
            </a:pPr>
            <a:r>
              <a:rPr lang="en-US" sz="1200" b="1" dirty="0">
                <a:solidFill>
                  <a:srgbClr val="C8992B"/>
                </a:solidFill>
              </a:rPr>
              <a:t>★  Recommandation BNP Paribas / ROKS</a:t>
            </a:r>
            <a:endParaRPr lang="en-US" sz="1200" dirty="0"/>
          </a:p>
        </p:txBody>
      </p:sp>
      <p:sp>
        <p:nvSpPr>
          <p:cNvPr id="57" name="Shape 55"/>
          <p:cNvSpPr/>
          <p:nvPr/>
        </p:nvSpPr>
        <p:spPr>
          <a:xfrm>
            <a:off x="411480" y="3794760"/>
            <a:ext cx="128016" cy="128016"/>
          </a:xfrm>
          <a:prstGeom prst="ellipse">
            <a:avLst/>
          </a:prstGeom>
          <a:solidFill>
            <a:srgbClr val="C8992B"/>
          </a:solidFill>
          <a:ln w="12700">
            <a:solidFill>
              <a:srgbClr val="C8992B"/>
            </a:solidFill>
            <a:prstDash val="solid"/>
          </a:ln>
        </p:spPr>
      </p:sp>
      <p:sp>
        <p:nvSpPr>
          <p:cNvPr id="58" name="Text 56"/>
          <p:cNvSpPr/>
          <p:nvPr/>
        </p:nvSpPr>
        <p:spPr>
          <a:xfrm>
            <a:off x="603504" y="3776472"/>
            <a:ext cx="8229600" cy="237744"/>
          </a:xfrm>
          <a:prstGeom prst="rect">
            <a:avLst/>
          </a:prstGeom>
          <a:noFill/>
          <a:ln/>
        </p:spPr>
        <p:txBody>
          <a:bodyPr wrap="square" lIns="0" tIns="0" rIns="0" bIns="0" rtlCol="0" anchor="ctr"/>
          <a:lstStyle/>
          <a:p>
            <a:pPr indent="0" marL="0">
              <a:buNone/>
            </a:pPr>
            <a:r>
              <a:rPr lang="en-US" sz="900" dirty="0">
                <a:solidFill>
                  <a:srgbClr val="D4EDE0"/>
                </a:solidFill>
              </a:rPr>
              <a:t>Pattern Init Container + CronJob : aucun operator tiers, contrôle total du cycle de vie, compatible SCCs OpenShift restrictives.</a:t>
            </a:r>
            <a:endParaRPr lang="en-US" sz="900" dirty="0"/>
          </a:p>
        </p:txBody>
      </p:sp>
      <p:sp>
        <p:nvSpPr>
          <p:cNvPr id="59" name="Shape 57"/>
          <p:cNvSpPr/>
          <p:nvPr/>
        </p:nvSpPr>
        <p:spPr>
          <a:xfrm>
            <a:off x="411480" y="4087368"/>
            <a:ext cx="128016" cy="128016"/>
          </a:xfrm>
          <a:prstGeom prst="ellipse">
            <a:avLst/>
          </a:prstGeom>
          <a:solidFill>
            <a:srgbClr val="C8992B"/>
          </a:solidFill>
          <a:ln w="12700">
            <a:solidFill>
              <a:srgbClr val="C8992B"/>
            </a:solidFill>
            <a:prstDash val="solid"/>
          </a:ln>
        </p:spPr>
      </p:sp>
      <p:sp>
        <p:nvSpPr>
          <p:cNvPr id="60" name="Text 58"/>
          <p:cNvSpPr/>
          <p:nvPr/>
        </p:nvSpPr>
        <p:spPr>
          <a:xfrm>
            <a:off x="603504" y="4069080"/>
            <a:ext cx="8229600" cy="237744"/>
          </a:xfrm>
          <a:prstGeom prst="rect">
            <a:avLst/>
          </a:prstGeom>
          <a:noFill/>
          <a:ln/>
        </p:spPr>
        <p:txBody>
          <a:bodyPr wrap="square" lIns="0" tIns="0" rIns="0" bIns="0" rtlCol="0" anchor="ctr"/>
          <a:lstStyle/>
          <a:p>
            <a:pPr indent="0" marL="0">
              <a:buNone/>
            </a:pPr>
            <a:r>
              <a:rPr lang="en-US" sz="900" dirty="0">
                <a:solidFill>
                  <a:srgbClr val="D4EDE0"/>
                </a:solidFill>
              </a:rPr>
              <a:t>Associer au Sidecar Nginx pour la terminaison TLS Re-encrypt : isolation, performance, zéro impact sur le code applicatif.</a:t>
            </a:r>
            <a:endParaRPr lang="en-US" sz="900" dirty="0"/>
          </a:p>
        </p:txBody>
      </p:sp>
      <p:sp>
        <p:nvSpPr>
          <p:cNvPr id="61" name="Shape 59"/>
          <p:cNvSpPr/>
          <p:nvPr/>
        </p:nvSpPr>
        <p:spPr>
          <a:xfrm>
            <a:off x="411480" y="4379976"/>
            <a:ext cx="128016" cy="128016"/>
          </a:xfrm>
          <a:prstGeom prst="ellipse">
            <a:avLst/>
          </a:prstGeom>
          <a:solidFill>
            <a:srgbClr val="C8992B"/>
          </a:solidFill>
          <a:ln w="12700">
            <a:solidFill>
              <a:srgbClr val="C8992B"/>
            </a:solidFill>
            <a:prstDash val="solid"/>
          </a:ln>
        </p:spPr>
      </p:sp>
      <p:sp>
        <p:nvSpPr>
          <p:cNvPr id="62" name="Text 60"/>
          <p:cNvSpPr/>
          <p:nvPr/>
        </p:nvSpPr>
        <p:spPr>
          <a:xfrm>
            <a:off x="603504" y="4361688"/>
            <a:ext cx="8229600" cy="237744"/>
          </a:xfrm>
          <a:prstGeom prst="rect">
            <a:avLst/>
          </a:prstGeom>
          <a:noFill/>
          <a:ln/>
        </p:spPr>
        <p:txBody>
          <a:bodyPr wrap="square" lIns="0" tIns="0" rIns="0" bIns="0" rtlCol="0" anchor="ctr"/>
          <a:lstStyle/>
          <a:p>
            <a:pPr indent="0" marL="0">
              <a:buNone/>
            </a:pPr>
            <a:r>
              <a:rPr lang="en-US" sz="900" dirty="0">
                <a:solidFill>
                  <a:srgbClr val="D4EDE0"/>
                </a:solidFill>
              </a:rPr>
              <a:t>CronJob de renouvellement déclenché 30 jours avant expiration → oc rollout restart → Init Container re-récupère le certificat.</a:t>
            </a:r>
            <a:endParaRPr lang="en-US" sz="900" dirty="0"/>
          </a:p>
        </p:txBody>
      </p:sp>
      <p:sp>
        <p:nvSpPr>
          <p:cNvPr id="63" name="Shape 61"/>
          <p:cNvSpPr/>
          <p:nvPr/>
        </p:nvSpPr>
        <p:spPr>
          <a:xfrm>
            <a:off x="0" y="4846320"/>
            <a:ext cx="9144000" cy="297180"/>
          </a:xfrm>
          <a:prstGeom prst="rect">
            <a:avLst/>
          </a:prstGeom>
          <a:solidFill>
            <a:srgbClr val="00915A"/>
          </a:solidFill>
          <a:ln w="12700">
            <a:solidFill>
              <a:srgbClr val="00915A"/>
            </a:solidFill>
            <a:prstDash val="solid"/>
          </a:ln>
        </p:spPr>
      </p:sp>
      <p:sp>
        <p:nvSpPr>
          <p:cNvPr id="64" name="Text 62"/>
          <p:cNvSpPr/>
          <p:nvPr/>
        </p:nvSpPr>
        <p:spPr>
          <a:xfrm>
            <a:off x="182880" y="4846320"/>
            <a:ext cx="8778240" cy="297180"/>
          </a:xfrm>
          <a:prstGeom prst="rect">
            <a:avLst/>
          </a:prstGeom>
          <a:noFill/>
          <a:ln/>
        </p:spPr>
        <p:txBody>
          <a:bodyPr wrap="square" lIns="0" tIns="0" rIns="0" bIns="0" rtlCol="0" anchor="ctr"/>
          <a:lstStyle/>
          <a:p>
            <a:pPr indent="0" marL="0">
              <a:buNone/>
            </a:pPr>
            <a:r>
              <a:rPr lang="en-US" sz="800" dirty="0">
                <a:solidFill>
                  <a:srgbClr val="A8D5C4"/>
                </a:solidFill>
              </a:rPr>
              <a:t>BNP PARIBAS  |  Vault PKI  |  2026  |  Page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Contraintes validation sécurité">
    <p:bg>
      <p:bgPr>
        <a:solidFill>
          <a:srgbClr val="F7FAFA"/>
        </a:solidFill>
        <a:effectLst/>
      </p:bgPr>
    </p:bg>
    <p:spTree>
      <p:nvGrpSpPr>
        <p:cNvPr id="1" name=""/>
        <p:cNvGrpSpPr/>
        <p:nvPr/>
      </p:nvGrpSpPr>
      <p:grpSpPr>
        <a:xfrm>
          <a:off x="0" y="0"/>
          <a:ext cx="0" cy="0"/>
          <a:chOff x="0" y="0"/>
          <a:chExt cx="0" cy="0"/>
        </a:xfrm>
      </p:grpSpPr>
      <p:sp>
        <p:nvSpPr>
          <p:cNvPr id="2" name="header-bg"/>
          <p:cNvSpPr>
            <a:spLocks noGrp="1"/>
          </p:cNvSpPr>
          <p:nvPr/>
        </p:nvSpPr>
        <p:spPr>
          <a:xfrm>
            <a:off x="0" y="0"/>
            <a:ext cx="9144000" cy="822960"/>
          </a:xfrm>
          <a:prstGeom prst="rect">
            <a:avLst/>
          </a:prstGeom>
          <a:solidFill>
            <a:srgbClr val="B03A2E"/>
          </a:solidFill>
          <a:ln>
            <a:solidFill>
              <a:srgbClr val="B03A2E"/>
            </a:solidFill>
          </a:ln>
        </p:spPr>
        <p:txBody>
          <a:bodyPr/>
          <a:lstStyle/>
          <a:p/>
        </p:txBody>
      </p:sp>
      <p:sp>
        <p:nvSpPr>
          <p:cNvPr id="3" name="header-title"/>
          <p:cNvSpPr>
            <a:spLocks noGrp="1"/>
          </p:cNvSpPr>
          <p:nvPr/>
        </p:nvSpPr>
        <p:spPr>
          <a:xfrm>
            <a:off x="365760" y="0"/>
            <a:ext cx="7315200" cy="822960"/>
          </a:xfrm>
          <a:prstGeom prst="rect">
            <a:avLst/>
          </a:prstGeom>
          <a:noFill/>
        </p:spPr>
        <p:txBody>
          <a:bodyPr anchor="ctr"/>
          <a:lstStyle/>
          <a:p>
            <a:r>
              <a:rPr lang="fr-FR" sz="2200" b="1" dirty="0">
                <a:solidFill>
                  <a:srgbClr val="FFFFFF"/>
                </a:solidFill>
              </a:rPr>
              <a:t>⚠  Contraintes de validation sécurité</a:t>
            </a:r>
          </a:p>
        </p:txBody>
      </p:sp>
      <p:sp>
        <p:nvSpPr>
          <p:cNvPr id="4" name="slide-num"/>
          <p:cNvSpPr>
            <a:spLocks noGrp="1"/>
          </p:cNvSpPr>
          <p:nvPr/>
        </p:nvSpPr>
        <p:spPr>
          <a:xfrm>
            <a:off x="7680960" y="137160"/>
            <a:ext cx="822960" cy="457200"/>
          </a:xfrm>
          <a:prstGeom prst="rect">
            <a:avLst/>
          </a:prstGeom>
          <a:noFill/>
        </p:spPr>
        <p:txBody>
          <a:bodyPr anchor="ctr"/>
          <a:lstStyle/>
          <a:p>
            <a:pPr algn="r"/>
            <a:r>
              <a:rPr lang="fr-FR" sz="2800" b="1" dirty="0">
                <a:solidFill>
                  <a:srgbClr val="FF9999" lumMod="75000" lumOff="25000"/>
                </a:solidFill>
              </a:rPr>
              <a:t>03</a:t>
            </a:r>
          </a:p>
        </p:txBody>
      </p:sp>
      <p:sp>
        <p:nvSpPr>
          <p:cNvPr id="5" name="alert-box-bg"/>
          <p:cNvSpPr>
            <a:spLocks noGrp="1"/>
          </p:cNvSpPr>
          <p:nvPr/>
        </p:nvSpPr>
        <p:spPr>
          <a:xfrm>
            <a:off x="274320" y="960120"/>
            <a:ext cx="8595360" cy="548640"/>
          </a:xfrm>
          <a:prstGeom prst="rect">
            <a:avLst/>
          </a:prstGeom>
          <a:solidFill>
            <a:srgbClr val="FDEDEC"/>
          </a:solidFill>
          <a:ln w="19050">
            <a:solidFill>
              <a:srgbClr val="B03A2E"/>
            </a:solidFill>
          </a:ln>
          <a:effectLst>
            <a:outerShdw blurRad="76200" dist="38100" dir="13500000" algn="tl" rotWithShape="0">
              <a:srgbClr val="000000">
                <a:alpha val="10000"/>
              </a:srgbClr>
            </a:outerShdw>
          </a:effectLst>
        </p:spPr>
        <p:txBody>
          <a:bodyPr/>
          <a:lstStyle/>
          <a:p/>
        </p:txBody>
      </p:sp>
      <p:sp>
        <p:nvSpPr>
          <p:cNvPr id="6" name="alert-left-bar"/>
          <p:cNvSpPr>
            <a:spLocks noGrp="1"/>
          </p:cNvSpPr>
          <p:nvPr/>
        </p:nvSpPr>
        <p:spPr>
          <a:xfrm>
            <a:off x="274320" y="960120"/>
            <a:ext cx="57150" cy="548640"/>
          </a:xfrm>
          <a:prstGeom prst="rect">
            <a:avLst/>
          </a:prstGeom>
          <a:solidFill>
            <a:srgbClr val="B03A2E"/>
          </a:solidFill>
          <a:ln>
            <a:solidFill>
              <a:srgbClr val="B03A2E"/>
            </a:solidFill>
          </a:ln>
        </p:spPr>
        <p:txBody>
          <a:bodyPr/>
          <a:lstStyle/>
          <a:p/>
        </p:txBody>
      </p:sp>
      <p:sp>
        <p:nvSpPr>
          <p:cNvPr id="7" name="alert-text"/>
          <p:cNvSpPr>
            <a:spLocks noGrp="1"/>
          </p:cNvSpPr>
          <p:nvPr/>
        </p:nvSpPr>
        <p:spPr>
          <a:xfrm>
            <a:off x="411480" y="960120"/>
            <a:ext cx="8389440" cy="548640"/>
          </a:xfrm>
          <a:prstGeom prst="rect">
            <a:avLst/>
          </a:prstGeom>
          <a:noFill/>
        </p:spPr>
        <p:txBody>
          <a:bodyPr anchor="ctr"/>
          <a:lstStyle/>
          <a:p>
            <a:r>
              <a:rPr lang="fr-FR" sz="1200" b="1" dirty="0">
                <a:solidFill>
                  <a:srgbClr val="B03A2E"/>
                </a:solidFill>
              </a:rPr>
              <a:t>cert-manager + Vault Issuer  et  Vault Secrets Operator (VSO)</a:t>
            </a:r>
            <a:r>
              <a:rPr lang="fr-FR" sz="1200" b="0" dirty="0">
                <a:solidFill>
                  <a:srgbClr val="5D2018"/>
                </a:solidFill>
              </a:rPr>
              <a:t xml:space="preserve">  sont actuellement en cours de validation par l’équipe Sécurité BNP Paribas.</a:t>
            </a:r>
          </a:p>
          <a:p>
            <a:r>
              <a:rPr lang="fr-FR" sz="1100" b="0" dirty="0">
                <a:solidFill>
                  <a:srgbClr val="7B241C"/>
                </a:solidFill>
              </a:rPr>
              <a:t>Ces deux solutions ne sont pas encore approuvées pour utilisation en production sur les clusters ROKS / OpenShift BNP Paribas.</a:t>
            </a:r>
          </a:p>
        </p:txBody>
      </p:sp>
      <p:sp>
        <p:nvSpPr>
          <p:cNvPr id="10" name="cm-card-bg"/>
          <p:cNvSpPr>
            <a:spLocks noGrp="1"/>
          </p:cNvSpPr>
          <p:nvPr/>
        </p:nvSpPr>
        <p:spPr>
          <a:xfrm>
            <a:off x="274320" y="1600200"/>
            <a:ext cx="4206240" cy="2743200"/>
          </a:xfrm>
          <a:prstGeom prst="rect">
            <a:avLst/>
          </a:prstGeom>
          <a:solidFill>
            <a:srgbClr val="FFFFFF"/>
          </a:solidFill>
          <a:ln w="9525">
            <a:solidFill>
              <a:srgbClr val="DDEAE8"/>
            </a:solidFill>
          </a:ln>
          <a:effectLst>
            <a:outerShdw blurRad="76200" dist="38100" dir="13500000" algn="tl" rotWithShape="0">
              <a:srgbClr val="000000">
                <a:alpha val="10000"/>
              </a:srgbClr>
            </a:outerShdw>
          </a:effectLst>
        </p:spPr>
        <p:txBody>
          <a:bodyPr/>
          <a:lstStyle/>
          <a:p/>
        </p:txBody>
      </p:sp>
      <p:sp>
        <p:nvSpPr>
          <p:cNvPr id="11" name="cm-header"/>
          <p:cNvSpPr>
            <a:spLocks noGrp="1"/>
          </p:cNvSpPr>
          <p:nvPr/>
        </p:nvSpPr>
        <p:spPr>
          <a:xfrm>
            <a:off x="274320" y="1600200"/>
            <a:ext cx="4206240" cy="411480"/>
          </a:xfrm>
          <a:prstGeom prst="rect">
            <a:avLst/>
          </a:prstGeom>
          <a:solidFill>
            <a:srgbClr val="7D6608"/>
          </a:solidFill>
          <a:ln>
            <a:solidFill>
              <a:srgbClr val="7D6608"/>
            </a:solidFill>
          </a:ln>
        </p:spPr>
        <p:txBody>
          <a:bodyPr anchor="ctr"/>
          <a:lstStyle/>
          <a:p>
            <a:pPr marL="91440"/>
            <a:r>
              <a:rPr lang="fr-FR" sz="1300" b="1" dirty="0">
                <a:solidFill>
                  <a:srgbClr val="FFFFFF"/>
                </a:solidFill>
              </a:rPr>
              <a:t>🏅  cert-manager + Vault Issuer</a:t>
            </a:r>
          </a:p>
        </p:txBody>
      </p:sp>
      <p:sp>
        <p:nvSpPr>
          <p:cNvPr id="12" name="cm-status"/>
          <p:cNvSpPr>
            <a:spLocks noGrp="1"/>
          </p:cNvSpPr>
          <p:nvPr/>
        </p:nvSpPr>
        <p:spPr>
          <a:xfrm>
            <a:off x="2743200" y="1646280"/>
            <a:ext cx="1645560" cy="274320"/>
          </a:xfrm>
          <a:prstGeom prst="rect">
            <a:avLst/>
          </a:prstGeom>
          <a:solidFill>
            <a:srgbClr val="F39C12"/>
          </a:solidFill>
          <a:ln>
            <a:solidFill>
              <a:srgbClr val="F39C12"/>
            </a:solidFill>
          </a:ln>
        </p:spPr>
        <p:txBody>
          <a:bodyPr anchor="ctr"/>
          <a:lstStyle/>
          <a:p>
            <a:pPr algn="ctr"/>
            <a:r>
              <a:rPr lang="fr-FR" sz="900" b="1" dirty="0">
                <a:solidFill>
                  <a:srgbClr val="FFFFFF"/>
                </a:solidFill>
              </a:rPr>
              <a:t>⏳  EN COURS DE VALIDATION</a:t>
            </a:r>
          </a:p>
        </p:txBody>
      </p:sp>
      <p:sp>
        <p:nvSpPr>
          <p:cNvPr id="13" name="cm-body"/>
          <p:cNvSpPr>
            <a:spLocks noGrp="1"/>
          </p:cNvSpPr>
          <p:nvPr/>
        </p:nvSpPr>
        <p:spPr>
          <a:xfrm>
            <a:off x="365760" y="2057400"/>
            <a:ext cx="4023360" cy="2194560"/>
          </a:xfrm>
          <a:prstGeom prst="rect">
            <a:avLst/>
          </a:prstGeom>
          <a:noFill/>
        </p:spPr>
        <p:txBody>
          <a:bodyPr/>
          <a:lstStyle/>
          <a:p>
            <a:r>
              <a:rPr lang="fr-FR" sz="1000" b="1" dirty="0">
                <a:solidFill>
                  <a:srgbClr val="B03A2E"/>
                </a:solidFill>
              </a:rPr>
              <a:t>Problématique identifiée :</a:t>
            </a:r>
          </a:p>
          <a:p>
            <a:r>
              <a:rPr lang="fr-FR" sz="1000" b="0" dirty="0">
                <a:solidFill>
                  <a:srgbClr val="1A1A1A"/>
                </a:solidFill>
              </a:rPr>
              <a:t xml:space="preserve">cert-manager stocke les certificats TLS dans des </a:t>
            </a:r>
            <a:r>
              <a:rPr lang="fr-FR" sz="1000" b="1" dirty="0">
                <a:solidFill>
                  <a:srgbClr val="B03A2E"/>
                </a:solidFill>
              </a:rPr>
              <a:t>Secrets Kubernetes</a:t>
            </a:r>
            <a:r>
              <a:rPr lang="fr-FR" sz="1000" b="0" dirty="0">
                <a:solidFill>
                  <a:srgbClr val="1A1A1A"/>
                </a:solidFill>
              </a:rPr>
              <a:t xml:space="preserve"> de type TLS (kind: Secret). La clé privée est persistante en base64 dans etcd.</a:t>
            </a:r>
          </a:p>
          <a:p>
            <a:r>
              <a:rPr lang="fr-FR" sz="900" dirty="0"/>
              <a:t/>
            </a:r>
          </a:p>
          <a:p>
            <a:r>
              <a:rPr lang="fr-FR" sz="1000" b="1" dirty="0">
                <a:solidFill>
                  <a:srgbClr val="1A6B3A"/>
                </a:solidFill>
              </a:rPr>
              <a:t>Points sous évaluation Sécurité :</a:t>
            </a:r>
          </a:p>
          <a:p>
            <a:r>
              <a:rPr lang="fr-FR" sz="950" b="0" dirty="0">
                <a:solidFill>
                  <a:srgbClr val="3D3D3D"/>
                </a:solidFill>
              </a:rPr>
              <a:t>•  Chiffrement des Secrets etcd (encryption at rest)</a:t>
            </a:r>
          </a:p>
          <a:p>
            <a:r>
              <a:rPr lang="fr-FR" sz="950" b="0" dirty="0">
                <a:solidFill>
                  <a:srgbClr val="3D3D3D"/>
                </a:solidFill>
              </a:rPr>
              <a:t>•  RBAC sur les Secrets : qui peut lire la clé privée ?</a:t>
            </a:r>
          </a:p>
          <a:p>
            <a:r>
              <a:rPr lang="fr-FR" sz="950" b="0" dirty="0">
                <a:solidFill>
                  <a:srgbClr val="3D3D3D"/>
                </a:solidFill>
              </a:rPr>
              <a:t>•  Audit trail de l’accès aux clés privées dans K8s</a:t>
            </a:r>
          </a:p>
          <a:p>
            <a:r>
              <a:rPr lang="fr-FR" sz="950" b="0" dirty="0">
                <a:solidFill>
                  <a:srgbClr val="3D3D3D"/>
                </a:solidFill>
              </a:rPr>
              <a:t>•  Conformité politique BNP sur la gestion des secrets</a:t>
            </a:r>
          </a:p>
        </p:txBody>
      </p:sp>
      <p:sp>
        <p:nvSpPr>
          <p:cNvPr id="20" name="vso-card-bg"/>
          <p:cNvSpPr>
            <a:spLocks noGrp="1"/>
          </p:cNvSpPr>
          <p:nvPr/>
        </p:nvSpPr>
        <p:spPr>
          <a:xfrm>
            <a:off x="4663440" y="1600200"/>
            <a:ext cx="4206240" cy="2743200"/>
          </a:xfrm>
          <a:prstGeom prst="rect">
            <a:avLst/>
          </a:prstGeom>
          <a:solidFill>
            <a:srgbClr val="FFFFFF"/>
          </a:solidFill>
          <a:ln w="9525">
            <a:solidFill>
              <a:srgbClr val="DDEAE8"/>
            </a:solidFill>
          </a:ln>
          <a:effectLst>
            <a:outerShdw blurRad="76200" dist="38100" dir="13500000" algn="tl" rotWithShape="0">
              <a:srgbClr val="000000">
                <a:alpha val="10000"/>
              </a:srgbClr>
            </a:outerShdw>
          </a:effectLst>
        </p:spPr>
        <p:txBody>
          <a:bodyPr/>
          <a:lstStyle/>
          <a:p/>
        </p:txBody>
      </p:sp>
      <p:sp>
        <p:nvSpPr>
          <p:cNvPr id="21" name="vso-header"/>
          <p:cNvSpPr>
            <a:spLocks noGrp="1"/>
          </p:cNvSpPr>
          <p:nvPr/>
        </p:nvSpPr>
        <p:spPr>
          <a:xfrm>
            <a:off x="4663440" y="1600200"/>
            <a:ext cx="4206240" cy="411480"/>
          </a:xfrm>
          <a:prstGeom prst="rect">
            <a:avLst/>
          </a:prstGeom>
          <a:solidFill>
            <a:srgbClr val="566573"/>
          </a:solidFill>
          <a:ln>
            <a:solidFill>
              <a:srgbClr val="566573"/>
            </a:solidFill>
          </a:ln>
        </p:spPr>
        <p:txBody>
          <a:bodyPr anchor="ctr"/>
          <a:lstStyle/>
          <a:p>
            <a:pPr marL="91440"/>
            <a:r>
              <a:rPr lang="fr-FR" sz="1300" b="1" dirty="0">
                <a:solidFill>
                  <a:srgbClr val="FFFFFF"/>
                </a:solidFill>
              </a:rPr>
              <a:t>🥈  Vault Secrets Operator (VSO)</a:t>
            </a:r>
          </a:p>
        </p:txBody>
      </p:sp>
      <p:sp>
        <p:nvSpPr>
          <p:cNvPr id="22" name="vso-status"/>
          <p:cNvSpPr>
            <a:spLocks noGrp="1"/>
          </p:cNvSpPr>
          <p:nvPr/>
        </p:nvSpPr>
        <p:spPr>
          <a:xfrm>
            <a:off x="7132320" y="1646280"/>
            <a:ext cx="1645560" cy="274320"/>
          </a:xfrm>
          <a:prstGeom prst="rect">
            <a:avLst/>
          </a:prstGeom>
          <a:solidFill>
            <a:srgbClr val="F39C12"/>
          </a:solidFill>
          <a:ln>
            <a:solidFill>
              <a:srgbClr val="F39C12"/>
            </a:solidFill>
          </a:ln>
        </p:spPr>
        <p:txBody>
          <a:bodyPr anchor="ctr"/>
          <a:lstStyle/>
          <a:p>
            <a:pPr algn="ctr"/>
            <a:r>
              <a:rPr lang="fr-FR" sz="900" b="1" dirty="0">
                <a:solidFill>
                  <a:srgbClr val="FFFFFF"/>
                </a:solidFill>
              </a:rPr>
              <a:t>⏳  EN COURS DE VALIDATION</a:t>
            </a:r>
          </a:p>
        </p:txBody>
      </p:sp>
      <p:sp>
        <p:nvSpPr>
          <p:cNvPr id="23" name="vso-body"/>
          <p:cNvSpPr>
            <a:spLocks noGrp="1"/>
          </p:cNvSpPr>
          <p:nvPr/>
        </p:nvSpPr>
        <p:spPr>
          <a:xfrm>
            <a:off x="4754880" y="2057400"/>
            <a:ext cx="4023360" cy="2194560"/>
          </a:xfrm>
          <a:prstGeom prst="rect">
            <a:avLst/>
          </a:prstGeom>
          <a:noFill/>
        </p:spPr>
        <p:txBody>
          <a:bodyPr/>
          <a:lstStyle/>
          <a:p>
            <a:r>
              <a:rPr lang="fr-FR" sz="1000" b="1" dirty="0">
                <a:solidFill>
                  <a:srgbClr val="B03A2E"/>
                </a:solidFill>
              </a:rPr>
              <a:t>Problématique identifiée :</a:t>
            </a:r>
          </a:p>
          <a:p>
            <a:r>
              <a:rPr lang="fr-FR" sz="1000" b="0" dirty="0">
                <a:solidFill>
                  <a:srgbClr val="1A1A1A"/>
                </a:solidFill>
              </a:rPr>
              <a:t xml:space="preserve">Le VSO écrit les certificats PKI dans des </a:t>
            </a:r>
            <a:r>
              <a:rPr lang="fr-FR" sz="1000" b="1" dirty="0">
                <a:solidFill>
                  <a:srgbClr val="B03A2E"/>
                </a:solidFill>
              </a:rPr>
              <a:t>Secrets Kubernetes</a:t>
            </a:r>
            <a:r>
              <a:rPr lang="fr-FR" sz="1000" b="0" dirty="0">
                <a:solidFill>
                  <a:srgbClr val="1A1A1A"/>
                </a:solidFill>
              </a:rPr>
              <a:t xml:space="preserve"> synchronisés depuis Vault (VaultPKISecret). Même vecteur de risque : clé privée dans etcd.</a:t>
            </a:r>
          </a:p>
          <a:p>
            <a:r>
              <a:rPr lang="fr-FR" sz="900" dirty="0"/>
              <a:t/>
            </a:r>
          </a:p>
          <a:p>
            <a:r>
              <a:rPr lang="fr-FR" sz="1000" b="1" dirty="0">
                <a:solidFill>
                  <a:srgbClr val="1A6B3A"/>
                </a:solidFill>
              </a:rPr>
              <a:t>Points sous évaluation Sécurité :</a:t>
            </a:r>
          </a:p>
          <a:p>
            <a:r>
              <a:rPr lang="fr-FR" sz="950" b="0" dirty="0">
                <a:solidFill>
                  <a:srgbClr val="3D3D3D"/>
                </a:solidFill>
              </a:rPr>
              <a:t>•  Même surface d’exposition etcd que cert-manager</a:t>
            </a:r>
          </a:p>
          <a:p>
            <a:r>
              <a:rPr lang="fr-FR" sz="950" b="0" dirty="0">
                <a:solidFill>
                  <a:srgbClr val="3D3D3D"/>
                </a:solidFill>
              </a:rPr>
              <a:t>•  API en v1beta1 : maturité et stabilité à confirmer</a:t>
            </a:r>
          </a:p>
          <a:p>
            <a:r>
              <a:rPr lang="fr-FR" sz="950" b="0" dirty="0">
                <a:solidFill>
                  <a:srgbClr val="3D3D3D"/>
                </a:solidFill>
              </a:rPr>
              <a:t>•  Périmètre RBAC sur VaultPKISecret à définir</a:t>
            </a:r>
          </a:p>
          <a:p>
            <a:r>
              <a:rPr lang="fr-FR" sz="950" b="0" dirty="0">
                <a:solidFill>
                  <a:srgbClr val="3D3D3D"/>
                </a:solidFill>
              </a:rPr>
              <a:t>•  Validation par équipe Vault interne BNP requise</a:t>
            </a:r>
          </a:p>
        </p:txBody>
      </p:sp>
      <p:sp>
        <p:nvSpPr>
          <p:cNvPr id="30" name="bottom-box"/>
          <p:cNvSpPr>
            <a:spLocks noGrp="1"/>
          </p:cNvSpPr>
          <p:nvPr/>
        </p:nvSpPr>
        <p:spPr>
          <a:xfrm>
            <a:off x="274320" y="4434840"/>
            <a:ext cx="8595360" cy="548640"/>
          </a:xfrm>
          <a:prstGeom prst="rect">
            <a:avLst/>
          </a:prstGeom>
          <a:solidFill>
            <a:srgbClr val="002D1F"/>
          </a:solidFill>
          <a:ln>
            <a:solidFill>
              <a:srgbClr val="002D1F"/>
            </a:solidFill>
          </a:ln>
          <a:effectLst>
            <a:outerShdw blurRad="76200" dist="38100" dir="13500000" algn="tl" rotWithShape="0">
              <a:srgbClr val="000000">
                <a:alpha val="10000"/>
              </a:srgbClr>
            </a:outerShdw>
          </a:effectLst>
        </p:spPr>
        <p:txBody>
          <a:bodyPr/>
          <a:lstStyle/>
          <a:p/>
        </p:txBody>
      </p:sp>
      <p:sp>
        <p:nvSpPr>
          <p:cNvPr id="31" name="bottom-text"/>
          <p:cNvSpPr>
            <a:spLocks noGrp="1"/>
          </p:cNvSpPr>
          <p:nvPr/>
        </p:nvSpPr>
        <p:spPr>
          <a:xfrm>
            <a:off x="365760" y="4434840"/>
            <a:ext cx="8412480" cy="548640"/>
          </a:xfrm>
          <a:prstGeom prst="rect">
            <a:avLst/>
          </a:prstGeom>
          <a:noFill/>
        </p:spPr>
        <p:txBody>
          <a:bodyPr anchor="ctr"/>
          <a:lstStyle/>
          <a:p>
            <a:r>
              <a:rPr lang="fr-FR" sz="950" b="1" dirty="0">
                <a:solidFill>
                  <a:srgbClr val="C8992B"/>
                </a:solidFill>
              </a:rPr>
              <a:t xml:space="preserve">→  Alternative validée sans Secret K8s : </a:t>
            </a:r>
            <a:r>
              <a:rPr lang="fr-FR" sz="950" b="1" dirty="0">
                <a:solidFill>
                  <a:srgbClr val="FFFFFF"/>
                </a:solidFill>
              </a:rPr>
              <a:t>Init Container + CronJob</a:t>
            </a:r>
            <a:r>
              <a:rPr lang="fr-FR" sz="950" b="0" dirty="0">
                <a:solidFill>
                  <a:srgbClr val="A8D5C4"/>
                </a:solidFill>
              </a:rPr>
              <a:t xml:space="preserve">  — certificat écrit uniquement en mémoire (emptyDir) et jamais persisté dans etcd.</a:t>
            </a:r>
          </a:p>
        </p:txBody>
      </p:sp>
      <p:sp>
        <p:nvSpPr>
          <p:cNvPr id="40" name="footer-bg"/>
          <p:cNvSpPr>
            <a:spLocks noGrp="1"/>
          </p:cNvSpPr>
          <p:nvPr/>
        </p:nvSpPr>
        <p:spPr>
          <a:xfrm>
            <a:off x="0" y="4846320"/>
            <a:ext cx="9144000" cy="297720"/>
          </a:xfrm>
          <a:prstGeom prst="rect">
            <a:avLst/>
          </a:prstGeom>
          <a:solidFill>
            <a:srgbClr val="00915A"/>
          </a:solidFill>
          <a:ln>
            <a:solidFill>
              <a:srgbClr val="00915A"/>
            </a:solidFill>
          </a:ln>
        </p:spPr>
        <p:txBody>
          <a:bodyPr/>
          <a:lstStyle/>
          <a:p/>
        </p:txBody>
      </p:sp>
      <p:sp>
        <p:nvSpPr>
          <p:cNvPr id="41" name="footer-text"/>
          <p:cNvSpPr>
            <a:spLocks noGrp="1"/>
          </p:cNvSpPr>
          <p:nvPr/>
        </p:nvSpPr>
        <p:spPr>
          <a:xfrm>
            <a:off x="182880" y="4846320"/>
            <a:ext cx="8778240" cy="297720"/>
          </a:xfrm>
          <a:prstGeom prst="rect">
            <a:avLst/>
          </a:prstGeom>
          <a:noFill/>
        </p:spPr>
        <p:txBody>
          <a:bodyPr anchor="ctr"/>
          <a:lstStyle/>
          <a:p>
            <a:r>
              <a:rPr lang="fr-FR" sz="700" dirty="0">
                <a:solidFill>
                  <a:srgbClr val="A8D5C4"/>
                </a:solidFill>
              </a:rPr>
              <a:t>BNP PARIBAS  |  Vault PKI  |  2026  |  Page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Vault PKI – Gestion des certificats TLS sur Kubernetes</dc:title>
  <dc:subject>PptxGenJS Presentation</dc:subject>
  <dc:creator>PptxGenJS</dc:creator>
  <cp:lastModifiedBy>PptxGenJS</cp:lastModifiedBy>
  <cp:revision>1</cp:revision>
  <dcterms:created xsi:type="dcterms:W3CDTF">2026-06-05T10:06:34Z</dcterms:created>
  <dcterms:modified xsi:type="dcterms:W3CDTF">2026-06-05T10:06:34Z</dcterms:modified>
</cp:coreProperties>
</file>